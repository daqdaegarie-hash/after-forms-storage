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 autoCompressPictures="0">
  <p:sldMasterIdLst>
    <p:sldMasterId id="2147483648" r:id="rId4"/>
  </p:sldMasterIdLst>
  <p:notesMasterIdLst>
    <p:notesMasterId r:id="rId57"/>
  </p:notesMasterIdLst>
  <p:sldIdLst>
    <p:sldId id="269" r:id="rId5"/>
    <p:sldId id="267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328" r:id="rId17"/>
    <p:sldId id="329" r:id="rId18"/>
    <p:sldId id="330" r:id="rId19"/>
    <p:sldId id="331" r:id="rId20"/>
    <p:sldId id="294" r:id="rId21"/>
    <p:sldId id="295" r:id="rId22"/>
    <p:sldId id="337" r:id="rId23"/>
    <p:sldId id="296" r:id="rId24"/>
    <p:sldId id="332" r:id="rId25"/>
    <p:sldId id="333" r:id="rId26"/>
    <p:sldId id="290" r:id="rId27"/>
    <p:sldId id="291" r:id="rId28"/>
    <p:sldId id="292" r:id="rId29"/>
    <p:sldId id="293" r:id="rId30"/>
    <p:sldId id="334" r:id="rId31"/>
    <p:sldId id="335" r:id="rId32"/>
    <p:sldId id="336" r:id="rId33"/>
    <p:sldId id="355" r:id="rId34"/>
    <p:sldId id="356" r:id="rId35"/>
    <p:sldId id="297" r:id="rId36"/>
    <p:sldId id="299" r:id="rId37"/>
    <p:sldId id="300" r:id="rId38"/>
    <p:sldId id="357" r:id="rId39"/>
    <p:sldId id="338" r:id="rId40"/>
    <p:sldId id="339" r:id="rId41"/>
    <p:sldId id="340" r:id="rId42"/>
    <p:sldId id="341" r:id="rId43"/>
    <p:sldId id="342" r:id="rId44"/>
    <p:sldId id="343" r:id="rId45"/>
    <p:sldId id="344" r:id="rId46"/>
    <p:sldId id="345" r:id="rId47"/>
    <p:sldId id="346" r:id="rId48"/>
    <p:sldId id="347" r:id="rId49"/>
    <p:sldId id="348" r:id="rId50"/>
    <p:sldId id="349" r:id="rId51"/>
    <p:sldId id="350" r:id="rId52"/>
    <p:sldId id="351" r:id="rId53"/>
    <p:sldId id="352" r:id="rId54"/>
    <p:sldId id="353" r:id="rId55"/>
    <p:sldId id="354" r:id="rId56"/>
  </p:sldIdLst>
  <p:sldSz cx="10693400" cy="7561263"/>
  <p:notesSz cx="6858000" cy="9144000"/>
  <p:embeddedFontLst>
    <p:embeddedFont>
      <p:font typeface="맑은 고딕" panose="020B0503020000020004" pitchFamily="50" charset="-127"/>
      <p:regular r:id="rId58"/>
      <p:bold r:id="rId59"/>
    </p:embeddedFont>
  </p:embeddedFontLst>
  <p:defaultTextStyle>
    <a:defPPr>
      <a:defRPr lang="ko-KR"/>
    </a:defPPr>
    <a:lvl1pPr marL="0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B8AC555-26C0-46B2-B180-51D4FDD05EF6}">
          <p14:sldIdLst>
            <p14:sldId id="269"/>
            <p14:sldId id="267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328"/>
            <p14:sldId id="329"/>
            <p14:sldId id="330"/>
            <p14:sldId id="331"/>
            <p14:sldId id="294"/>
            <p14:sldId id="295"/>
            <p14:sldId id="337"/>
            <p14:sldId id="296"/>
            <p14:sldId id="332"/>
            <p14:sldId id="333"/>
            <p14:sldId id="290"/>
            <p14:sldId id="291"/>
            <p14:sldId id="292"/>
            <p14:sldId id="293"/>
            <p14:sldId id="334"/>
            <p14:sldId id="335"/>
            <p14:sldId id="336"/>
            <p14:sldId id="355"/>
            <p14:sldId id="356"/>
            <p14:sldId id="297"/>
            <p14:sldId id="299"/>
            <p14:sldId id="300"/>
            <p14:sldId id="35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585D"/>
    <a:srgbClr val="1D83FF"/>
    <a:srgbClr val="8EC1FF"/>
    <a:srgbClr val="4E7E36"/>
    <a:srgbClr val="D8E8ED"/>
    <a:srgbClr val="3D8CA5"/>
    <a:srgbClr val="31859C"/>
    <a:srgbClr val="DD594B"/>
    <a:srgbClr val="81A541"/>
    <a:srgbClr val="E6ED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88" autoAdjust="0"/>
    <p:restoredTop sz="96318" autoAdjust="0"/>
  </p:normalViewPr>
  <p:slideViewPr>
    <p:cSldViewPr>
      <p:cViewPr varScale="1">
        <p:scale>
          <a:sx n="99" d="100"/>
          <a:sy n="99" d="100"/>
        </p:scale>
        <p:origin x="1776" y="78"/>
      </p:cViewPr>
      <p:guideLst/>
    </p:cSldViewPr>
  </p:slideViewPr>
  <p:outlineViewPr>
    <p:cViewPr>
      <p:scale>
        <a:sx n="100" d="100"/>
        <a:sy n="100" d="100"/>
      </p:scale>
      <p:origin x="0" y="-1570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font" Target="fonts/font1.fntdata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2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E0AA8D-48B8-4CC7-B634-5360E3F3E284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EB3DE-0B28-4FE5-B5AC-45916934D2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897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D578F-BB7D-23D5-68CA-D84F6609A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973416-486B-4EFA-1CBC-5FAC9AB76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8F9F31-5F39-8180-47B7-E443E351E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86AF71-CEB4-B606-398E-17C2A031F4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2943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B11D0-394C-4737-D551-0B880963D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560692-2B49-604B-80D3-11DCAD34F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EB009E-FE6A-7BCC-C603-C54D9424D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38AF40-1D3B-2F5B-475E-E378DA021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246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9C78-9C46-70AA-B70B-592CF7F6A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74BC9C-CF24-5584-730C-AFF5998BB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E401D4-F4DE-E316-1290-4C2E12876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16E82B-A1C3-8D25-B3D9-668680B1D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943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F4CDC-05AD-6C4E-BED1-8EF34C1FA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CBE18A-21C6-DC47-D76E-6F000696C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F636C4-8134-81D0-6551-63F9DE951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67477E-3D6C-F4F1-D869-122FA4FFBF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010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27D84-B4B2-E32E-64AF-8C57E47FC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3EA1E9-2DDA-D1EE-71C1-8623C292C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52D5B1-698C-D8B7-87B6-7BC7E9F2A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7E8A2D-B0F3-59F2-8197-0BB2A88CF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683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C699D-38E5-C5BD-24BB-3E30F1B3E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0586F4-073F-EDAA-ABE9-273A4370C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E2CA9F-C0EF-92D7-051E-85147D0364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6C635D-380A-57E3-5253-FD0BFE6798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163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3FC87-5A38-591F-7E1E-6A0C42DA4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3C4478-38A7-3C94-8920-7AC8ACB1E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54BF51-BEA0-EF6F-29DF-6BA7A446D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FE597F-DE1F-1D00-EB1D-5154E09F1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533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CF978-C796-D065-4032-3E7C00933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0F819E-EF33-43A9-E7DB-88B92BB0B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6E141D-A776-1830-EB65-057066556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696272-7F34-C3FF-FDA3-01D4587EB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28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4A417-1ACE-D5D7-1CF2-5FF1521B6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F6AE6E-D7CC-2A86-5C07-EA229AC18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3C1555-0771-FC08-65C5-37870097D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9C3338-2619-408D-DA83-3BEAD6CD2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7052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DC1EE-0E6A-8E7A-F028-37F344364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3AD2B3-1FC7-4F3C-0DC8-9F9D692C8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90FC13-3236-C0A7-34D6-43E8506A8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A799DA-FC3E-448D-E9BC-9FA8E85748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82561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B9013-F73B-55A9-183A-B0E24E579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88B2BD-3AE9-1887-5F21-545F24C48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A5CAED-2742-6181-629C-9FA3087D4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27D603-DFFB-E5DD-8A8C-67FF084A2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507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5FEC3-48C0-EEA4-443D-C738F83E8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3A9841-B919-63AA-23FD-43FFF6A7E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E72F9B-5929-6789-DC16-67C2F7213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376A0C-1FFD-F073-AD0E-09026F7421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8378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2E532-5F16-62FD-CCA9-3A35F08E3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17C7CB-67DD-2736-6476-DC94DDB63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BC0F73-63CE-144C-529C-F59EC3342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6BEFE2-8019-057A-701B-FDBC9BFA9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33518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25551-16F0-BC9A-CC88-598A4C970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D6E825-A7B8-67D9-E8BF-F04032CEB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2D6A55-4999-E26C-AEA7-886DC0BD5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98CE71-EDBD-2A60-FC7F-7BF0E20D0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5132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64BC1-4798-E505-B9C8-09A79DBA2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C42FA9-8E4C-81CE-CF61-22D2BB484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8255CB-5957-E08B-1FE5-E77E88567D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09C85D-D462-06CF-0173-C550D84263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3702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CB0CF-5F31-FE48-B9FA-2C150DDBF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6D5486-801F-BA58-B474-4ADD2C396E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38E507-286D-CCA9-0944-122C337AB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FE63EA-B61A-CE6B-508D-293227B13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7106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CB0CF-5F31-FE48-B9FA-2C150DDBF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6D5486-801F-BA58-B474-4ADD2C396E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38E507-286D-CCA9-0944-122C337AB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FE63EA-B61A-CE6B-508D-293227B13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882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CB0CF-5F31-FE48-B9FA-2C150DDBF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6D5486-801F-BA58-B474-4ADD2C396E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38E507-286D-CCA9-0944-122C337AB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FE63EA-B61A-CE6B-508D-293227B13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1688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8A7AF-068B-29D8-2A01-3D7499F3D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68475A-33D2-6387-063E-21B0B2DB9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E078FF-639E-A033-DD47-15D8F1B65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116540-6BB3-0FA6-FBA2-AC41E8A08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590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9B410-C979-66BA-C315-3B42710F3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F554FF-57B1-2C78-9752-5CCF98C37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C54919-82B9-7798-C0A4-A7D0D2C19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DF8DEB-0395-F20C-9174-CC171863C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9058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9B410-C979-66BA-C315-3B42710F3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F554FF-57B1-2C78-9752-5CCF98C37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C54919-82B9-7798-C0A4-A7D0D2C19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DF8DEB-0395-F20C-9174-CC171863C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1339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7F8F7-87A4-1BE5-E018-F69084BD4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57329D-B8DA-67EC-D8E5-F97A9370A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5F8252-7394-A554-2C01-E0DC8889C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2D4864-C39E-D6FD-79C8-D99CF4241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6440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B35BC-2D58-67A6-DEEF-F8FC8B1CA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A01E42-BF5F-31A7-71C4-F2ACE810A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C49368-E05C-71E3-D9AE-990EE3BCC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67340F-3606-C7BC-3999-E5BC885FC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6036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20B5D-8A23-9BC0-1661-36E873588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48B53F-6B50-6D1A-BC50-BA5A89B0E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DC1F4-D2FD-B7D6-6390-CC9BDC264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A22CB0-5625-1C15-624D-A26D54C141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5670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CEAD9-44C9-E112-80B9-AAC22DFF9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568C23-001D-42DB-88C3-A6B264E70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1031E7-C849-1D56-EC9E-5BF2BBC25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6C4897-D0FA-5A59-4AEA-AB0BFD176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8589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6B303-FF36-8E05-AFE8-5C33A6534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1C54EE-8564-356B-1617-DF713BEC2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6DCFCC-AA0F-FC87-D3B4-630C3BD0E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2DE7D9-8339-8F7F-D06F-F849CB66A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9996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5AD8B-A02F-0752-B308-858119809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5363AD-45D8-21C2-2778-5EE794626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4103C4-076B-7B47-DF5B-BEEA137CA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58F8D4-C653-2DDA-51BB-08C833F0D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949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3590-FF9F-9CCB-98BC-42370B8AA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E73762-E9B7-DE30-34C7-7CAC02187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44D091-EBC5-BAFB-403C-AABF1500C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F4D274-7FC4-DD22-CE68-0C0EAB958E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2323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B11D0-394C-4737-D551-0B880963D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560692-2B49-604B-80D3-11DCAD34F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EB009E-FE6A-7BCC-C603-C54D9424D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38AF40-1D3B-2F5B-475E-E378DA021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2463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8A189-A501-F945-5C66-DD84BE09A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5BE276-7A70-66C4-0C79-E68B55365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6C8756-EC5D-3C49-525B-C7AD13B27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48B3CB-7F2A-DE9E-EE11-2AECAD19B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1891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7F3C5-CFC5-2B85-CE56-21C958893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7EC29D-C781-C58C-3A4E-B01F4BF13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E4CF5F-80C2-CA6D-E291-48CE8985D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A2414C-9412-E68A-0C3C-680BAE855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3520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322B4-B6DC-3BA7-FDF8-8B78E85C4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418DB8-356E-EDE0-3B36-4387654DC4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11FC74-AC62-D36C-E0EF-053F3A8F8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FB9C67-6253-FDF6-FBDC-3F825504E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5851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B3327-8F69-8960-68EB-2C761E693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D7E10D-909C-DFFB-31B0-814E1A10F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FBDD1C-B2FB-891D-F26B-A1BA8EFD0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88D79C-79E0-78CD-B97E-B2F435271C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3989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9724D-A653-9975-704B-89EB4963D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DB4939-8B91-AF51-2129-0F294A7A8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CB338D-BDB2-CD05-8F4C-F71C0B77A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0C3768-C92D-8B56-30F1-FD3D23392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5477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13597-CA63-A70F-4963-AAB49915C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277CD1-E134-4051-42BC-895203299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B824BE-208E-868F-B060-3C0E4A02F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4820F2-4C23-63CD-23DB-D70147283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9067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F199C-09B9-6755-8149-8947A4958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2A4A6E-6DB9-5508-80E3-3E5D68258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C34D0C-D69D-872E-5B74-74445BCA4E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E8CC1E-AA4D-1E88-9E5E-69CFB480A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EB3DE-0B28-4FE5-B5AC-45916934D271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637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5083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422" userDrawn="1">
          <p15:clr>
            <a:srgbClr val="FBAE40"/>
          </p15:clr>
        </p15:guide>
        <p15:guide id="2" pos="329" userDrawn="1">
          <p15:clr>
            <a:srgbClr val="FBAE40"/>
          </p15:clr>
        </p15:guide>
        <p15:guide id="3" pos="640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915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422" userDrawn="1">
          <p15:clr>
            <a:srgbClr val="FBAE40"/>
          </p15:clr>
        </p15:guide>
        <p15:guide id="2" pos="329" userDrawn="1">
          <p15:clr>
            <a:srgbClr val="FBAE40"/>
          </p15:clr>
        </p15:guide>
        <p15:guide id="3" pos="640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458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1043056" rtl="0" eaLnBrk="1" latinLnBrk="1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1146" indent="-391146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47483" indent="-325955" algn="l" defTabSz="1043056" rtl="0" eaLnBrk="1" latinLnBrk="1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03820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25348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46876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68404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32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460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988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2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5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58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12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4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16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69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2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45C94-A901-B37B-B136-B08EAE1A3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그래픽, 그래픽 디자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0C5148-F576-E734-4946-BADE6C934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" y="0"/>
            <a:ext cx="10692741" cy="75612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9FFACA-E722-D500-0575-82A55003C584}"/>
              </a:ext>
            </a:extLst>
          </p:cNvPr>
          <p:cNvSpPr txBox="1"/>
          <p:nvPr/>
        </p:nvSpPr>
        <p:spPr>
          <a:xfrm>
            <a:off x="1047316" y="1238212"/>
            <a:ext cx="1372171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8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8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B31101-E703-B089-3D4B-778BEA52EE95}"/>
              </a:ext>
            </a:extLst>
          </p:cNvPr>
          <p:cNvSpPr txBox="1"/>
          <p:nvPr/>
        </p:nvSpPr>
        <p:spPr>
          <a:xfrm>
            <a:off x="1009216" y="2108744"/>
            <a:ext cx="6133089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4400" b="1" spc="-15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학교생활기록부 기재요령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411FBF-2662-7895-2FD6-A48905AD3065}"/>
              </a:ext>
            </a:extLst>
          </p:cNvPr>
          <p:cNvSpPr txBox="1"/>
          <p:nvPr/>
        </p:nvSpPr>
        <p:spPr>
          <a:xfrm>
            <a:off x="958416" y="2835669"/>
            <a:ext cx="7050007" cy="101566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6500" b="1" spc="-15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주요 개정사항 안내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7CFAC8D-64F7-A198-1B0F-2DF9B8087703}"/>
              </a:ext>
            </a:extLst>
          </p:cNvPr>
          <p:cNvSpPr/>
          <p:nvPr/>
        </p:nvSpPr>
        <p:spPr>
          <a:xfrm>
            <a:off x="1021916" y="5295900"/>
            <a:ext cx="1594284" cy="454156"/>
          </a:xfrm>
          <a:prstGeom prst="roundRect">
            <a:avLst>
              <a:gd name="adj" fmla="val 50000"/>
            </a:avLst>
          </a:prstGeom>
          <a:solidFill>
            <a:srgbClr val="1D8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ko-KR" altLang="en-US" sz="2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6BAE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A5538B-96C6-C36F-204E-8510825F3639}"/>
              </a:ext>
            </a:extLst>
          </p:cNvPr>
          <p:cNvSpPr txBox="1"/>
          <p:nvPr/>
        </p:nvSpPr>
        <p:spPr>
          <a:xfrm>
            <a:off x="1254801" y="5353701"/>
            <a:ext cx="1128514" cy="33855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ko-KR" altLang="en-US" sz="22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고등학교</a:t>
            </a:r>
          </a:p>
        </p:txBody>
      </p:sp>
    </p:spTree>
    <p:extLst>
      <p:ext uri="{BB962C8B-B14F-4D97-AF65-F5344CB8AC3E}">
        <p14:creationId xmlns:p14="http://schemas.microsoft.com/office/powerpoint/2010/main" val="2580229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3AA3C-FD11-C3A0-6750-A629534B2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8B242FA-0F36-15A3-0AA8-E4DE6041EC1B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42C1ADE3-93F5-A569-4407-DC064D831C5D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6E8E901-E369-5199-29F3-86E1BEDC3686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38D3EFFB-EE6E-2093-775F-CF0EA7E71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16D3A8E1-975E-200C-9AB6-F008FCF2F397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542A126A-60A5-F17A-E057-D80AE29EAFF1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A485A541-A39E-5A35-871F-4E9BE66E5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004CFA2D-9671-533C-5338-AC912468BEAC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3E68F60E-E116-7F36-CCEE-8A37223E0485}"/>
              </a:ext>
            </a:extLst>
          </p:cNvPr>
          <p:cNvSpPr txBox="1"/>
          <p:nvPr/>
        </p:nvSpPr>
        <p:spPr>
          <a:xfrm>
            <a:off x="2120359" y="2411444"/>
            <a:ext cx="8077532" cy="115416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180000" indent="-180000" latinLnBrk="0">
              <a:spcAft>
                <a:spcPts val="300"/>
              </a:spcAft>
            </a:pP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5.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학교생활기록부에 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항목과 관련이 없거나 기록해서는 안 되는 내용의 기재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’, ‘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단순 사실을 과장하거나 부풀려서 기재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’, </a:t>
            </a:r>
            <a:b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사실과 다른 내용을 허위로 기재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하는 등 학교생활기록부의 신뢰도를 저하시키는 사례가 발생하지 않도록 특히 </a:t>
            </a:r>
            <a:b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유의하여야 함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396000" indent="-180000" latinLnBrk="0">
              <a:spcAft>
                <a:spcPts val="300"/>
              </a:spcAft>
            </a:pP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특히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 서술형 항목에 기재될 내용을 학생에게 작성하여 제출하도록 하는 행위 금지</a:t>
            </a:r>
            <a:endParaRPr lang="en-US" altLang="ko-KR" sz="12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504000" indent="-180000" latinLnBrk="0">
              <a:spcAft>
                <a:spcPts val="300"/>
              </a:spcAft>
            </a:pP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※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학교생활기록부 허위사실 기재는 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학생성적 관련 비위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로 간주되어 「교육공무원 </a:t>
            </a:r>
            <a:r>
              <a:rPr lang="ko-KR" altLang="en-US" sz="11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징계양정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등에 관한 </a:t>
            </a:r>
            <a:r>
              <a:rPr lang="ko-KR" altLang="en-US" sz="11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규칙」을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적용하며 </a:t>
            </a:r>
            <a:b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징계의 감경에서도 제외됨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1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2DC739-8C93-CE48-D35A-F12BFDA1883F}"/>
              </a:ext>
            </a:extLst>
          </p:cNvPr>
          <p:cNvSpPr txBox="1"/>
          <p:nvPr/>
        </p:nvSpPr>
        <p:spPr>
          <a:xfrm>
            <a:off x="522288" y="518880"/>
            <a:ext cx="2103140" cy="67710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ko-KR" altLang="en-US" sz="4400" b="1" spc="-3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50800" dist="63500" dir="2700000" algn="tl" rotWithShape="0">
                    <a:prstClr val="black">
                      <a:alpha val="25000"/>
                    </a:prstClr>
                  </a:outerShdw>
                </a:effectLst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유의사항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21C9B9-CFFF-2994-BCE3-88BDF2820A40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76CCE0C-7B03-D9B0-7DF3-38E8643C8540}"/>
              </a:ext>
            </a:extLst>
          </p:cNvPr>
          <p:cNvGrpSpPr/>
          <p:nvPr/>
        </p:nvGrpSpPr>
        <p:grpSpPr>
          <a:xfrm>
            <a:off x="522288" y="1454050"/>
            <a:ext cx="6801215" cy="450951"/>
            <a:chOff x="522288" y="1454050"/>
            <a:chExt cx="6801215" cy="45095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FA0ABB6-3227-FC76-C8CD-8FB683492C6F}"/>
                </a:ext>
              </a:extLst>
            </p:cNvPr>
            <p:cNvSpPr txBox="1"/>
            <p:nvPr/>
          </p:nvSpPr>
          <p:spPr>
            <a:xfrm>
              <a:off x="1340198" y="1564200"/>
              <a:ext cx="5983305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생성형 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AI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를 활용한 학교생활기록부 서술형 항목 기재 관련 유의사항 반영</a:t>
              </a: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FC8F7F5A-1F2E-60AC-C9CB-F13C9A0AC9AE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82" name="사각형: 둥근 위쪽 모서리 81">
                <a:extLst>
                  <a:ext uri="{FF2B5EF4-FFF2-40B4-BE49-F238E27FC236}">
                    <a16:creationId xmlns:a16="http://schemas.microsoft.com/office/drawing/2014/main" id="{C938880F-0B3D-55C7-6B56-0BD1724A14B5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1" name="사각형: 둥근 위쪽 모서리 90">
                <a:extLst>
                  <a:ext uri="{FF2B5EF4-FFF2-40B4-BE49-F238E27FC236}">
                    <a16:creationId xmlns:a16="http://schemas.microsoft.com/office/drawing/2014/main" id="{D6501F2F-EB6B-15B4-2B5E-64E84329CE1D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77BAA5-765F-3027-BB10-7C0D96ABD8AB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24439A73-16B9-915E-A9D5-9F7BB1E81B65}"/>
              </a:ext>
            </a:extLst>
          </p:cNvPr>
          <p:cNvGrpSpPr/>
          <p:nvPr/>
        </p:nvGrpSpPr>
        <p:grpSpPr>
          <a:xfrm>
            <a:off x="8456024" y="749652"/>
            <a:ext cx="1715089" cy="446336"/>
            <a:chOff x="8370270" y="749652"/>
            <a:chExt cx="1715089" cy="446336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59A44F4F-07BF-6B27-605C-5E5ABDD7F28F}"/>
                </a:ext>
              </a:extLst>
            </p:cNvPr>
            <p:cNvSpPr/>
            <p:nvPr/>
          </p:nvSpPr>
          <p:spPr>
            <a:xfrm>
              <a:off x="8370270" y="749652"/>
              <a:ext cx="1715089" cy="446336"/>
            </a:xfrm>
            <a:prstGeom prst="roundRect">
              <a:avLst>
                <a:gd name="adj" fmla="val 30007"/>
              </a:avLst>
            </a:prstGeom>
            <a:solidFill>
              <a:schemeClr val="bg1"/>
            </a:solidFill>
            <a:ln w="22225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B2B6D8D-DEC1-298E-A0EE-19F3C8A760F7}"/>
                </a:ext>
              </a:extLst>
            </p:cNvPr>
            <p:cNvSpPr txBox="1"/>
            <p:nvPr/>
          </p:nvSpPr>
          <p:spPr>
            <a:xfrm>
              <a:off x="8939272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p.19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0D5F0B7-6C69-CF78-21B8-321D2ABF6809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57" name="자유형 31">
              <a:extLst>
                <a:ext uri="{FF2B5EF4-FFF2-40B4-BE49-F238E27FC236}">
                  <a16:creationId xmlns:a16="http://schemas.microsoft.com/office/drawing/2014/main" id="{6BBC7859-DD67-07E4-B623-00026F875E45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1A4A540-5BDE-AA14-148D-588636F169DC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추가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4BDE7B40-C800-AF07-85F8-2F2AD48BA657}"/>
              </a:ext>
            </a:extLst>
          </p:cNvPr>
          <p:cNvSpPr txBox="1"/>
          <p:nvPr/>
        </p:nvSpPr>
        <p:spPr>
          <a:xfrm>
            <a:off x="2130229" y="4291382"/>
            <a:ext cx="8000267" cy="25930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187200" indent="-187200" latinLnBrk="0">
              <a:spcAft>
                <a:spcPts val="300"/>
              </a:spcAft>
            </a:pP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ko-KR" altLang="en-US" sz="13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학교생활기록부 기재는 교사의 고유권한으로 학교생활기록부 서술형 항목은 교사가 평소 학생을 직접 </a:t>
            </a:r>
            <a:br>
              <a:rPr lang="en-US" altLang="ko-KR" sz="13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3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관찰</a:t>
            </a:r>
            <a:r>
              <a:rPr lang="en-US" altLang="ko-KR" sz="13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sz="13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평가한 내용을 바탕으로 작성하는 것이 원칙이므로</a:t>
            </a:r>
            <a:r>
              <a:rPr lang="en-US" altLang="ko-KR" sz="13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다음과 같이 학교생활기록부의 신뢰도를 </a:t>
            </a:r>
            <a:b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저하시키는 사례가 발생하지 않도록 유의하여야 함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17513" indent="-234950" latinLnBrk="0">
              <a:spcAft>
                <a:spcPts val="300"/>
              </a:spcAft>
            </a:pP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가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학교생활기록부에 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항목과 관련이 없거나 기록해서는 안 되는 내용의 기재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’, ‘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단순 사실을 과장하거나 </a:t>
            </a:r>
            <a:b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부풀려서 기재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’, ‘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사실과 다른 내용을 허위로 기재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하는 행위</a:t>
            </a:r>
          </a:p>
          <a:p>
            <a:pPr marL="625475" indent="-176213" latinLnBrk="0">
              <a:spcAft>
                <a:spcPts val="300"/>
              </a:spcAft>
            </a:pP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※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학교생활기록부 허위사실 기재는 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학생성적 관련 비위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로 간주하여 「교육공무원 </a:t>
            </a:r>
            <a:r>
              <a:rPr lang="ko-KR" altLang="en-US" sz="13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징계양정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등에 관한 </a:t>
            </a:r>
            <a:b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3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규칙」을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적용하며 징계의 감경에서 제외됨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17513" indent="-234950" latinLnBrk="0">
              <a:spcAft>
                <a:spcPts val="300"/>
              </a:spcAft>
            </a:pP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나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학교생활기록부 서술형 항목에 기재될 내용을 학생에게 작성하여 제출하도록 하는 행위</a:t>
            </a:r>
          </a:p>
          <a:p>
            <a:pPr marL="417513" indent="-234950" latinLnBrk="0">
              <a:spcAft>
                <a:spcPts val="300"/>
              </a:spcAft>
            </a:pP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다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AI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를 활용하여 생성한 자료를 학교생활기록부의 서술형 항목에 그대로 입력하는 행위</a:t>
            </a:r>
          </a:p>
          <a:p>
            <a:pPr marL="538163" indent="-108000" latinLnBrk="0">
              <a:spcAft>
                <a:spcPts val="300"/>
              </a:spcAft>
            </a:pP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작성 과정에서 윤문 등을 위한 보조 수단으로 생성형 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의 도움을 받을 경우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반드시 최종 입력 전에 </a:t>
            </a:r>
            <a:b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작성 내용에 대해서 학생의 실제 수행과는 무관한 허위 또는 과장 기재 여부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학교생활기록부 </a:t>
            </a:r>
            <a:b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기재요령의 각종 유의사항 준수 여부 등을 철저히 확인해야 함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5833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8DB53-0BD8-4ED2-D20B-485015351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BDD653A4-1D47-5099-6B23-75B988A1A2BA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CDA02C7-75A0-8A8D-2DE3-69603D8113B9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1E0CAD5B-78DC-C81A-84F2-0C7614B8F1FF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62BAC1B-B2EA-2CAC-FA34-818EB44C34A3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129C724D-8B71-38B7-8F4F-935A96266DA8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220E2C7-EC20-583E-A76A-49FB5584908C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4B3EFFDF-8EC8-4716-5550-668972C973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A8EEAFEC-1556-AF3D-0C38-AB1D32BEA13B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DA8DACA-8168-0A6B-C408-BBD8F3F9631C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BB1C1214-7228-C484-A07D-9A0FF12C25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1A659AB0-431F-1AF2-07B1-DE42D9D3F759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7BAE93B7-E4C2-79AD-E879-506408C995E4}"/>
              </a:ext>
            </a:extLst>
          </p:cNvPr>
          <p:cNvSpPr txBox="1"/>
          <p:nvPr/>
        </p:nvSpPr>
        <p:spPr>
          <a:xfrm>
            <a:off x="2120359" y="2431322"/>
            <a:ext cx="7878439" cy="43088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33363" indent="-233363" latinLnBrk="0"/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④ 학교생활기록부 작성에 필요한 보조부는 각 학교의 실정에 맞게 계획을 수립하여 전산입력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관리하되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체험활동상황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 및 종합의견의 누가기록 방법은 시도교육감이 정한다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951A68B-EEA2-4890-E251-487B9F898C34}"/>
              </a:ext>
            </a:extLst>
          </p:cNvPr>
          <p:cNvGrpSpPr/>
          <p:nvPr/>
        </p:nvGrpSpPr>
        <p:grpSpPr>
          <a:xfrm>
            <a:off x="522288" y="518880"/>
            <a:ext cx="3504325" cy="677108"/>
            <a:chOff x="522288" y="518880"/>
            <a:chExt cx="3504325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7FABC61-0D90-BB5D-93D7-54223B3C024D}"/>
                </a:ext>
              </a:extLst>
            </p:cNvPr>
            <p:cNvSpPr txBox="1"/>
            <p:nvPr/>
          </p:nvSpPr>
          <p:spPr>
            <a:xfrm>
              <a:off x="1923473" y="518880"/>
              <a:ext cx="2103140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처리요령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A9FF490E-A1C2-C1EE-AE4D-FEC483516874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B9636292-77BD-9868-7346-5B00472F3A13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AA3179D-623F-EBE7-939D-5F1D3A61686D}"/>
                  </a:ext>
                </a:extLst>
              </p:cNvPr>
              <p:cNvSpPr txBox="1"/>
              <p:nvPr/>
            </p:nvSpPr>
            <p:spPr>
              <a:xfrm>
                <a:off x="730741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4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03FD00F9-627E-4EFC-FD1A-A0A54B0A6E18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1AAE2A4-8838-C167-F35C-49595A1A7520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728E5BC-680A-6F7D-A11E-E208921431D7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D588BC00-BDAE-213A-950A-BFCB15BFF744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6" name="사각형: 둥근 위쪽 모서리 35">
                <a:extLst>
                  <a:ext uri="{FF2B5EF4-FFF2-40B4-BE49-F238E27FC236}">
                    <a16:creationId xmlns:a16="http://schemas.microsoft.com/office/drawing/2014/main" id="{FFE756EF-7ED8-FFA7-C6B2-3D5686774332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471DDB3B-913B-A938-797A-25C04CA1A35A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1990FE99-F342-F5F2-387E-BB42F53E683B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32" name="사각형: 둥근 위쪽 모서리 31">
                <a:extLst>
                  <a:ext uri="{FF2B5EF4-FFF2-40B4-BE49-F238E27FC236}">
                    <a16:creationId xmlns:a16="http://schemas.microsoft.com/office/drawing/2014/main" id="{D7E5156F-59A9-CF39-4B9A-530B275D802B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4" name="사각형: 둥근 위쪽 모서리 33">
                <a:extLst>
                  <a:ext uri="{FF2B5EF4-FFF2-40B4-BE49-F238E27FC236}">
                    <a16:creationId xmlns:a16="http://schemas.microsoft.com/office/drawing/2014/main" id="{07DC053E-35B2-4B2C-030F-35527727B176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E7463F6-1175-0B25-A2BF-56DE09EC7997}"/>
                </a:ext>
              </a:extLst>
            </p:cNvPr>
            <p:cNvSpPr txBox="1"/>
            <p:nvPr/>
          </p:nvSpPr>
          <p:spPr>
            <a:xfrm>
              <a:off x="757479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D3D1CFB-00AA-F234-5570-47F46D482303}"/>
                </a:ext>
              </a:extLst>
            </p:cNvPr>
            <p:cNvSpPr txBox="1"/>
            <p:nvPr/>
          </p:nvSpPr>
          <p:spPr>
            <a:xfrm>
              <a:off x="7465794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p.28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E72021D3-D0FB-B5C5-2DA6-56B77399BEC6}"/>
              </a:ext>
            </a:extLst>
          </p:cNvPr>
          <p:cNvGrpSpPr/>
          <p:nvPr/>
        </p:nvGrpSpPr>
        <p:grpSpPr>
          <a:xfrm>
            <a:off x="522288" y="1454050"/>
            <a:ext cx="9510995" cy="571815"/>
            <a:chOff x="522288" y="1454050"/>
            <a:chExt cx="9510995" cy="57181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E4ACC51-86AB-3200-D99B-F86968F343BA}"/>
                </a:ext>
              </a:extLst>
            </p:cNvPr>
            <p:cNvSpPr txBox="1"/>
            <p:nvPr/>
          </p:nvSpPr>
          <p:spPr>
            <a:xfrm>
              <a:off x="1340198" y="1564200"/>
              <a:ext cx="8693085" cy="461665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일상생활 활동상황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행동특성 및 종합의견의 누가기록 여부 및 방법을 정하는 주체를 </a:t>
              </a:r>
              <a:b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</a:b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시도교육감에서 학교장으로 변경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33D039F3-C0E3-E326-2C19-14819510A650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7" name="사각형: 둥근 위쪽 모서리 6">
                <a:extLst>
                  <a:ext uri="{FF2B5EF4-FFF2-40B4-BE49-F238E27FC236}">
                    <a16:creationId xmlns:a16="http://schemas.microsoft.com/office/drawing/2014/main" id="{8EDCD43B-97BB-6308-05F7-23B8971229C9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2028E2FB-DD2D-6159-2D94-81DD43981DB0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05AAD6-1FD0-F720-A17C-ED78A8DED1AE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6A5C8B7-FEA2-6813-57B3-EC98F17464D1}"/>
              </a:ext>
            </a:extLst>
          </p:cNvPr>
          <p:cNvSpPr txBox="1"/>
          <p:nvPr/>
        </p:nvSpPr>
        <p:spPr>
          <a:xfrm>
            <a:off x="2181029" y="4426344"/>
            <a:ext cx="7949292" cy="129266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349250" indent="-349250" latinLnBrk="0"/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④ 학교생활기록부 작성에 필요한 보조부는 각 학교의 실정에 맞게 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계획을 수립하여 전산입력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관리하되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체험활동상황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일상생활 활동상황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 및 종합의견의 누가기록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여부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및 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방법은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학교장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 정한다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04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6D6FE-8904-AF23-C485-C98CE0FFB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C435930F-1DBE-86B0-4106-17CC48F917F1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AF2C622-5DBF-6504-AF1E-3E5122A2D00B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3DAB1F6D-A1D3-472B-DCEB-73119D71A0FD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F45A7C0-3866-F805-7981-CF7514AB5031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6310CA2C-B172-1B7D-D483-462A291C5DB5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C59D68A-9759-B003-2CAD-42C89C0F7597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B673C425-722C-C2FE-2851-7BBF63834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72EA991E-DC54-2538-DFDB-EE3119311929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E7A7164-B1CB-3001-5A6B-AB08FCFC280F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47EC009A-620C-0A6C-28AF-CE2752604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2CC334E4-7773-7549-8428-13B3D492A988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1929E748-53B3-DAB8-2807-69B3872D2AD6}"/>
              </a:ext>
            </a:extLst>
          </p:cNvPr>
          <p:cNvSpPr txBox="1"/>
          <p:nvPr/>
        </p:nvSpPr>
        <p:spPr>
          <a:xfrm>
            <a:off x="2120359" y="2361019"/>
            <a:ext cx="7939674" cy="126188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77200" indent="-277200" latinLnBrk="0">
              <a:spcAft>
                <a:spcPts val="300"/>
              </a:spcAft>
            </a:pP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아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훈령 제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조제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항의 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체험활동상황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일상생활 활동상황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 및 종합의견의 누가기록 방법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은 기재 양식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기재된 기록의 관리 방법 등을 의미한다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157163" indent="-157163" latinLnBrk="0">
              <a:spcAft>
                <a:spcPts val="300"/>
              </a:spcAft>
            </a:pP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학생이 전출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휴학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제적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자퇴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퇴학할 경우에도 원적교에서는 해당 학생이 재학할 때까지의 각종 자료를 교육정보시스템 등에 입력하여 보관해야 한다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다만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</a:t>
            </a:r>
            <a:b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체험활동상황 영역별 누가기록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일상생활 활동상황 영역별 누가기록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 누가기록 관련 사항은 시도교육청 지침에 따른다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76225" indent="-114300" latinLnBrk="0">
              <a:spcAft>
                <a:spcPts val="300"/>
              </a:spcAft>
            </a:pP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‘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각종 자료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라 함은 학적 특기사항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출결상황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고등학교 과목별 </a:t>
            </a:r>
            <a:r>
              <a:rPr lang="ko-KR" altLang="en-US" sz="8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출결현황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포함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체험활동상황 영역별 특기사항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누가기록 포함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일상생활 활동상황 특기사항</a:t>
            </a:r>
            <a:b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누가기록 포함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교과학습발달상황 세부능력 및 특기사항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 및 종합의견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누가기록 포함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등을 말함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</a:p>
          <a:p>
            <a:pPr marL="276225" indent="-114300" latinLnBrk="0">
              <a:spcAft>
                <a:spcPts val="300"/>
              </a:spcAft>
            </a:pP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교육정보시스템을 통하여 </a:t>
            </a:r>
            <a:r>
              <a:rPr lang="ko-KR" altLang="en-US" sz="8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전송받을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수 있는 전입생의 자료는 기본학적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학생생활 관련 누가기록 자료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성적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건강기록부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출결내역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PAPS,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학부모서비스 </a:t>
            </a:r>
            <a:b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신청내역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 정정대장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학교스포츠클럽 누가기록자료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개별화 교육계획 등임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</a:p>
          <a:p>
            <a:pPr marL="276225" indent="-114300" latinLnBrk="0">
              <a:spcAft>
                <a:spcPts val="300"/>
              </a:spcAft>
            </a:pP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 내 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체험활동상황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일상생활 활동상황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 및 종합의견의 누가기록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관리 방법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시도교육감이 정하도록 하였는 바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전산입력 방법도 </a:t>
            </a:r>
            <a:b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그 중 하나에 해당함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lang="ko-KR" altLang="en-US" sz="8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517AF58-C6F4-E9A1-8A15-2F90E858D052}"/>
              </a:ext>
            </a:extLst>
          </p:cNvPr>
          <p:cNvGrpSpPr/>
          <p:nvPr/>
        </p:nvGrpSpPr>
        <p:grpSpPr>
          <a:xfrm>
            <a:off x="522288" y="518880"/>
            <a:ext cx="3504325" cy="677108"/>
            <a:chOff x="522288" y="518880"/>
            <a:chExt cx="3504325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F172C10-19F4-4617-3259-F92275E9ED21}"/>
                </a:ext>
              </a:extLst>
            </p:cNvPr>
            <p:cNvSpPr txBox="1"/>
            <p:nvPr/>
          </p:nvSpPr>
          <p:spPr>
            <a:xfrm>
              <a:off x="1923473" y="518880"/>
              <a:ext cx="2103140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처리요령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6338C2FE-AF86-3DEB-BF65-0B384AF440C3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1C690379-EBED-A7F9-12FE-9D738F8BDD46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4C2479-CE78-D1C0-B388-71D5845BAEAA}"/>
                  </a:ext>
                </a:extLst>
              </p:cNvPr>
              <p:cNvSpPr txBox="1"/>
              <p:nvPr/>
            </p:nvSpPr>
            <p:spPr>
              <a:xfrm>
                <a:off x="730741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4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0A43E190-EF3D-B4C0-60CE-F7B0A94298EF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F2FEA40-8257-0B68-A9BF-A16B2E28E091}"/>
              </a:ext>
            </a:extLst>
          </p:cNvPr>
          <p:cNvGrpSpPr/>
          <p:nvPr/>
        </p:nvGrpSpPr>
        <p:grpSpPr>
          <a:xfrm>
            <a:off x="522288" y="1454050"/>
            <a:ext cx="9510995" cy="571815"/>
            <a:chOff x="522288" y="1454050"/>
            <a:chExt cx="9510995" cy="57181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716E850-9CC0-D61E-D05E-3063CAB43C60}"/>
                </a:ext>
              </a:extLst>
            </p:cNvPr>
            <p:cNvSpPr txBox="1"/>
            <p:nvPr/>
          </p:nvSpPr>
          <p:spPr>
            <a:xfrm>
              <a:off x="1340198" y="1564200"/>
              <a:ext cx="8693085" cy="461665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일상생활 활동상황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행동특성 및 종합의견의 누가기록 여부 및 방법을 정하는 주체를 </a:t>
              </a:r>
              <a:b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</a:b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시도교육감에서 학교장으로 변경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15D395B1-BD9D-CE39-ECBA-3D402EC376F5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BFAB4DA9-1161-E6D3-DADF-7143EF0F29F1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4F7C064B-8A2A-5E63-0C35-ADE20B913D1A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8F51E9-77DE-9FED-64C8-7E11C12675A9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2DDF3905-584A-F0ED-7CE5-B1EF273282D8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8" name="사각형: 둥근 위쪽 모서리 7">
              <a:extLst>
                <a:ext uri="{FF2B5EF4-FFF2-40B4-BE49-F238E27FC236}">
                  <a16:creationId xmlns:a16="http://schemas.microsoft.com/office/drawing/2014/main" id="{971A8C51-3FBD-911F-95C8-BD21191B1EEA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E7E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0" name="사각형: 둥근 위쪽 모서리 9">
              <a:extLst>
                <a:ext uri="{FF2B5EF4-FFF2-40B4-BE49-F238E27FC236}">
                  <a16:creationId xmlns:a16="http://schemas.microsoft.com/office/drawing/2014/main" id="{185CD77B-3D14-9208-5D90-1460D63295F2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012791D9-75F8-157C-3F43-A0A9E9288596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4E7E36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6" name="사각형: 둥근 위쪽 모서리 15">
              <a:extLst>
                <a:ext uri="{FF2B5EF4-FFF2-40B4-BE49-F238E27FC236}">
                  <a16:creationId xmlns:a16="http://schemas.microsoft.com/office/drawing/2014/main" id="{211FDD3B-06F9-DB0D-CF09-F07FBD1703CF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4E7E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id="{5A7323B9-4A28-02A9-C046-E1CB60368E8A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A58E486-9A13-E621-FB1F-57F1D446BE8B}"/>
                </a:ext>
              </a:extLst>
            </p:cNvPr>
            <p:cNvSpPr txBox="1"/>
            <p:nvPr/>
          </p:nvSpPr>
          <p:spPr>
            <a:xfrm>
              <a:off x="904827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해설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ADAB9F7-A260-45E0-29E0-81870C76D202}"/>
                </a:ext>
              </a:extLst>
            </p:cNvPr>
            <p:cNvSpPr txBox="1"/>
            <p:nvPr/>
          </p:nvSpPr>
          <p:spPr>
            <a:xfrm>
              <a:off x="8939273" y="865098"/>
              <a:ext cx="577082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p.28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F45A6FD-FF73-B57D-98D9-F562D8690FEA}"/>
              </a:ext>
            </a:extLst>
          </p:cNvPr>
          <p:cNvSpPr txBox="1"/>
          <p:nvPr/>
        </p:nvSpPr>
        <p:spPr>
          <a:xfrm>
            <a:off x="2076254" y="4350144"/>
            <a:ext cx="8141652" cy="244682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165100" indent="-165100" latinLnBrk="0">
              <a:spcAft>
                <a:spcPts val="300"/>
              </a:spcAft>
            </a:pP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▪ 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체험활동상황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일상생활 활동상황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 및 종합의견의 누가기록 방법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은 기재 양식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기재된 </a:t>
            </a:r>
            <a:b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기록의 관리 방법 등을 의미한다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</a:p>
          <a:p>
            <a:pPr marL="323850" indent="-165100" latinLnBrk="0">
              <a:spcAft>
                <a:spcPts val="300"/>
              </a:spcAft>
            </a:pP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 내 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체험활동상황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일상생활 활동상황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 및 종합의견의 누가기록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 여부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관리 </a:t>
            </a:r>
            <a:b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방법 등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학교장이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정하도록 한 바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전산입력 방법도 그 중 하나임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165100" indent="-165100" latinLnBrk="0">
              <a:spcAft>
                <a:spcPts val="300"/>
              </a:spcAft>
            </a:pP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▪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학생이 전출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휴학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제적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자퇴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퇴학할 경우에도 원적교에서는 해당 학생이 재학할 때까지의 각종 자료를 </a:t>
            </a:r>
            <a:br>
              <a:rPr lang="en-US" altLang="ko-KR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교육정보시스템 등에 입력하여 보관해야 한다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다만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체험활동상황 영역별 누가기록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일상생활 </a:t>
            </a:r>
            <a:b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활동상황 영역별 누가기록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 및 종합의견 누가기록 관련 사항은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학교장이 정한 지침에 따른다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323850" indent="-165100" latinLnBrk="0">
              <a:spcAft>
                <a:spcPts val="300"/>
              </a:spcAft>
            </a:pP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‘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각종 자료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라 함은 학적 특기사항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출결상황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고등학교 과목별 </a:t>
            </a:r>
            <a:r>
              <a:rPr lang="ko-KR" altLang="en-US" sz="12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출결현황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포함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체험활동상황 영역별 </a:t>
            </a:r>
            <a:b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일상생활 활동상황 특기사항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교과학습발달상황 세부능력 및 특기사항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 및 종합의견 등을 말함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</a:p>
          <a:p>
            <a:pPr marL="323850" indent="-165100" latinLnBrk="0">
              <a:spcAft>
                <a:spcPts val="300"/>
              </a:spcAft>
            </a:pP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교육정보시스템을 통하여 </a:t>
            </a:r>
            <a:r>
              <a:rPr lang="ko-KR" altLang="en-US" sz="12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전송받을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수 있는 전입생의 자료는 기본학적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성적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건강기록부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b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출결내역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PAPS,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학부모서비스 신청내역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 정정대장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개별화 교육계획 등이며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학생생활 및 </a:t>
            </a:r>
            <a:b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학교스포츠클럽 누가기록 자료의 경우 교육정보시스템을 활용하여 입력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관리한 경우 전송 가능함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lang="ko-KR" altLang="en-US" sz="12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245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C4C778-2FDD-4493-5E36-DDC6E9E34B30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0294FC-C036-DE9B-9A86-78DC0F3CF906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4" name="자유형 31">
              <a:extLst>
                <a:ext uri="{FF2B5EF4-FFF2-40B4-BE49-F238E27FC236}">
                  <a16:creationId xmlns:a16="http://schemas.microsoft.com/office/drawing/2014/main" id="{7F74A004-71B9-2D60-5660-ADBB921B990E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435FE2D-361D-389C-5822-0FE2927CEE55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6" name="그래픽 2362">
            <a:extLst>
              <a:ext uri="{FF2B5EF4-FFF2-40B4-BE49-F238E27FC236}">
                <a16:creationId xmlns:a16="http://schemas.microsoft.com/office/drawing/2014/main" id="{21C22766-CE3E-A076-3A06-D775BFD243E7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729A288-471C-BA08-2C1D-DA859696D45D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D8E5B8F0-FF96-578B-7C78-D6EDEA15A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3183B762-7BC8-CB3F-6D23-BAE0655A4441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47CF037-0EC1-1D40-C213-85A09C1B8C02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1C6D57D-891E-52F3-7C71-DD522460D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ABB500CA-62F2-245A-F4BB-58D5AE504CF7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61AD669-EB04-BAEF-0DCA-8E4A4715562D}"/>
              </a:ext>
            </a:extLst>
          </p:cNvPr>
          <p:cNvGrpSpPr/>
          <p:nvPr/>
        </p:nvGrpSpPr>
        <p:grpSpPr>
          <a:xfrm>
            <a:off x="522288" y="518880"/>
            <a:ext cx="4704975" cy="677108"/>
            <a:chOff x="522288" y="518880"/>
            <a:chExt cx="4704975" cy="67710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B50083-EEB5-83A7-40B0-4C98A90E0DBA}"/>
                </a:ext>
              </a:extLst>
            </p:cNvPr>
            <p:cNvSpPr txBox="1"/>
            <p:nvPr/>
          </p:nvSpPr>
          <p:spPr>
            <a:xfrm>
              <a:off x="1923473" y="518880"/>
              <a:ext cx="3303790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인적</a:t>
              </a:r>
              <a:r>
                <a:rPr lang="en-US" altLang="ko-KR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·</a:t>
              </a: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학적사항</a:t>
              </a: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A8E1262D-AAED-4BE7-A6FE-C0AE7D27692E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4B30107C-2A3E-689F-7D10-A67CBAA1D420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F1A1D52-46AA-7C4E-4B52-4137F8EC73C3}"/>
                  </a:ext>
                </a:extLst>
              </p:cNvPr>
              <p:cNvSpPr txBox="1"/>
              <p:nvPr/>
            </p:nvSpPr>
            <p:spPr>
              <a:xfrm>
                <a:off x="730741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7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847C7D2-65FC-FDCC-AE30-FCBECA892685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D76002E-E4EB-EEB9-5311-8AA7A990C7CB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63385B5A-53F6-9060-43EC-1A419D922170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27" name="사각형: 둥근 위쪽 모서리 26">
                <a:extLst>
                  <a:ext uri="{FF2B5EF4-FFF2-40B4-BE49-F238E27FC236}">
                    <a16:creationId xmlns:a16="http://schemas.microsoft.com/office/drawing/2014/main" id="{0B39033C-2128-CB89-BA81-EC88B3B83A97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28" name="사각형: 둥근 위쪽 모서리 27">
                <a:extLst>
                  <a:ext uri="{FF2B5EF4-FFF2-40B4-BE49-F238E27FC236}">
                    <a16:creationId xmlns:a16="http://schemas.microsoft.com/office/drawing/2014/main" id="{A2391412-1A0E-4413-D035-4D2441FAA0CF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4D376F3C-D710-D787-C474-23E92EB28DAD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3ECD95B3-BC1D-E2A4-59D0-109E51826BC0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25" name="사각형: 둥근 위쪽 모서리 24">
                <a:extLst>
                  <a:ext uri="{FF2B5EF4-FFF2-40B4-BE49-F238E27FC236}">
                    <a16:creationId xmlns:a16="http://schemas.microsoft.com/office/drawing/2014/main" id="{0AA3A891-E185-EE10-D97D-A58C29E19C0F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26" name="사각형: 둥근 위쪽 모서리 25">
                <a:extLst>
                  <a:ext uri="{FF2B5EF4-FFF2-40B4-BE49-F238E27FC236}">
                    <a16:creationId xmlns:a16="http://schemas.microsoft.com/office/drawing/2014/main" id="{5C424FBE-D848-1D01-A6E2-789F8514AF4E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17A4DA8-9B33-84EF-5210-AAC724BB75C1}"/>
                </a:ext>
              </a:extLst>
            </p:cNvPr>
            <p:cNvSpPr txBox="1"/>
            <p:nvPr/>
          </p:nvSpPr>
          <p:spPr>
            <a:xfrm>
              <a:off x="757479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FCB5374-D799-CC05-E479-47A14B059D79}"/>
                </a:ext>
              </a:extLst>
            </p:cNvPr>
            <p:cNvSpPr txBox="1"/>
            <p:nvPr/>
          </p:nvSpPr>
          <p:spPr>
            <a:xfrm>
              <a:off x="746579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p.34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BA09C2D-A425-7CB8-9192-BB81B0F890B5}"/>
              </a:ext>
            </a:extLst>
          </p:cNvPr>
          <p:cNvGrpSpPr/>
          <p:nvPr/>
        </p:nvGrpSpPr>
        <p:grpSpPr>
          <a:xfrm>
            <a:off x="522288" y="1454050"/>
            <a:ext cx="2308703" cy="450951"/>
            <a:chOff x="522288" y="1454050"/>
            <a:chExt cx="2308703" cy="45095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3C1ED51-7C07-E391-7C14-FC2DD2E32F8C}"/>
                </a:ext>
              </a:extLst>
            </p:cNvPr>
            <p:cNvSpPr txBox="1"/>
            <p:nvPr/>
          </p:nvSpPr>
          <p:spPr>
            <a:xfrm>
              <a:off x="1340198" y="1564200"/>
              <a:ext cx="1490793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유급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의 정의 변경</a:t>
              </a: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FA1F79B4-7E27-4A47-8B61-F4AF6E4701A5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32" name="사각형: 둥근 위쪽 모서리 31">
                <a:extLst>
                  <a:ext uri="{FF2B5EF4-FFF2-40B4-BE49-F238E27FC236}">
                    <a16:creationId xmlns:a16="http://schemas.microsoft.com/office/drawing/2014/main" id="{77194547-FE32-E3DF-DFD1-4B2A4165CE80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사각형: 둥근 위쪽 모서리 32">
                <a:extLst>
                  <a:ext uri="{FF2B5EF4-FFF2-40B4-BE49-F238E27FC236}">
                    <a16:creationId xmlns:a16="http://schemas.microsoft.com/office/drawing/2014/main" id="{ED732C32-74D6-DAB8-D090-752B48FC630E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7543A54-AD3F-152E-12EC-361D01A9B8FC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2B8DED4-E37E-9B7F-4224-5901D41A2CBE}"/>
              </a:ext>
            </a:extLst>
          </p:cNvPr>
          <p:cNvSpPr txBox="1"/>
          <p:nvPr/>
        </p:nvSpPr>
        <p:spPr>
          <a:xfrm>
            <a:off x="2182004" y="2790097"/>
            <a:ext cx="7327327" cy="43088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300038" indent="-300038" latinLnBrk="0"/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12.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유급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해당 학년 교육과정 미수료에 따라 상급 학년으로 진급하지 못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하거나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졸업 요건을 </a:t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충족하지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못함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CDC491-06A8-9984-B199-432040D4878D}"/>
              </a:ext>
            </a:extLst>
          </p:cNvPr>
          <p:cNvSpPr txBox="1"/>
          <p:nvPr/>
        </p:nvSpPr>
        <p:spPr>
          <a:xfrm>
            <a:off x="2181029" y="4775024"/>
            <a:ext cx="7141379" cy="64633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50850" indent="-450850" latinLnBrk="0"/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12.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유급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해당 학년 교육과정 미수료에 따라 상급 학년으로 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진급하지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못함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D402F112-002F-DE6F-8CE7-1213308A508E}"/>
              </a:ext>
            </a:extLst>
          </p:cNvPr>
          <p:cNvGrpSpPr/>
          <p:nvPr/>
        </p:nvGrpSpPr>
        <p:grpSpPr>
          <a:xfrm>
            <a:off x="2120359" y="2397063"/>
            <a:ext cx="2161129" cy="250349"/>
            <a:chOff x="2120359" y="2366241"/>
            <a:chExt cx="2161129" cy="250349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FDB1F440-8FEB-C9A4-FB6E-D3B26382A61D}"/>
                </a:ext>
              </a:extLst>
            </p:cNvPr>
            <p:cNvSpPr/>
            <p:nvPr/>
          </p:nvSpPr>
          <p:spPr>
            <a:xfrm>
              <a:off x="2120359" y="2366241"/>
              <a:ext cx="2161129" cy="2503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684242-1C0F-57D2-7C44-BBA185CC7054}"/>
                </a:ext>
              </a:extLst>
            </p:cNvPr>
            <p:cNvSpPr txBox="1"/>
            <p:nvPr/>
          </p:nvSpPr>
          <p:spPr>
            <a:xfrm>
              <a:off x="2201451" y="2406777"/>
              <a:ext cx="1998945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fontAlgn="base"/>
              <a:r>
                <a:rPr lang="ko-KR" altLang="en-US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별표 </a:t>
              </a:r>
              <a:r>
                <a:rPr lang="en-US" altLang="ko-KR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7(</a:t>
              </a:r>
              <a:r>
                <a:rPr lang="ko-KR" altLang="en-US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학적처리에 사용하는 용어</a:t>
              </a:r>
              <a:r>
                <a:rPr lang="en-US" altLang="ko-KR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2EA4A4E2-66D5-45C0-A631-089A399BB172}"/>
              </a:ext>
            </a:extLst>
          </p:cNvPr>
          <p:cNvGrpSpPr/>
          <p:nvPr/>
        </p:nvGrpSpPr>
        <p:grpSpPr>
          <a:xfrm>
            <a:off x="2120356" y="4314983"/>
            <a:ext cx="2775494" cy="299049"/>
            <a:chOff x="2120356" y="4314983"/>
            <a:chExt cx="2775494" cy="299049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40F0540B-19EA-CB9A-ABBA-76345DEE2867}"/>
                </a:ext>
              </a:extLst>
            </p:cNvPr>
            <p:cNvSpPr/>
            <p:nvPr/>
          </p:nvSpPr>
          <p:spPr>
            <a:xfrm>
              <a:off x="2120356" y="4314983"/>
              <a:ext cx="2775494" cy="299049"/>
            </a:xfrm>
            <a:prstGeom prst="roundRect">
              <a:avLst>
                <a:gd name="adj" fmla="val 50000"/>
              </a:avLst>
            </a:prstGeom>
            <a:solidFill>
              <a:srgbClr val="1D83FF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2E09019-F94A-F8F1-B602-3CB830931017}"/>
                </a:ext>
              </a:extLst>
            </p:cNvPr>
            <p:cNvSpPr txBox="1"/>
            <p:nvPr/>
          </p:nvSpPr>
          <p:spPr>
            <a:xfrm>
              <a:off x="2218487" y="4356786"/>
              <a:ext cx="2579233" cy="21544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fontAlgn="base"/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별표 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7(</a:t>
              </a:r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학적처리에 사용하는 용어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7987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C469E-E33C-278E-716D-4E1FEBF7B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그룹 92">
            <a:extLst>
              <a:ext uri="{FF2B5EF4-FFF2-40B4-BE49-F238E27FC236}">
                <a16:creationId xmlns:a16="http://schemas.microsoft.com/office/drawing/2014/main" id="{CD65585B-6AC3-7FD1-191E-C55EC0204C2B}"/>
              </a:ext>
            </a:extLst>
          </p:cNvPr>
          <p:cNvGrpSpPr/>
          <p:nvPr/>
        </p:nvGrpSpPr>
        <p:grpSpPr>
          <a:xfrm>
            <a:off x="1881855" y="2193391"/>
            <a:ext cx="8289258" cy="5118675"/>
            <a:chOff x="1881855" y="2193391"/>
            <a:chExt cx="8289258" cy="5118675"/>
          </a:xfrm>
        </p:grpSpPr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30E0D225-D107-9281-9F34-FF5A8A2E2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BC3BB1B8-DA01-A214-28C5-C96AC71DEC91}"/>
                </a:ext>
              </a:extLst>
            </p:cNvPr>
            <p:cNvSpPr/>
            <p:nvPr/>
          </p:nvSpPr>
          <p:spPr>
            <a:xfrm>
              <a:off x="1881855" y="2193391"/>
              <a:ext cx="8289258" cy="4827600"/>
            </a:xfrm>
            <a:prstGeom prst="roundRect">
              <a:avLst>
                <a:gd name="adj" fmla="val 3034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07645D7-CD4E-A9C0-46A9-B0C5702E9095}"/>
              </a:ext>
            </a:extLst>
          </p:cNvPr>
          <p:cNvGrpSpPr/>
          <p:nvPr/>
        </p:nvGrpSpPr>
        <p:grpSpPr>
          <a:xfrm>
            <a:off x="522288" y="518880"/>
            <a:ext cx="4704975" cy="677108"/>
            <a:chOff x="522288" y="518880"/>
            <a:chExt cx="4704975" cy="677108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3E46769-A211-1FE8-C0C3-F08B37264D4F}"/>
                </a:ext>
              </a:extLst>
            </p:cNvPr>
            <p:cNvSpPr txBox="1"/>
            <p:nvPr/>
          </p:nvSpPr>
          <p:spPr>
            <a:xfrm>
              <a:off x="1923473" y="518880"/>
              <a:ext cx="3303790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인적</a:t>
              </a:r>
              <a:r>
                <a:rPr lang="en-US" altLang="ko-KR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·</a:t>
              </a: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학적사항</a:t>
              </a: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8F4D8A4E-AA23-018D-1A93-C459B86B3F70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51" name="사각형: 둥근 모서리 50">
                <a:extLst>
                  <a:ext uri="{FF2B5EF4-FFF2-40B4-BE49-F238E27FC236}">
                    <a16:creationId xmlns:a16="http://schemas.microsoft.com/office/drawing/2014/main" id="{9CA570D0-70DD-C92D-8463-0A4CD6239EDD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0FD13A3-AF0A-A368-79DA-331C7F4FD06D}"/>
                  </a:ext>
                </a:extLst>
              </p:cNvPr>
              <p:cNvSpPr txBox="1"/>
              <p:nvPr/>
            </p:nvSpPr>
            <p:spPr>
              <a:xfrm>
                <a:off x="730741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7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D3E23D0-62BC-ACF1-C0DF-F25B837B575A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AD9A076E-09F9-D3E3-1767-52E39BCE91C3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62" name="사각형: 둥근 위쪽 모서리 61">
                <a:extLst>
                  <a:ext uri="{FF2B5EF4-FFF2-40B4-BE49-F238E27FC236}">
                    <a16:creationId xmlns:a16="http://schemas.microsoft.com/office/drawing/2014/main" id="{D93AF02C-9482-968D-8D59-8A61EF3E0136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63" name="사각형: 둥근 위쪽 모서리 62">
                <a:extLst>
                  <a:ext uri="{FF2B5EF4-FFF2-40B4-BE49-F238E27FC236}">
                    <a16:creationId xmlns:a16="http://schemas.microsoft.com/office/drawing/2014/main" id="{E494FA17-64CA-5291-623D-09E3FB71BC21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D21987F1-5385-49AB-5D7F-00EE00BE1A4B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A8BDFCA3-CE9F-1B4E-21E9-0EE7EB9E11FC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60" name="사각형: 둥근 위쪽 모서리 59">
                <a:extLst>
                  <a:ext uri="{FF2B5EF4-FFF2-40B4-BE49-F238E27FC236}">
                    <a16:creationId xmlns:a16="http://schemas.microsoft.com/office/drawing/2014/main" id="{74812B58-E19D-7E61-507E-1A6DB1408F8D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61" name="사각형: 둥근 위쪽 모서리 60">
                <a:extLst>
                  <a:ext uri="{FF2B5EF4-FFF2-40B4-BE49-F238E27FC236}">
                    <a16:creationId xmlns:a16="http://schemas.microsoft.com/office/drawing/2014/main" id="{202B7FDA-9834-8F00-2852-61435B6A9F91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14587F6-07C0-3B2F-8220-16A3BFE9F040}"/>
                </a:ext>
              </a:extLst>
            </p:cNvPr>
            <p:cNvSpPr txBox="1"/>
            <p:nvPr/>
          </p:nvSpPr>
          <p:spPr>
            <a:xfrm>
              <a:off x="757479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2440AC4-3C7F-B183-06A5-04ACFDDF349D}"/>
                </a:ext>
              </a:extLst>
            </p:cNvPr>
            <p:cNvSpPr txBox="1"/>
            <p:nvPr/>
          </p:nvSpPr>
          <p:spPr>
            <a:xfrm>
              <a:off x="746579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p.35</a:t>
              </a: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39FD2F56-E577-2D7F-19FA-A06F3B78C10A}"/>
              </a:ext>
            </a:extLst>
          </p:cNvPr>
          <p:cNvGrpSpPr/>
          <p:nvPr/>
        </p:nvGrpSpPr>
        <p:grpSpPr>
          <a:xfrm>
            <a:off x="522288" y="1454050"/>
            <a:ext cx="2108904" cy="450951"/>
            <a:chOff x="522288" y="1454050"/>
            <a:chExt cx="2108904" cy="450951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7AC8FA7-E295-D326-05A2-FC1302530A92}"/>
                </a:ext>
              </a:extLst>
            </p:cNvPr>
            <p:cNvSpPr txBox="1"/>
            <p:nvPr/>
          </p:nvSpPr>
          <p:spPr>
            <a:xfrm>
              <a:off x="1340198" y="1564200"/>
              <a:ext cx="1290994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졸업 유예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신설</a:t>
              </a:r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8616FEA0-E472-B563-1C90-D6148BC810E1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67" name="사각형: 둥근 위쪽 모서리 66">
                <a:extLst>
                  <a:ext uri="{FF2B5EF4-FFF2-40B4-BE49-F238E27FC236}">
                    <a16:creationId xmlns:a16="http://schemas.microsoft.com/office/drawing/2014/main" id="{EAE1D3D0-90C5-6651-4387-FF3E70AA183A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사각형: 둥근 위쪽 모서리 67">
                <a:extLst>
                  <a:ext uri="{FF2B5EF4-FFF2-40B4-BE49-F238E27FC236}">
                    <a16:creationId xmlns:a16="http://schemas.microsoft.com/office/drawing/2014/main" id="{EFA9FF24-9C32-20B1-4C15-961C434C8480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4F4C312-97B8-D91D-D5D0-778D2E2EBE27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53107562-929F-D6C0-C50A-B305FEC92D2C}"/>
              </a:ext>
            </a:extLst>
          </p:cNvPr>
          <p:cNvSpPr txBox="1"/>
          <p:nvPr/>
        </p:nvSpPr>
        <p:spPr>
          <a:xfrm>
            <a:off x="520774" y="2193391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1FC4B6F2-C095-D4BD-67AF-FDB6EA205DA7}"/>
              </a:ext>
            </a:extLst>
          </p:cNvPr>
          <p:cNvGrpSpPr/>
          <p:nvPr/>
        </p:nvGrpSpPr>
        <p:grpSpPr>
          <a:xfrm>
            <a:off x="608728" y="2912580"/>
            <a:ext cx="965431" cy="404231"/>
            <a:chOff x="7748588" y="3400790"/>
            <a:chExt cx="965431" cy="404231"/>
          </a:xfrm>
        </p:grpSpPr>
        <p:sp>
          <p:nvSpPr>
            <p:cNvPr id="90" name="자유형 31">
              <a:extLst>
                <a:ext uri="{FF2B5EF4-FFF2-40B4-BE49-F238E27FC236}">
                  <a16:creationId xmlns:a16="http://schemas.microsoft.com/office/drawing/2014/main" id="{28F5519B-2C01-5CF2-B9CD-6286683C4AF6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53879CC-DBCE-D283-E8C1-E390BD6C3E3B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신설</a:t>
              </a:r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0F274E2C-A8B8-4D9A-BD12-A9BFDD4174FC}"/>
              </a:ext>
            </a:extLst>
          </p:cNvPr>
          <p:cNvSpPr txBox="1"/>
          <p:nvPr/>
        </p:nvSpPr>
        <p:spPr>
          <a:xfrm>
            <a:off x="2181029" y="2863140"/>
            <a:ext cx="7529305" cy="64633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50850" indent="-450850" latinLnBrk="0"/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24.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졸업유예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고등학교에서 출석일수는 충족하였으나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졸업에 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필요한 학점을 모두 취득하지 못해 졸업 자격을 얻지 못함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A669939D-63D9-F755-08C2-BC798932E364}"/>
              </a:ext>
            </a:extLst>
          </p:cNvPr>
          <p:cNvGrpSpPr/>
          <p:nvPr/>
        </p:nvGrpSpPr>
        <p:grpSpPr>
          <a:xfrm>
            <a:off x="2120356" y="2403099"/>
            <a:ext cx="2775494" cy="299049"/>
            <a:chOff x="2120356" y="4314983"/>
            <a:chExt cx="2775494" cy="299049"/>
          </a:xfrm>
        </p:grpSpPr>
        <p:sp>
          <p:nvSpPr>
            <p:cNvPr id="86" name="사각형: 둥근 모서리 85">
              <a:extLst>
                <a:ext uri="{FF2B5EF4-FFF2-40B4-BE49-F238E27FC236}">
                  <a16:creationId xmlns:a16="http://schemas.microsoft.com/office/drawing/2014/main" id="{4FE75D00-3FF0-4567-B1B3-04F9EC020B16}"/>
                </a:ext>
              </a:extLst>
            </p:cNvPr>
            <p:cNvSpPr/>
            <p:nvPr/>
          </p:nvSpPr>
          <p:spPr>
            <a:xfrm>
              <a:off x="2120356" y="4314983"/>
              <a:ext cx="2775494" cy="299049"/>
            </a:xfrm>
            <a:prstGeom prst="roundRect">
              <a:avLst>
                <a:gd name="adj" fmla="val 50000"/>
              </a:avLst>
            </a:prstGeom>
            <a:solidFill>
              <a:srgbClr val="1D83FF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06FBD77-239E-AB59-8F95-42C93F71EEC5}"/>
                </a:ext>
              </a:extLst>
            </p:cNvPr>
            <p:cNvSpPr txBox="1"/>
            <p:nvPr/>
          </p:nvSpPr>
          <p:spPr>
            <a:xfrm>
              <a:off x="2218487" y="4356786"/>
              <a:ext cx="2579233" cy="21544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fontAlgn="base"/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별표 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7(</a:t>
              </a:r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학적처리에 사용하는 용어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2585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570AD-560A-E93B-91BA-2397AB240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48337E5-BBC0-5876-2F78-1A1C6E5FF7D9}"/>
              </a:ext>
            </a:extLst>
          </p:cNvPr>
          <p:cNvGrpSpPr/>
          <p:nvPr/>
        </p:nvGrpSpPr>
        <p:grpSpPr>
          <a:xfrm>
            <a:off x="1881855" y="2193391"/>
            <a:ext cx="8289258" cy="5118675"/>
            <a:chOff x="1881855" y="2193391"/>
            <a:chExt cx="8289258" cy="511867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5D7548E-B7C9-0CD5-2EDE-5F3C06EB8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2336713-C92D-B0D6-FCC1-B697EE760F14}"/>
                </a:ext>
              </a:extLst>
            </p:cNvPr>
            <p:cNvSpPr/>
            <p:nvPr/>
          </p:nvSpPr>
          <p:spPr>
            <a:xfrm>
              <a:off x="1881855" y="2193391"/>
              <a:ext cx="8289258" cy="4827600"/>
            </a:xfrm>
            <a:prstGeom prst="roundRect">
              <a:avLst>
                <a:gd name="adj" fmla="val 3034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22D3EC55-8BC5-9C45-3B20-1FE2D316886F}"/>
              </a:ext>
            </a:extLst>
          </p:cNvPr>
          <p:cNvGrpSpPr/>
          <p:nvPr/>
        </p:nvGrpSpPr>
        <p:grpSpPr>
          <a:xfrm>
            <a:off x="522288" y="518880"/>
            <a:ext cx="4704975" cy="677108"/>
            <a:chOff x="522288" y="518880"/>
            <a:chExt cx="4704975" cy="67710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BAB9845-44B2-8341-68E1-51FA1428823C}"/>
                </a:ext>
              </a:extLst>
            </p:cNvPr>
            <p:cNvSpPr txBox="1"/>
            <p:nvPr/>
          </p:nvSpPr>
          <p:spPr>
            <a:xfrm>
              <a:off x="1923473" y="518880"/>
              <a:ext cx="3303790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인적</a:t>
              </a:r>
              <a:r>
                <a:rPr lang="en-US" altLang="ko-KR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·</a:t>
              </a: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학적사항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743AC7EC-D3C5-1CF0-82A9-0DC1988682F4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0225CCA6-9520-9035-AB27-F0813830E748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E5FA9E-3CC8-AB9E-9FD0-737D6A851C48}"/>
                  </a:ext>
                </a:extLst>
              </p:cNvPr>
              <p:cNvSpPr txBox="1"/>
              <p:nvPr/>
            </p:nvSpPr>
            <p:spPr>
              <a:xfrm>
                <a:off x="730741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7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5E5C894-F005-9B9E-BBF9-C49C8513F8B7}"/>
              </a:ext>
            </a:extLst>
          </p:cNvPr>
          <p:cNvGrpSpPr/>
          <p:nvPr/>
        </p:nvGrpSpPr>
        <p:grpSpPr>
          <a:xfrm>
            <a:off x="522288" y="1454050"/>
            <a:ext cx="3563855" cy="450951"/>
            <a:chOff x="522288" y="1454050"/>
            <a:chExt cx="3563855" cy="45095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B59AE14-1916-0076-1195-6A938ACE516D}"/>
                </a:ext>
              </a:extLst>
            </p:cNvPr>
            <p:cNvSpPr txBox="1"/>
            <p:nvPr/>
          </p:nvSpPr>
          <p:spPr>
            <a:xfrm>
              <a:off x="1340198" y="1564200"/>
              <a:ext cx="2745945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졸업 유예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신설에 따른 정의 추가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57685EE4-6290-E5AB-8BAA-8BB76ACB1FC3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23" name="사각형: 둥근 위쪽 모서리 22">
                <a:extLst>
                  <a:ext uri="{FF2B5EF4-FFF2-40B4-BE49-F238E27FC236}">
                    <a16:creationId xmlns:a16="http://schemas.microsoft.com/office/drawing/2014/main" id="{C2ACB7D5-3813-7DCE-94DB-E299CEDD3DF6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사각형: 둥근 위쪽 모서리 23">
                <a:extLst>
                  <a:ext uri="{FF2B5EF4-FFF2-40B4-BE49-F238E27FC236}">
                    <a16:creationId xmlns:a16="http://schemas.microsoft.com/office/drawing/2014/main" id="{EB008485-FC2F-5F24-888F-CAA806D2147B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26612D0-DA1B-D947-C1E7-ACB16DF520FA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CD7B6C4-A227-3C09-1DCA-79FBC3D2E9BD}"/>
              </a:ext>
            </a:extLst>
          </p:cNvPr>
          <p:cNvSpPr txBox="1"/>
          <p:nvPr/>
        </p:nvSpPr>
        <p:spPr>
          <a:xfrm>
            <a:off x="520774" y="2193391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8E0A317-0EED-4533-C833-18101D56CCC6}"/>
              </a:ext>
            </a:extLst>
          </p:cNvPr>
          <p:cNvGrpSpPr/>
          <p:nvPr/>
        </p:nvGrpSpPr>
        <p:grpSpPr>
          <a:xfrm>
            <a:off x="608728" y="2912580"/>
            <a:ext cx="965431" cy="404231"/>
            <a:chOff x="7748588" y="3400790"/>
            <a:chExt cx="965431" cy="404231"/>
          </a:xfrm>
        </p:grpSpPr>
        <p:sp>
          <p:nvSpPr>
            <p:cNvPr id="28" name="자유형 31">
              <a:extLst>
                <a:ext uri="{FF2B5EF4-FFF2-40B4-BE49-F238E27FC236}">
                  <a16:creationId xmlns:a16="http://schemas.microsoft.com/office/drawing/2014/main" id="{BBD6A45D-2C84-7AB7-B950-4A4594669579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C285E65-CED0-8805-5E27-0A5E93DC9C6F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신설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28CF6A0C-D6D0-B1F0-11E2-2FCEF4C09C18}"/>
              </a:ext>
            </a:extLst>
          </p:cNvPr>
          <p:cNvSpPr txBox="1"/>
          <p:nvPr/>
        </p:nvSpPr>
        <p:spPr>
          <a:xfrm>
            <a:off x="2181029" y="2863140"/>
            <a:ext cx="7529305" cy="64633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50850" indent="-450850" latinLnBrk="0"/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24.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졸업유예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고등학교에서 출석일수는 충족하였으나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졸업에 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필요한 학점을 모두 취득하지 못해 졸업 자격을 얻지 못함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3E78D6D-5A46-6189-B0C4-42EBA649238D}"/>
              </a:ext>
            </a:extLst>
          </p:cNvPr>
          <p:cNvGrpSpPr/>
          <p:nvPr/>
        </p:nvGrpSpPr>
        <p:grpSpPr>
          <a:xfrm>
            <a:off x="2120356" y="2403099"/>
            <a:ext cx="2775494" cy="299049"/>
            <a:chOff x="2120356" y="4314983"/>
            <a:chExt cx="2775494" cy="299049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4949BDF1-D16A-D491-FFA1-7AE1C6BBB966}"/>
                </a:ext>
              </a:extLst>
            </p:cNvPr>
            <p:cNvSpPr/>
            <p:nvPr/>
          </p:nvSpPr>
          <p:spPr>
            <a:xfrm>
              <a:off x="2120356" y="4314983"/>
              <a:ext cx="2775494" cy="299049"/>
            </a:xfrm>
            <a:prstGeom prst="roundRect">
              <a:avLst>
                <a:gd name="adj" fmla="val 50000"/>
              </a:avLst>
            </a:prstGeom>
            <a:solidFill>
              <a:srgbClr val="1D83FF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DD93815-2BE0-0962-6F6C-D8DEC7B07B39}"/>
                </a:ext>
              </a:extLst>
            </p:cNvPr>
            <p:cNvSpPr txBox="1"/>
            <p:nvPr/>
          </p:nvSpPr>
          <p:spPr>
            <a:xfrm>
              <a:off x="2218487" y="4356786"/>
              <a:ext cx="2579233" cy="21544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fontAlgn="base"/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별표 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7(</a:t>
              </a:r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학적처리에 사용하는 용어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2FD5A08-F0E4-88E1-80B5-38DBF974ADAF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35" name="사각형: 둥근 위쪽 모서리 34">
              <a:extLst>
                <a:ext uri="{FF2B5EF4-FFF2-40B4-BE49-F238E27FC236}">
                  <a16:creationId xmlns:a16="http://schemas.microsoft.com/office/drawing/2014/main" id="{BE9382F7-8151-270D-3A09-C7991764578A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E7E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6" name="사각형: 둥근 위쪽 모서리 35">
              <a:extLst>
                <a:ext uri="{FF2B5EF4-FFF2-40B4-BE49-F238E27FC236}">
                  <a16:creationId xmlns:a16="http://schemas.microsoft.com/office/drawing/2014/main" id="{33A2C88F-DBE0-8129-3510-8D7AE861DC1D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BFC5E135-A404-08E4-475E-A0D880247DB6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4E7E36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8" name="사각형: 둥근 위쪽 모서리 37">
              <a:extLst>
                <a:ext uri="{FF2B5EF4-FFF2-40B4-BE49-F238E27FC236}">
                  <a16:creationId xmlns:a16="http://schemas.microsoft.com/office/drawing/2014/main" id="{6F288749-7A9A-41DE-5191-CBBE449E61EF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4E7E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9" name="사각형: 둥근 위쪽 모서리 38">
              <a:extLst>
                <a:ext uri="{FF2B5EF4-FFF2-40B4-BE49-F238E27FC236}">
                  <a16:creationId xmlns:a16="http://schemas.microsoft.com/office/drawing/2014/main" id="{7C82DF83-207B-D7F7-991B-5D319A661A4E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75AC02A-9EE5-A1DE-212D-D473094E3E78}"/>
                </a:ext>
              </a:extLst>
            </p:cNvPr>
            <p:cNvSpPr txBox="1"/>
            <p:nvPr/>
          </p:nvSpPr>
          <p:spPr>
            <a:xfrm>
              <a:off x="904827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해설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FA8BD6F-B7BB-15F8-959F-0923BD283E2E}"/>
                </a:ext>
              </a:extLst>
            </p:cNvPr>
            <p:cNvSpPr txBox="1"/>
            <p:nvPr/>
          </p:nvSpPr>
          <p:spPr>
            <a:xfrm>
              <a:off x="8939272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p.35</a:t>
              </a:r>
            </a:p>
          </p:txBody>
        </p:sp>
      </p:grp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C650D5C-EB35-DB18-16E9-986B34A3C942}"/>
              </a:ext>
            </a:extLst>
          </p:cNvPr>
          <p:cNvSpPr/>
          <p:nvPr/>
        </p:nvSpPr>
        <p:spPr>
          <a:xfrm>
            <a:off x="2163401" y="3852639"/>
            <a:ext cx="7726166" cy="1814229"/>
          </a:xfrm>
          <a:prstGeom prst="roundRect">
            <a:avLst>
              <a:gd name="adj" fmla="val 7759"/>
            </a:avLst>
          </a:prstGeom>
          <a:solidFill>
            <a:srgbClr val="1D83FF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8363FF-966B-63E3-EF2E-0DF7987AE2C3}"/>
              </a:ext>
            </a:extLst>
          </p:cNvPr>
          <p:cNvSpPr txBox="1"/>
          <p:nvPr/>
        </p:nvSpPr>
        <p:spPr>
          <a:xfrm>
            <a:off x="2407060" y="4113422"/>
            <a:ext cx="7463582" cy="129266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31775" indent="-231775" latinLnBrk="0"/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▪ 졸업유예는 고교학점제 적용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(2025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학년도 입학생부터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따라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수업일수의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분의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이상 출석하여 출석일수 기준은 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충족하였으나 학교의 졸업에 필요한 학점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(192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학점 이상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취득하지 못해 졸업 자격을 얻지 못한 경우를 말한다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361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EB31B-295D-0151-4864-15E4CC90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10EE2C-F285-4E2B-22C8-F9C2CDCA3E98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C92BC96-2518-5A27-20AF-42444E80CACA}"/>
              </a:ext>
            </a:extLst>
          </p:cNvPr>
          <p:cNvGrpSpPr/>
          <p:nvPr/>
        </p:nvGrpSpPr>
        <p:grpSpPr>
          <a:xfrm>
            <a:off x="512864" y="4824464"/>
            <a:ext cx="1155600" cy="404231"/>
            <a:chOff x="512864" y="4824464"/>
            <a:chExt cx="1155600" cy="404231"/>
          </a:xfrm>
        </p:grpSpPr>
        <p:sp>
          <p:nvSpPr>
            <p:cNvPr id="4" name="자유형 31">
              <a:extLst>
                <a:ext uri="{FF2B5EF4-FFF2-40B4-BE49-F238E27FC236}">
                  <a16:creationId xmlns:a16="http://schemas.microsoft.com/office/drawing/2014/main" id="{05B039FB-6A1B-56EB-E255-2DDB8E732529}"/>
                </a:ext>
              </a:extLst>
            </p:cNvPr>
            <p:cNvSpPr/>
            <p:nvPr/>
          </p:nvSpPr>
          <p:spPr>
            <a:xfrm rot="10800000" flipV="1">
              <a:off x="512864" y="4824464"/>
              <a:ext cx="1155600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502A06B-D33C-DB50-2FC0-8894AEB0B2BB}"/>
                </a:ext>
              </a:extLst>
            </p:cNvPr>
            <p:cNvSpPr txBox="1"/>
            <p:nvPr/>
          </p:nvSpPr>
          <p:spPr>
            <a:xfrm>
              <a:off x="636992" y="4888081"/>
              <a:ext cx="908903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spc="-1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일부 수정</a:t>
              </a:r>
            </a:p>
          </p:txBody>
        </p:sp>
      </p:grpSp>
      <p:sp>
        <p:nvSpPr>
          <p:cNvPr id="6" name="그래픽 2362">
            <a:extLst>
              <a:ext uri="{FF2B5EF4-FFF2-40B4-BE49-F238E27FC236}">
                <a16:creationId xmlns:a16="http://schemas.microsoft.com/office/drawing/2014/main" id="{F0633747-A111-C48D-7558-1A0B3C351AA0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35D1E07-1064-FC19-11EB-597F65FA62D5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A1BB2AF-779B-756E-A0EF-166EDCFE8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6096B4FF-D855-D966-8358-5DDB9E13AC67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2C99535-5148-7F35-1A06-5387289F6E92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59E5C46-7FF9-E450-5A06-8BF582E0F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987695E7-07F5-789E-EA8B-1843061A3584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E6D67E0-914D-E919-FAF3-8DBDEC149EA9}"/>
              </a:ext>
            </a:extLst>
          </p:cNvPr>
          <p:cNvSpPr txBox="1"/>
          <p:nvPr/>
        </p:nvSpPr>
        <p:spPr>
          <a:xfrm>
            <a:off x="2101309" y="2402747"/>
            <a:ext cx="8289129" cy="118494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33363" indent="-233363" latinLnBrk="0">
              <a:spcAft>
                <a:spcPts val="300"/>
              </a:spcAft>
            </a:pP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지각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조퇴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결과</a:t>
            </a:r>
          </a:p>
          <a:p>
            <a:pPr marL="419100" indent="-177800" latinLnBrk="0">
              <a:spcAft>
                <a:spcPts val="300"/>
              </a:spcAft>
            </a:pP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2)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고등학교는 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학년도 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학년부터 각 학년과정의 수료에 필요한 출석일수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수업일수의 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분의 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이상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외에도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b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학점 취득을 위한 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2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과목출석률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실제 운영한 수업 횟수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분의 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이상 출석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)’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 적용된다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따라서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 담당교사는 </a:t>
            </a:r>
            <a:b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매시간 학생의 수업 참여 여부를 확인하고 </a:t>
            </a:r>
            <a:r>
              <a:rPr lang="ko-KR" altLang="en-US" sz="12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나이스에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입력해야 한다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출석인정 결석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결과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경우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출석으로 반영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</a:p>
          <a:p>
            <a:pPr marL="603250" indent="-165100" latinLnBrk="0">
              <a:spcAft>
                <a:spcPts val="300"/>
              </a:spcAft>
            </a:pP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학교는 </a:t>
            </a:r>
            <a:r>
              <a:rPr lang="ko-KR" altLang="en-US" sz="12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출결관련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규정에 결과처리 기준을 포함하여야 하며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사전에 학생 및 학부모에게 안내하여 정확한 출결 </a:t>
            </a:r>
            <a:b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관리가 이루어질 수 있도록 노력해야 함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2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4C4D9D5-9C7F-C844-7F5A-AB5EC5FA48F4}"/>
              </a:ext>
            </a:extLst>
          </p:cNvPr>
          <p:cNvGrpSpPr/>
          <p:nvPr/>
        </p:nvGrpSpPr>
        <p:grpSpPr>
          <a:xfrm>
            <a:off x="522288" y="518880"/>
            <a:ext cx="3504325" cy="677108"/>
            <a:chOff x="522288" y="518880"/>
            <a:chExt cx="3504325" cy="67710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3867935-3497-9A71-7CEE-191B7EA14F61}"/>
                </a:ext>
              </a:extLst>
            </p:cNvPr>
            <p:cNvSpPr txBox="1"/>
            <p:nvPr/>
          </p:nvSpPr>
          <p:spPr>
            <a:xfrm>
              <a:off x="1923473" y="518880"/>
              <a:ext cx="2103140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출결상황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E930B1E0-A471-AF66-0993-2D4038BB89EE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9AC67499-F5FC-C4ED-3176-8493412792EB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A8BFF6-DC42-0ED7-2329-6C13BC8374A8}"/>
                  </a:ext>
                </a:extLst>
              </p:cNvPr>
              <p:cNvSpPr txBox="1"/>
              <p:nvPr/>
            </p:nvSpPr>
            <p:spPr>
              <a:xfrm>
                <a:off x="730741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8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31DC16D-FAEF-1496-CCE0-D2E8ACE252B6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B323FF9-CAE3-00D5-B569-936387A84C6C}"/>
              </a:ext>
            </a:extLst>
          </p:cNvPr>
          <p:cNvGrpSpPr/>
          <p:nvPr/>
        </p:nvGrpSpPr>
        <p:grpSpPr>
          <a:xfrm>
            <a:off x="522288" y="1454050"/>
            <a:ext cx="2956316" cy="450951"/>
            <a:chOff x="522288" y="1454050"/>
            <a:chExt cx="2956316" cy="45095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1D3AA69-545B-89B1-44F7-ABC92052DC85}"/>
                </a:ext>
              </a:extLst>
            </p:cNvPr>
            <p:cNvSpPr txBox="1"/>
            <p:nvPr/>
          </p:nvSpPr>
          <p:spPr>
            <a:xfrm>
              <a:off x="1340198" y="1564200"/>
              <a:ext cx="2138406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과목출석률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산정기준 변경</a:t>
              </a: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08C51D5D-07BD-3A2B-C93E-5BA1FBB10447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33" name="사각형: 둥근 위쪽 모서리 32">
                <a:extLst>
                  <a:ext uri="{FF2B5EF4-FFF2-40B4-BE49-F238E27FC236}">
                    <a16:creationId xmlns:a16="http://schemas.microsoft.com/office/drawing/2014/main" id="{4B6894F4-5AC8-440A-E4B0-6C42ED40510E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사각형: 둥근 위쪽 모서리 33">
                <a:extLst>
                  <a:ext uri="{FF2B5EF4-FFF2-40B4-BE49-F238E27FC236}">
                    <a16:creationId xmlns:a16="http://schemas.microsoft.com/office/drawing/2014/main" id="{26ED12A7-640E-1825-5ABC-A7EC062A8220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1E3EBE5-0F87-5AE5-7D65-E3C7F9EF66B2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B584C819-D1C8-B24F-367A-979F96CA0561}"/>
              </a:ext>
            </a:extLst>
          </p:cNvPr>
          <p:cNvSpPr txBox="1"/>
          <p:nvPr/>
        </p:nvSpPr>
        <p:spPr>
          <a:xfrm>
            <a:off x="2181029" y="4426344"/>
            <a:ext cx="8023030" cy="193899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38125" indent="-238125" latinLnBrk="0"/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▪ 고등학교는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학년도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학년부터 각 학년 과정의 수료에 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필요한 출석일수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수업일수의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분의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이상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외에도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학점 취득을 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위한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과목출석률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(1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학점당 </a:t>
            </a:r>
            <a:r>
              <a:rPr lang="ko-KR" altLang="en-US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수업량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(16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회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분의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이상 출석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)’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적용된다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따라서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 담당교사는 매시간 학생의 수업 참여 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여부를 확인하고 </a:t>
            </a:r>
            <a:r>
              <a:rPr lang="ko-KR" altLang="en-US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나이스에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입력해야한다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(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출석인정 결석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결과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경우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출석으로 반영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386FF3A-E7FF-BA88-9403-20322DC851C7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38" name="사각형: 둥근 위쪽 모서리 37">
              <a:extLst>
                <a:ext uri="{FF2B5EF4-FFF2-40B4-BE49-F238E27FC236}">
                  <a16:creationId xmlns:a16="http://schemas.microsoft.com/office/drawing/2014/main" id="{2E605533-48E2-70CB-A4D9-B90B5075E34D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E7E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9" name="사각형: 둥근 위쪽 모서리 38">
              <a:extLst>
                <a:ext uri="{FF2B5EF4-FFF2-40B4-BE49-F238E27FC236}">
                  <a16:creationId xmlns:a16="http://schemas.microsoft.com/office/drawing/2014/main" id="{F885A623-2EB1-1B66-8563-104FF87601DE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3FEF59D6-C2D3-51A0-B97B-02A2C81B3F66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4E7E36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1" name="사각형: 둥근 위쪽 모서리 40">
              <a:extLst>
                <a:ext uri="{FF2B5EF4-FFF2-40B4-BE49-F238E27FC236}">
                  <a16:creationId xmlns:a16="http://schemas.microsoft.com/office/drawing/2014/main" id="{33070A39-9796-E254-E870-3890E08A86C8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4E7E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2" name="사각형: 둥근 위쪽 모서리 41">
              <a:extLst>
                <a:ext uri="{FF2B5EF4-FFF2-40B4-BE49-F238E27FC236}">
                  <a16:creationId xmlns:a16="http://schemas.microsoft.com/office/drawing/2014/main" id="{FF8DBB37-83F5-A026-CF41-E47E028D81E9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5E8A953-5A18-EC18-3193-1AEAE8118F81}"/>
                </a:ext>
              </a:extLst>
            </p:cNvPr>
            <p:cNvSpPr txBox="1"/>
            <p:nvPr/>
          </p:nvSpPr>
          <p:spPr>
            <a:xfrm>
              <a:off x="904827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해설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BD7082B-6043-EDED-B312-8E56EA3B55D1}"/>
                </a:ext>
              </a:extLst>
            </p:cNvPr>
            <p:cNvSpPr txBox="1"/>
            <p:nvPr/>
          </p:nvSpPr>
          <p:spPr>
            <a:xfrm>
              <a:off x="8939272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063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0A4BD-221E-1127-75E0-8DDB07D09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579EDF-1891-A589-8BF9-2467A6AE0A40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3A4B6AB-7B6D-3B8E-9826-DEFD96A9722E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4" name="자유형 31">
              <a:extLst>
                <a:ext uri="{FF2B5EF4-FFF2-40B4-BE49-F238E27FC236}">
                  <a16:creationId xmlns:a16="http://schemas.microsoft.com/office/drawing/2014/main" id="{444880FA-D66F-2FD2-DEF2-7F10FA7528FF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E20386A-DD5B-CB24-95C7-9C2317B9B8BA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6" name="그래픽 2362">
            <a:extLst>
              <a:ext uri="{FF2B5EF4-FFF2-40B4-BE49-F238E27FC236}">
                <a16:creationId xmlns:a16="http://schemas.microsoft.com/office/drawing/2014/main" id="{F020E057-627E-503E-209E-1D0B1E92B110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F19ECB8-78C7-E265-89F6-D655BF6E6C12}"/>
              </a:ext>
            </a:extLst>
          </p:cNvPr>
          <p:cNvGrpSpPr/>
          <p:nvPr/>
        </p:nvGrpSpPr>
        <p:grpSpPr>
          <a:xfrm>
            <a:off x="1881855" y="4105275"/>
            <a:ext cx="8289258" cy="3419772"/>
            <a:chOff x="1881855" y="4105275"/>
            <a:chExt cx="8289258" cy="320679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87AEAD8-D794-91E7-019A-334FE1770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E4FB4C1E-088F-B068-4071-FEF8866B38E6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C982937-B2F2-4CAC-CD46-D034E98CF523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CC84AE7-4656-6BC9-5BFF-F6AA10F6E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DDFABF1B-2F7C-F4EC-9E1E-9864E6C10867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BBCBAD7-917C-3931-750C-932489DEA834}"/>
              </a:ext>
            </a:extLst>
          </p:cNvPr>
          <p:cNvSpPr txBox="1"/>
          <p:nvPr/>
        </p:nvSpPr>
        <p:spPr>
          <a:xfrm>
            <a:off x="2023970" y="2330108"/>
            <a:ext cx="8170506" cy="135934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77200" indent="-277200" latinLnBrk="0">
              <a:spcAft>
                <a:spcPts val="100"/>
              </a:spcAft>
            </a:pP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➌ 특기사항</a:t>
            </a:r>
          </a:p>
          <a:p>
            <a:pPr marL="276225" indent="-177800" latinLnBrk="0">
              <a:spcAft>
                <a:spcPts val="100"/>
              </a:spcAft>
            </a:pP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특기사항에 입력하는 내용은 다음과 같다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76225" indent="-38100" latinLnBrk="0">
              <a:spcAft>
                <a:spcPts val="100"/>
              </a:spcAft>
            </a:pP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1)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장기결석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결석 종류별로 사유를 입력함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361950" latinLnBrk="0">
              <a:spcAft>
                <a:spcPts val="100"/>
              </a:spcAft>
            </a:pP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‘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장기결석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은 같은 종류로 연속하여 출석하지 않은 경우로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그 기간은 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7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 내외의 범위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최대 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일의 범위에서 조정 가능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에서 학교장이 정함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361950" latinLnBrk="0">
              <a:spcAft>
                <a:spcPts val="100"/>
              </a:spcAft>
            </a:pP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학교장이 정한 기간의 장기결석 중 질병결석인 경우에도 사유를 입력하되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개인정보를 보호할 필요가 있다고 판단되는 질병의 경우에는 학업성적관리위원회의 심의를 통해 사유를 입력하지 않음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</a:p>
          <a:p>
            <a:pPr marL="361950" latinLnBrk="0">
              <a:spcAft>
                <a:spcPts val="100"/>
              </a:spcAft>
            </a:pP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출석인정 결석은 특기사항에 사유를 입력하지 않음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3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학년의 경우 학교폭력 가해학생 조치사항은 입력함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).</a:t>
            </a:r>
          </a:p>
          <a:p>
            <a:pPr marL="276225" indent="-38100" latinLnBrk="0">
              <a:spcAft>
                <a:spcPts val="100"/>
              </a:spcAft>
            </a:pP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2) 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기타결석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1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일이라도 사유를 입력함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76225" indent="-38100" latinLnBrk="0">
              <a:spcAft>
                <a:spcPts val="100"/>
              </a:spcAft>
            </a:pP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3) 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단기결석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횟수가 많을 경우 이를 누계하여 주된 사유를 입력할 수 있음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76225" indent="-38100" latinLnBrk="0">
              <a:spcAft>
                <a:spcPts val="100"/>
              </a:spcAft>
            </a:pP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4) 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지각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조퇴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결과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입력하지 않으나 횟수가 많은 지각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조퇴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결과의 경우 사유를 입력할 수 있음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361950" indent="-4763" latinLnBrk="0">
              <a:spcAft>
                <a:spcPts val="100"/>
              </a:spcAft>
            </a:pP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&lt;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예시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&gt; 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감기로 인한 질병조퇴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(13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회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), 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부 간병으로 인한 기타조퇴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(10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회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), 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병원 정기진료로 인한 질병지각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(15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회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</a:p>
          <a:p>
            <a:pPr marL="361950" indent="-4763" latinLnBrk="0">
              <a:spcAft>
                <a:spcPts val="100"/>
              </a:spcAft>
            </a:pP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입력할 수 있는 단기결석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지각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조퇴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결과 횟수는 학교장이 정함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7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8E1AD11-D653-816D-8618-87AD0E067CFE}"/>
              </a:ext>
            </a:extLst>
          </p:cNvPr>
          <p:cNvGrpSpPr/>
          <p:nvPr/>
        </p:nvGrpSpPr>
        <p:grpSpPr>
          <a:xfrm>
            <a:off x="522288" y="518880"/>
            <a:ext cx="3504325" cy="677108"/>
            <a:chOff x="522288" y="518880"/>
            <a:chExt cx="3504325" cy="67710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95F23B3-77C2-6175-0449-480E940B6555}"/>
                </a:ext>
              </a:extLst>
            </p:cNvPr>
            <p:cNvSpPr txBox="1"/>
            <p:nvPr/>
          </p:nvSpPr>
          <p:spPr>
            <a:xfrm>
              <a:off x="1923473" y="518880"/>
              <a:ext cx="2103140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출결상황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557A6B74-C509-9B62-472C-6A4527574165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E19A4F21-C363-48C0-AB04-10F112DEDACF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4903A10-4BCA-BDEB-5ABD-21FDD4499809}"/>
                  </a:ext>
                </a:extLst>
              </p:cNvPr>
              <p:cNvSpPr txBox="1"/>
              <p:nvPr/>
            </p:nvSpPr>
            <p:spPr>
              <a:xfrm>
                <a:off x="730741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8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55F71F0-CA44-D3FA-C0FF-AA9B23432B3F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18E2126-36E0-03EC-2E86-C7077B078E0E}"/>
              </a:ext>
            </a:extLst>
          </p:cNvPr>
          <p:cNvGrpSpPr/>
          <p:nvPr/>
        </p:nvGrpSpPr>
        <p:grpSpPr>
          <a:xfrm>
            <a:off x="522288" y="1454050"/>
            <a:ext cx="6396360" cy="450951"/>
            <a:chOff x="522288" y="1454050"/>
            <a:chExt cx="6396360" cy="45095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F855E3C-8587-419C-3B2F-401049DC5C65}"/>
                </a:ext>
              </a:extLst>
            </p:cNvPr>
            <p:cNvSpPr txBox="1"/>
            <p:nvPr/>
          </p:nvSpPr>
          <p:spPr>
            <a:xfrm>
              <a:off x="1340198" y="1564200"/>
              <a:ext cx="5578450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장기결석 사유 필수 기재 변경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1500" b="1" spc="-5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미인정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결석 중 사유 </a:t>
              </a:r>
              <a:r>
                <a:rPr lang="ko-KR" altLang="en-US" sz="1500" b="1" spc="-5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미입력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사례 명시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23D4F6E-B6F2-3E88-B2CE-E2AA3C34548C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23" name="사각형: 둥근 위쪽 모서리 22">
                <a:extLst>
                  <a:ext uri="{FF2B5EF4-FFF2-40B4-BE49-F238E27FC236}">
                    <a16:creationId xmlns:a16="http://schemas.microsoft.com/office/drawing/2014/main" id="{49DBF0B7-56F5-4749-CA59-D6F752949C39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사각형: 둥근 위쪽 모서리 23">
                <a:extLst>
                  <a:ext uri="{FF2B5EF4-FFF2-40B4-BE49-F238E27FC236}">
                    <a16:creationId xmlns:a16="http://schemas.microsoft.com/office/drawing/2014/main" id="{79A41C15-7537-0B15-26EF-0C94ABB5B169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A36816C-3101-3DF3-B9E8-14183FBC293C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5CE8478B-A110-5CE7-5EB4-C02B99723A54}"/>
              </a:ext>
            </a:extLst>
          </p:cNvPr>
          <p:cNvSpPr txBox="1"/>
          <p:nvPr/>
        </p:nvSpPr>
        <p:spPr>
          <a:xfrm>
            <a:off x="2086764" y="4220224"/>
            <a:ext cx="7928452" cy="280076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165100" indent="-165100" latinLnBrk="0"/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➌ 특기사항</a:t>
            </a:r>
          </a:p>
          <a:p>
            <a:pPr marL="165100" indent="19050" latinLnBrk="0"/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특기사항에 입력하는 내용은 다음과 같다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165100" indent="282575" latinLnBrk="0"/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1)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기타결석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1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일이라도 사유를 입력함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165100" indent="282575" latinLnBrk="0"/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2)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질병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3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미인정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결석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</a:t>
            </a:r>
            <a:r>
              <a:rPr lang="ko-KR" altLang="en-US" sz="13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출결상황에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대한 이해를 높이는 데 필요한 경우 사유를 입력할 수 있음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165100" indent="282575" latinLnBrk="0"/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※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다만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질병결석 사유를 입력할 경우 개인정보를 보호할 필요가 있다고 판단되는 질병은 </a:t>
            </a:r>
            <a:endParaRPr lang="en-US" altLang="ko-KR" sz="13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165100" indent="282575" latinLnBrk="0"/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  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기재하지 않도록 유의해야 함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846138" indent="-198438" latinLnBrk="0"/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「학교폭력예방 및 대책에 관한 법률」 제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17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조제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sz="13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항제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6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호에 따른 출석정지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「교원의 지위 향상 및 </a:t>
            </a:r>
            <a:b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교육활동 보호를 위한 특별법」 제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25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조제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sz="13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항제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호에 따른 출석정지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「초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중등교육법 시행령」 </a:t>
            </a:r>
            <a:b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제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31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징계 등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제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sz="13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항제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호에 따른 출석정지에 따른 </a:t>
            </a:r>
            <a:r>
              <a:rPr lang="ko-KR" altLang="en-US" sz="13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미인정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결석은 출결 특기사항에 </a:t>
            </a:r>
            <a:b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사유를 입력하지 않음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</a:p>
          <a:p>
            <a:pPr marL="165100" indent="282575" latinLnBrk="0"/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3)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지각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조퇴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결과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입력하지 않으나 횟수가 많은 지각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조퇴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결과의 경우 사유를 입력할 수 있음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846138" indent="-198438" latinLnBrk="0"/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‘2)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질병 및 </a:t>
            </a:r>
            <a:r>
              <a:rPr lang="ko-KR" altLang="en-US" sz="13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미인정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결석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 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‘3)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지각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조퇴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결과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사유 입력 여부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 기준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 내용 등</a:t>
            </a:r>
            <a:b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구체적인 사항은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학교장이 정하되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단위 학교 내에서 동일하게 적용함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</a:p>
          <a:p>
            <a:pPr marL="165100" indent="282575" latinLnBrk="0"/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4)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출석인정 결석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사유를 입력하지 않음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3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3419524-7D2C-A864-DA7D-FE876C0BC8DF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36" name="사각형: 둥근 위쪽 모서리 35">
              <a:extLst>
                <a:ext uri="{FF2B5EF4-FFF2-40B4-BE49-F238E27FC236}">
                  <a16:creationId xmlns:a16="http://schemas.microsoft.com/office/drawing/2014/main" id="{EBEA4316-D067-B421-29DF-119A6515CF9C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7" name="사각형: 둥근 위쪽 모서리 36">
              <a:extLst>
                <a:ext uri="{FF2B5EF4-FFF2-40B4-BE49-F238E27FC236}">
                  <a16:creationId xmlns:a16="http://schemas.microsoft.com/office/drawing/2014/main" id="{D1064E2C-E540-5FF6-0AA8-9D85C823A114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DFC41CE4-3119-A818-4BC5-4E9F8E845725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9" name="사각형: 둥근 위쪽 모서리 38">
              <a:extLst>
                <a:ext uri="{FF2B5EF4-FFF2-40B4-BE49-F238E27FC236}">
                  <a16:creationId xmlns:a16="http://schemas.microsoft.com/office/drawing/2014/main" id="{8BA9B9E2-C947-82B5-BA05-EBAA3E52FFCB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0" name="사각형: 둥근 위쪽 모서리 39">
              <a:extLst>
                <a:ext uri="{FF2B5EF4-FFF2-40B4-BE49-F238E27FC236}">
                  <a16:creationId xmlns:a16="http://schemas.microsoft.com/office/drawing/2014/main" id="{67063C8C-E806-207F-7558-A5157B176397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9D3EF74-2C1A-EE2A-9ABE-C3E1DD162F5D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E082B8A-BF37-59A6-0631-67CE8F445443}"/>
                </a:ext>
              </a:extLst>
            </p:cNvPr>
            <p:cNvSpPr txBox="1"/>
            <p:nvPr/>
          </p:nvSpPr>
          <p:spPr>
            <a:xfrm>
              <a:off x="893927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p.58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6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5E411-A82A-1FA7-1D42-ADCEA6F4B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C7C9FD-AC6A-CFC0-E514-DCD4E3136767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그래픽 2362">
            <a:extLst>
              <a:ext uri="{FF2B5EF4-FFF2-40B4-BE49-F238E27FC236}">
                <a16:creationId xmlns:a16="http://schemas.microsoft.com/office/drawing/2014/main" id="{89A1F943-8E8D-ABEC-7782-55D17688618D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CC5BB37-1A94-9902-9FEF-55D483043607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EAD37C3-CC45-341F-A00D-74636BA00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029FC6C6-B8CF-9B88-45FB-4CD2D2CA94B8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C9B7D0E-24A6-82B0-BB72-035BDFED3331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E76B22A-B337-31F3-0EF2-4B382C882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2C97416C-FD43-8CB1-470B-22985FB7AC24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3B83B3D-7EA8-B4CB-5938-0AF0B2204B50}"/>
              </a:ext>
            </a:extLst>
          </p:cNvPr>
          <p:cNvGrpSpPr/>
          <p:nvPr/>
        </p:nvGrpSpPr>
        <p:grpSpPr>
          <a:xfrm>
            <a:off x="522288" y="518880"/>
            <a:ext cx="3504325" cy="677108"/>
            <a:chOff x="522288" y="518880"/>
            <a:chExt cx="3504325" cy="67710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D61CEC6-FBFD-FC78-1284-8A0149F3276E}"/>
                </a:ext>
              </a:extLst>
            </p:cNvPr>
            <p:cNvSpPr txBox="1"/>
            <p:nvPr/>
          </p:nvSpPr>
          <p:spPr>
            <a:xfrm>
              <a:off x="1923473" y="518880"/>
              <a:ext cx="2103140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출결상황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31567D17-B013-1540-43AE-8E38F828B3A5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7219E82D-3ECC-CDC3-9748-D31055DD8D40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3703D9D-832A-3D94-C8A3-A248951E301D}"/>
                  </a:ext>
                </a:extLst>
              </p:cNvPr>
              <p:cNvSpPr txBox="1"/>
              <p:nvPr/>
            </p:nvSpPr>
            <p:spPr>
              <a:xfrm>
                <a:off x="730741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8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A5E4B91-97D1-D3C3-4741-A7448588DD8D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4878B56-0412-A06A-108B-118F4C2A5B5C}"/>
              </a:ext>
            </a:extLst>
          </p:cNvPr>
          <p:cNvGrpSpPr/>
          <p:nvPr/>
        </p:nvGrpSpPr>
        <p:grpSpPr>
          <a:xfrm>
            <a:off x="522288" y="1454050"/>
            <a:ext cx="4025519" cy="450951"/>
            <a:chOff x="522288" y="1454050"/>
            <a:chExt cx="4025519" cy="45095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CB94BDF-1203-86AF-8CC2-7711EBAAEB4C}"/>
                </a:ext>
              </a:extLst>
            </p:cNvPr>
            <p:cNvSpPr txBox="1"/>
            <p:nvPr/>
          </p:nvSpPr>
          <p:spPr>
            <a:xfrm>
              <a:off x="1340198" y="1564200"/>
              <a:ext cx="3207609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출결상황 특기사항 기재 범위 변경 반영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4C452FCD-941A-0E32-73A1-D47CB10C6C1C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23" name="사각형: 둥근 위쪽 모서리 22">
                <a:extLst>
                  <a:ext uri="{FF2B5EF4-FFF2-40B4-BE49-F238E27FC236}">
                    <a16:creationId xmlns:a16="http://schemas.microsoft.com/office/drawing/2014/main" id="{6033C2A1-B5AA-8551-E2D4-FD00C7132459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사각형: 둥근 위쪽 모서리 23">
                <a:extLst>
                  <a:ext uri="{FF2B5EF4-FFF2-40B4-BE49-F238E27FC236}">
                    <a16:creationId xmlns:a16="http://schemas.microsoft.com/office/drawing/2014/main" id="{9FC5B8DB-B5E4-D230-A084-DDED89456AF4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871B5BE-75F1-46A8-B8F9-D43EEF0537D6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AB25261-45DD-AE09-4C54-3299EEA02EE2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28" name="사각형: 둥근 위쪽 모서리 27">
              <a:extLst>
                <a:ext uri="{FF2B5EF4-FFF2-40B4-BE49-F238E27FC236}">
                  <a16:creationId xmlns:a16="http://schemas.microsoft.com/office/drawing/2014/main" id="{85F62959-CE01-225A-FFA8-BC4ECED10154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9" name="사각형: 둥근 위쪽 모서리 28">
              <a:extLst>
                <a:ext uri="{FF2B5EF4-FFF2-40B4-BE49-F238E27FC236}">
                  <a16:creationId xmlns:a16="http://schemas.microsoft.com/office/drawing/2014/main" id="{4E9F8A3D-CD1B-A151-FF80-A67830910103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22038951-380B-90F5-48F7-2A47B8C9743E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1" name="사각형: 둥근 위쪽 모서리 30">
              <a:extLst>
                <a:ext uri="{FF2B5EF4-FFF2-40B4-BE49-F238E27FC236}">
                  <a16:creationId xmlns:a16="http://schemas.microsoft.com/office/drawing/2014/main" id="{148CF291-7ABA-51E8-F6C5-AEEB0CB4E92D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2" name="사각형: 둥근 위쪽 모서리 31">
              <a:extLst>
                <a:ext uri="{FF2B5EF4-FFF2-40B4-BE49-F238E27FC236}">
                  <a16:creationId xmlns:a16="http://schemas.microsoft.com/office/drawing/2014/main" id="{ACA6B517-59C5-9FC8-22B0-763EB1E035C4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BEE7781-79D6-3099-0BD4-74306705E203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F5E9EC4-530A-078C-8A9D-A17F1110FD2E}"/>
                </a:ext>
              </a:extLst>
            </p:cNvPr>
            <p:cNvSpPr txBox="1"/>
            <p:nvPr/>
          </p:nvSpPr>
          <p:spPr>
            <a:xfrm>
              <a:off x="893927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p.58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58D8244-AD6B-5E2D-B601-C6E1F50A52A9}"/>
              </a:ext>
            </a:extLst>
          </p:cNvPr>
          <p:cNvGrpSpPr/>
          <p:nvPr/>
        </p:nvGrpSpPr>
        <p:grpSpPr>
          <a:xfrm>
            <a:off x="512864" y="4824464"/>
            <a:ext cx="1155600" cy="404231"/>
            <a:chOff x="512864" y="4824464"/>
            <a:chExt cx="1155600" cy="404231"/>
          </a:xfrm>
        </p:grpSpPr>
        <p:sp>
          <p:nvSpPr>
            <p:cNvPr id="36" name="자유형 31">
              <a:extLst>
                <a:ext uri="{FF2B5EF4-FFF2-40B4-BE49-F238E27FC236}">
                  <a16:creationId xmlns:a16="http://schemas.microsoft.com/office/drawing/2014/main" id="{809BA456-050A-5BE0-8F3E-EAFC8720D496}"/>
                </a:ext>
              </a:extLst>
            </p:cNvPr>
            <p:cNvSpPr/>
            <p:nvPr/>
          </p:nvSpPr>
          <p:spPr>
            <a:xfrm rot="10800000" flipV="1">
              <a:off x="512864" y="4824464"/>
              <a:ext cx="1155600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DBC8A7F-9948-8588-2DA1-184123D25DF0}"/>
                </a:ext>
              </a:extLst>
            </p:cNvPr>
            <p:cNvSpPr txBox="1"/>
            <p:nvPr/>
          </p:nvSpPr>
          <p:spPr>
            <a:xfrm>
              <a:off x="636992" y="4888081"/>
              <a:ext cx="908903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spc="-1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일부 수정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8EB3265-9E4A-479D-242B-281A908E4B14}"/>
              </a:ext>
            </a:extLst>
          </p:cNvPr>
          <p:cNvSpPr txBox="1"/>
          <p:nvPr/>
        </p:nvSpPr>
        <p:spPr>
          <a:xfrm>
            <a:off x="2120359" y="2353624"/>
            <a:ext cx="3379130" cy="21544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77200" indent="-277200" latinLnBrk="0"/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&lt;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예시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&gt;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장기결석과 기타결석이 있는 경우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A204F8-101F-6C15-D265-2F765B55D813}"/>
              </a:ext>
            </a:extLst>
          </p:cNvPr>
          <p:cNvSpPr txBox="1"/>
          <p:nvPr/>
        </p:nvSpPr>
        <p:spPr>
          <a:xfrm>
            <a:off x="2120359" y="4385248"/>
            <a:ext cx="8058296" cy="26161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17600" indent="-417600" latinLnBrk="0"/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예시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학교가 질병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미인정으로 연속 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일 이상 결석 시 사유를 기재하기로 한 경우 </a:t>
            </a:r>
            <a:endParaRPr lang="en-US" altLang="ko-KR" sz="17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ABA8F453-7B15-4E06-6C9F-0FAED0CA81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5055"/>
              </p:ext>
            </p:extLst>
          </p:nvPr>
        </p:nvGraphicFramePr>
        <p:xfrm>
          <a:off x="2120359" y="2624130"/>
          <a:ext cx="7804798" cy="98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977">
                  <a:extLst>
                    <a:ext uri="{9D8B030D-6E8A-4147-A177-3AD203B41FA5}">
                      <a16:colId xmlns:a16="http://schemas.microsoft.com/office/drawing/2014/main" val="3530319265"/>
                    </a:ext>
                  </a:extLst>
                </a:gridCol>
                <a:gridCol w="455925">
                  <a:extLst>
                    <a:ext uri="{9D8B030D-6E8A-4147-A177-3AD203B41FA5}">
                      <a16:colId xmlns:a16="http://schemas.microsoft.com/office/drawing/2014/main" val="2675405602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1487154684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1342597306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3547000739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710802083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1684112824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433937678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2660359615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1176700428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1212790023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562638112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344217456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879239420"/>
                    </a:ext>
                  </a:extLst>
                </a:gridCol>
                <a:gridCol w="1286756">
                  <a:extLst>
                    <a:ext uri="{9D8B030D-6E8A-4147-A177-3AD203B41FA5}">
                      <a16:colId xmlns:a16="http://schemas.microsoft.com/office/drawing/2014/main" val="134289428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학년</a:t>
                      </a:r>
                    </a:p>
                  </a:txBody>
                  <a:tcPr marL="36000" marR="36000" marT="7200" marB="72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7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수업일수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7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결석일수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1043056" rtl="0" eaLnBrk="1" latinLnBrk="1" hangingPunct="1"/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1043056" rtl="0" eaLnBrk="1" latinLnBrk="1" hangingPunct="1"/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7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지각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1043056" rtl="0" eaLnBrk="1" latinLnBrk="1" hangingPunct="1"/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1043056" rtl="0" eaLnBrk="1" latinLnBrk="1" hangingPunct="1"/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7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조퇴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1043056" rtl="0" eaLnBrk="1" latinLnBrk="1" hangingPunct="1"/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1043056" rtl="0" eaLnBrk="1" latinLnBrk="1" hangingPunct="1"/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7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결과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1043056" rtl="0" eaLnBrk="1" latinLnBrk="1" hangingPunct="1"/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1043056" rtl="0" eaLnBrk="1" latinLnBrk="1" hangingPunct="1"/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7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특기사항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1772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1043056" rtl="0" eaLnBrk="1" latinLnBrk="1" hangingPunct="1"/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7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질병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700" b="1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미인정</a:t>
                      </a:r>
                      <a:endParaRPr lang="ko-KR" altLang="en-US" sz="7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7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기타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7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질병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700" b="1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미인정</a:t>
                      </a:r>
                      <a:endParaRPr lang="ko-KR" altLang="en-US" sz="7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7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기타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7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질병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700" b="1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미인정</a:t>
                      </a:r>
                      <a:endParaRPr lang="ko-KR" altLang="en-US" sz="7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7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기타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7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질병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700" b="1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미인정</a:t>
                      </a:r>
                      <a:endParaRPr lang="ko-KR" altLang="en-US" sz="7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7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기타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1043056" rtl="0" eaLnBrk="1" latinLnBrk="1" hangingPunct="1"/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32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en-US" altLang="ko-KR" sz="6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20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66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6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편도선수술</a:t>
                      </a:r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(5</a:t>
                      </a:r>
                      <a:r>
                        <a:rPr lang="ko-KR" altLang="en-US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일</a:t>
                      </a:r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309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15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다리수술</a:t>
                      </a:r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(10</a:t>
                      </a:r>
                      <a:r>
                        <a:rPr lang="ko-KR" altLang="en-US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일</a:t>
                      </a:r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), </a:t>
                      </a:r>
                      <a:r>
                        <a:rPr lang="ko-KR" altLang="en-US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감기</a:t>
                      </a:r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(5</a:t>
                      </a:r>
                      <a:r>
                        <a:rPr lang="ko-KR" altLang="en-US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일</a:t>
                      </a:r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475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부모간병</a:t>
                      </a:r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(3</a:t>
                      </a:r>
                      <a:r>
                        <a:rPr lang="ko-KR" altLang="en-US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일</a:t>
                      </a:r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870503"/>
                  </a:ext>
                </a:extLst>
              </a:tr>
              <a:tr h="54998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27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10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학교생활부적응</a:t>
                      </a:r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(27</a:t>
                      </a:r>
                      <a:r>
                        <a:rPr lang="ko-KR" altLang="en-US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일</a:t>
                      </a:r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), </a:t>
                      </a:r>
                      <a:r>
                        <a:rPr lang="ko-KR" altLang="en-US" sz="6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모간병</a:t>
                      </a:r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일</a:t>
                      </a:r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911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가사조력</a:t>
                      </a:r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일</a:t>
                      </a:r>
                      <a:r>
                        <a:rPr lang="en-US" altLang="ko-KR" sz="6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6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38034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C6F0C0D-0AAD-2419-9E0C-099EC45761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558143"/>
              </p:ext>
            </p:extLst>
          </p:nvPr>
        </p:nvGraphicFramePr>
        <p:xfrm>
          <a:off x="2120359" y="4747557"/>
          <a:ext cx="7804798" cy="201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977">
                  <a:extLst>
                    <a:ext uri="{9D8B030D-6E8A-4147-A177-3AD203B41FA5}">
                      <a16:colId xmlns:a16="http://schemas.microsoft.com/office/drawing/2014/main" val="3530319265"/>
                    </a:ext>
                  </a:extLst>
                </a:gridCol>
                <a:gridCol w="455925">
                  <a:extLst>
                    <a:ext uri="{9D8B030D-6E8A-4147-A177-3AD203B41FA5}">
                      <a16:colId xmlns:a16="http://schemas.microsoft.com/office/drawing/2014/main" val="2675405602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1487154684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1342597306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3547000739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710802083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1684112824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433937678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2660359615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1176700428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1212790023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562638112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344217456"/>
                    </a:ext>
                  </a:extLst>
                </a:gridCol>
                <a:gridCol w="482095">
                  <a:extLst>
                    <a:ext uri="{9D8B030D-6E8A-4147-A177-3AD203B41FA5}">
                      <a16:colId xmlns:a16="http://schemas.microsoft.com/office/drawing/2014/main" val="879239420"/>
                    </a:ext>
                  </a:extLst>
                </a:gridCol>
                <a:gridCol w="1286756">
                  <a:extLst>
                    <a:ext uri="{9D8B030D-6E8A-4147-A177-3AD203B41FA5}">
                      <a16:colId xmlns:a16="http://schemas.microsoft.com/office/drawing/2014/main" val="1342894288"/>
                    </a:ext>
                  </a:extLst>
                </a:gridCol>
              </a:tblGrid>
              <a:tr h="9101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학년</a:t>
                      </a:r>
                    </a:p>
                  </a:txBody>
                  <a:tcPr marL="72000" marR="72000"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수업</a:t>
                      </a:r>
                      <a:endParaRPr lang="en-US" altLang="ko-KR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일수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결석일수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1043056" rtl="0" eaLnBrk="1" latinLnBrk="1" hangingPunct="1"/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1043056" rtl="0" eaLnBrk="1" latinLnBrk="1" hangingPunct="1"/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지각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1043056" rtl="0" eaLnBrk="1" latinLnBrk="1" hangingPunct="1"/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1043056" rtl="0" eaLnBrk="1" latinLnBrk="1" hangingPunct="1"/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조퇴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1043056" rtl="0" eaLnBrk="1" latinLnBrk="1" hangingPunct="1"/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1043056" rtl="0" eaLnBrk="1" latinLnBrk="1" hangingPunct="1"/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결과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1043056" rtl="0" eaLnBrk="1" latinLnBrk="1" hangingPunct="1"/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1043056" rtl="0" eaLnBrk="1" latinLnBrk="1" hangingPunct="1"/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특기사항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177248"/>
                  </a:ext>
                </a:extLst>
              </a:tr>
              <a:tr h="1646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1043056" rtl="0" eaLnBrk="1" latinLnBrk="1" hangingPunct="1"/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질병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</a:t>
                      </a:r>
                      <a:endParaRPr lang="en-US" altLang="ko-KR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인정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기타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질병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</a:t>
                      </a:r>
                      <a:endParaRPr lang="en-US" altLang="ko-KR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인정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기타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질병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</a:t>
                      </a:r>
                      <a:endParaRPr lang="en-US" altLang="ko-KR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인정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기타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질병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</a:t>
                      </a:r>
                      <a:endParaRPr lang="en-US" altLang="ko-KR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인정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기타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1043056" rtl="0" eaLnBrk="1" latinLnBrk="1" hangingPunct="1"/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32304"/>
                  </a:ext>
                </a:extLst>
              </a:tr>
              <a:tr h="83653"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20166"/>
                  </a:ext>
                </a:extLst>
              </a:tr>
              <a:tr h="8365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66837"/>
                  </a:ext>
                </a:extLst>
              </a:tr>
              <a:tr h="8365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6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편도선수술</a:t>
                      </a:r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(5</a:t>
                      </a:r>
                      <a:r>
                        <a:rPr lang="ko-KR" altLang="en-US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일</a:t>
                      </a:r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309929"/>
                  </a:ext>
                </a:extLst>
              </a:tr>
              <a:tr h="14991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15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다리수술</a:t>
                      </a:r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(10</a:t>
                      </a:r>
                      <a:r>
                        <a:rPr lang="ko-KR" altLang="en-US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일</a:t>
                      </a:r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),</a:t>
                      </a:r>
                      <a:b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ko-KR" altLang="en-US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감기</a:t>
                      </a:r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(5</a:t>
                      </a:r>
                      <a:r>
                        <a:rPr lang="ko-KR" altLang="en-US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일</a:t>
                      </a:r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475047"/>
                  </a:ext>
                </a:extLst>
              </a:tr>
              <a:tr h="8365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부모간병</a:t>
                      </a:r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(3</a:t>
                      </a:r>
                      <a:r>
                        <a:rPr lang="ko-KR" altLang="en-US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일</a:t>
                      </a:r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870503"/>
                  </a:ext>
                </a:extLst>
              </a:tr>
              <a:tr h="14991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27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10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학교생활부적응</a:t>
                      </a:r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(27</a:t>
                      </a:r>
                      <a:r>
                        <a:rPr lang="ko-KR" altLang="en-US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일</a:t>
                      </a:r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), </a:t>
                      </a:r>
                      <a:r>
                        <a:rPr lang="ko-KR" altLang="en-US" sz="9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모간병</a:t>
                      </a:r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일</a:t>
                      </a:r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911612"/>
                  </a:ext>
                </a:extLst>
              </a:tr>
              <a:tr h="8365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가사조력</a:t>
                      </a:r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일</a:t>
                      </a:r>
                      <a:r>
                        <a:rPr lang="en-US" altLang="ko-KR" sz="9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38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2940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2B8C2-532A-ECA3-9965-D116F10EB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B174A4-32A1-9D14-E510-0F363EFFCBB9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그래픽 2362">
            <a:extLst>
              <a:ext uri="{FF2B5EF4-FFF2-40B4-BE49-F238E27FC236}">
                <a16:creationId xmlns:a16="http://schemas.microsoft.com/office/drawing/2014/main" id="{3B391478-84D9-E6C8-B2C4-7807864FEC1C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23368E5-8BE7-1383-8B36-D6A68B0135D1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A312B1C-9C19-BC4A-6951-22A69DA02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1FD30AD8-F672-5554-005F-25FF44D52028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6A46928-2600-A4E0-1FAD-9F44D051A084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208C435-6F4A-6225-57B2-20BA1F9A9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239F72F6-4D33-86A3-A166-ABB490DC913C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294E0AE-58B8-6ED0-90ED-E22FD1CC2559}"/>
              </a:ext>
            </a:extLst>
          </p:cNvPr>
          <p:cNvSpPr txBox="1"/>
          <p:nvPr/>
        </p:nvSpPr>
        <p:spPr>
          <a:xfrm>
            <a:off x="2120359" y="2359403"/>
            <a:ext cx="7647606" cy="61555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77200" indent="-277200" latinLnBrk="0"/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출석인정 결석은 출석으로 처리하며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해당 학년 동안 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회의 결석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지각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조퇴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결과도 없는 경우 출결상황 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개근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으로 입력한다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76225" indent="-119063" latinLnBrk="0"/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1)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수업일수가 다른 중도 입학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편입학생은 당해 학년의 전과정을 거치지 않았기 때문에 출결상황 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개근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으로 입력하지 않음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76225" indent="-119063" latinLnBrk="0"/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2)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전입학인 경우 전출교와 전입교의 출결을 합하고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재입학의 경우는 재입학 이전과 재입학 이후의 출결을 합하여 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개근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입력여부를 결정함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76225" indent="-119063" latinLnBrk="0"/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3)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특수교육대상자 중 순회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가정 및 보호시설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교육학생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건강장애학생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병원학교와 원격수업 수강학생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은 해당 학년 동안 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회의 결석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지각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조퇴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결과가 없어도 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개근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</a:t>
            </a:r>
            <a:b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입력하지 않고 공란으로 둠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8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DDC9C15-1DD0-67BE-F951-46D6075993EF}"/>
              </a:ext>
            </a:extLst>
          </p:cNvPr>
          <p:cNvGrpSpPr/>
          <p:nvPr/>
        </p:nvGrpSpPr>
        <p:grpSpPr>
          <a:xfrm>
            <a:off x="522288" y="518880"/>
            <a:ext cx="3504325" cy="677108"/>
            <a:chOff x="522288" y="518880"/>
            <a:chExt cx="3504325" cy="67710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D163DE9-3427-6062-DEFA-99291AF8AF5C}"/>
                </a:ext>
              </a:extLst>
            </p:cNvPr>
            <p:cNvSpPr txBox="1"/>
            <p:nvPr/>
          </p:nvSpPr>
          <p:spPr>
            <a:xfrm>
              <a:off x="1923473" y="518880"/>
              <a:ext cx="2103140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출결상황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26C523CE-0680-18EE-9EE0-5B148E220984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E1C80C74-AC1A-2F78-9CB3-838B8783429E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DCCEE1C-F04F-E7E0-1928-622C7BF3AAD2}"/>
                  </a:ext>
                </a:extLst>
              </p:cNvPr>
              <p:cNvSpPr txBox="1"/>
              <p:nvPr/>
            </p:nvSpPr>
            <p:spPr>
              <a:xfrm>
                <a:off x="730741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8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30BD2B1-E09D-66B2-AC58-F38680DF9CDA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F083A51-5C74-0636-CCF1-0EEA56EBE9D7}"/>
              </a:ext>
            </a:extLst>
          </p:cNvPr>
          <p:cNvGrpSpPr/>
          <p:nvPr/>
        </p:nvGrpSpPr>
        <p:grpSpPr>
          <a:xfrm>
            <a:off x="522288" y="1454050"/>
            <a:ext cx="3235238" cy="450951"/>
            <a:chOff x="522288" y="1454050"/>
            <a:chExt cx="3235238" cy="45095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ED95C11-23B3-6E40-68E7-B5E7B183D0DF}"/>
                </a:ext>
              </a:extLst>
            </p:cNvPr>
            <p:cNvSpPr txBox="1"/>
            <p:nvPr/>
          </p:nvSpPr>
          <p:spPr>
            <a:xfrm>
              <a:off x="1340198" y="1564200"/>
              <a:ext cx="2417328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출결 특기사항 입력 사항 변경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EDD5CB42-DA4E-16EA-167A-FBA2A1832332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23" name="사각형: 둥근 위쪽 모서리 22">
                <a:extLst>
                  <a:ext uri="{FF2B5EF4-FFF2-40B4-BE49-F238E27FC236}">
                    <a16:creationId xmlns:a16="http://schemas.microsoft.com/office/drawing/2014/main" id="{F2D8558B-A430-178E-0B1E-994CB04584AF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사각형: 둥근 위쪽 모서리 23">
                <a:extLst>
                  <a:ext uri="{FF2B5EF4-FFF2-40B4-BE49-F238E27FC236}">
                    <a16:creationId xmlns:a16="http://schemas.microsoft.com/office/drawing/2014/main" id="{F2C1CBE0-BD09-2BFE-B4CA-C0D70E472F55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901EC4B-7C74-5320-7EA0-E12A3ABCF715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27349ED-0EBC-F57A-1AF4-5519701C42FD}"/>
              </a:ext>
            </a:extLst>
          </p:cNvPr>
          <p:cNvSpPr txBox="1"/>
          <p:nvPr/>
        </p:nvSpPr>
        <p:spPr>
          <a:xfrm>
            <a:off x="2181029" y="4426344"/>
            <a:ext cx="7441140" cy="201593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17600" indent="-417600" latinLnBrk="0">
              <a:spcAft>
                <a:spcPts val="600"/>
              </a:spcAft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출석인정 결석은 출석으로 처리하며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해당 학년 동안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회의 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결석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지각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조퇴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결과도 없는 경우 출결상황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개근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으로 입력한다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717550" indent="-292100" latinLnBrk="0">
              <a:spcAft>
                <a:spcPts val="6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해당 학년 동안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회의 결석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지각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조퇴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결과도 없는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경우 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교육정보시스템에서 학교생활기록부 마감 시 출결상황 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개근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입력함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B1E8E2C-B563-0D6F-3563-496163D558F4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28" name="사각형: 둥근 위쪽 모서리 27">
              <a:extLst>
                <a:ext uri="{FF2B5EF4-FFF2-40B4-BE49-F238E27FC236}">
                  <a16:creationId xmlns:a16="http://schemas.microsoft.com/office/drawing/2014/main" id="{0F51CB70-16DB-79C2-C1BB-8E20A0D66EB5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9" name="사각형: 둥근 위쪽 모서리 28">
              <a:extLst>
                <a:ext uri="{FF2B5EF4-FFF2-40B4-BE49-F238E27FC236}">
                  <a16:creationId xmlns:a16="http://schemas.microsoft.com/office/drawing/2014/main" id="{FDAE8FB4-2F4B-356C-1BB2-C5F543E17262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CC88CE4-A4CA-1ADD-BAFC-958A7C0C2F66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1" name="사각형: 둥근 위쪽 모서리 30">
              <a:extLst>
                <a:ext uri="{FF2B5EF4-FFF2-40B4-BE49-F238E27FC236}">
                  <a16:creationId xmlns:a16="http://schemas.microsoft.com/office/drawing/2014/main" id="{659D9599-EAE4-15CC-E127-DEA5D1C87C6F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2" name="사각형: 둥근 위쪽 모서리 31">
              <a:extLst>
                <a:ext uri="{FF2B5EF4-FFF2-40B4-BE49-F238E27FC236}">
                  <a16:creationId xmlns:a16="http://schemas.microsoft.com/office/drawing/2014/main" id="{0CB3D1F4-F052-F5B0-30E5-82F8769E6981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D919EF7-7CB2-CB22-C4C2-1A89FE9F3907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262624C-B27E-238D-ACEB-411449C28B95}"/>
                </a:ext>
              </a:extLst>
            </p:cNvPr>
            <p:cNvSpPr txBox="1"/>
            <p:nvPr/>
          </p:nvSpPr>
          <p:spPr>
            <a:xfrm>
              <a:off x="893927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p.59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044FDD6A-BCFE-B99A-C694-125926CCA8E7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36" name="자유형 31">
              <a:extLst>
                <a:ext uri="{FF2B5EF4-FFF2-40B4-BE49-F238E27FC236}">
                  <a16:creationId xmlns:a16="http://schemas.microsoft.com/office/drawing/2014/main" id="{781344CA-AC43-2B87-38BE-602C52CB19A4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8537168-6BC2-6A1E-813E-207CCFA4555F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71CE136-01B9-7680-D4FA-2C36BCEF41CE}"/>
              </a:ext>
            </a:extLst>
          </p:cNvPr>
          <p:cNvGrpSpPr/>
          <p:nvPr/>
        </p:nvGrpSpPr>
        <p:grpSpPr>
          <a:xfrm>
            <a:off x="2049109" y="3090662"/>
            <a:ext cx="7954750" cy="543126"/>
            <a:chOff x="2049109" y="3090662"/>
            <a:chExt cx="7954750" cy="54312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B95852-DCF0-FADF-0A8C-F12C70130AB3}"/>
                </a:ext>
              </a:extLst>
            </p:cNvPr>
            <p:cNvSpPr txBox="1"/>
            <p:nvPr/>
          </p:nvSpPr>
          <p:spPr>
            <a:xfrm>
              <a:off x="2134647" y="3355898"/>
              <a:ext cx="7722948" cy="21236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marL="277200" indent="-277200" latinLnBrk="0"/>
              <a:r>
                <a:rPr lang="ko-KR" altLang="en-US" sz="7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▸교육정보시스템의 </a:t>
              </a:r>
              <a:r>
                <a:rPr lang="en-US" altLang="ko-KR" sz="7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[</a:t>
              </a:r>
              <a:r>
                <a:rPr lang="ko-KR" altLang="en-US" sz="7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학적</a:t>
              </a:r>
              <a:r>
                <a:rPr lang="en-US" altLang="ko-KR" sz="7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-</a:t>
              </a:r>
              <a:r>
                <a:rPr lang="ko-KR" altLang="en-US" sz="700" dirty="0" err="1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출결관리</a:t>
              </a:r>
              <a:r>
                <a:rPr lang="en-US" altLang="ko-KR" sz="7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-</a:t>
              </a:r>
              <a:r>
                <a:rPr lang="ko-KR" altLang="en-US" sz="700" dirty="0" err="1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출결관리</a:t>
              </a:r>
              <a:r>
                <a:rPr lang="en-US" altLang="ko-KR" sz="7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-</a:t>
              </a:r>
              <a:r>
                <a:rPr lang="ko-KR" altLang="en-US" sz="700" dirty="0" err="1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출결특기사항등록</a:t>
              </a:r>
              <a:r>
                <a:rPr lang="en-US" altLang="ko-KR" sz="7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]</a:t>
              </a:r>
              <a:r>
                <a:rPr lang="ko-KR" altLang="en-US" sz="7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에서 </a:t>
              </a:r>
              <a:r>
                <a:rPr lang="en-US" altLang="ko-KR" sz="7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{</a:t>
              </a:r>
              <a:r>
                <a:rPr lang="ko-KR" altLang="en-US" sz="7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개근 일괄입력</a:t>
              </a:r>
              <a:r>
                <a:rPr lang="en-US" altLang="ko-KR" sz="7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}</a:t>
              </a:r>
              <a:r>
                <a:rPr lang="ko-KR" altLang="en-US" sz="7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으로 </a:t>
              </a:r>
              <a:r>
                <a:rPr lang="en-US" altLang="ko-KR" sz="7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7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개근</a:t>
              </a:r>
              <a:r>
                <a:rPr lang="en-US" altLang="ko-KR" sz="7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7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을 일괄 입력할 수 있음</a:t>
              </a:r>
              <a:r>
                <a:rPr lang="en-US" altLang="ko-KR" sz="7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.</a:t>
              </a:r>
            </a:p>
            <a:p>
              <a:pPr marL="276225" indent="-195263" latinLnBrk="0"/>
              <a:r>
                <a:rPr lang="en-US" altLang="ko-KR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- </a:t>
              </a:r>
              <a:r>
                <a:rPr lang="ko-KR" altLang="en-US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특수교육대상자 중 순회</a:t>
              </a:r>
              <a:r>
                <a:rPr lang="en-US" altLang="ko-KR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가정 및 보호시설</a:t>
              </a:r>
              <a:r>
                <a:rPr lang="en-US" altLang="ko-KR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</a:t>
              </a:r>
              <a:r>
                <a:rPr lang="ko-KR" altLang="en-US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교육학생</a:t>
              </a:r>
              <a:r>
                <a:rPr lang="en-US" altLang="ko-KR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건강장애학생</a:t>
              </a:r>
              <a:r>
                <a:rPr lang="en-US" altLang="ko-KR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병원학교와 원격수업 수강학생</a:t>
              </a:r>
              <a:r>
                <a:rPr lang="en-US" altLang="ko-KR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), </a:t>
              </a:r>
              <a:r>
                <a:rPr lang="ko-KR" altLang="en-US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학기 중도 입학</a:t>
              </a:r>
              <a:r>
                <a:rPr lang="en-US" altLang="ko-KR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·</a:t>
              </a:r>
              <a:r>
                <a:rPr lang="ko-KR" altLang="en-US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편입학생의 경우 결석</a:t>
              </a:r>
              <a:r>
                <a:rPr lang="en-US" altLang="ko-KR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·</a:t>
              </a:r>
              <a:r>
                <a:rPr lang="ko-KR" altLang="en-US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지각</a:t>
              </a:r>
              <a:r>
                <a:rPr lang="en-US" altLang="ko-KR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·</a:t>
              </a:r>
              <a:r>
                <a:rPr lang="ko-KR" altLang="en-US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조퇴</a:t>
              </a:r>
              <a:r>
                <a:rPr lang="en-US" altLang="ko-KR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·</a:t>
              </a:r>
              <a:r>
                <a:rPr lang="ko-KR" altLang="en-US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결과가 없더라도 </a:t>
              </a:r>
              <a:r>
                <a:rPr lang="en-US" altLang="ko-KR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개근</a:t>
              </a:r>
              <a:r>
                <a:rPr lang="en-US" altLang="ko-KR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이 입력되지 않도록 유의함</a:t>
              </a:r>
              <a:r>
                <a:rPr lang="en-US" altLang="ko-KR" sz="68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.</a:t>
              </a:r>
              <a:endParaRPr lang="ko-KR" altLang="en-US" sz="6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503B89C9-72DD-44A7-2CC7-471A354A6877}"/>
                </a:ext>
              </a:extLst>
            </p:cNvPr>
            <p:cNvSpPr/>
            <p:nvPr/>
          </p:nvSpPr>
          <p:spPr>
            <a:xfrm>
              <a:off x="2049109" y="3183936"/>
              <a:ext cx="7954750" cy="449852"/>
            </a:xfrm>
            <a:prstGeom prst="roundRect">
              <a:avLst>
                <a:gd name="adj" fmla="val 22874"/>
              </a:avLst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96C9B869-B638-34D4-E18F-22D234216F5D}"/>
                </a:ext>
              </a:extLst>
            </p:cNvPr>
            <p:cNvGrpSpPr/>
            <p:nvPr/>
          </p:nvGrpSpPr>
          <p:grpSpPr>
            <a:xfrm>
              <a:off x="2144171" y="3090662"/>
              <a:ext cx="713329" cy="202887"/>
              <a:chOff x="2159041" y="2194555"/>
              <a:chExt cx="727440" cy="206900"/>
            </a:xfrm>
          </p:grpSpPr>
          <p:sp>
            <p:nvSpPr>
              <p:cNvPr id="44" name="사각형: 둥근 모서리 43">
                <a:extLst>
                  <a:ext uri="{FF2B5EF4-FFF2-40B4-BE49-F238E27FC236}">
                    <a16:creationId xmlns:a16="http://schemas.microsoft.com/office/drawing/2014/main" id="{DE8808EA-D2B8-0F24-3677-3BF52B19347D}"/>
                  </a:ext>
                </a:extLst>
              </p:cNvPr>
              <p:cNvSpPr/>
              <p:nvPr/>
            </p:nvSpPr>
            <p:spPr>
              <a:xfrm>
                <a:off x="2159041" y="2194555"/>
                <a:ext cx="727440" cy="206900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F6BE8C4-A760-6D20-7D3C-46BD4B55BCAD}"/>
                  </a:ext>
                </a:extLst>
              </p:cNvPr>
              <p:cNvSpPr txBox="1"/>
              <p:nvPr/>
            </p:nvSpPr>
            <p:spPr>
              <a:xfrm>
                <a:off x="2259574" y="2219542"/>
                <a:ext cx="526378" cy="1569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000" b="1" spc="-5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기재 경로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56707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81FAB-A392-BE5A-65AE-7B617DF3B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93649C-C9C9-810A-BF15-5176CAC0B1C4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" name="그래픽 2362">
            <a:extLst>
              <a:ext uri="{FF2B5EF4-FFF2-40B4-BE49-F238E27FC236}">
                <a16:creationId xmlns:a16="http://schemas.microsoft.com/office/drawing/2014/main" id="{10014341-6EDE-EE19-8049-49A293FADE99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3C1A093-6391-0D9B-0990-DBFDE02A95A1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AF502C06-D01A-BD3B-4937-8358D4AD0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72908C5-0668-BF1D-A64E-2D50087F8670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FAA5B8F1-EBAD-DA75-1C9E-2CDB941A9B14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8074B5B-73EE-AD2A-DA5F-1485E7DC9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2C11B25C-D6E5-742D-F4E0-BE926B302B3D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FAD5D0A-2421-E66E-13B9-E5B9529C4A1D}"/>
              </a:ext>
            </a:extLst>
          </p:cNvPr>
          <p:cNvSpPr txBox="1"/>
          <p:nvPr/>
        </p:nvSpPr>
        <p:spPr>
          <a:xfrm>
            <a:off x="2079263" y="2390225"/>
            <a:ext cx="8031045" cy="110799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77200" indent="-277200" latinLnBrk="0">
              <a:spcAft>
                <a:spcPts val="300"/>
              </a:spcAft>
            </a:pP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➎ 기타</a:t>
            </a:r>
          </a:p>
          <a:p>
            <a:pPr marL="276225" indent="-123825" latinLnBrk="0">
              <a:spcAft>
                <a:spcPts val="300"/>
              </a:spcAft>
            </a:pP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학교생활기록부의 공신력을 높이고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교내상의 신뢰성 제고를 위한 중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고등학교의 ‘교내상’ 운영 관련 내용은 다음과 같다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76225" indent="98425" latinLnBrk="0">
              <a:spcAft>
                <a:spcPts val="300"/>
              </a:spcAft>
            </a:pP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2)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 초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학교교육계획서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연간 대회 및 수상내용 등의 실시계획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시행학기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수상비율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담당부서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공개방식 등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기재한다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685800" indent="-142875" latinLnBrk="0">
              <a:spcAft>
                <a:spcPts val="300"/>
              </a:spcAft>
            </a:pP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 초 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학교교육계획서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따라 실시한 교내상의 경우에 한하여 수상경력에 입력할 수 있음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교육목표 달성을 위하여 </a:t>
            </a:r>
            <a:b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불가피한 경우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2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학기 초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학기 시작 후 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30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 이내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학기 시상계획을 변경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수정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삭제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추가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하여 학교장의 결재 후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b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변경계획을 공개한 경우의 수상실적 내용만 입력할 수 있음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05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8FC0FFE-577E-1694-7607-BAA36457FC2C}"/>
              </a:ext>
            </a:extLst>
          </p:cNvPr>
          <p:cNvGrpSpPr/>
          <p:nvPr/>
        </p:nvGrpSpPr>
        <p:grpSpPr>
          <a:xfrm>
            <a:off x="522288" y="518880"/>
            <a:ext cx="3504325" cy="677108"/>
            <a:chOff x="522288" y="518880"/>
            <a:chExt cx="3504325" cy="67710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E3E1B9D-C005-6137-1092-B37237023008}"/>
                </a:ext>
              </a:extLst>
            </p:cNvPr>
            <p:cNvSpPr txBox="1"/>
            <p:nvPr/>
          </p:nvSpPr>
          <p:spPr>
            <a:xfrm>
              <a:off x="1923473" y="518880"/>
              <a:ext cx="2103140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수상경력</a:t>
              </a: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3550FA1F-2512-B74D-BBED-620407370E82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A802115E-5FD2-6CEA-1B06-ADC76D842DB0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B0B4BAF-C856-C2A6-4088-9CDF4409265F}"/>
                  </a:ext>
                </a:extLst>
              </p:cNvPr>
              <p:cNvSpPr txBox="1"/>
              <p:nvPr/>
            </p:nvSpPr>
            <p:spPr>
              <a:xfrm>
                <a:off x="730741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9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5A671C7-D4CD-1510-129C-C3114223BE7F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D6BC8A0-DB6A-21C8-5E46-1185A368A9FA}"/>
              </a:ext>
            </a:extLst>
          </p:cNvPr>
          <p:cNvGrpSpPr/>
          <p:nvPr/>
        </p:nvGrpSpPr>
        <p:grpSpPr>
          <a:xfrm>
            <a:off x="522288" y="1454050"/>
            <a:ext cx="7100079" cy="450951"/>
            <a:chOff x="522288" y="1454050"/>
            <a:chExt cx="7100079" cy="45095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709CB87-41D7-0854-E3F3-28948A63237F}"/>
                </a:ext>
              </a:extLst>
            </p:cNvPr>
            <p:cNvSpPr txBox="1"/>
            <p:nvPr/>
          </p:nvSpPr>
          <p:spPr>
            <a:xfrm>
              <a:off x="1340198" y="1564200"/>
              <a:ext cx="6282169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수상 실시 계획 기재의 범위를 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학교교육계획서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에서 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학교교육계획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으로 변경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A2C4F544-237C-4911-108F-207EE5FD7F8E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20" name="사각형: 둥근 위쪽 모서리 19">
                <a:extLst>
                  <a:ext uri="{FF2B5EF4-FFF2-40B4-BE49-F238E27FC236}">
                    <a16:creationId xmlns:a16="http://schemas.microsoft.com/office/drawing/2014/main" id="{7E9E767E-9870-6CAD-973E-7087A52C1514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사각형: 둥근 위쪽 모서리 20">
                <a:extLst>
                  <a:ext uri="{FF2B5EF4-FFF2-40B4-BE49-F238E27FC236}">
                    <a16:creationId xmlns:a16="http://schemas.microsoft.com/office/drawing/2014/main" id="{DD7AE670-E62F-93EF-55C7-FF20C73AF2E6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6ECA66-C856-1183-7B1F-5CE216D8064A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D2D224E-29B7-FFC5-8E7B-423907D66468}"/>
              </a:ext>
            </a:extLst>
          </p:cNvPr>
          <p:cNvSpPr txBox="1"/>
          <p:nvPr/>
        </p:nvSpPr>
        <p:spPr>
          <a:xfrm>
            <a:off x="2094757" y="4656090"/>
            <a:ext cx="8007000" cy="221599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165100" indent="-165100" latinLnBrk="0">
              <a:spcAft>
                <a:spcPts val="300"/>
              </a:spcAft>
            </a:pP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▪ 학교생활기록부의 공신력 및 교내상의 신뢰성 제고를 위한 중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고등학교의 ‘교내상’ 운영 관련 </a:t>
            </a:r>
            <a:endParaRPr lang="en-US" altLang="ko-KR" sz="14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165100" indent="-165100" latinLnBrk="0">
              <a:spcAft>
                <a:spcPts val="300"/>
              </a:spcAft>
            </a:pP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내용은 다음과 같다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368300" indent="-190500" latinLnBrk="0">
              <a:spcAft>
                <a:spcPts val="300"/>
              </a:spcAft>
            </a:pP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1.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「공교육 정상화 촉진 및 선행교육 규제에 관한 </a:t>
            </a:r>
            <a:r>
              <a:rPr lang="ko-KR" altLang="en-US" sz="14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특별법」의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제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8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조제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  <a:r>
              <a:rPr lang="ko-KR" altLang="en-US" sz="14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항제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호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각종 교내 대회에서 </a:t>
            </a:r>
            <a:b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학생이 배운 학교교육과정의 범위와 수준을 벗어난 내용을 출제하여 평가하는 행위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저촉되는 </a:t>
            </a:r>
            <a:b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대회는 실시할 수 없다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368300" indent="-190500" latinLnBrk="0">
              <a:spcAft>
                <a:spcPts val="300"/>
              </a:spcAft>
            </a:pP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2.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 초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학교교육계획에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연간 대회 및 수상내용 등의 실시계획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수상비율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시행학기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담당부서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b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공개방식 등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기재한다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342900" indent="-165100" latinLnBrk="0">
              <a:spcAft>
                <a:spcPts val="300"/>
              </a:spcAft>
            </a:pP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 초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학교교육계획에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따라 실시한 교내상만 수상경력에 입력할 수 있음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교육목표 달성을 위하여 불가피한 </a:t>
            </a:r>
            <a:b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경우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2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학기 초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학기 시작 후 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30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 이내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학기 시상 계획을 변경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수정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삭제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추가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하여 학교장 결재 및 변경 </a:t>
            </a:r>
            <a:b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계획을 공개한 경우 수상실적을 입력할 수 있음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2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306E4515-8104-619A-74EC-F0F617C5FDDE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33" name="자유형 31">
              <a:extLst>
                <a:ext uri="{FF2B5EF4-FFF2-40B4-BE49-F238E27FC236}">
                  <a16:creationId xmlns:a16="http://schemas.microsoft.com/office/drawing/2014/main" id="{F756F9F4-8FC1-85CE-BAD1-64269EBC7DD0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FF34334-E027-CDA1-D80E-A86E0B2EDD9A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040D8CA4-4F26-3659-2A53-ADEFFEC15953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37" name="사각형: 둥근 위쪽 모서리 36">
              <a:extLst>
                <a:ext uri="{FF2B5EF4-FFF2-40B4-BE49-F238E27FC236}">
                  <a16:creationId xmlns:a16="http://schemas.microsoft.com/office/drawing/2014/main" id="{8E271B52-12D7-62B4-C38B-915B32D35859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600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8" name="사각형: 둥근 위쪽 모서리 37">
              <a:extLst>
                <a:ext uri="{FF2B5EF4-FFF2-40B4-BE49-F238E27FC236}">
                  <a16:creationId xmlns:a16="http://schemas.microsoft.com/office/drawing/2014/main" id="{979A14D2-3113-32E5-98E6-4F0AA4F10214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BA83731B-FE6B-AE8B-52EB-8F4BEBBD0315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60059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0" name="사각형: 둥근 위쪽 모서리 39">
              <a:extLst>
                <a:ext uri="{FF2B5EF4-FFF2-40B4-BE49-F238E27FC236}">
                  <a16:creationId xmlns:a16="http://schemas.microsoft.com/office/drawing/2014/main" id="{341F370C-F0B4-12AE-7255-0FDA4AFA64F7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600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1" name="사각형: 둥근 위쪽 모서리 40">
              <a:extLst>
                <a:ext uri="{FF2B5EF4-FFF2-40B4-BE49-F238E27FC236}">
                  <a16:creationId xmlns:a16="http://schemas.microsoft.com/office/drawing/2014/main" id="{C02169AB-C57C-519B-FE77-BD6C73C91A93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04673C8-4429-2577-0203-F13B5041AD60}"/>
                </a:ext>
              </a:extLst>
            </p:cNvPr>
            <p:cNvSpPr txBox="1"/>
            <p:nvPr/>
          </p:nvSpPr>
          <p:spPr>
            <a:xfrm>
              <a:off x="904827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참고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B4610B2-F120-9A77-768D-004FFA9357FB}"/>
                </a:ext>
              </a:extLst>
            </p:cNvPr>
            <p:cNvSpPr txBox="1"/>
            <p:nvPr/>
          </p:nvSpPr>
          <p:spPr>
            <a:xfrm>
              <a:off x="893927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p.65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3132405-4080-5BF8-096E-445A3FF0EA2B}"/>
              </a:ext>
            </a:extLst>
          </p:cNvPr>
          <p:cNvGrpSpPr/>
          <p:nvPr/>
        </p:nvGrpSpPr>
        <p:grpSpPr>
          <a:xfrm>
            <a:off x="2046783" y="4263526"/>
            <a:ext cx="562048" cy="299049"/>
            <a:chOff x="2120356" y="4314983"/>
            <a:chExt cx="562048" cy="299049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21E84B14-0AC3-E220-5173-990DA4317BBC}"/>
                </a:ext>
              </a:extLst>
            </p:cNvPr>
            <p:cNvSpPr/>
            <p:nvPr/>
          </p:nvSpPr>
          <p:spPr>
            <a:xfrm>
              <a:off x="2120356" y="4314983"/>
              <a:ext cx="562048" cy="299049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3A7955A-578C-7793-1E3A-5F2A308480D3}"/>
                </a:ext>
              </a:extLst>
            </p:cNvPr>
            <p:cNvSpPr txBox="1"/>
            <p:nvPr/>
          </p:nvSpPr>
          <p:spPr>
            <a:xfrm>
              <a:off x="2228256" y="4356786"/>
              <a:ext cx="346249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참고</a:t>
              </a:r>
              <a:endParaRPr lang="en-US" altLang="ko-KR" sz="14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5736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46D62-4731-9E3C-DCE4-A7F033EEE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DCAC42EF-F695-0606-9A8C-BA67370D72A5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2FBBCF7-83BC-BD86-062E-3A09F0C885B1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BBA807FF-530E-B68E-9539-965753150AEA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8AFA61-62C6-9746-9CFD-40DAD20A0AFE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9F9DAEA5-93F8-6B0D-4F5E-44826F1ABBBC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4D234D9-172B-937E-BA80-8216867AFCD7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6B527C5E-9CE4-A040-019D-285CD52A7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601A17B9-1549-DD8C-EBAB-51AE4B7A0D84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D9F06087-0A3D-56AB-8F30-CA35EB5FFF73}"/>
              </a:ext>
            </a:extLst>
          </p:cNvPr>
          <p:cNvSpPr txBox="1"/>
          <p:nvPr/>
        </p:nvSpPr>
        <p:spPr>
          <a:xfrm>
            <a:off x="2101306" y="4717100"/>
            <a:ext cx="7988084" cy="215443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312738" indent="-312738" latinLnBrk="0">
              <a:spcAft>
                <a:spcPts val="400"/>
              </a:spcAft>
            </a:pPr>
            <a: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① </a:t>
            </a:r>
            <a:r>
              <a:rPr lang="ko-KR" altLang="en-US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고등학생이 재학중에 취득한 자격증의 명칭 또는 종류</a:t>
            </a:r>
            <a: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번호 또는 내용</a:t>
            </a:r>
            <a: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b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9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취득연월일</a:t>
            </a:r>
            <a: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발급기관을 입력하며 원본을 대조한 후에 취득한 순서대로 </a:t>
            </a:r>
            <a:b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입력한다</a:t>
            </a:r>
            <a: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360000" indent="-360000" latinLnBrk="0">
              <a:spcAft>
                <a:spcPts val="400"/>
              </a:spcAft>
            </a:pPr>
            <a: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② </a:t>
            </a:r>
            <a:r>
              <a:rPr lang="ko-KR" altLang="en-US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제</a:t>
            </a:r>
            <a: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항에 따라 입력할 수 있는 자격증은 다음 각 호와 같다</a:t>
            </a:r>
            <a: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358775" indent="-31750" latinLnBrk="0">
              <a:spcAft>
                <a:spcPts val="400"/>
              </a:spcAft>
            </a:pP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1.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「</a:t>
            </a:r>
            <a:r>
              <a:rPr lang="ko-KR" altLang="en-US" sz="18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국가기술자격법」에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따른 국가기술자격증</a:t>
            </a:r>
          </a:p>
          <a:p>
            <a:pPr marL="566738" indent="-239713" latinLnBrk="0">
              <a:spcAft>
                <a:spcPts val="400"/>
              </a:spcAft>
            </a:pP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2.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개별 법령에 따른 국가자격증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「</a:t>
            </a:r>
            <a:r>
              <a:rPr lang="ko-KR" altLang="en-US" sz="18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자격기본법」에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따른 국가공인을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받은</a:t>
            </a:r>
            <a:b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민간자격증 중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교육부장관이 정한 자격증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D0BA4DE-9991-BB48-8BD6-5EE2EBD1C11C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AFC56454-AC2E-6276-BF39-A8738E5E86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F2E53157-C91E-E895-CEB4-6373247775EB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63A21553-01D6-C215-7F60-A741E31CC549}"/>
              </a:ext>
            </a:extLst>
          </p:cNvPr>
          <p:cNvSpPr txBox="1"/>
          <p:nvPr/>
        </p:nvSpPr>
        <p:spPr>
          <a:xfrm>
            <a:off x="2120359" y="2611610"/>
            <a:ext cx="7963719" cy="109260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187325" indent="-187325" latinLnBrk="0">
              <a:spcAft>
                <a:spcPts val="300"/>
              </a:spcAft>
            </a:pP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①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고등학생이 재학중에 취득한 자격증의 명칭 또는 종류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번호 또는 내용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취득연월일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발급기관을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입력하며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원본을 대조한 후에 </a:t>
            </a:r>
            <a:b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취득한 순서대로 입력한다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52000" indent="-252000" latinLnBrk="0">
              <a:spcAft>
                <a:spcPts val="300"/>
              </a:spcAft>
            </a:pP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②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제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항에 따라 기재할 수 있는 자격증은 다음 각 호와 같다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17488" indent="-7938" latinLnBrk="0"/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1.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「</a:t>
            </a:r>
            <a:r>
              <a:rPr lang="ko-KR" altLang="en-US" sz="11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국가기술자격법」에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따른 국가기술자격증</a:t>
            </a:r>
          </a:p>
          <a:p>
            <a:pPr marL="217488" indent="-7938" latinLnBrk="0"/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2.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개별 법령에 따른 국가자격증</a:t>
            </a:r>
          </a:p>
          <a:p>
            <a:pPr marL="217488" indent="-7938" latinLnBrk="0"/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3.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「</a:t>
            </a:r>
            <a:r>
              <a:rPr lang="ko-KR" altLang="en-US" sz="11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자격기본법」에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따른 국가공인을 받은 민간자격증 중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기술과 관련 있는 내용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92F9B74-564C-C8C5-58B0-4498DCBFC8CC}"/>
              </a:ext>
            </a:extLst>
          </p:cNvPr>
          <p:cNvGrpSpPr/>
          <p:nvPr/>
        </p:nvGrpSpPr>
        <p:grpSpPr>
          <a:xfrm>
            <a:off x="522288" y="576943"/>
            <a:ext cx="7652896" cy="560982"/>
            <a:chOff x="522288" y="576943"/>
            <a:chExt cx="7652896" cy="56098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557B15C-9388-EB7A-5207-EB2A77C4D3EE}"/>
                </a:ext>
              </a:extLst>
            </p:cNvPr>
            <p:cNvSpPr txBox="1"/>
            <p:nvPr/>
          </p:nvSpPr>
          <p:spPr>
            <a:xfrm>
              <a:off x="1923473" y="611212"/>
              <a:ext cx="6251711" cy="49244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32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자격증 및 국가직무 능력표준 이수상황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F770E902-E299-A886-DEDD-0FB3A075A500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E482EF7D-ED11-F8DD-FB0A-D037FD0BE8D3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08A1121-1823-DE77-B24B-A5D5D4E811A7}"/>
                  </a:ext>
                </a:extLst>
              </p:cNvPr>
              <p:cNvSpPr txBox="1"/>
              <p:nvPr/>
            </p:nvSpPr>
            <p:spPr>
              <a:xfrm>
                <a:off x="644981" y="672768"/>
                <a:ext cx="9585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10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11E0CB1-3E17-E986-3814-A3E15C000BCC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8B020A6-7AA6-11FC-56FB-996C8B4E5C30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2F001AC4-BF9D-98E7-0B24-FA339D415DEC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E87C65D6-B24C-2D0F-B20B-4EEA9F11AAD4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6" name="사각형: 둥근 위쪽 모서리 35">
                <a:extLst>
                  <a:ext uri="{FF2B5EF4-FFF2-40B4-BE49-F238E27FC236}">
                    <a16:creationId xmlns:a16="http://schemas.microsoft.com/office/drawing/2014/main" id="{3020B851-3D1C-F638-7E28-C0F59A2F2CAB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2165B5AA-BD7C-D055-B921-C4A54BD36DF1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D3457D6B-5A8E-B9CD-29CD-6D9EEAEEA2DD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32" name="사각형: 둥근 위쪽 모서리 31">
                <a:extLst>
                  <a:ext uri="{FF2B5EF4-FFF2-40B4-BE49-F238E27FC236}">
                    <a16:creationId xmlns:a16="http://schemas.microsoft.com/office/drawing/2014/main" id="{16D97561-6F1C-552E-6391-DF38DE3979AE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4" name="사각형: 둥근 위쪽 모서리 33">
                <a:extLst>
                  <a:ext uri="{FF2B5EF4-FFF2-40B4-BE49-F238E27FC236}">
                    <a16:creationId xmlns:a16="http://schemas.microsoft.com/office/drawing/2014/main" id="{0FD37350-8BDA-C213-82F3-5BDCEFD6A923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99115EC-C41B-8CEB-122B-F6FB59B21156}"/>
                </a:ext>
              </a:extLst>
            </p:cNvPr>
            <p:cNvSpPr txBox="1"/>
            <p:nvPr/>
          </p:nvSpPr>
          <p:spPr>
            <a:xfrm>
              <a:off x="757479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699A648-E6CB-F3AA-B15A-DAE32EDA0176}"/>
                </a:ext>
              </a:extLst>
            </p:cNvPr>
            <p:cNvSpPr txBox="1"/>
            <p:nvPr/>
          </p:nvSpPr>
          <p:spPr>
            <a:xfrm>
              <a:off x="746579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p.66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2482529-EE6E-E476-ED71-0D7331AD6C08}"/>
              </a:ext>
            </a:extLst>
          </p:cNvPr>
          <p:cNvGrpSpPr/>
          <p:nvPr/>
        </p:nvGrpSpPr>
        <p:grpSpPr>
          <a:xfrm>
            <a:off x="522288" y="1454050"/>
            <a:ext cx="5141209" cy="450951"/>
            <a:chOff x="522288" y="1454050"/>
            <a:chExt cx="5141209" cy="45095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CAA316E-EE9F-88FD-AB50-22B46287E28A}"/>
                </a:ext>
              </a:extLst>
            </p:cNvPr>
            <p:cNvSpPr txBox="1"/>
            <p:nvPr/>
          </p:nvSpPr>
          <p:spPr>
            <a:xfrm>
              <a:off x="1340198" y="1564200"/>
              <a:ext cx="4323299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학교생활기록부에 기재 가능한 자격증의 조건 명료화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5DD1B91C-7A29-4615-E5ED-7E3AABCDA91C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7" name="사각형: 둥근 위쪽 모서리 6">
                <a:extLst>
                  <a:ext uri="{FF2B5EF4-FFF2-40B4-BE49-F238E27FC236}">
                    <a16:creationId xmlns:a16="http://schemas.microsoft.com/office/drawing/2014/main" id="{943BBD49-741A-E2AD-40F2-0995A02C5EB9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5C35DE02-BFAB-9407-BF12-09A1F37DCA06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5446E1-E042-362A-0A4E-EB8163F05E72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71712C8-DEE7-0805-1272-D869D474A1FA}"/>
              </a:ext>
            </a:extLst>
          </p:cNvPr>
          <p:cNvGrpSpPr/>
          <p:nvPr/>
        </p:nvGrpSpPr>
        <p:grpSpPr>
          <a:xfrm>
            <a:off x="2050509" y="2304988"/>
            <a:ext cx="3315241" cy="250349"/>
            <a:chOff x="2050509" y="2304988"/>
            <a:chExt cx="3315241" cy="250349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F8F78B00-6FD5-39EB-3BA0-D083E10BEDB9}"/>
                </a:ext>
              </a:extLst>
            </p:cNvPr>
            <p:cNvSpPr/>
            <p:nvPr/>
          </p:nvSpPr>
          <p:spPr>
            <a:xfrm>
              <a:off x="2050509" y="2304988"/>
              <a:ext cx="3315241" cy="2503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26A0B74-41EA-5BD7-FF2C-E76528139A91}"/>
                </a:ext>
              </a:extLst>
            </p:cNvPr>
            <p:cNvSpPr txBox="1"/>
            <p:nvPr/>
          </p:nvSpPr>
          <p:spPr>
            <a:xfrm>
              <a:off x="2185276" y="2345524"/>
              <a:ext cx="3045706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fontAlgn="base"/>
              <a:r>
                <a:rPr lang="ko-KR" altLang="en-US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제</a:t>
              </a:r>
              <a:r>
                <a:rPr lang="en-US" altLang="ko-KR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10</a:t>
              </a:r>
              <a:r>
                <a:rPr lang="ko-KR" altLang="en-US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</a:t>
              </a:r>
              <a:r>
                <a:rPr lang="en-US" altLang="ko-KR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자격증 취득 및 국가직무능력표준 이수상황</a:t>
              </a:r>
              <a:r>
                <a:rPr lang="en-US" altLang="ko-KR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EB204B2-F3EE-2D8B-F5A8-A7606CE14C4A}"/>
              </a:ext>
            </a:extLst>
          </p:cNvPr>
          <p:cNvGrpSpPr/>
          <p:nvPr/>
        </p:nvGrpSpPr>
        <p:grpSpPr>
          <a:xfrm>
            <a:off x="2101306" y="4267200"/>
            <a:ext cx="5490119" cy="375407"/>
            <a:chOff x="2120356" y="4238625"/>
            <a:chExt cx="5490119" cy="375407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D7A77E4D-818A-1448-3F04-2522551A343A}"/>
                </a:ext>
              </a:extLst>
            </p:cNvPr>
            <p:cNvSpPr/>
            <p:nvPr/>
          </p:nvSpPr>
          <p:spPr>
            <a:xfrm>
              <a:off x="2120356" y="4238625"/>
              <a:ext cx="5490119" cy="375407"/>
            </a:xfrm>
            <a:prstGeom prst="roundRect">
              <a:avLst>
                <a:gd name="adj" fmla="val 50000"/>
              </a:avLst>
            </a:prstGeom>
            <a:solidFill>
              <a:srgbClr val="1D83FF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D3BB616-DC23-4C4B-8AC4-77C5D036BDAB}"/>
                </a:ext>
              </a:extLst>
            </p:cNvPr>
            <p:cNvSpPr txBox="1"/>
            <p:nvPr/>
          </p:nvSpPr>
          <p:spPr>
            <a:xfrm>
              <a:off x="2313434" y="4287829"/>
              <a:ext cx="5103962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fontAlgn="base"/>
              <a:r>
                <a:rPr lang="ko-KR" altLang="en-US" sz="18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제</a:t>
              </a:r>
              <a:r>
                <a:rPr lang="en-US" altLang="ko-KR" sz="18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10</a:t>
              </a:r>
              <a:r>
                <a:rPr lang="ko-KR" altLang="en-US" sz="18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</a:t>
              </a:r>
              <a:r>
                <a:rPr lang="en-US" altLang="ko-KR" sz="18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18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자격증 취득 및 국가직무능력표준 이수상황</a:t>
              </a:r>
              <a:r>
                <a:rPr lang="en-US" altLang="ko-KR" sz="18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9786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FD729-2B7B-24DA-1E1A-074E15325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C749E2F0-8AE3-ED75-6045-EBCE92DFBB5C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AFEDAB5-7928-344A-2FF7-D417B3795371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AAA6EF3D-CDEB-180E-A914-A6FB6C5AD395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C33EE17-76A0-43CC-129C-6E9DFA346078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F0238B95-3232-26AB-D5E8-A86E80DA7554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C955AC3-B329-2061-CE06-F1513B9248EA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DAEA5FBB-1AFF-F813-FBB8-68907EB10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F4604DA4-0988-7443-D31C-F480E061B0CD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0E26FD7C-7A15-2FEE-16E8-D09406981D9C}"/>
              </a:ext>
            </a:extLst>
          </p:cNvPr>
          <p:cNvSpPr txBox="1"/>
          <p:nvPr/>
        </p:nvSpPr>
        <p:spPr>
          <a:xfrm>
            <a:off x="2120359" y="4383482"/>
            <a:ext cx="7463582" cy="241604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17600" indent="-417600" latinLnBrk="0">
              <a:spcAft>
                <a:spcPts val="600"/>
              </a:spcAft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➊ 명칭 또는 종류</a:t>
            </a:r>
          </a:p>
          <a:p>
            <a:pPr marL="719138" indent="-409575" latinLnBrk="0">
              <a:spcAft>
                <a:spcPts val="600"/>
              </a:spcAft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기술 관련 국가공인 민간자격증은 급수와 취득 연도를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확인하고 공인기간 내 공인 효력이 있는 것만 입력한다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1019175" indent="-280988" latinLnBrk="0">
              <a:spcAft>
                <a:spcPts val="6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재학 중 취득한 국가기술자격증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국가자격증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국가공인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민간자격증 중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교육부장관이 정한 자격증만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입력할 수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있으며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그 외의 각종 민간자격증과 국제공인자격증은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입력할 수 없음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98BBE52-A521-4DFA-6996-AB084DB65E8A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7D07C926-882E-0127-F771-E53D00FD7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7BF9C883-3877-1D26-956B-487BA221211F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1C174DA9-13CC-243C-5765-F8634ABB9D5A}"/>
              </a:ext>
            </a:extLst>
          </p:cNvPr>
          <p:cNvSpPr txBox="1"/>
          <p:nvPr/>
        </p:nvSpPr>
        <p:spPr>
          <a:xfrm>
            <a:off x="2120359" y="2400500"/>
            <a:ext cx="7767832" cy="117981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77200" indent="-277200" latinLnBrk="0">
              <a:spcAft>
                <a:spcPts val="400"/>
              </a:spcAft>
            </a:pP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➊ 명칭 또는 종류</a:t>
            </a:r>
          </a:p>
          <a:p>
            <a:pPr marL="485775" indent="-276225" latinLnBrk="0">
              <a:spcAft>
                <a:spcPts val="400"/>
              </a:spcAft>
            </a:pP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기술 관련 국가공인 민간자격증은 급수와 취득 연도를 확인하고 공인기간 내 공인 효력이</a:t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있는 것만 입력한다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701675" indent="-200025" latinLnBrk="0">
              <a:spcAft>
                <a:spcPts val="400"/>
              </a:spcAft>
              <a:tabLst>
                <a:tab pos="717550" algn="l"/>
              </a:tabLst>
            </a:pP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재학 중 취득한 국가기술자격증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국가자격증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국가공인 민간자격증 중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기술 관련 자격증에</a:t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한해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입력할 수 있으며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그 외의 각종 민간자격증과 국제공인자격증은 입력할 수 없음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2E90F6-D7EE-E816-1CEE-829D65666B1A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DE0CC036-4E78-5492-F4DC-67E309943404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47" name="사각형: 둥근 위쪽 모서리 46">
              <a:extLst>
                <a:ext uri="{FF2B5EF4-FFF2-40B4-BE49-F238E27FC236}">
                  <a16:creationId xmlns:a16="http://schemas.microsoft.com/office/drawing/2014/main" id="{FF9B60B3-CA00-2110-FA72-7F0F055AF52D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9" name="사각형: 둥근 위쪽 모서리 48">
              <a:extLst>
                <a:ext uri="{FF2B5EF4-FFF2-40B4-BE49-F238E27FC236}">
                  <a16:creationId xmlns:a16="http://schemas.microsoft.com/office/drawing/2014/main" id="{EF6EFB53-366D-EFDF-54BC-04E155FAF75F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BFD6A8C4-1226-0078-D05B-B679B1C60521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1" name="사각형: 둥근 위쪽 모서리 50">
              <a:extLst>
                <a:ext uri="{FF2B5EF4-FFF2-40B4-BE49-F238E27FC236}">
                  <a16:creationId xmlns:a16="http://schemas.microsoft.com/office/drawing/2014/main" id="{10092B00-12FD-AAB8-72C7-09D5BBF49640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3" name="사각형: 둥근 위쪽 모서리 52">
              <a:extLst>
                <a:ext uri="{FF2B5EF4-FFF2-40B4-BE49-F238E27FC236}">
                  <a16:creationId xmlns:a16="http://schemas.microsoft.com/office/drawing/2014/main" id="{1CA33781-3274-1D77-9BB0-8B7DF9BEDAF0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D202BDB-87FF-8D8A-799D-19F2BF04A7C6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7A14590-AB5C-EE5C-2314-FA9C1A990B20}"/>
                </a:ext>
              </a:extLst>
            </p:cNvPr>
            <p:cNvSpPr txBox="1"/>
            <p:nvPr/>
          </p:nvSpPr>
          <p:spPr>
            <a:xfrm>
              <a:off x="893927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p.68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FF93E3FA-DA91-5477-84DC-0C9269897053}"/>
              </a:ext>
            </a:extLst>
          </p:cNvPr>
          <p:cNvGrpSpPr/>
          <p:nvPr/>
        </p:nvGrpSpPr>
        <p:grpSpPr>
          <a:xfrm>
            <a:off x="522288" y="1454050"/>
            <a:ext cx="5141209" cy="450951"/>
            <a:chOff x="522288" y="1454050"/>
            <a:chExt cx="5141209" cy="4509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3E5B0D2-53F8-C10B-B222-0B1D56187182}"/>
                </a:ext>
              </a:extLst>
            </p:cNvPr>
            <p:cNvSpPr txBox="1"/>
            <p:nvPr/>
          </p:nvSpPr>
          <p:spPr>
            <a:xfrm>
              <a:off x="1340198" y="1564200"/>
              <a:ext cx="4323299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학교생활기록부에 기재 가능한 자격증의 조건 명료화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B4E722EF-C7B2-32B8-0071-F4704EB8020A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9C95410A-B198-8B8B-18CD-0EA7EBD04A48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5F873D94-E762-D0CB-0544-0679866F41B3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61E5CB-9DF4-89DC-CFC6-A573DA8E6632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647C0DE4-B187-7305-76F7-EACC2E7FA8AE}"/>
              </a:ext>
            </a:extLst>
          </p:cNvPr>
          <p:cNvGrpSpPr/>
          <p:nvPr/>
        </p:nvGrpSpPr>
        <p:grpSpPr>
          <a:xfrm>
            <a:off x="522288" y="576943"/>
            <a:ext cx="7652896" cy="560982"/>
            <a:chOff x="522288" y="576943"/>
            <a:chExt cx="7652896" cy="56098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A8C2398-0B6B-11DA-18C1-897AD2B12155}"/>
                </a:ext>
              </a:extLst>
            </p:cNvPr>
            <p:cNvSpPr txBox="1"/>
            <p:nvPr/>
          </p:nvSpPr>
          <p:spPr>
            <a:xfrm>
              <a:off x="1923473" y="611212"/>
              <a:ext cx="6251711" cy="49244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32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자격증 및 국가직무 능력표준 이수상황</a:t>
              </a: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E90372C7-E984-7B22-04FF-8B51A015C19A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B7C15381-F586-5EC9-BD18-59558AF047A7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995FA6-CC47-2F05-CEA3-F4BE4ED06FF2}"/>
                  </a:ext>
                </a:extLst>
              </p:cNvPr>
              <p:cNvSpPr txBox="1"/>
              <p:nvPr/>
            </p:nvSpPr>
            <p:spPr>
              <a:xfrm>
                <a:off x="644981" y="672768"/>
                <a:ext cx="9585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10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88180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84A4E-E652-FB25-F4B4-69D3A7213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68DB9886-5C07-371F-3FBC-2F7B7185867A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155A617-A2FF-ED57-7E56-F2FAE2BFA561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F415385F-30D5-38F4-BCBC-A36407581ECC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498572B-85AD-C686-7542-9892D0A86164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68DE5628-DD0F-42A8-B2A6-700540BB1181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6396F59-128F-71DA-6B91-519FE5A68845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880E450A-28FE-23A6-8E05-7DDB376B3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5E05BB2D-5E75-6DB3-3166-4435596A2E5D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0B007CBF-AFC9-79CA-EE14-EA8E2EE72CBA}"/>
              </a:ext>
            </a:extLst>
          </p:cNvPr>
          <p:cNvSpPr txBox="1"/>
          <p:nvPr/>
        </p:nvSpPr>
        <p:spPr>
          <a:xfrm>
            <a:off x="2120359" y="4383482"/>
            <a:ext cx="7902804" cy="129266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342900" indent="-342900" latinLnBrk="0"/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⑤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항에 따라 창의적 체험활동상황을 누가기록 하는 경우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교육정보시스템 서식 또는 자체 개발한 서식 등을 활용하되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구체적 활동 내용이 포함된 자료를 바탕으로 작성하여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관리할 수 있다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3859E6D-83C2-EA42-D41B-7633D51E36FB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D9039CDC-38EA-3E25-DF30-67978158F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3CA5D41F-2F52-E244-9C2B-581340D27F02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C55F14B1-B4B6-E5D9-4103-2612902CD9CC}"/>
              </a:ext>
            </a:extLst>
          </p:cNvPr>
          <p:cNvSpPr txBox="1"/>
          <p:nvPr/>
        </p:nvSpPr>
        <p:spPr>
          <a:xfrm>
            <a:off x="2120359" y="2355122"/>
            <a:ext cx="7357783" cy="64633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28600" indent="-228600" latinLnBrk="0"/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⑤ 제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항에 따른 영역별 누가 기록은 공정성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객관성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투명성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신뢰도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타당도 등이 확보되도록</a:t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서식을 개발하여 활용하되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구체적 활동 내용이 포함된 자료를 바탕으로 작성하여</a:t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관리한다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D734E6B-9063-8C57-A557-54E292A9335A}"/>
              </a:ext>
            </a:extLst>
          </p:cNvPr>
          <p:cNvGrpSpPr/>
          <p:nvPr/>
        </p:nvGrpSpPr>
        <p:grpSpPr>
          <a:xfrm>
            <a:off x="522288" y="518880"/>
            <a:ext cx="6251872" cy="677108"/>
            <a:chOff x="522288" y="518880"/>
            <a:chExt cx="6251872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DF5BB10-8DCA-72C4-2BA9-700D1BF55972}"/>
                </a:ext>
              </a:extLst>
            </p:cNvPr>
            <p:cNvSpPr txBox="1"/>
            <p:nvPr/>
          </p:nvSpPr>
          <p:spPr>
            <a:xfrm>
              <a:off x="1923473" y="518880"/>
              <a:ext cx="4850687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F8A9712B-75AA-811D-5C32-DCD2F92E461B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B0677CEF-C8DA-B7CF-75DE-E226CD26B7A3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FEA910A-E577-8D7C-DFAF-F7FD27704AA4}"/>
                  </a:ext>
                </a:extLst>
              </p:cNvPr>
              <p:cNvSpPr txBox="1"/>
              <p:nvPr/>
            </p:nvSpPr>
            <p:spPr>
              <a:xfrm>
                <a:off x="644981" y="672768"/>
                <a:ext cx="9585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13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1B068634-E229-95EB-A91F-51AD01069F4D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4428FDE-4408-0F9F-B110-BA7EA9C2E22C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CDF7AAA-2674-1AB2-B03F-957BD167BC97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F3451460-D7F4-A7D5-E149-0D56E93EC896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6" name="사각형: 둥근 위쪽 모서리 35">
                <a:extLst>
                  <a:ext uri="{FF2B5EF4-FFF2-40B4-BE49-F238E27FC236}">
                    <a16:creationId xmlns:a16="http://schemas.microsoft.com/office/drawing/2014/main" id="{F3BD951E-B0EA-0F0F-3E9E-33EAFF6CDF10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202DA7C9-291B-C731-86BF-93B6EA68B02B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5AFEF908-5266-326E-AA40-150FD32CB177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32" name="사각형: 둥근 위쪽 모서리 31">
                <a:extLst>
                  <a:ext uri="{FF2B5EF4-FFF2-40B4-BE49-F238E27FC236}">
                    <a16:creationId xmlns:a16="http://schemas.microsoft.com/office/drawing/2014/main" id="{3D02950E-3822-7F37-21E4-1648AA98BD40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4" name="사각형: 둥근 위쪽 모서리 33">
                <a:extLst>
                  <a:ext uri="{FF2B5EF4-FFF2-40B4-BE49-F238E27FC236}">
                    <a16:creationId xmlns:a16="http://schemas.microsoft.com/office/drawing/2014/main" id="{DB35A663-625A-6335-C1D6-DF83B0B1CD69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CDF89AA-8AEB-227D-44FF-FE3D0B9B9767}"/>
                </a:ext>
              </a:extLst>
            </p:cNvPr>
            <p:cNvSpPr txBox="1"/>
            <p:nvPr/>
          </p:nvSpPr>
          <p:spPr>
            <a:xfrm>
              <a:off x="757479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46FC241-F808-AB8D-EBD2-7AC4E7C12599}"/>
                </a:ext>
              </a:extLst>
            </p:cNvPr>
            <p:cNvSpPr txBox="1"/>
            <p:nvPr/>
          </p:nvSpPr>
          <p:spPr>
            <a:xfrm>
              <a:off x="746579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p.78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13334D0B-24A8-E39A-9C9B-92EFFBEFA1AD}"/>
              </a:ext>
            </a:extLst>
          </p:cNvPr>
          <p:cNvGrpSpPr/>
          <p:nvPr/>
        </p:nvGrpSpPr>
        <p:grpSpPr>
          <a:xfrm>
            <a:off x="522288" y="1454050"/>
            <a:ext cx="8969180" cy="571815"/>
            <a:chOff x="522288" y="1454050"/>
            <a:chExt cx="8969180" cy="57181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65C9E67-9CB3-7AE0-50F8-0EEF0FC393CE}"/>
                </a:ext>
              </a:extLst>
            </p:cNvPr>
            <p:cNvSpPr txBox="1"/>
            <p:nvPr/>
          </p:nvSpPr>
          <p:spPr>
            <a:xfrm>
              <a:off x="1340198" y="1564200"/>
              <a:ext cx="8151270" cy="461665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제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4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조제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4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항 누가기록 여부 및 방법을 학교장이 결정하게 됨에 따라 창의적 체험활동상황의 누가기록</a:t>
              </a:r>
              <a:endParaRPr lang="en-US" altLang="ko-KR" sz="15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처리 방법 반영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2CE5910D-841D-4E9B-5DDD-BC4B36B28198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7" name="사각형: 둥근 위쪽 모서리 6">
                <a:extLst>
                  <a:ext uri="{FF2B5EF4-FFF2-40B4-BE49-F238E27FC236}">
                    <a16:creationId xmlns:a16="http://schemas.microsoft.com/office/drawing/2014/main" id="{FB69D3A7-CB24-F3A1-4E9A-551FCA47C615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99DDB559-D597-A95D-4025-9DD4D4BFE69D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7C99A3-56F6-AFAB-3BD6-1DBF4A467FC3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89161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91310-7508-8AAF-B494-6219C0CB3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F70A01CD-4EC6-4398-1EC4-178F6CD61EAB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2ADB3A1-2E5C-73E2-3766-4119A604C31D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E7C7CD33-1A96-9977-ECD3-27EF196FBB6B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52219E7-1DE4-A65D-8D6F-54E206F60868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삭제</a:t>
              </a:r>
            </a:p>
          </p:txBody>
        </p:sp>
      </p:grp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C8286E99-AED3-9A0F-AE8D-B113D5C29E5F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E52916C-434B-CA22-CC4C-AB67361994A0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8CDDBE83-007F-D57F-A136-D5D88CD28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1746C86C-CB96-2211-BEB1-13E8F3F0F505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C40B45F7-2915-A842-354E-2FA45588B06E}"/>
              </a:ext>
            </a:extLst>
          </p:cNvPr>
          <p:cNvSpPr txBox="1"/>
          <p:nvPr/>
        </p:nvSpPr>
        <p:spPr>
          <a:xfrm>
            <a:off x="2120359" y="4332682"/>
            <a:ext cx="7790594" cy="241604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17600" indent="-417600" latinLnBrk="0">
              <a:spcAft>
                <a:spcPts val="300"/>
              </a:spcAft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⑧ 「학교체육 </a:t>
            </a:r>
            <a:r>
              <a:rPr lang="ko-KR" altLang="en-US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진흥법」제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10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조에 따른 학교스포츠클럽 활동 내용은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동아리활동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란에 다음 각호의 사항을 입력 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 경우 활동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내용은 학교장이 인정한 기간 동안 수행한 것으로 한정한다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452438" indent="-65088" latinLnBrk="0">
              <a:spcAft>
                <a:spcPts val="3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1. </a:t>
            </a:r>
            <a:r>
              <a:rPr lang="ko-KR" altLang="en-US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클럽명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52438" indent="-65088" latinLnBrk="0">
              <a:spcAft>
                <a:spcPts val="3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2. &lt;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삭제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&gt;</a:t>
            </a:r>
          </a:p>
          <a:p>
            <a:pPr marL="452438" indent="-65088" latinLnBrk="0">
              <a:spcAft>
                <a:spcPts val="3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3.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</a:t>
            </a:r>
          </a:p>
          <a:p>
            <a:pPr marL="417600" indent="-417600" latinLnBrk="0">
              <a:spcAft>
                <a:spcPts val="300"/>
              </a:spcAft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⑩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&lt;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삭제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&gt;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FAB89B-3CE5-2BE7-50E7-E356411E9E4D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2000602D-512B-04C7-E097-9572F8388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34986E6B-D1A0-99BE-7055-689518F6F902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37410A41-2A97-1466-6017-C0C044049243}"/>
              </a:ext>
            </a:extLst>
          </p:cNvPr>
          <p:cNvSpPr txBox="1"/>
          <p:nvPr/>
        </p:nvSpPr>
        <p:spPr>
          <a:xfrm>
            <a:off x="2120359" y="2340566"/>
            <a:ext cx="7574189" cy="129266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77200" indent="-277200" latinLnBrk="0"/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⑧ 「학교체육 </a:t>
            </a:r>
            <a:r>
              <a:rPr lang="ko-KR" altLang="en-US" sz="14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진흥법」제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10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조에 따른 학교스포츠클럽 활동 내용은 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동아리활동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란에 다음 각호의</a:t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사항을 입력 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 경우 활동 내용은 학교장이 인정한 기간 동안 수행한 것으로 한정한다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76225" indent="-25400" latinLnBrk="0"/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1. </a:t>
            </a:r>
            <a:r>
              <a:rPr lang="ko-KR" altLang="en-US" sz="14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클럽명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276225" indent="-25400" latinLnBrk="0"/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활동시간</a:t>
            </a:r>
          </a:p>
          <a:p>
            <a:pPr marL="276225" indent="-25400" latinLnBrk="0"/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개별적 특성이 드러나는 특기사항</a:t>
            </a:r>
          </a:p>
          <a:p>
            <a:pPr marL="277200" indent="-277200" latinLnBrk="0"/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⑩ 제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8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항의 활동시간은 동아리활동 이수시간에 합산한다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B1C44CD-1D12-AD10-8144-5162756CEAAA}"/>
              </a:ext>
            </a:extLst>
          </p:cNvPr>
          <p:cNvGrpSpPr/>
          <p:nvPr/>
        </p:nvGrpSpPr>
        <p:grpSpPr>
          <a:xfrm>
            <a:off x="522288" y="518880"/>
            <a:ext cx="6251872" cy="677108"/>
            <a:chOff x="522288" y="518880"/>
            <a:chExt cx="6251872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1FF9A84-FCE1-F8E0-CE04-F3826EFF9613}"/>
                </a:ext>
              </a:extLst>
            </p:cNvPr>
            <p:cNvSpPr txBox="1"/>
            <p:nvPr/>
          </p:nvSpPr>
          <p:spPr>
            <a:xfrm>
              <a:off x="1923473" y="518880"/>
              <a:ext cx="4850687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9FF791F0-81BE-DB80-48FE-C9BFEC4A3373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17002835-08E8-0E2D-E7A8-369DC48D0C6C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83E0FBD-2BA0-5083-9320-451DE55B327E}"/>
                  </a:ext>
                </a:extLst>
              </p:cNvPr>
              <p:cNvSpPr txBox="1"/>
              <p:nvPr/>
            </p:nvSpPr>
            <p:spPr>
              <a:xfrm>
                <a:off x="644981" y="672768"/>
                <a:ext cx="9585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13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095A046-6276-60DA-228D-DCBE8E19CC0D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8AA7D58-C18D-784D-EDEC-0069DEA96588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EE4F5D94-E732-0F88-EACF-A62FCBBCB340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B64C3AA4-5A59-8AB2-320D-9638830829F0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6" name="사각형: 둥근 위쪽 모서리 35">
                <a:extLst>
                  <a:ext uri="{FF2B5EF4-FFF2-40B4-BE49-F238E27FC236}">
                    <a16:creationId xmlns:a16="http://schemas.microsoft.com/office/drawing/2014/main" id="{20100DE4-02CE-F0BD-7F9E-2F2751479A0F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A8B8722D-73E6-A64D-F8BB-165CCE481218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046D2FC9-276F-D8F2-E654-0483C241A0AF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32" name="사각형: 둥근 위쪽 모서리 31">
                <a:extLst>
                  <a:ext uri="{FF2B5EF4-FFF2-40B4-BE49-F238E27FC236}">
                    <a16:creationId xmlns:a16="http://schemas.microsoft.com/office/drawing/2014/main" id="{4A3D7B80-F0AA-C0BF-977B-4EE9167B3021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4" name="사각형: 둥근 위쪽 모서리 33">
                <a:extLst>
                  <a:ext uri="{FF2B5EF4-FFF2-40B4-BE49-F238E27FC236}">
                    <a16:creationId xmlns:a16="http://schemas.microsoft.com/office/drawing/2014/main" id="{181A4AD7-AD57-BAA6-56E5-D5337FAACC97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7A7B72B-8478-366A-09DF-19A316501067}"/>
                </a:ext>
              </a:extLst>
            </p:cNvPr>
            <p:cNvSpPr txBox="1"/>
            <p:nvPr/>
          </p:nvSpPr>
          <p:spPr>
            <a:xfrm>
              <a:off x="757479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5578A09-6855-FA42-9EC0-6E5454626DD8}"/>
                </a:ext>
              </a:extLst>
            </p:cNvPr>
            <p:cNvSpPr txBox="1"/>
            <p:nvPr/>
          </p:nvSpPr>
          <p:spPr>
            <a:xfrm>
              <a:off x="746579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p.78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42898180-4C66-1A93-91C0-A45A3720C8AC}"/>
              </a:ext>
            </a:extLst>
          </p:cNvPr>
          <p:cNvGrpSpPr/>
          <p:nvPr/>
        </p:nvGrpSpPr>
        <p:grpSpPr>
          <a:xfrm>
            <a:off x="522288" y="1454050"/>
            <a:ext cx="5234184" cy="450951"/>
            <a:chOff x="522288" y="1454050"/>
            <a:chExt cx="5234184" cy="45095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FDBAC7-1520-0E03-271F-52BC2D5682D3}"/>
                </a:ext>
              </a:extLst>
            </p:cNvPr>
            <p:cNvSpPr txBox="1"/>
            <p:nvPr/>
          </p:nvSpPr>
          <p:spPr>
            <a:xfrm>
              <a:off x="1340198" y="1564200"/>
              <a:ext cx="4416274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학교스포츠클럽 활동 내용 중 활동시간 기재 삭제 반영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85AD75D-0CE0-E71C-7D04-9ECBD6749F3A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7" name="사각형: 둥근 위쪽 모서리 6">
                <a:extLst>
                  <a:ext uri="{FF2B5EF4-FFF2-40B4-BE49-F238E27FC236}">
                    <a16:creationId xmlns:a16="http://schemas.microsoft.com/office/drawing/2014/main" id="{D9032438-408F-358E-A7EA-F7F3C13E7F3A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242A4CF2-B21B-9390-3EBD-0CC0BCFDAA9A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5BF7CA-6E93-F04C-4E88-55091C6FA354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83730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B038C-D997-DD12-2D99-97789BF25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F4A92EE-D1F3-5EE9-F4A9-D426FF5D4828}"/>
              </a:ext>
            </a:extLst>
          </p:cNvPr>
          <p:cNvGrpSpPr/>
          <p:nvPr/>
        </p:nvGrpSpPr>
        <p:grpSpPr>
          <a:xfrm>
            <a:off x="514422" y="4824464"/>
            <a:ext cx="1154042" cy="680400"/>
            <a:chOff x="514422" y="4824464"/>
            <a:chExt cx="1154042" cy="680400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76471B58-A14B-0D08-72EE-ACF1648D41F0}"/>
                </a:ext>
              </a:extLst>
            </p:cNvPr>
            <p:cNvSpPr/>
            <p:nvPr/>
          </p:nvSpPr>
          <p:spPr>
            <a:xfrm>
              <a:off x="514422" y="4824464"/>
              <a:ext cx="1154042" cy="680400"/>
            </a:xfrm>
            <a:prstGeom prst="roundRect">
              <a:avLst>
                <a:gd name="adj" fmla="val 29266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AB9528C-B7F8-1C2F-EDEB-7E86009A9A3B}"/>
                </a:ext>
              </a:extLst>
            </p:cNvPr>
            <p:cNvSpPr txBox="1"/>
            <p:nvPr/>
          </p:nvSpPr>
          <p:spPr>
            <a:xfrm>
              <a:off x="704318" y="4887665"/>
              <a:ext cx="774251" cy="553998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  <a:r>
                <a:rPr lang="en-US" altLang="ko-KR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 </a:t>
              </a: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및</a:t>
              </a:r>
              <a:endParaRPr lang="en-US" altLang="ko-KR" sz="1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보완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14972B2-16C5-6861-5F47-940250AA42A7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그래픽 2362">
            <a:extLst>
              <a:ext uri="{FF2B5EF4-FFF2-40B4-BE49-F238E27FC236}">
                <a16:creationId xmlns:a16="http://schemas.microsoft.com/office/drawing/2014/main" id="{C36CFE7B-3488-A619-45C3-09A262E89ECD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E874B1D-7E0F-59E4-67AD-B3BB132A053D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44FB4FF-D677-A9E7-D262-B86978226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3F0CF5A3-E403-4DC4-8351-7096DA84175D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D9E2F71-9599-FC7C-8893-CEBC7560252E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F13B622-0FAA-1245-E54E-07F107D91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789C7FFE-C0B1-71F6-C76D-03E7D65172C3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CD9D9A7-C77F-3D64-E22F-2BD8C684AB0E}"/>
              </a:ext>
            </a:extLst>
          </p:cNvPr>
          <p:cNvSpPr txBox="1"/>
          <p:nvPr/>
        </p:nvSpPr>
        <p:spPr>
          <a:xfrm>
            <a:off x="2120359" y="2431322"/>
            <a:ext cx="7910820" cy="64633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77200" indent="-277200" latinLnBrk="0"/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라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정규교육과정 이외의 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학교스포츠클럽활동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실적은 학기 또는 학년도 단위로 그 활동에 대하여 </a:t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학교장이 승인한 경우만 인정하고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교육정보시스템의 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[{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체육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}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학교스포츠클럽관리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학교스포츠클럽관리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4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학교스포츠클럽활동내역관리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]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</a:t>
            </a:r>
            <a:r>
              <a:rPr lang="ko-KR" altLang="en-US" sz="14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누가기록한다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56B1F81-D651-2AC3-EE06-519E7CF24195}"/>
              </a:ext>
            </a:extLst>
          </p:cNvPr>
          <p:cNvGrpSpPr/>
          <p:nvPr/>
        </p:nvGrpSpPr>
        <p:grpSpPr>
          <a:xfrm>
            <a:off x="522288" y="518880"/>
            <a:ext cx="6251872" cy="677108"/>
            <a:chOff x="522288" y="518880"/>
            <a:chExt cx="6251872" cy="67710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46A7F60-9903-8318-10F4-93ABFA56937E}"/>
                </a:ext>
              </a:extLst>
            </p:cNvPr>
            <p:cNvSpPr txBox="1"/>
            <p:nvPr/>
          </p:nvSpPr>
          <p:spPr>
            <a:xfrm>
              <a:off x="1923473" y="518880"/>
              <a:ext cx="4850687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20C1687D-E3A4-E7A6-A917-41D39F2EE7AA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A2CDD8E5-8EC0-F40C-D752-435AC12F6932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C51BB76-2FB5-9F1B-1B6B-CC7EA5DB947B}"/>
                  </a:ext>
                </a:extLst>
              </p:cNvPr>
              <p:cNvSpPr txBox="1"/>
              <p:nvPr/>
            </p:nvSpPr>
            <p:spPr>
              <a:xfrm>
                <a:off x="644981" y="672768"/>
                <a:ext cx="9585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13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FC79A7C-CDB1-BE4C-0BF0-0E9E5DA19600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0C96C7E-BF70-75C0-220F-4090117EAC11}"/>
              </a:ext>
            </a:extLst>
          </p:cNvPr>
          <p:cNvGrpSpPr/>
          <p:nvPr/>
        </p:nvGrpSpPr>
        <p:grpSpPr>
          <a:xfrm>
            <a:off x="522288" y="1454050"/>
            <a:ext cx="8581254" cy="450951"/>
            <a:chOff x="522288" y="1454050"/>
            <a:chExt cx="8581254" cy="45095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BF36AD-EC97-87BF-4D8B-61EC3DA32500}"/>
                </a:ext>
              </a:extLst>
            </p:cNvPr>
            <p:cNvSpPr txBox="1"/>
            <p:nvPr/>
          </p:nvSpPr>
          <p:spPr>
            <a:xfrm>
              <a:off x="1340198" y="1564200"/>
              <a:ext cx="7763344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학교스포츠클럽 활동의 누가 기록 내용 삭제 및 학교스포츠클럽활동에 대한 고등학교 해설 추가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2BD8EA2-0D24-696C-935B-C3C1FD4006E7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23" name="사각형: 둥근 위쪽 모서리 22">
                <a:extLst>
                  <a:ext uri="{FF2B5EF4-FFF2-40B4-BE49-F238E27FC236}">
                    <a16:creationId xmlns:a16="http://schemas.microsoft.com/office/drawing/2014/main" id="{A679CE34-9A8D-AC41-3512-7363EFF7DD23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사각형: 둥근 위쪽 모서리 23">
                <a:extLst>
                  <a:ext uri="{FF2B5EF4-FFF2-40B4-BE49-F238E27FC236}">
                    <a16:creationId xmlns:a16="http://schemas.microsoft.com/office/drawing/2014/main" id="{B225A653-F319-C032-8301-E6C0A3C326C5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737503B-C6A6-9BF6-5D33-E1DA67F01E75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78B421D4-EDE4-597D-CC68-7A2797798CFC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27" name="사각형: 둥근 위쪽 모서리 26">
              <a:extLst>
                <a:ext uri="{FF2B5EF4-FFF2-40B4-BE49-F238E27FC236}">
                  <a16:creationId xmlns:a16="http://schemas.microsoft.com/office/drawing/2014/main" id="{E9F72653-78DB-5C06-2000-BCB7377EF147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E7E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8" name="사각형: 둥근 위쪽 모서리 27">
              <a:extLst>
                <a:ext uri="{FF2B5EF4-FFF2-40B4-BE49-F238E27FC236}">
                  <a16:creationId xmlns:a16="http://schemas.microsoft.com/office/drawing/2014/main" id="{40438276-6263-1661-8D72-7069EE64CB8C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7DBA1C50-BC02-4463-E63E-B50B85F8C5D6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4E7E36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0" name="사각형: 둥근 위쪽 모서리 29">
              <a:extLst>
                <a:ext uri="{FF2B5EF4-FFF2-40B4-BE49-F238E27FC236}">
                  <a16:creationId xmlns:a16="http://schemas.microsoft.com/office/drawing/2014/main" id="{28AB2C07-5C88-ABD6-85C0-202036375104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4E7E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1" name="사각형: 둥근 위쪽 모서리 30">
              <a:extLst>
                <a:ext uri="{FF2B5EF4-FFF2-40B4-BE49-F238E27FC236}">
                  <a16:creationId xmlns:a16="http://schemas.microsoft.com/office/drawing/2014/main" id="{759EB82A-7BCE-E0CF-5541-355731918404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C6B1FCF-3615-2767-9F5E-D82CE74ADE94}"/>
                </a:ext>
              </a:extLst>
            </p:cNvPr>
            <p:cNvSpPr txBox="1"/>
            <p:nvPr/>
          </p:nvSpPr>
          <p:spPr>
            <a:xfrm>
              <a:off x="904827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해설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4A254A7-0C90-A652-2E5C-1CB8BCEFF6D7}"/>
                </a:ext>
              </a:extLst>
            </p:cNvPr>
            <p:cNvSpPr txBox="1"/>
            <p:nvPr/>
          </p:nvSpPr>
          <p:spPr>
            <a:xfrm>
              <a:off x="893927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p.78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99FCD260-D046-DAAD-EB34-D7414E439073}"/>
              </a:ext>
            </a:extLst>
          </p:cNvPr>
          <p:cNvSpPr txBox="1"/>
          <p:nvPr/>
        </p:nvSpPr>
        <p:spPr>
          <a:xfrm>
            <a:off x="2120359" y="4383482"/>
            <a:ext cx="7872348" cy="226215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306000" indent="-306000" latinLnBrk="0">
              <a:spcAft>
                <a:spcPts val="600"/>
              </a:spcAft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⑨ 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8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항에도 불구하고 정규교육과정에 포함되지 않은 학교스포츠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클럽활동은 특기사항을 입력하지 않는다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520700" indent="-196850" latinLnBrk="0"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ko-KR" altLang="en-US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▪ 정규교육과정 내 </a:t>
            </a:r>
            <a: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ko-KR" altLang="en-US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학교스포츠클럽활동</a:t>
            </a:r>
            <a: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ko-KR" altLang="en-US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은 고등학교에는 해당하지 </a:t>
            </a:r>
            <a:b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ko-KR" altLang="en-US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않는다</a:t>
            </a:r>
            <a: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23875" indent="-200025" latinLnBrk="0"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ko-KR" altLang="en-US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▪</a:t>
            </a:r>
            <a:r>
              <a:rPr lang="ko-KR" altLang="en-US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정규교육과정 이외의 </a:t>
            </a:r>
            <a: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ko-KR" altLang="en-US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학교스포츠클럽활동</a:t>
            </a:r>
            <a: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ko-KR" altLang="en-US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의 실적은 학기 또는 </a:t>
            </a:r>
            <a:b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ko-KR" altLang="en-US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학년도 단위로</a:t>
            </a:r>
            <a: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그 활동에 대하여 학교장이 승인한 경우만 인정하고</a:t>
            </a:r>
            <a: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ko-KR" altLang="en-US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교육정보시스템에 누가기록 할 수 있다</a:t>
            </a:r>
            <a:r>
              <a:rPr lang="en-US" altLang="ko-KR" sz="19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9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187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15BFC-BCE4-222F-A8C8-AB16CBD08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BA400A-DC42-1F67-54D1-023B92E08741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ED92542-4A24-BE6D-7B70-609738084781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4" name="자유형 31">
              <a:extLst>
                <a:ext uri="{FF2B5EF4-FFF2-40B4-BE49-F238E27FC236}">
                  <a16:creationId xmlns:a16="http://schemas.microsoft.com/office/drawing/2014/main" id="{8C9EFBE7-C9ED-18A1-85F7-B1E0B482FDA7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108843-1228-2A87-6B1F-1B832EFE0AFF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6" name="그래픽 2362">
            <a:extLst>
              <a:ext uri="{FF2B5EF4-FFF2-40B4-BE49-F238E27FC236}">
                <a16:creationId xmlns:a16="http://schemas.microsoft.com/office/drawing/2014/main" id="{6DFA8AA2-FF19-9B01-2E45-6CC01BC62381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B434F34-873D-48A0-6BD4-8A7444EF3751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CB38678-9757-2BCB-BCB9-B336E8E8B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82BC1CD4-9B3F-46BA-A299-DE639B36BBB6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7EDF513-6745-4DFB-E54D-6C947FB5C5A9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8328AF40-646A-20E6-2DA5-A2964087B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FC221B4A-FD65-3DED-48A4-AA83A4934741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2D85AE8-7808-6EFB-D78B-80C95B4460AB}"/>
              </a:ext>
            </a:extLst>
          </p:cNvPr>
          <p:cNvSpPr txBox="1"/>
          <p:nvPr/>
        </p:nvSpPr>
        <p:spPr>
          <a:xfrm>
            <a:off x="2181029" y="2431322"/>
            <a:ext cx="5294719" cy="21544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77200" indent="-277200" latinLnBrk="0"/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체험활동상황의 영역별 활동 내용은 누가하여 기록한다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D02654B-EF1D-D0F5-AAB7-88954A80B9E1}"/>
              </a:ext>
            </a:extLst>
          </p:cNvPr>
          <p:cNvGrpSpPr/>
          <p:nvPr/>
        </p:nvGrpSpPr>
        <p:grpSpPr>
          <a:xfrm>
            <a:off x="522288" y="518880"/>
            <a:ext cx="6251872" cy="677108"/>
            <a:chOff x="522288" y="518880"/>
            <a:chExt cx="6251872" cy="6771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CE87021-712B-5361-EA54-04184BC8D017}"/>
                </a:ext>
              </a:extLst>
            </p:cNvPr>
            <p:cNvSpPr txBox="1"/>
            <p:nvPr/>
          </p:nvSpPr>
          <p:spPr>
            <a:xfrm>
              <a:off x="1923473" y="518880"/>
              <a:ext cx="4850687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7B4425C0-F356-AFED-287E-3DD670447003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6F9D768F-550A-9B43-16B5-044E96B23821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AE862B9-901C-0713-1724-9FCB44350E67}"/>
                  </a:ext>
                </a:extLst>
              </p:cNvPr>
              <p:cNvSpPr txBox="1"/>
              <p:nvPr/>
            </p:nvSpPr>
            <p:spPr>
              <a:xfrm>
                <a:off x="644981" y="672768"/>
                <a:ext cx="9585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13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7865A75-1632-D46E-4C3B-C53EA58AF852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E655A9A-4131-4C91-46CF-C53F160171EA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22" name="사각형: 둥근 위쪽 모서리 21">
              <a:extLst>
                <a:ext uri="{FF2B5EF4-FFF2-40B4-BE49-F238E27FC236}">
                  <a16:creationId xmlns:a16="http://schemas.microsoft.com/office/drawing/2014/main" id="{761EB360-9890-5014-BA96-C4E8AD569FA5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3" name="사각형: 둥근 위쪽 모서리 22">
              <a:extLst>
                <a:ext uri="{FF2B5EF4-FFF2-40B4-BE49-F238E27FC236}">
                  <a16:creationId xmlns:a16="http://schemas.microsoft.com/office/drawing/2014/main" id="{5A5C72DB-08E7-A3E0-6104-DCD9101497A2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315D969A-2F18-069D-0EE4-71BDACDD1E5D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5" name="사각형: 둥근 위쪽 모서리 24">
              <a:extLst>
                <a:ext uri="{FF2B5EF4-FFF2-40B4-BE49-F238E27FC236}">
                  <a16:creationId xmlns:a16="http://schemas.microsoft.com/office/drawing/2014/main" id="{A7D5EB4D-16E1-BAB7-11AC-D3CFA5F33208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6" name="사각형: 둥근 위쪽 모서리 25">
              <a:extLst>
                <a:ext uri="{FF2B5EF4-FFF2-40B4-BE49-F238E27FC236}">
                  <a16:creationId xmlns:a16="http://schemas.microsoft.com/office/drawing/2014/main" id="{53947F7B-B02E-57BB-431D-5D9AD42CF7EE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2C2B39D-54DB-11F7-B83B-CBE9DCB5AD7F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9ED89E9-5DE9-61BF-4E76-FA7FC664C39F}"/>
                </a:ext>
              </a:extLst>
            </p:cNvPr>
            <p:cNvSpPr txBox="1"/>
            <p:nvPr/>
          </p:nvSpPr>
          <p:spPr>
            <a:xfrm>
              <a:off x="893927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p.79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92DF74C-4AF9-6049-2DB2-5663CA49E818}"/>
              </a:ext>
            </a:extLst>
          </p:cNvPr>
          <p:cNvGrpSpPr/>
          <p:nvPr/>
        </p:nvGrpSpPr>
        <p:grpSpPr>
          <a:xfrm>
            <a:off x="522288" y="1454050"/>
            <a:ext cx="8969180" cy="571815"/>
            <a:chOff x="522288" y="1454050"/>
            <a:chExt cx="8969180" cy="57181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3004D98-0E39-CE58-1403-F14E873E9D0B}"/>
                </a:ext>
              </a:extLst>
            </p:cNvPr>
            <p:cNvSpPr txBox="1"/>
            <p:nvPr/>
          </p:nvSpPr>
          <p:spPr>
            <a:xfrm>
              <a:off x="1340198" y="1564200"/>
              <a:ext cx="8151270" cy="461665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제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4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조제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4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항 누가기록 여부 및 방법을 학교장이 결정하게 됨에 따라 창의적 체험활동상황의 누가기록</a:t>
              </a:r>
              <a:endParaRPr lang="en-US" altLang="ko-KR" sz="15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처리 방법 반영</a:t>
              </a: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CED4C47-CC8B-48F6-935E-51E827B3C2B3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32" name="사각형: 둥근 위쪽 모서리 31">
                <a:extLst>
                  <a:ext uri="{FF2B5EF4-FFF2-40B4-BE49-F238E27FC236}">
                    <a16:creationId xmlns:a16="http://schemas.microsoft.com/office/drawing/2014/main" id="{47929F5A-B2D6-6356-CDAA-961D672C713E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사각형: 둥근 위쪽 모서리 32">
                <a:extLst>
                  <a:ext uri="{FF2B5EF4-FFF2-40B4-BE49-F238E27FC236}">
                    <a16:creationId xmlns:a16="http://schemas.microsoft.com/office/drawing/2014/main" id="{740949CF-8A1F-E382-F424-0043D0F90EAC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9C47870-C08A-7531-8C1C-A6030DDFD37D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9ABBD37-AF9E-5F43-5169-010A94F240BE}"/>
              </a:ext>
            </a:extLst>
          </p:cNvPr>
          <p:cNvGrpSpPr/>
          <p:nvPr/>
        </p:nvGrpSpPr>
        <p:grpSpPr>
          <a:xfrm>
            <a:off x="2181029" y="2809394"/>
            <a:ext cx="7778940" cy="694095"/>
            <a:chOff x="2181029" y="2850490"/>
            <a:chExt cx="7778940" cy="69409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F3900B2-C1D0-4E5E-7753-38F126044256}"/>
                </a:ext>
              </a:extLst>
            </p:cNvPr>
            <p:cNvSpPr txBox="1"/>
            <p:nvPr/>
          </p:nvSpPr>
          <p:spPr>
            <a:xfrm>
              <a:off x="2394372" y="3193072"/>
              <a:ext cx="738343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latinLnBrk="0"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ko-KR" altLang="en-US" sz="14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▪</a:t>
              </a:r>
              <a:r>
                <a:rPr lang="ko-KR" altLang="en-US" sz="14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ko-KR" altLang="en-US" sz="13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누가기록 방법은 시도교육청 지침에 따르되</a:t>
              </a:r>
              <a:r>
                <a:rPr lang="en-US" altLang="ko-KR" sz="13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13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교육정보시스템을 활용하는 경우</a:t>
              </a:r>
              <a:r>
                <a:rPr lang="en-US" altLang="ko-KR" sz="13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</a:t>
              </a:r>
              <a:r>
                <a:rPr lang="ko-KR" altLang="en-US" sz="13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다음과 같이 기록함</a:t>
              </a:r>
              <a:r>
                <a:rPr lang="en-US" altLang="ko-KR" sz="13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.</a:t>
              </a:r>
              <a:endPara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9D38D260-42E3-556A-C258-60C4442D8924}"/>
                </a:ext>
              </a:extLst>
            </p:cNvPr>
            <p:cNvSpPr/>
            <p:nvPr/>
          </p:nvSpPr>
          <p:spPr>
            <a:xfrm>
              <a:off x="2181029" y="2983930"/>
              <a:ext cx="7778940" cy="560655"/>
            </a:xfrm>
            <a:prstGeom prst="roundRect">
              <a:avLst>
                <a:gd name="adj" fmla="val 22874"/>
              </a:avLst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B4F4A97A-4B65-0C37-AE1B-2C220E03DDE1}"/>
                </a:ext>
              </a:extLst>
            </p:cNvPr>
            <p:cNvGrpSpPr/>
            <p:nvPr/>
          </p:nvGrpSpPr>
          <p:grpSpPr>
            <a:xfrm>
              <a:off x="2328819" y="2850490"/>
              <a:ext cx="897335" cy="255222"/>
              <a:chOff x="2159041" y="2194555"/>
              <a:chExt cx="727440" cy="206900"/>
            </a:xfrm>
          </p:grpSpPr>
          <p:sp>
            <p:nvSpPr>
              <p:cNvPr id="43" name="사각형: 둥근 모서리 42">
                <a:extLst>
                  <a:ext uri="{FF2B5EF4-FFF2-40B4-BE49-F238E27FC236}">
                    <a16:creationId xmlns:a16="http://schemas.microsoft.com/office/drawing/2014/main" id="{B24562C3-2DB5-BEB6-83EC-D3E939268120}"/>
                  </a:ext>
                </a:extLst>
              </p:cNvPr>
              <p:cNvSpPr/>
              <p:nvPr/>
            </p:nvSpPr>
            <p:spPr>
              <a:xfrm>
                <a:off x="2159041" y="2194555"/>
                <a:ext cx="727440" cy="206900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FE3CBAC-C3CB-9566-546E-D6BB71349113}"/>
                  </a:ext>
                </a:extLst>
              </p:cNvPr>
              <p:cNvSpPr txBox="1"/>
              <p:nvPr/>
            </p:nvSpPr>
            <p:spPr>
              <a:xfrm>
                <a:off x="2268708" y="2223156"/>
                <a:ext cx="508106" cy="14970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200" b="1" spc="-5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기재 방법</a:t>
                </a:r>
              </a:p>
            </p:txBody>
          </p:sp>
        </p:grp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89CCD657-6473-F348-0565-0B56B9DFE7D6}"/>
              </a:ext>
            </a:extLst>
          </p:cNvPr>
          <p:cNvGrpSpPr/>
          <p:nvPr/>
        </p:nvGrpSpPr>
        <p:grpSpPr>
          <a:xfrm>
            <a:off x="2181029" y="5292799"/>
            <a:ext cx="7778940" cy="986948"/>
            <a:chOff x="2181029" y="5292799"/>
            <a:chExt cx="7778940" cy="986948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C9BD905-C6BB-6AFC-7C5C-39EA72E5B8BD}"/>
                </a:ext>
              </a:extLst>
            </p:cNvPr>
            <p:cNvSpPr txBox="1"/>
            <p:nvPr/>
          </p:nvSpPr>
          <p:spPr>
            <a:xfrm>
              <a:off x="2538477" y="5801659"/>
              <a:ext cx="7090403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latinLnBrk="0"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ko-KR" altLang="en-US" sz="18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▪</a:t>
              </a:r>
              <a:r>
                <a:rPr lang="ko-KR" altLang="en-US" sz="18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ko-KR" altLang="en-US" sz="18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C0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교육정보시스템을 활용하여 </a:t>
              </a:r>
              <a:r>
                <a:rPr lang="ko-KR" altLang="en-US" sz="1800" b="1" dirty="0" err="1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C0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누가기록하는</a:t>
              </a:r>
              <a:r>
                <a:rPr lang="ko-KR" altLang="en-US" sz="18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C0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경우 다음과 같이 기록함</a:t>
              </a:r>
              <a:r>
                <a:rPr lang="en-US" altLang="ko-KR" sz="18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C0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.</a:t>
              </a:r>
              <a:endPara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3E3E0135-CBAF-CEB6-0021-4612EFD67943}"/>
                </a:ext>
              </a:extLst>
            </p:cNvPr>
            <p:cNvSpPr/>
            <p:nvPr/>
          </p:nvSpPr>
          <p:spPr>
            <a:xfrm>
              <a:off x="2181029" y="5467130"/>
              <a:ext cx="7778940" cy="812617"/>
            </a:xfrm>
            <a:prstGeom prst="roundRect">
              <a:avLst/>
            </a:prstGeom>
            <a:noFill/>
            <a:ln w="12700">
              <a:solidFill>
                <a:srgbClr val="1D83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1959136B-1975-0ECD-42D9-27236621343B}"/>
                </a:ext>
              </a:extLst>
            </p:cNvPr>
            <p:cNvGrpSpPr/>
            <p:nvPr/>
          </p:nvGrpSpPr>
          <p:grpSpPr>
            <a:xfrm>
              <a:off x="2328819" y="5292799"/>
              <a:ext cx="1275126" cy="362673"/>
              <a:chOff x="2159041" y="2194555"/>
              <a:chExt cx="727440" cy="206900"/>
            </a:xfrm>
          </p:grpSpPr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id="{A6026933-8CE3-3342-8612-D282318FA4A2}"/>
                  </a:ext>
                </a:extLst>
              </p:cNvPr>
              <p:cNvSpPr/>
              <p:nvPr/>
            </p:nvSpPr>
            <p:spPr>
              <a:xfrm>
                <a:off x="2159041" y="2194555"/>
                <a:ext cx="727440" cy="206900"/>
              </a:xfrm>
              <a:prstGeom prst="roundRect">
                <a:avLst>
                  <a:gd name="adj" fmla="val 50000"/>
                </a:avLst>
              </a:prstGeom>
              <a:solidFill>
                <a:srgbClr val="1D83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3C99FFB-97CD-D23B-06E0-F70F09845E97}"/>
                  </a:ext>
                </a:extLst>
              </p:cNvPr>
              <p:cNvSpPr txBox="1"/>
              <p:nvPr/>
            </p:nvSpPr>
            <p:spPr>
              <a:xfrm>
                <a:off x="2249873" y="2218101"/>
                <a:ext cx="545776" cy="15981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800" b="1" spc="-5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기재 방법</a:t>
                </a:r>
              </a:p>
            </p:txBody>
          </p:sp>
        </p:grp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0227B9C5-42C4-12E7-E97C-53112EE41C4E}"/>
              </a:ext>
            </a:extLst>
          </p:cNvPr>
          <p:cNvSpPr txBox="1"/>
          <p:nvPr/>
        </p:nvSpPr>
        <p:spPr>
          <a:xfrm>
            <a:off x="2181029" y="4426344"/>
            <a:ext cx="6721392" cy="64633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17600" indent="-417600" latinLnBrk="0"/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체험활동상황의 영역별 특기사항 입력을 위해</a:t>
            </a:r>
            <a:b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필요한 경우 누가기록을 활용할 수 있다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6543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49D3B5-D465-5428-F035-2E6A52B74B06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42A6BCB-1694-CD04-256A-2A636040071F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4" name="자유형 31">
              <a:extLst>
                <a:ext uri="{FF2B5EF4-FFF2-40B4-BE49-F238E27FC236}">
                  <a16:creationId xmlns:a16="http://schemas.microsoft.com/office/drawing/2014/main" id="{1B1F6A52-02D7-FA7B-A03F-662EEA167F00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53B203A-AF6A-16FB-A266-23A020E4106A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6" name="그래픽 2362">
            <a:extLst>
              <a:ext uri="{FF2B5EF4-FFF2-40B4-BE49-F238E27FC236}">
                <a16:creationId xmlns:a16="http://schemas.microsoft.com/office/drawing/2014/main" id="{9DE156E8-9D7B-BD0A-CDA7-D9B8675E756D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0C2BAD2-0A7E-34BC-F5E1-A6E192C4F906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17F6C53-1A7F-5C6E-552B-E8D99F57E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E5EE2007-F27A-C283-3A6F-049212D3BD07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F0621D1-A4F9-3A94-858E-9EE32B2783F3}"/>
              </a:ext>
            </a:extLst>
          </p:cNvPr>
          <p:cNvSpPr txBox="1"/>
          <p:nvPr/>
        </p:nvSpPr>
        <p:spPr>
          <a:xfrm>
            <a:off x="2071492" y="4663061"/>
            <a:ext cx="7952177" cy="202876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142875" indent="-142875" latinLnBrk="0">
              <a:spcAft>
                <a:spcPts val="700"/>
              </a:spcAft>
            </a:pP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▸별도 시수로 확보된 행사활동은 교육정보시스템의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[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교육과정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학사일정관리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학사일정관리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]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b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{</a:t>
            </a:r>
            <a:r>
              <a:rPr lang="ko-KR" altLang="en-US" sz="14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행사코드관리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}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탭에서 행사코드 등록 시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학생부특별활동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자율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자치활동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(2~3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학년은</a:t>
            </a:r>
            <a:b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자율활동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)’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이나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‘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진로활동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으로 설정하고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[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교육과정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시간표관리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전체시간표관리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]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{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행사처리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}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에서</a:t>
            </a:r>
            <a:b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등록하되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‘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처리구분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‘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현재수업 삭제 후 처리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로 설정함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144000" indent="-144000" latinLnBrk="0">
              <a:spcAft>
                <a:spcPts val="700"/>
              </a:spcAft>
            </a:pP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▸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행사활동 내용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교육정보시스템에서 </a:t>
            </a:r>
            <a:r>
              <a:rPr lang="ko-KR" altLang="en-US" sz="14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누가기록하는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경우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교육정보시스템의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[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학생생활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b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창의적체험활동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자율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․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자치활동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자율활동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관리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]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{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누가기록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}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탭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[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학생생활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창의적체험활동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b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진로활동관리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]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{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누가기록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}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탭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또는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[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학생생활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창의적체험활동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4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진로활동누가기록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])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에서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등록하며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[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교육과정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4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편제및과목개설관리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과목별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/</a:t>
            </a:r>
            <a:r>
              <a:rPr lang="ko-KR" altLang="en-US" sz="14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강의실별시수누계조회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]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자율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자치활동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(3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학년은</a:t>
            </a:r>
            <a:b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자율활동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)(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학사일정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)’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이나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진로활동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학사일정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)’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으로 시수가 조회됨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1A11296-7D52-15A4-5569-60CE66A77872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BC9CD226-A813-64FD-6FFD-0D4DE1152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600393FA-CBFF-AB64-5AE4-5F57B36B9997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3058351-8B46-A203-9068-8471AACAFDE5}"/>
              </a:ext>
            </a:extLst>
          </p:cNvPr>
          <p:cNvSpPr txBox="1"/>
          <p:nvPr/>
        </p:nvSpPr>
        <p:spPr>
          <a:xfrm>
            <a:off x="2071492" y="2558957"/>
            <a:ext cx="7923644" cy="111569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108000" indent="-144000" latinLnBrk="0">
              <a:spcAft>
                <a:spcPts val="300"/>
              </a:spcAft>
            </a:pP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▸별도 시수로 확보된 행사활동은 교육정보시스템의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[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교육과정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학사일정관리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학사일정관리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]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{</a:t>
            </a:r>
            <a:r>
              <a:rPr lang="ko-KR" altLang="en-US" sz="10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행사코드관리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}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탭에서 행사코드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등록 시</a:t>
            </a:r>
            <a:b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학생부특별활동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자율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자치활동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(2~3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학년은 자율활동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)’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이나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진로활동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으로 설정하고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[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교육과정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시간표관리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전체시간표관리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]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</a:t>
            </a:r>
            <a:b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{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행사처리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}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에서 등록하되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‘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처리구분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현재수업 삭제 후 처리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로 설정함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108000" indent="-277200" latinLnBrk="0">
              <a:spcAft>
                <a:spcPts val="300"/>
              </a:spcAft>
            </a:pP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▸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행사활동 내용은 교육정보시스템의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[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학생생활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창의적체험활동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자율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자치활동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자율활동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관리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]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{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누가기록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}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탭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[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학생생활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창의적체험활동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b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진로활동관리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]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{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누가기록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}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탭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또는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[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학생생활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창의적체험활동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0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진로활동누가기록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])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에서 등록하며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[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교육과정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0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편제및과목개설관리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b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과목별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/</a:t>
            </a:r>
            <a:r>
              <a:rPr lang="ko-KR" altLang="en-US" sz="10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강의실별시수누계조회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]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[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편제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]’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자율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․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자치활동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(2~3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학년은 자율활동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)(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학사일정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)’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이나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진로활동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학사일정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)’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으로</a:t>
            </a:r>
            <a:b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시수가 조회됨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0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764359E-7825-F762-219D-B37DAFF5E71B}"/>
              </a:ext>
            </a:extLst>
          </p:cNvPr>
          <p:cNvGrpSpPr/>
          <p:nvPr/>
        </p:nvGrpSpPr>
        <p:grpSpPr>
          <a:xfrm>
            <a:off x="522288" y="518880"/>
            <a:ext cx="6251872" cy="677108"/>
            <a:chOff x="522288" y="518880"/>
            <a:chExt cx="6251872" cy="6771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5CB628D-6FE2-EA18-35A6-C00167A00B9A}"/>
                </a:ext>
              </a:extLst>
            </p:cNvPr>
            <p:cNvSpPr txBox="1"/>
            <p:nvPr/>
          </p:nvSpPr>
          <p:spPr>
            <a:xfrm>
              <a:off x="1923473" y="518880"/>
              <a:ext cx="4850687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023F5E8D-5D9B-952C-FE25-900F850BF160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97AFA634-37C8-1CFF-0FD3-095D679F281B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CC9C2C-7452-D67C-94B5-87260F4AFBDE}"/>
                  </a:ext>
                </a:extLst>
              </p:cNvPr>
              <p:cNvSpPr txBox="1"/>
              <p:nvPr/>
            </p:nvSpPr>
            <p:spPr>
              <a:xfrm>
                <a:off x="644981" y="672768"/>
                <a:ext cx="9585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13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D53123D-86CE-1DEC-7B99-6820ED63080E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0D0331F-B806-BE07-E2A6-C8DB208E4049}"/>
              </a:ext>
            </a:extLst>
          </p:cNvPr>
          <p:cNvGrpSpPr/>
          <p:nvPr/>
        </p:nvGrpSpPr>
        <p:grpSpPr>
          <a:xfrm>
            <a:off x="522288" y="1454050"/>
            <a:ext cx="3576679" cy="450951"/>
            <a:chOff x="522288" y="1454050"/>
            <a:chExt cx="3576679" cy="45095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B1D8768-8B82-5DA1-4DCD-76B113508D53}"/>
                </a:ext>
              </a:extLst>
            </p:cNvPr>
            <p:cNvSpPr txBox="1"/>
            <p:nvPr/>
          </p:nvSpPr>
          <p:spPr>
            <a:xfrm>
              <a:off x="1340198" y="1564200"/>
              <a:ext cx="2758769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제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4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조제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4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항에 따른 변경사항 반영</a:t>
              </a: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D03502C9-F4A4-6485-93DA-1AC472915C2D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24" name="사각형: 둥근 위쪽 모서리 23">
                <a:extLst>
                  <a:ext uri="{FF2B5EF4-FFF2-40B4-BE49-F238E27FC236}">
                    <a16:creationId xmlns:a16="http://schemas.microsoft.com/office/drawing/2014/main" id="{04AECB7E-5A11-5877-1AB6-264FD8EFFE65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사각형: 둥근 위쪽 모서리 24">
                <a:extLst>
                  <a:ext uri="{FF2B5EF4-FFF2-40B4-BE49-F238E27FC236}">
                    <a16:creationId xmlns:a16="http://schemas.microsoft.com/office/drawing/2014/main" id="{50672B71-BEA8-7318-7B81-65587F9B369A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1B3EB05-2C63-5D25-EA55-4104C633417A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4766D61-1DDE-50C3-3DCC-C843903964D2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28" name="사각형: 둥근 위쪽 모서리 27">
              <a:extLst>
                <a:ext uri="{FF2B5EF4-FFF2-40B4-BE49-F238E27FC236}">
                  <a16:creationId xmlns:a16="http://schemas.microsoft.com/office/drawing/2014/main" id="{BEC26979-2B5D-D099-A3D7-084748FBD40E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9" name="사각형: 둥근 위쪽 모서리 28">
              <a:extLst>
                <a:ext uri="{FF2B5EF4-FFF2-40B4-BE49-F238E27FC236}">
                  <a16:creationId xmlns:a16="http://schemas.microsoft.com/office/drawing/2014/main" id="{40828044-998F-524E-1E8C-43FA4B70CE1E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000F4087-5B25-095C-AC36-95AA587148A6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1" name="사각형: 둥근 위쪽 모서리 30">
              <a:extLst>
                <a:ext uri="{FF2B5EF4-FFF2-40B4-BE49-F238E27FC236}">
                  <a16:creationId xmlns:a16="http://schemas.microsoft.com/office/drawing/2014/main" id="{D94B5E70-56DB-0C26-AC86-4663874C189F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2" name="사각형: 둥근 위쪽 모서리 31">
              <a:extLst>
                <a:ext uri="{FF2B5EF4-FFF2-40B4-BE49-F238E27FC236}">
                  <a16:creationId xmlns:a16="http://schemas.microsoft.com/office/drawing/2014/main" id="{2065E688-C0CB-FA76-A369-F7533BDCCA90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68CE011-779E-CE20-E898-F50222045958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C973A0-FBB1-A665-541B-CA2E45D8EA98}"/>
                </a:ext>
              </a:extLst>
            </p:cNvPr>
            <p:cNvSpPr txBox="1"/>
            <p:nvPr/>
          </p:nvSpPr>
          <p:spPr>
            <a:xfrm>
              <a:off x="8939274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p.81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99D63FB-2B72-9D52-138B-57F783048CF2}"/>
              </a:ext>
            </a:extLst>
          </p:cNvPr>
          <p:cNvGrpSpPr/>
          <p:nvPr/>
        </p:nvGrpSpPr>
        <p:grpSpPr>
          <a:xfrm>
            <a:off x="2050205" y="2305326"/>
            <a:ext cx="727440" cy="206900"/>
            <a:chOff x="2159041" y="2194555"/>
            <a:chExt cx="727440" cy="206900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208374E2-BFD2-1230-F2C7-5B036A94FB62}"/>
                </a:ext>
              </a:extLst>
            </p:cNvPr>
            <p:cNvSpPr/>
            <p:nvPr/>
          </p:nvSpPr>
          <p:spPr>
            <a:xfrm>
              <a:off x="2159041" y="2194555"/>
              <a:ext cx="727440" cy="2069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5CD1347-BDD5-7887-FB6D-F39909ECEC64}"/>
                </a:ext>
              </a:extLst>
            </p:cNvPr>
            <p:cNvSpPr txBox="1"/>
            <p:nvPr/>
          </p:nvSpPr>
          <p:spPr>
            <a:xfrm>
              <a:off x="2237426" y="2213367"/>
              <a:ext cx="57067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fontAlgn="base"/>
              <a:r>
                <a:rPr lang="ko-KR" altLang="en-US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 경로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6928FB2-C634-3F2C-D670-308279DC20A5}"/>
              </a:ext>
            </a:extLst>
          </p:cNvPr>
          <p:cNvGrpSpPr/>
          <p:nvPr/>
        </p:nvGrpSpPr>
        <p:grpSpPr>
          <a:xfrm>
            <a:off x="2050205" y="4274243"/>
            <a:ext cx="980686" cy="278928"/>
            <a:chOff x="2159041" y="2194555"/>
            <a:chExt cx="727440" cy="206900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BE434DE9-7105-A88E-8F23-60720F85EFB8}"/>
                </a:ext>
              </a:extLst>
            </p:cNvPr>
            <p:cNvSpPr/>
            <p:nvPr/>
          </p:nvSpPr>
          <p:spPr>
            <a:xfrm>
              <a:off x="2159041" y="2194555"/>
              <a:ext cx="727440" cy="206900"/>
            </a:xfrm>
            <a:prstGeom prst="roundRect">
              <a:avLst>
                <a:gd name="adj" fmla="val 50000"/>
              </a:avLst>
            </a:prstGeom>
            <a:solidFill>
              <a:srgbClr val="1D83FF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61D3752-2E8A-8776-FDF7-C72CA89CA6E4}"/>
                </a:ext>
              </a:extLst>
            </p:cNvPr>
            <p:cNvSpPr txBox="1"/>
            <p:nvPr/>
          </p:nvSpPr>
          <p:spPr>
            <a:xfrm>
              <a:off x="2249873" y="2218101"/>
              <a:ext cx="545776" cy="15981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fontAlgn="base"/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 경로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6075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FC86D-7981-9ADF-2C62-94EABF8D2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7D56E0-39EF-C768-B4D0-E5E88ABE8D4D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17C1170-86EE-E333-D46D-876F7FA318B3}"/>
              </a:ext>
            </a:extLst>
          </p:cNvPr>
          <p:cNvGrpSpPr/>
          <p:nvPr/>
        </p:nvGrpSpPr>
        <p:grpSpPr>
          <a:xfrm>
            <a:off x="514422" y="4824464"/>
            <a:ext cx="1154042" cy="680400"/>
            <a:chOff x="514422" y="4824464"/>
            <a:chExt cx="1154042" cy="68040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2C4FFC6F-90BF-84DB-6686-59CCE5321077}"/>
                </a:ext>
              </a:extLst>
            </p:cNvPr>
            <p:cNvSpPr/>
            <p:nvPr/>
          </p:nvSpPr>
          <p:spPr>
            <a:xfrm>
              <a:off x="514422" y="4824464"/>
              <a:ext cx="1154042" cy="680400"/>
            </a:xfrm>
            <a:prstGeom prst="roundRect">
              <a:avLst>
                <a:gd name="adj" fmla="val 29266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19E9290-BFF9-4AED-C01B-CEA747DD3ADE}"/>
                </a:ext>
              </a:extLst>
            </p:cNvPr>
            <p:cNvSpPr txBox="1"/>
            <p:nvPr/>
          </p:nvSpPr>
          <p:spPr>
            <a:xfrm>
              <a:off x="663441" y="4887665"/>
              <a:ext cx="856004" cy="553998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삭제 및 </a:t>
              </a:r>
              <a:endParaRPr lang="en-US" altLang="ko-KR" sz="1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보완</a:t>
              </a:r>
            </a:p>
          </p:txBody>
        </p:sp>
      </p:grpSp>
      <p:sp>
        <p:nvSpPr>
          <p:cNvPr id="6" name="그래픽 2362">
            <a:extLst>
              <a:ext uri="{FF2B5EF4-FFF2-40B4-BE49-F238E27FC236}">
                <a16:creationId xmlns:a16="http://schemas.microsoft.com/office/drawing/2014/main" id="{6A63076D-FA52-3996-AE45-CCDC28467F3F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C3A697A-52B1-0FAD-59FB-3C2BB41F2FCD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C58405D-5C92-1A1F-217E-8D490D33D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0A3F0494-4B65-E3BD-2E40-934DD14A9B75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37005AE-D1A3-0046-969D-57C9C5A6F86B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4466D5C-9DF7-2FF5-559D-CAF56F8CE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A3AFC5DF-5124-6482-81E0-C975B71722A2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792FA54-D881-D28E-737D-6FAF30E7D934}"/>
              </a:ext>
            </a:extLst>
          </p:cNvPr>
          <p:cNvSpPr txBox="1"/>
          <p:nvPr/>
        </p:nvSpPr>
        <p:spPr>
          <a:xfrm>
            <a:off x="2120359" y="2353624"/>
            <a:ext cx="7338547" cy="21544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77200" indent="-277200" latinLnBrk="0"/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마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의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적 체험활동상황의 영역별 시수 인정과 특기사항에 입력할 수 있는 내용은 표와 같다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F87F81-3401-C164-8A04-690ACAF9D0F9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0255D31-4B15-4239-E4E1-55672345D31A}"/>
              </a:ext>
            </a:extLst>
          </p:cNvPr>
          <p:cNvGrpSpPr/>
          <p:nvPr/>
        </p:nvGrpSpPr>
        <p:grpSpPr>
          <a:xfrm>
            <a:off x="522288" y="1454050"/>
            <a:ext cx="5559593" cy="450951"/>
            <a:chOff x="522288" y="1454050"/>
            <a:chExt cx="5559593" cy="45095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D63C6A2-5700-1C2A-4A72-8780459FFF15}"/>
                </a:ext>
              </a:extLst>
            </p:cNvPr>
            <p:cNvSpPr txBox="1"/>
            <p:nvPr/>
          </p:nvSpPr>
          <p:spPr>
            <a:xfrm>
              <a:off x="1340198" y="1564200"/>
              <a:ext cx="4741683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기재내용 명료화 및 학교스포츠클럽 이수시간 </a:t>
              </a:r>
              <a:r>
                <a:rPr lang="ko-KR" altLang="en-US" sz="1500" b="1" spc="-5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미기재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반영</a:t>
              </a: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2A220716-4B4A-DB8B-04D3-EEE184DEF8F4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24" name="사각형: 둥근 위쪽 모서리 23">
                <a:extLst>
                  <a:ext uri="{FF2B5EF4-FFF2-40B4-BE49-F238E27FC236}">
                    <a16:creationId xmlns:a16="http://schemas.microsoft.com/office/drawing/2014/main" id="{2C4AF04C-AA84-0C82-0F39-58288B90768F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사각형: 둥근 위쪽 모서리 24">
                <a:extLst>
                  <a:ext uri="{FF2B5EF4-FFF2-40B4-BE49-F238E27FC236}">
                    <a16:creationId xmlns:a16="http://schemas.microsoft.com/office/drawing/2014/main" id="{74C32EBF-D517-DAEA-06DD-336B6DF4FBF2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C4C3E87-24EC-1431-CF60-BE851B40FA77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FD68910-2B8E-E32C-D0DB-2B0D81D7DC83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39" name="사각형: 둥근 위쪽 모서리 38">
              <a:extLst>
                <a:ext uri="{FF2B5EF4-FFF2-40B4-BE49-F238E27FC236}">
                  <a16:creationId xmlns:a16="http://schemas.microsoft.com/office/drawing/2014/main" id="{594B8801-B9D4-D79A-F01D-B6A60F6A995E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0" name="사각형: 둥근 위쪽 모서리 39">
              <a:extLst>
                <a:ext uri="{FF2B5EF4-FFF2-40B4-BE49-F238E27FC236}">
                  <a16:creationId xmlns:a16="http://schemas.microsoft.com/office/drawing/2014/main" id="{0198EBCE-8B15-BE68-9AE6-F590F9D57EF8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194DF536-0D0B-386F-DD01-77B08A0F362F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2" name="사각형: 둥근 위쪽 모서리 41">
              <a:extLst>
                <a:ext uri="{FF2B5EF4-FFF2-40B4-BE49-F238E27FC236}">
                  <a16:creationId xmlns:a16="http://schemas.microsoft.com/office/drawing/2014/main" id="{2E6F2AF2-D2AC-8D3D-1E93-D2AB9CE5C14C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3" name="사각형: 둥근 위쪽 모서리 42">
              <a:extLst>
                <a:ext uri="{FF2B5EF4-FFF2-40B4-BE49-F238E27FC236}">
                  <a16:creationId xmlns:a16="http://schemas.microsoft.com/office/drawing/2014/main" id="{E6160C1C-E7F9-966A-27C4-EF0227F4C997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82C4C41-4790-6234-3443-E4C6E33B64AC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6C65EE9-53D2-966E-2BD7-A24DFA4048C8}"/>
                </a:ext>
              </a:extLst>
            </p:cNvPr>
            <p:cNvSpPr txBox="1"/>
            <p:nvPr/>
          </p:nvSpPr>
          <p:spPr>
            <a:xfrm>
              <a:off x="893927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p.81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F683F710-6245-9CA1-3378-0AA9CB4702D3}"/>
              </a:ext>
            </a:extLst>
          </p:cNvPr>
          <p:cNvSpPr txBox="1"/>
          <p:nvPr/>
        </p:nvSpPr>
        <p:spPr>
          <a:xfrm>
            <a:off x="2120359" y="4395522"/>
            <a:ext cx="7949292" cy="64633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17600" indent="-417600" latinLnBrk="0"/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마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창의적 체험활동상황의 영역별 시수 인정과 특기사항에 입력할 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수 있는 내용은 표와 같다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26A131D3-BA0B-1508-B8A2-0E189B86A7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819472"/>
              </p:ext>
            </p:extLst>
          </p:nvPr>
        </p:nvGraphicFramePr>
        <p:xfrm>
          <a:off x="2120359" y="2634404"/>
          <a:ext cx="7804800" cy="97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457">
                  <a:extLst>
                    <a:ext uri="{9D8B030D-6E8A-4147-A177-3AD203B41FA5}">
                      <a16:colId xmlns:a16="http://schemas.microsoft.com/office/drawing/2014/main" val="3530319265"/>
                    </a:ext>
                  </a:extLst>
                </a:gridCol>
                <a:gridCol w="2796468">
                  <a:extLst>
                    <a:ext uri="{9D8B030D-6E8A-4147-A177-3AD203B41FA5}">
                      <a16:colId xmlns:a16="http://schemas.microsoft.com/office/drawing/2014/main" val="2675405602"/>
                    </a:ext>
                  </a:extLst>
                </a:gridCol>
                <a:gridCol w="3579875">
                  <a:extLst>
                    <a:ext uri="{9D8B030D-6E8A-4147-A177-3AD203B41FA5}">
                      <a16:colId xmlns:a16="http://schemas.microsoft.com/office/drawing/2014/main" val="1487154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영역</a:t>
                      </a:r>
                    </a:p>
                  </a:txBody>
                  <a:tcPr marL="72000" marR="72000" marT="10800" marB="108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시수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특기사항에 입력할 수 있는 내용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177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자율</a:t>
                      </a:r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·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자치활동</a:t>
                      </a:r>
                    </a:p>
                    <a:p>
                      <a:pPr algn="ctr" latinLnBrk="1"/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(2~3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학년은 자율활동</a:t>
                      </a:r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72000" marR="72000" marT="10800" marB="108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정규교육과정 시수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8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행사활동은 별도 </a:t>
                      </a:r>
                      <a:r>
                        <a:rPr lang="ko-KR" altLang="en-US" sz="8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행사시수</a:t>
                      </a:r>
                      <a:r>
                        <a:rPr lang="ko-KR" altLang="en-US" sz="8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 포함</a:t>
                      </a:r>
                      <a:r>
                        <a:rPr lang="en-US" altLang="ko-KR" sz="8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20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동아리 활동</a:t>
                      </a:r>
                    </a:p>
                  </a:txBody>
                  <a:tcPr marL="72000" marR="72000" marT="10800" marB="108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정규교육과정 시수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8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정규교육과정 이외 학교스포츠클럽활동 포함</a:t>
                      </a:r>
                      <a:r>
                        <a:rPr lang="en-US" altLang="ko-KR" sz="8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▪ 정규교육과정 동아리활동</a:t>
                      </a:r>
                    </a:p>
                    <a:p>
                      <a:pPr algn="l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▪ 정규교육과정 이외 학교스포츠클럽활동 클럽명과 이수시간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66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진로 활동</a:t>
                      </a:r>
                    </a:p>
                  </a:txBody>
                  <a:tcPr marL="72000" marR="72000" marT="10800" marB="108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정규교육과정 시수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8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행사활동은 별도 </a:t>
                      </a:r>
                      <a:r>
                        <a:rPr lang="ko-KR" altLang="en-US" sz="8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행사시수</a:t>
                      </a:r>
                      <a:r>
                        <a:rPr lang="ko-KR" altLang="en-US" sz="8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 포함</a:t>
                      </a:r>
                      <a:r>
                        <a:rPr lang="en-US" altLang="ko-KR" sz="8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309929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25C2A56-40A1-067E-1A95-745D754D9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648049"/>
              </p:ext>
            </p:extLst>
          </p:nvPr>
        </p:nvGraphicFramePr>
        <p:xfrm>
          <a:off x="2120359" y="5175670"/>
          <a:ext cx="7804800" cy="158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415">
                  <a:extLst>
                    <a:ext uri="{9D8B030D-6E8A-4147-A177-3AD203B41FA5}">
                      <a16:colId xmlns:a16="http://schemas.microsoft.com/office/drawing/2014/main" val="3530319265"/>
                    </a:ext>
                  </a:extLst>
                </a:gridCol>
                <a:gridCol w="2485867">
                  <a:extLst>
                    <a:ext uri="{9D8B030D-6E8A-4147-A177-3AD203B41FA5}">
                      <a16:colId xmlns:a16="http://schemas.microsoft.com/office/drawing/2014/main" val="2675405602"/>
                    </a:ext>
                  </a:extLst>
                </a:gridCol>
                <a:gridCol w="3782518">
                  <a:extLst>
                    <a:ext uri="{9D8B030D-6E8A-4147-A177-3AD203B41FA5}">
                      <a16:colId xmlns:a16="http://schemas.microsoft.com/office/drawing/2014/main" val="1487154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영역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3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시수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3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특기사항에 입력할 수 있는 내용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177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자율</a:t>
                      </a:r>
                      <a:r>
                        <a:rPr lang="en-US" altLang="ko-KR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·</a:t>
                      </a:r>
                      <a:r>
                        <a:rPr lang="ko-KR" altLang="en-US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자치활동</a:t>
                      </a:r>
                    </a:p>
                    <a:p>
                      <a:pPr algn="ctr" latinLnBrk="1"/>
                      <a:r>
                        <a:rPr lang="en-US" altLang="ko-KR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ko-KR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lang="ko-KR" altLang="en-US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학년은 자율활동</a:t>
                      </a:r>
                      <a:r>
                        <a:rPr lang="en-US" altLang="ko-KR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정규교육과정 시수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행사활동은 별도 </a:t>
                      </a:r>
                      <a:r>
                        <a:rPr lang="ko-KR" altLang="en-US" sz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행사시수</a:t>
                      </a:r>
                      <a:r>
                        <a:rPr lang="ko-KR" altLang="en-US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 포함</a:t>
                      </a:r>
                      <a:r>
                        <a:rPr lang="en-US" altLang="ko-KR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▪ 정규교육과정의 자율</a:t>
                      </a:r>
                      <a:r>
                        <a:rPr lang="en-US" altLang="ko-KR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·</a:t>
                      </a:r>
                      <a:r>
                        <a:rPr lang="ko-KR" altLang="en-US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자치활동</a:t>
                      </a:r>
                      <a:r>
                        <a:rPr lang="en-US" altLang="ko-KR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(3</a:t>
                      </a:r>
                      <a:r>
                        <a:rPr lang="ko-KR" altLang="en-US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학년은 자율활동</a:t>
                      </a:r>
                      <a:r>
                        <a:rPr lang="en-US" altLang="ko-KR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20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동아리 활동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정규교육과정 시수</a:t>
                      </a:r>
                      <a:endParaRPr lang="en-US" altLang="ko-KR" sz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▪ 정규교육과정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의</a:t>
                      </a:r>
                      <a:r>
                        <a:rPr lang="ko-KR" altLang="en-US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 동아리활동</a:t>
                      </a:r>
                    </a:p>
                    <a:p>
                      <a:pPr algn="l" latinLnBrk="1"/>
                      <a:r>
                        <a:rPr lang="ko-KR" altLang="en-US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▪ 정규교육과정 이외 학교스포츠클럽활동 </a:t>
                      </a:r>
                      <a:r>
                        <a:rPr lang="ko-KR" altLang="en-US" sz="1200" b="1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클럽명</a:t>
                      </a:r>
                      <a:endParaRPr lang="ko-KR" altLang="en-US" sz="12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66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진로 활동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정규교육과정 시수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행사활동은 별도 </a:t>
                      </a:r>
                      <a:r>
                        <a:rPr lang="ko-KR" altLang="en-US" sz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행사시수</a:t>
                      </a:r>
                      <a:r>
                        <a:rPr lang="ko-KR" altLang="en-US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 포함</a:t>
                      </a:r>
                      <a:r>
                        <a:rPr lang="en-US" altLang="ko-KR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43056" rtl="0" eaLnBrk="1" latinLnBrk="1" hangingPunct="1"/>
                      <a:r>
                        <a:rPr lang="ko-KR" altLang="en-US" sz="12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▪ 정규교육과정의 진로활동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309929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B7B4F99D-1F5D-6118-8C5A-9712B59A7A76}"/>
              </a:ext>
            </a:extLst>
          </p:cNvPr>
          <p:cNvGrpSpPr/>
          <p:nvPr/>
        </p:nvGrpSpPr>
        <p:grpSpPr>
          <a:xfrm>
            <a:off x="522288" y="518880"/>
            <a:ext cx="6251872" cy="677108"/>
            <a:chOff x="522288" y="518880"/>
            <a:chExt cx="6251872" cy="677108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166C55B-66E6-4078-D38B-404A1085469F}"/>
                </a:ext>
              </a:extLst>
            </p:cNvPr>
            <p:cNvSpPr txBox="1"/>
            <p:nvPr/>
          </p:nvSpPr>
          <p:spPr>
            <a:xfrm>
              <a:off x="1923473" y="518880"/>
              <a:ext cx="4850687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C276A54B-A1C3-1CCC-DBB9-21070BB83824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5D881966-5173-0622-7810-4D35BAAFF509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E433ECC-8DC8-360F-ABBA-1774D96B52FD}"/>
                  </a:ext>
                </a:extLst>
              </p:cNvPr>
              <p:cNvSpPr txBox="1"/>
              <p:nvPr/>
            </p:nvSpPr>
            <p:spPr>
              <a:xfrm>
                <a:off x="644981" y="672768"/>
                <a:ext cx="9585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13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7244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37676-1F6C-313A-553E-7C216EB0C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570A171C-A62A-B356-B353-ED71E5D8ED42}"/>
              </a:ext>
            </a:extLst>
          </p:cNvPr>
          <p:cNvGrpSpPr/>
          <p:nvPr/>
        </p:nvGrpSpPr>
        <p:grpSpPr>
          <a:xfrm>
            <a:off x="514422" y="4824464"/>
            <a:ext cx="1154042" cy="680400"/>
            <a:chOff x="514422" y="4824464"/>
            <a:chExt cx="1154042" cy="68040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54838728-5D26-3AF6-2BDB-972F1CB4F273}"/>
                </a:ext>
              </a:extLst>
            </p:cNvPr>
            <p:cNvSpPr/>
            <p:nvPr/>
          </p:nvSpPr>
          <p:spPr>
            <a:xfrm>
              <a:off x="514422" y="4824464"/>
              <a:ext cx="1154042" cy="680400"/>
            </a:xfrm>
            <a:prstGeom prst="roundRect">
              <a:avLst>
                <a:gd name="adj" fmla="val 29266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D7238AD-839E-6D55-716B-A822D45B7DE1}"/>
                </a:ext>
              </a:extLst>
            </p:cNvPr>
            <p:cNvSpPr txBox="1"/>
            <p:nvPr/>
          </p:nvSpPr>
          <p:spPr>
            <a:xfrm>
              <a:off x="704318" y="4887665"/>
              <a:ext cx="774250" cy="553998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삭제 및</a:t>
              </a:r>
              <a:endParaRPr lang="en-US" altLang="ko-KR" sz="1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추가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F133AAF-8906-B98D-B52C-54D9CC98EA4D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4DD50BF3-CAB3-4670-E128-EE8C290E95D6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7CE94E7-D9DA-51DB-CF47-C889904DA820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9E7468A5-04EF-3CC1-7F30-6B8F85105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34BE7503-D8F8-97E9-285D-18C91E3622A0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0FB00808-4D23-C026-754D-DC38754ABBFB}"/>
              </a:ext>
            </a:extLst>
          </p:cNvPr>
          <p:cNvSpPr txBox="1"/>
          <p:nvPr/>
        </p:nvSpPr>
        <p:spPr>
          <a:xfrm>
            <a:off x="2120359" y="4383482"/>
            <a:ext cx="7655942" cy="135934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390525" indent="-390525" latinLnBrk="0">
              <a:spcAft>
                <a:spcPts val="1000"/>
              </a:spcAft>
            </a:pP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위의 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에도 불구하고 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6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학년도 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1·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 학생은 출석인정</a:t>
            </a:r>
            <a:b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결석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결과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으로 인해 활동에 </a:t>
            </a:r>
            <a:r>
              <a:rPr lang="ko-KR" altLang="en-US" sz="20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참여하지못한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경우에도 해당 활동의</a:t>
            </a:r>
            <a:b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이수시간을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인정하며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특기사항은 입력하지 않는다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390525" indent="-390525" latinLnBrk="0">
              <a:spcAft>
                <a:spcPts val="1000"/>
              </a:spcAft>
            </a:pPr>
            <a:endParaRPr lang="en-US" altLang="ko-KR" sz="2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71B14D8-5148-2C04-4932-A63432C40ADF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ED325DAF-E29E-78FC-0F62-F82593ABA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48D9821C-DD09-DF4E-D2BC-3400FC875997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DFC7656F-47B1-71C3-957F-58D216328A9C}"/>
              </a:ext>
            </a:extLst>
          </p:cNvPr>
          <p:cNvSpPr txBox="1"/>
          <p:nvPr/>
        </p:nvSpPr>
        <p:spPr>
          <a:xfrm>
            <a:off x="2120359" y="2349488"/>
            <a:ext cx="7837082" cy="126444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57175" indent="-257175" latinLnBrk="0">
              <a:spcAft>
                <a:spcPts val="500"/>
              </a:spcAft>
            </a:pP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가에도 불구하고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학년도 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 학생은 출석인정 결석으로 인해 활동에 참여하지 못한</a:t>
            </a:r>
            <a:b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경우에도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해당 활동의 이수시간을 인정하며 특기사항은 입력하지 않는다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또한 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｢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초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중등학교</a:t>
            </a:r>
            <a:b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교육과정 총론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｣ (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국가교육위원회 고시 제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2024-3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호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따른 창의적 체험활동 이수 학점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(18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학점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</a:t>
            </a:r>
            <a:b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충족 여부는 아래 표의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산식과 같이 계산한다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422275" indent="-152400" latinLnBrk="0">
              <a:spcAft>
                <a:spcPts val="500"/>
              </a:spcAft>
              <a:tabLst>
                <a:tab pos="431800" algn="l"/>
              </a:tabLst>
            </a:pP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‘2025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학년도 이후 고교학점제 학점이수 인정기준 및 최소 성취수준 보장지도 운영 계획 안내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’, 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교육부</a:t>
            </a:r>
            <a:b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3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기초학력진로교육과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-3248(2024.9.12.) 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참고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F4FB34A-E315-7D38-4C0C-AD172F997E51}"/>
              </a:ext>
            </a:extLst>
          </p:cNvPr>
          <p:cNvGrpSpPr/>
          <p:nvPr/>
        </p:nvGrpSpPr>
        <p:grpSpPr>
          <a:xfrm>
            <a:off x="522288" y="518880"/>
            <a:ext cx="6251872" cy="677108"/>
            <a:chOff x="522288" y="518880"/>
            <a:chExt cx="6251872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127F79A-211A-B70B-F892-64DC12AB70D8}"/>
                </a:ext>
              </a:extLst>
            </p:cNvPr>
            <p:cNvSpPr txBox="1"/>
            <p:nvPr/>
          </p:nvSpPr>
          <p:spPr>
            <a:xfrm>
              <a:off x="1923473" y="518880"/>
              <a:ext cx="4850687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39902F91-6F0A-D92A-D931-F8B34ACDC098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B1C428AD-2C2D-2DB2-B47E-12914719F1C8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40B8AE0-3753-A3BF-F1C3-9C98C8C7B16F}"/>
                  </a:ext>
                </a:extLst>
              </p:cNvPr>
              <p:cNvSpPr txBox="1"/>
              <p:nvPr/>
            </p:nvSpPr>
            <p:spPr>
              <a:xfrm>
                <a:off x="644981" y="672768"/>
                <a:ext cx="9585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13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C5AAEB3-15F2-97A4-F5D4-6709EB752DA6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839D5FB-33E5-DA90-6F36-5B8744F606AB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47" name="사각형: 둥근 위쪽 모서리 46">
              <a:extLst>
                <a:ext uri="{FF2B5EF4-FFF2-40B4-BE49-F238E27FC236}">
                  <a16:creationId xmlns:a16="http://schemas.microsoft.com/office/drawing/2014/main" id="{11CE1FF1-EA2C-CD09-B190-5E969A610EE8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9" name="사각형: 둥근 위쪽 모서리 48">
              <a:extLst>
                <a:ext uri="{FF2B5EF4-FFF2-40B4-BE49-F238E27FC236}">
                  <a16:creationId xmlns:a16="http://schemas.microsoft.com/office/drawing/2014/main" id="{418EC7F1-6A97-7701-140B-5C3D9ACE9380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831BBE37-AA6D-CAF9-70C2-13D94862CF46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1" name="사각형: 둥근 위쪽 모서리 50">
              <a:extLst>
                <a:ext uri="{FF2B5EF4-FFF2-40B4-BE49-F238E27FC236}">
                  <a16:creationId xmlns:a16="http://schemas.microsoft.com/office/drawing/2014/main" id="{EEE01C69-B74E-7047-4B03-A5A2D96A4787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3" name="사각형: 둥근 위쪽 모서리 52">
              <a:extLst>
                <a:ext uri="{FF2B5EF4-FFF2-40B4-BE49-F238E27FC236}">
                  <a16:creationId xmlns:a16="http://schemas.microsoft.com/office/drawing/2014/main" id="{84804522-7502-7A8A-F6C3-2FD8B566194B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4F5F1F4-7525-99B1-96DA-3A08CA04EE7D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AD16AC3-F5A8-6ABF-3307-453FD151359D}"/>
                </a:ext>
              </a:extLst>
            </p:cNvPr>
            <p:cNvSpPr txBox="1"/>
            <p:nvPr/>
          </p:nvSpPr>
          <p:spPr>
            <a:xfrm>
              <a:off x="8939272" y="865098"/>
              <a:ext cx="577082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p.82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AA896CD5-8185-D3D4-38CD-D946358BF1AF}"/>
              </a:ext>
            </a:extLst>
          </p:cNvPr>
          <p:cNvGrpSpPr/>
          <p:nvPr/>
        </p:nvGrpSpPr>
        <p:grpSpPr>
          <a:xfrm>
            <a:off x="522288" y="1454050"/>
            <a:ext cx="6338652" cy="450951"/>
            <a:chOff x="522288" y="1454050"/>
            <a:chExt cx="6338652" cy="4509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E529DE3-0C04-66D3-FC28-2C6A5F9B50F8}"/>
                </a:ext>
              </a:extLst>
            </p:cNvPr>
            <p:cNvSpPr txBox="1"/>
            <p:nvPr/>
          </p:nvSpPr>
          <p:spPr>
            <a:xfrm>
              <a:off x="1340198" y="1564200"/>
              <a:ext cx="5520742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2022 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개정 교육과정 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영역 학점관련 개정사항 반영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1983B3F-0746-FC32-DB0C-A6E4B011C1C4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28C6E286-7560-86A0-F3B4-488260BEAC4A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A53D37D4-195B-8276-5513-7B543AF2295C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A929BE-6FC3-632F-42C6-6F13D1312CFA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DB06702-3F17-460D-A07F-9C4B5E13B036}"/>
              </a:ext>
            </a:extLst>
          </p:cNvPr>
          <p:cNvSpPr txBox="1"/>
          <p:nvPr/>
        </p:nvSpPr>
        <p:spPr>
          <a:xfrm>
            <a:off x="2322363" y="5441663"/>
            <a:ext cx="7499487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&lt;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참고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&gt;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 이수 기준</a:t>
            </a:r>
            <a:endParaRPr lang="en-US" altLang="ko-KR" sz="18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체험활동은 학년도별 수업일수의 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분의 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이상 출석하면</a:t>
            </a:r>
            <a:b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재적교에서 해당 학년도에 정규교육과정으로 편성한 창의적 체험활동 학점을 모두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취득한 것으로 인정한다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6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11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EB9FCC-AE60-911A-640C-68BF4D65FC64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D525A7D-21A4-AECA-5976-B2C32BA9DF1A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4" name="자유형 31">
              <a:extLst>
                <a:ext uri="{FF2B5EF4-FFF2-40B4-BE49-F238E27FC236}">
                  <a16:creationId xmlns:a16="http://schemas.microsoft.com/office/drawing/2014/main" id="{42CC195B-62A1-B587-865B-6B549A9F4C94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8BB2FDD-7790-F972-805F-6572D6EA42CA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삭제</a:t>
              </a:r>
            </a:p>
          </p:txBody>
        </p:sp>
      </p:grpSp>
      <p:sp>
        <p:nvSpPr>
          <p:cNvPr id="6" name="그래픽 2362">
            <a:extLst>
              <a:ext uri="{FF2B5EF4-FFF2-40B4-BE49-F238E27FC236}">
                <a16:creationId xmlns:a16="http://schemas.microsoft.com/office/drawing/2014/main" id="{D49A5317-32AE-74D0-6F14-E35AC8232A85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F9D48CD-A584-FA23-E039-C158C3404AA1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4D10E79-54BD-3A13-490F-3E39A57C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79ADF86C-2370-8DCE-A0D4-2CBA22AA9BDD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AD9FC71-A3A9-A724-A5B5-1EDADBCE5899}"/>
              </a:ext>
            </a:extLst>
          </p:cNvPr>
          <p:cNvSpPr txBox="1"/>
          <p:nvPr/>
        </p:nvSpPr>
        <p:spPr>
          <a:xfrm>
            <a:off x="2120359" y="4383482"/>
            <a:ext cx="7441140" cy="32316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17600" indent="-417600" latinLnBrk="0"/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‘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동아리활동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에는 다음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가지 항목을 예시와 같이 입력한다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7CF8535-5807-7C9C-E71A-4ADD8877791C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CDA174D7-2260-5940-060F-A08BB0EB08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2F62B577-6976-C932-F428-5EEDFBA6356A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8F60209-145F-C29B-9CA3-007B8A23097E}"/>
              </a:ext>
            </a:extLst>
          </p:cNvPr>
          <p:cNvSpPr txBox="1"/>
          <p:nvPr/>
        </p:nvSpPr>
        <p:spPr>
          <a:xfrm>
            <a:off x="2120359" y="2374172"/>
            <a:ext cx="4937249" cy="21544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77200" indent="-277200" latinLnBrk="0"/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‘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동아리활동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에는 다음 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가지 항목을 예시와 같이 입력한다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8C9356F-1A1F-7CDE-8679-764825EFC0B1}"/>
              </a:ext>
            </a:extLst>
          </p:cNvPr>
          <p:cNvGrpSpPr/>
          <p:nvPr/>
        </p:nvGrpSpPr>
        <p:grpSpPr>
          <a:xfrm>
            <a:off x="522288" y="518880"/>
            <a:ext cx="6251872" cy="677108"/>
            <a:chOff x="522288" y="518880"/>
            <a:chExt cx="6251872" cy="6771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66C49EE-48A0-3140-9E54-8C1BF12F6632}"/>
                </a:ext>
              </a:extLst>
            </p:cNvPr>
            <p:cNvSpPr txBox="1"/>
            <p:nvPr/>
          </p:nvSpPr>
          <p:spPr>
            <a:xfrm>
              <a:off x="1923473" y="518880"/>
              <a:ext cx="4850687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1C2D5C1C-4297-2A4E-4837-B03B59AB39F8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5F9AA41A-9E82-4F51-7EFD-54FCC21266A2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6478A49-E2CA-9498-4520-D371B354312B}"/>
                  </a:ext>
                </a:extLst>
              </p:cNvPr>
              <p:cNvSpPr txBox="1"/>
              <p:nvPr/>
            </p:nvSpPr>
            <p:spPr>
              <a:xfrm>
                <a:off x="644981" y="672768"/>
                <a:ext cx="9585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13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E4370B0-7CEF-E94A-296D-6071E9A34D49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A30D0FA-36A8-BD5B-6899-E0A39A5FC5ED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22" name="사각형: 둥근 위쪽 모서리 21">
              <a:extLst>
                <a:ext uri="{FF2B5EF4-FFF2-40B4-BE49-F238E27FC236}">
                  <a16:creationId xmlns:a16="http://schemas.microsoft.com/office/drawing/2014/main" id="{C1EB14CF-BB0C-288F-A630-F0F436A64A9A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3" name="사각형: 둥근 위쪽 모서리 22">
              <a:extLst>
                <a:ext uri="{FF2B5EF4-FFF2-40B4-BE49-F238E27FC236}">
                  <a16:creationId xmlns:a16="http://schemas.microsoft.com/office/drawing/2014/main" id="{79D6E98C-F91C-7D90-C9EF-27152A1A8F06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07AA3D26-507D-9B70-3515-3F23C574B115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5" name="사각형: 둥근 위쪽 모서리 24">
              <a:extLst>
                <a:ext uri="{FF2B5EF4-FFF2-40B4-BE49-F238E27FC236}">
                  <a16:creationId xmlns:a16="http://schemas.microsoft.com/office/drawing/2014/main" id="{18180167-71E8-5AA0-1CE8-E8C410FCFC8A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6" name="사각형: 둥근 위쪽 모서리 25">
              <a:extLst>
                <a:ext uri="{FF2B5EF4-FFF2-40B4-BE49-F238E27FC236}">
                  <a16:creationId xmlns:a16="http://schemas.microsoft.com/office/drawing/2014/main" id="{6E8311FC-7FA9-1193-1559-414709B7115C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852F714-3237-3FD3-3E8D-999D323F219E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AF4E527-FC5B-0E5A-5361-738201084027}"/>
                </a:ext>
              </a:extLst>
            </p:cNvPr>
            <p:cNvSpPr txBox="1"/>
            <p:nvPr/>
          </p:nvSpPr>
          <p:spPr>
            <a:xfrm>
              <a:off x="893927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p.84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803F118-2991-9308-0458-63EEC522553F}"/>
              </a:ext>
            </a:extLst>
          </p:cNvPr>
          <p:cNvGrpSpPr/>
          <p:nvPr/>
        </p:nvGrpSpPr>
        <p:grpSpPr>
          <a:xfrm>
            <a:off x="522288" y="1454050"/>
            <a:ext cx="4118494" cy="450951"/>
            <a:chOff x="522288" y="1454050"/>
            <a:chExt cx="4118494" cy="45095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DB823C7-496C-A3AA-89D4-E7AD94C5C9D9}"/>
                </a:ext>
              </a:extLst>
            </p:cNvPr>
            <p:cNvSpPr txBox="1"/>
            <p:nvPr/>
          </p:nvSpPr>
          <p:spPr>
            <a:xfrm>
              <a:off x="1340198" y="1564200"/>
              <a:ext cx="3300584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학교스포츠클럽활동 이수시간 삭제 반영</a:t>
              </a: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7B481335-B1E5-BE6D-E5BB-E608C4EBB6BC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32" name="사각형: 둥근 위쪽 모서리 31">
                <a:extLst>
                  <a:ext uri="{FF2B5EF4-FFF2-40B4-BE49-F238E27FC236}">
                    <a16:creationId xmlns:a16="http://schemas.microsoft.com/office/drawing/2014/main" id="{B2292E20-58AB-D219-8C3C-BA70D8E82BDC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사각형: 둥근 위쪽 모서리 32">
                <a:extLst>
                  <a:ext uri="{FF2B5EF4-FFF2-40B4-BE49-F238E27FC236}">
                    <a16:creationId xmlns:a16="http://schemas.microsoft.com/office/drawing/2014/main" id="{7F5F97B5-8344-B8F2-6827-BAA9542BE153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97BF989-801A-49F1-C9C7-88F98BBFE1DC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7D3F29A5-2DDA-67A7-B358-7C46F3CCBEA5}"/>
              </a:ext>
            </a:extLst>
          </p:cNvPr>
          <p:cNvGraphicFramePr>
            <a:graphicFrameLocks noGrp="1"/>
          </p:cNvGraphicFramePr>
          <p:nvPr/>
        </p:nvGraphicFramePr>
        <p:xfrm>
          <a:off x="2120359" y="2644678"/>
          <a:ext cx="7803743" cy="930000"/>
        </p:xfrm>
        <a:graphic>
          <a:graphicData uri="http://schemas.openxmlformats.org/drawingml/2006/table">
            <a:tbl>
              <a:tblPr/>
              <a:tblGrid>
                <a:gridCol w="3442365">
                  <a:extLst>
                    <a:ext uri="{9D8B030D-6E8A-4147-A177-3AD203B41FA5}">
                      <a16:colId xmlns:a16="http://schemas.microsoft.com/office/drawing/2014/main" val="2550285270"/>
                    </a:ext>
                  </a:extLst>
                </a:gridCol>
                <a:gridCol w="4361378">
                  <a:extLst>
                    <a:ext uri="{9D8B030D-6E8A-4147-A177-3AD203B41FA5}">
                      <a16:colId xmlns:a16="http://schemas.microsoft.com/office/drawing/2014/main" val="3511806698"/>
                    </a:ext>
                  </a:extLst>
                </a:gridCol>
              </a:tblGrid>
              <a:tr h="78573"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활동</a:t>
                      </a:r>
                      <a:endParaRPr lang="ko-KR" altLang="en-US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입력 예시</a:t>
                      </a:r>
                      <a:endParaRPr lang="ko-KR" altLang="en-US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1887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정규교육과정 내 동아리활동</a:t>
                      </a:r>
                      <a:endParaRPr lang="en-US" altLang="ko-KR" sz="8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8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영어회화반</a:t>
                      </a:r>
                      <a:r>
                        <a:rPr lang="en-US" altLang="ko-KR" sz="8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)(34</a:t>
                      </a:r>
                      <a:r>
                        <a:rPr lang="ko-KR" altLang="en-US" sz="8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시간</a:t>
                      </a:r>
                      <a:r>
                        <a:rPr lang="en-US" altLang="ko-KR" sz="8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</a:t>
                      </a:r>
                      <a:r>
                        <a:rPr lang="ko-KR" altLang="en-US" sz="8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영어에 관심이 많고 </a:t>
                      </a:r>
                      <a:r>
                        <a:rPr lang="en-US" altLang="ko-KR" sz="8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~</a:t>
                      </a:r>
                      <a:endParaRPr lang="ko-KR" altLang="en-US" sz="80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22221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학교교육계획에 따른 정규교육과정 이외의 </a:t>
                      </a:r>
                      <a:r>
                        <a:rPr lang="ko-KR" altLang="en-US" sz="8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자율동아리활동</a:t>
                      </a:r>
                      <a:endParaRPr lang="ko-KR" altLang="en-US" sz="8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800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로봇반</a:t>
                      </a:r>
                      <a:r>
                        <a:rPr lang="en-US" altLang="ko-KR" sz="8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ko-KR" altLang="en-US" sz="8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자율동아리</a:t>
                      </a:r>
                      <a:r>
                        <a:rPr lang="en-US" altLang="ko-KR" sz="8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</a:t>
                      </a:r>
                      <a:endParaRPr lang="ko-KR" altLang="en-US" sz="8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2541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학교교육계획에 따른 정규교육과정 이외의 학교스포츠클럽활동</a:t>
                      </a:r>
                    </a:p>
                  </a:txBody>
                  <a:tcPr marL="72000" marR="72000" marT="10800" marB="1080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80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축구발리킥클럽</a:t>
                      </a:r>
                      <a:r>
                        <a:rPr lang="en-US" altLang="ko-KR" sz="8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ko-KR" altLang="en-US" sz="80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방과후학교스포츠클럽</a:t>
                      </a:r>
                      <a:r>
                        <a:rPr lang="en-US" altLang="ko-KR" sz="8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)(68</a:t>
                      </a:r>
                      <a:r>
                        <a:rPr lang="ko-KR" altLang="en-US" sz="8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시간</a:t>
                      </a:r>
                      <a:r>
                        <a:rPr lang="en-US" altLang="ko-KR" sz="8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</a:t>
                      </a:r>
                      <a:endParaRPr lang="ko-KR" altLang="en-US" sz="80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031671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4209124A-C1A8-4268-3790-D9A468566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357632"/>
              </p:ext>
            </p:extLst>
          </p:nvPr>
        </p:nvGraphicFramePr>
        <p:xfrm>
          <a:off x="2120359" y="4851490"/>
          <a:ext cx="7803743" cy="1890120"/>
        </p:xfrm>
        <a:graphic>
          <a:graphicData uri="http://schemas.openxmlformats.org/drawingml/2006/table">
            <a:tbl>
              <a:tblPr/>
              <a:tblGrid>
                <a:gridCol w="4522485">
                  <a:extLst>
                    <a:ext uri="{9D8B030D-6E8A-4147-A177-3AD203B41FA5}">
                      <a16:colId xmlns:a16="http://schemas.microsoft.com/office/drawing/2014/main" val="2550285270"/>
                    </a:ext>
                  </a:extLst>
                </a:gridCol>
                <a:gridCol w="3281258">
                  <a:extLst>
                    <a:ext uri="{9D8B030D-6E8A-4147-A177-3AD203B41FA5}">
                      <a16:colId xmlns:a16="http://schemas.microsoft.com/office/drawing/2014/main" val="2997939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영역</a:t>
                      </a:r>
                    </a:p>
                  </a:txBody>
                  <a:tcPr marL="72000" marR="72000" marT="36000" marB="3600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시수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1887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정규교육과정 내 동아리활동</a:t>
                      </a:r>
                      <a:r>
                        <a:rPr lang="en-US" altLang="ko-KR" sz="12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72000" marR="72000" marT="36000" marB="3600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2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2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영어회화반</a:t>
                      </a:r>
                      <a:r>
                        <a:rPr lang="en-US" altLang="ko-KR" sz="12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)(34</a:t>
                      </a:r>
                      <a:r>
                        <a:rPr lang="ko-KR" altLang="en-US" sz="12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시간</a:t>
                      </a:r>
                      <a:r>
                        <a:rPr lang="en-US" altLang="ko-KR" sz="12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</a:t>
                      </a:r>
                      <a:r>
                        <a:rPr lang="ko-KR" altLang="en-US" sz="12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영어에 관심이 많고 </a:t>
                      </a:r>
                      <a:r>
                        <a:rPr lang="en-US" altLang="ko-KR" sz="12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~</a:t>
                      </a:r>
                      <a:endParaRPr lang="ko-KR" altLang="en-US" sz="12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2222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학교교육계획에 따른 정규교육과정 이외의 </a:t>
                      </a:r>
                      <a:r>
                        <a:rPr lang="ko-KR" altLang="en-US" sz="12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자율동아리활동</a:t>
                      </a:r>
                      <a:endParaRPr lang="ko-KR" altLang="en-US" sz="12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2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200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로봇반</a:t>
                      </a:r>
                      <a:r>
                        <a:rPr lang="en-US" altLang="ko-KR" sz="12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ko-KR" altLang="en-US" sz="12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자율동아리</a:t>
                      </a:r>
                      <a:r>
                        <a:rPr lang="en-US" altLang="ko-KR" sz="12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</a:t>
                      </a:r>
                      <a:endParaRPr lang="ko-KR" altLang="en-US" sz="12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2541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학교교육계획에 따른 정규교육과정 이외의 학교스포츠클럽활동</a:t>
                      </a:r>
                    </a:p>
                  </a:txBody>
                  <a:tcPr marL="72000" marR="72000" marT="36000" marB="3600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2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200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축구발리킥클럽</a:t>
                      </a:r>
                      <a:r>
                        <a:rPr lang="en-US" altLang="ko-KR" sz="12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ko-KR" altLang="en-US" sz="12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방과후학교스포츠클럽</a:t>
                      </a:r>
                      <a:r>
                        <a:rPr lang="en-US" altLang="ko-KR" sz="12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12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031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99305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6381-5642-237D-7A33-BEA6CA06A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F3BCF9C2-AAD6-79C3-C0BB-E7297C973EC2}"/>
              </a:ext>
            </a:extLst>
          </p:cNvPr>
          <p:cNvGrpSpPr/>
          <p:nvPr/>
        </p:nvGrpSpPr>
        <p:grpSpPr>
          <a:xfrm>
            <a:off x="514422" y="4824464"/>
            <a:ext cx="1154042" cy="680400"/>
            <a:chOff x="514422" y="4824464"/>
            <a:chExt cx="1154042" cy="680400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52C7ED5B-3113-25B5-C710-9C5C668D1B6D}"/>
                </a:ext>
              </a:extLst>
            </p:cNvPr>
            <p:cNvSpPr/>
            <p:nvPr/>
          </p:nvSpPr>
          <p:spPr>
            <a:xfrm>
              <a:off x="514422" y="4824464"/>
              <a:ext cx="1154042" cy="680400"/>
            </a:xfrm>
            <a:prstGeom prst="roundRect">
              <a:avLst>
                <a:gd name="adj" fmla="val 29266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4975BDD-05BB-AE26-368B-74966BC9A9BD}"/>
                </a:ext>
              </a:extLst>
            </p:cNvPr>
            <p:cNvSpPr txBox="1"/>
            <p:nvPr/>
          </p:nvSpPr>
          <p:spPr>
            <a:xfrm>
              <a:off x="704318" y="4887665"/>
              <a:ext cx="774250" cy="553998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추가 및</a:t>
              </a:r>
              <a:endParaRPr lang="en-US" altLang="ko-KR" sz="1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삭제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B9C8E3B-C7C6-241A-A132-FB8B1A3B9464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C0DA900A-A87F-C740-1395-2A6B49064958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8DE6015-2266-9249-8C72-22B42EC65CB3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EFDB3107-3DB9-9E8E-EAFB-7486CEE1E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1DBAC65A-76C2-4F83-C760-A414F940B8CD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07CDAFB9-7F9D-F719-125D-F3A61D5DE316}"/>
              </a:ext>
            </a:extLst>
          </p:cNvPr>
          <p:cNvSpPr txBox="1"/>
          <p:nvPr/>
        </p:nvSpPr>
        <p:spPr>
          <a:xfrm>
            <a:off x="2120359" y="4383482"/>
            <a:ext cx="7740581" cy="232371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336550" indent="-336550" latinLnBrk="0">
              <a:spcAft>
                <a:spcPts val="800"/>
              </a:spcAft>
            </a:pP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바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정규교육과정 이외의 학교스포츠클럽명은 실질적인 활동 내용이 드러나는</a:t>
            </a:r>
            <a:b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클럽명으로 정하여 입력하되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종목명이 드러나도록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병기하여 입력할 수 있다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342900" indent="-6350" latinLnBrk="0">
              <a:spcAft>
                <a:spcPts val="800"/>
              </a:spcAft>
            </a:pP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&lt;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예시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&gt;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줄넘기반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5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케이팝댄스반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5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통키반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5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피구반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), </a:t>
            </a:r>
            <a:r>
              <a:rPr lang="ko-KR" altLang="en-US" sz="15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덩크반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5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농구반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</a:p>
          <a:p>
            <a:pPr marL="336550" indent="-336550" latinLnBrk="0">
              <a:spcAft>
                <a:spcPts val="800"/>
              </a:spcAft>
            </a:pP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사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정규교육과정 이외의 학교스포츠클럽에 가입하여 활동한 내용은</a:t>
            </a:r>
            <a:b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교육정보시스템의 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[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체육 학교스포츠클럽관리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학교스포츠클럽관리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</a:t>
            </a:r>
            <a:b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7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스포츠클럽활동내역관리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]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에서 필요시 </a:t>
            </a:r>
            <a:r>
              <a:rPr lang="ko-KR" altLang="en-US" sz="17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누가기록</a:t>
            </a:r>
            <a:r>
              <a:rPr lang="ko-KR" altLang="en-US" sz="17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할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수 있고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‘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동아리활동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에는</a:t>
            </a:r>
            <a:b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클럽명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만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입력한다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358775" indent="-41275" latinLnBrk="0">
              <a:spcAft>
                <a:spcPts val="800"/>
              </a:spcAft>
            </a:pP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&lt;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예시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&gt; </a:t>
            </a:r>
            <a:r>
              <a:rPr lang="ko-KR" altLang="en-US" sz="15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통키반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5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피구반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): </a:t>
            </a:r>
            <a:r>
              <a:rPr lang="ko-KR" altLang="en-US" sz="15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방과후학교스포츠클럽</a:t>
            </a:r>
            <a:endParaRPr lang="ko-KR" altLang="en-US" sz="15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C9263DD-937E-C001-EE92-FB10F1DC0D9A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7C6466DD-2A86-F063-9E59-AB8C834FE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2CE99B20-17F5-1AC2-36C1-4CE992CAB046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ECA6B848-B02D-1178-7ABE-EB39CFA3DD4B}"/>
              </a:ext>
            </a:extLst>
          </p:cNvPr>
          <p:cNvSpPr txBox="1"/>
          <p:nvPr/>
        </p:nvSpPr>
        <p:spPr>
          <a:xfrm>
            <a:off x="2120359" y="2278922"/>
            <a:ext cx="7744108" cy="138499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47650" indent="-247650" latinLnBrk="0">
              <a:spcAft>
                <a:spcPts val="400"/>
              </a:spcAft>
            </a:pP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바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정규교육과정 이외의 학교스포츠클럽명은 실질적인 활동 내용이 드러나는 클럽명으로 정하여 입력하되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병기하여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입력할 수 있다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00025" indent="47625" latinLnBrk="0">
              <a:spcAft>
                <a:spcPts val="400"/>
              </a:spcAft>
            </a:pP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&lt;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예시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&gt;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줄넘기반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케이팝댄스반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통키반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0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피구반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), </a:t>
            </a:r>
            <a:r>
              <a:rPr lang="ko-KR" altLang="en-US" sz="10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덩크반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0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농구반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</a:p>
          <a:p>
            <a:pPr marL="242888" indent="-242888" latinLnBrk="0">
              <a:spcAft>
                <a:spcPts val="400"/>
              </a:spcAft>
            </a:pP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사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정규교육과정 이외의 학교스포츠클럽에 가입하여 활동한 내용과 실제 활동한 시간은 교육정보시스템의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[{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체육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}</a:t>
            </a:r>
            <a:b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학교스포츠클럽관리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학교스포츠클럽관리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2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학교스포츠클럽활동내역관리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]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누가기록하고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‘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동아리활동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</a:t>
            </a:r>
            <a:b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클럽명과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활동시간만 입력한다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15900" indent="22225" latinLnBrk="0">
              <a:spcAft>
                <a:spcPts val="400"/>
              </a:spcAft>
              <a:tabLst>
                <a:tab pos="182563" algn="l"/>
              </a:tabLst>
            </a:pP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&lt;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예시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&gt; </a:t>
            </a:r>
            <a:r>
              <a:rPr lang="ko-KR" altLang="en-US" sz="10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통키반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0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피구반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): </a:t>
            </a:r>
            <a:r>
              <a:rPr lang="ko-KR" altLang="en-US" sz="10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방과후학교스포츠클럽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(30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시간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C79D54B-7708-F081-0A28-7502A8FCDD9A}"/>
              </a:ext>
            </a:extLst>
          </p:cNvPr>
          <p:cNvGrpSpPr/>
          <p:nvPr/>
        </p:nvGrpSpPr>
        <p:grpSpPr>
          <a:xfrm>
            <a:off x="522288" y="518880"/>
            <a:ext cx="6251872" cy="677108"/>
            <a:chOff x="522288" y="518880"/>
            <a:chExt cx="6251872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96AB919-3FF2-8984-3910-E3D00A545C12}"/>
                </a:ext>
              </a:extLst>
            </p:cNvPr>
            <p:cNvSpPr txBox="1"/>
            <p:nvPr/>
          </p:nvSpPr>
          <p:spPr>
            <a:xfrm>
              <a:off x="1923473" y="518880"/>
              <a:ext cx="4850687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2BA87CA9-62DE-BF20-C6D1-25E26F98939F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2EAFFCAB-2FA2-434B-EF7A-48AC945C12FA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3FEF031-A932-9132-F066-A55917D2EF11}"/>
                  </a:ext>
                </a:extLst>
              </p:cNvPr>
              <p:cNvSpPr txBox="1"/>
              <p:nvPr/>
            </p:nvSpPr>
            <p:spPr>
              <a:xfrm>
                <a:off x="644981" y="672768"/>
                <a:ext cx="9585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13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CD87F4C-621E-B44E-26CF-2CA28235F9F8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209E84C-68E2-D0CD-9786-C2B9078DE024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47" name="사각형: 둥근 위쪽 모서리 46">
              <a:extLst>
                <a:ext uri="{FF2B5EF4-FFF2-40B4-BE49-F238E27FC236}">
                  <a16:creationId xmlns:a16="http://schemas.microsoft.com/office/drawing/2014/main" id="{748ED522-870F-6538-B4A0-A1C3D1563F07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9" name="사각형: 둥근 위쪽 모서리 48">
              <a:extLst>
                <a:ext uri="{FF2B5EF4-FFF2-40B4-BE49-F238E27FC236}">
                  <a16:creationId xmlns:a16="http://schemas.microsoft.com/office/drawing/2014/main" id="{90717DA0-7A68-9E5B-9460-1593A463ED6C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106F604F-BF0C-194F-036E-ADEE31359603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1" name="사각형: 둥근 위쪽 모서리 50">
              <a:extLst>
                <a:ext uri="{FF2B5EF4-FFF2-40B4-BE49-F238E27FC236}">
                  <a16:creationId xmlns:a16="http://schemas.microsoft.com/office/drawing/2014/main" id="{C0C62F07-496C-9DE6-B77C-72A8C503E460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3" name="사각형: 둥근 위쪽 모서리 52">
              <a:extLst>
                <a:ext uri="{FF2B5EF4-FFF2-40B4-BE49-F238E27FC236}">
                  <a16:creationId xmlns:a16="http://schemas.microsoft.com/office/drawing/2014/main" id="{F21EDCEC-1831-DDF0-48C4-4915828317B8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CFBFE3A-66EE-19F7-4978-C3F3F79A4B31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135F899-6FE4-252F-984F-DCC910FCF8B3}"/>
                </a:ext>
              </a:extLst>
            </p:cNvPr>
            <p:cNvSpPr txBox="1"/>
            <p:nvPr/>
          </p:nvSpPr>
          <p:spPr>
            <a:xfrm>
              <a:off x="8939272" y="865098"/>
              <a:ext cx="577082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p.85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EE6A0047-B873-6CBF-A453-69F193C16963}"/>
              </a:ext>
            </a:extLst>
          </p:cNvPr>
          <p:cNvGrpSpPr/>
          <p:nvPr/>
        </p:nvGrpSpPr>
        <p:grpSpPr>
          <a:xfrm>
            <a:off x="522288" y="1454050"/>
            <a:ext cx="6551852" cy="450951"/>
            <a:chOff x="522288" y="1454050"/>
            <a:chExt cx="6551852" cy="4509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A8CA370-B945-4ED4-31D0-853D4B84AF96}"/>
                </a:ext>
              </a:extLst>
            </p:cNvPr>
            <p:cNvSpPr txBox="1"/>
            <p:nvPr/>
          </p:nvSpPr>
          <p:spPr>
            <a:xfrm>
              <a:off x="1340198" y="1564200"/>
              <a:ext cx="5733942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학교스포츠클럽 이수시간 </a:t>
              </a:r>
              <a:r>
                <a:rPr lang="ko-KR" altLang="en-US" sz="1500" b="1" spc="-5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미기재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및 제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4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조제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4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항에 따른 변경사항 반영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A00A2317-F660-BD7C-A4A5-1921A31E9570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921B7181-1668-4D32-9E12-517044595DAA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CA20C7FF-661A-BB8C-A0D3-236D92044410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8B34156-2279-87A5-2217-C9EBB2B2BCFD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1191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60E9F-D1CB-D2E7-0CC6-E0F6C94A8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0F378D50-B2FD-46E7-7240-E3C4FA229A98}"/>
              </a:ext>
            </a:extLst>
          </p:cNvPr>
          <p:cNvGrpSpPr/>
          <p:nvPr/>
        </p:nvGrpSpPr>
        <p:grpSpPr>
          <a:xfrm>
            <a:off x="514422" y="4824464"/>
            <a:ext cx="1154042" cy="680400"/>
            <a:chOff x="514422" y="4824464"/>
            <a:chExt cx="1154042" cy="680400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0F3F498A-F5AD-D719-0E0E-2C476FCABF64}"/>
                </a:ext>
              </a:extLst>
            </p:cNvPr>
            <p:cNvSpPr/>
            <p:nvPr/>
          </p:nvSpPr>
          <p:spPr>
            <a:xfrm>
              <a:off x="514422" y="4824464"/>
              <a:ext cx="1154042" cy="680400"/>
            </a:xfrm>
            <a:prstGeom prst="roundRect">
              <a:avLst>
                <a:gd name="adj" fmla="val 29266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A7C7AC7-604A-BF09-80A2-493F5A3D335B}"/>
                </a:ext>
              </a:extLst>
            </p:cNvPr>
            <p:cNvSpPr txBox="1"/>
            <p:nvPr/>
          </p:nvSpPr>
          <p:spPr>
            <a:xfrm>
              <a:off x="704318" y="4887665"/>
              <a:ext cx="774250" cy="553998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추가 및</a:t>
              </a:r>
              <a:endParaRPr lang="en-US" altLang="ko-KR" sz="1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삭제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AAD002D-3BE4-427D-400B-FB0D994D5B20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D417045C-C730-F5EC-3F4B-B1DE8D7FAEA4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5A0FB1C-8AE0-CAF1-9DAD-B506BB6A4545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9D3C1CC9-FBA5-D17F-B721-EFB6F43C0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6A2FF28D-D35F-0FC2-E40E-77C51753BA08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B42C805A-A95B-CF92-0DB3-00B91FE381BF}"/>
              </a:ext>
            </a:extLst>
          </p:cNvPr>
          <p:cNvSpPr txBox="1"/>
          <p:nvPr/>
        </p:nvSpPr>
        <p:spPr>
          <a:xfrm>
            <a:off x="2120359" y="4383482"/>
            <a:ext cx="7654339" cy="194925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00050" indent="-400050" latinLnBrk="0">
              <a:spcAft>
                <a:spcPts val="800"/>
              </a:spcAft>
            </a:pP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아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정규교육과정 이외의 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학교스포츠클럽활동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은 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[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학생생활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b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창의적체험활동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동아리활동관리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20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담임용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)]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에서 스포츠클럽정보</a:t>
            </a:r>
            <a:b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가져오기를 통해 동아리활동 영역에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반영된다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701675" indent="-298450" latinLnBrk="0">
              <a:spcAft>
                <a:spcPts val="800"/>
              </a:spcAft>
            </a:pP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3)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학교스포츠클럽 지도교사는 지도시간이 중복되지 않는 범위</a:t>
            </a:r>
            <a:b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내에서 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 이상의 클럽 지도가 가능하며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지도하는 클럽별로</a:t>
            </a:r>
            <a:b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활동상황을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관리한다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2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D0C2B23-76D9-5696-1D61-D24CF70CAA70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17482E28-365F-FB8A-D528-A3A6D2619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CAC6809A-E431-82BD-E869-F918843C6FAC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7DDD28DD-7014-BECE-3D18-61F92D30E520}"/>
              </a:ext>
            </a:extLst>
          </p:cNvPr>
          <p:cNvSpPr txBox="1"/>
          <p:nvPr/>
        </p:nvSpPr>
        <p:spPr>
          <a:xfrm>
            <a:off x="2120359" y="2291807"/>
            <a:ext cx="7934865" cy="140038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34000" indent="-234000" latinLnBrk="0"/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바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정규교육과정 이외의 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학교스포츠클럽활동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시간은 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[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학생생활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창의적체험활동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동아리활동관리</a:t>
            </a:r>
            <a:b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3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담임용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)]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에서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{</a:t>
            </a:r>
            <a:r>
              <a:rPr lang="ko-KR" altLang="en-US" sz="13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스포츠클럽정보가져오기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}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를 통해 동아리활동 영역에 이수시간이 자동으로 합산되어</a:t>
            </a:r>
            <a:b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입력된다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427038" indent="-176213" latinLnBrk="0"/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3) 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학교스포츠클럽 지도교사는 지도시간이 중복되지 않는 범위 내에서 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 이상의 클럽 지도가 가능하며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지도하는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클럽별로 학생의 활동상황을 누가 입력하여야 한다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431800" indent="-180975" latinLnBrk="0"/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4) 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활동시간은 평일 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시간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토요일 및 공휴일 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시간 이내로 인정한다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계획 시에는 참가자 명단에</a:t>
            </a:r>
            <a:b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포함되었으나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활동 당일에 참여하지 않은 시간은 제외한다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1F20D45-A089-85E6-0049-660B85C54EA0}"/>
              </a:ext>
            </a:extLst>
          </p:cNvPr>
          <p:cNvGrpSpPr/>
          <p:nvPr/>
        </p:nvGrpSpPr>
        <p:grpSpPr>
          <a:xfrm>
            <a:off x="522288" y="518880"/>
            <a:ext cx="6251872" cy="677108"/>
            <a:chOff x="522288" y="518880"/>
            <a:chExt cx="6251872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5963747-88C4-9266-0EDD-F3075BDACB0A}"/>
                </a:ext>
              </a:extLst>
            </p:cNvPr>
            <p:cNvSpPr txBox="1"/>
            <p:nvPr/>
          </p:nvSpPr>
          <p:spPr>
            <a:xfrm>
              <a:off x="1923473" y="518880"/>
              <a:ext cx="4850687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8F66D01B-D4AC-FBED-12F0-FF331788FBCB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96CA996E-6001-8E07-0A5B-14A9E34C01ED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9F8A005-8DF0-999D-48A3-CE6AB20A6F6D}"/>
                  </a:ext>
                </a:extLst>
              </p:cNvPr>
              <p:cNvSpPr txBox="1"/>
              <p:nvPr/>
            </p:nvSpPr>
            <p:spPr>
              <a:xfrm>
                <a:off x="644981" y="672768"/>
                <a:ext cx="9585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13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7FADC09-39BB-1A04-ED83-91DE4BD50E32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F5B07E0-AF9B-A3E1-11F5-C5A5F8E26E6D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47" name="사각형: 둥근 위쪽 모서리 46">
              <a:extLst>
                <a:ext uri="{FF2B5EF4-FFF2-40B4-BE49-F238E27FC236}">
                  <a16:creationId xmlns:a16="http://schemas.microsoft.com/office/drawing/2014/main" id="{69241938-BDB6-5EE3-7BA2-F3B6B4FA7CB1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9" name="사각형: 둥근 위쪽 모서리 48">
              <a:extLst>
                <a:ext uri="{FF2B5EF4-FFF2-40B4-BE49-F238E27FC236}">
                  <a16:creationId xmlns:a16="http://schemas.microsoft.com/office/drawing/2014/main" id="{5832C516-B82E-3771-7D73-0266B2242E3D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41D4CCFA-F98A-1B98-410C-F6F3D07E0A1F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1" name="사각형: 둥근 위쪽 모서리 50">
              <a:extLst>
                <a:ext uri="{FF2B5EF4-FFF2-40B4-BE49-F238E27FC236}">
                  <a16:creationId xmlns:a16="http://schemas.microsoft.com/office/drawing/2014/main" id="{A15E9061-3296-6B5E-966D-E9609D95C289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3" name="사각형: 둥근 위쪽 모서리 52">
              <a:extLst>
                <a:ext uri="{FF2B5EF4-FFF2-40B4-BE49-F238E27FC236}">
                  <a16:creationId xmlns:a16="http://schemas.microsoft.com/office/drawing/2014/main" id="{0ED95A7A-A1B4-C18E-421F-A5D3FF5977C3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9E38E51-AF51-3BFD-51D8-F2551D532C03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2611F9E-3DC0-CE52-C145-95E5D47282AD}"/>
                </a:ext>
              </a:extLst>
            </p:cNvPr>
            <p:cNvSpPr txBox="1"/>
            <p:nvPr/>
          </p:nvSpPr>
          <p:spPr>
            <a:xfrm>
              <a:off x="8939272" y="865098"/>
              <a:ext cx="577082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p.85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C95E8CB1-5825-E112-1F40-34647F407B98}"/>
              </a:ext>
            </a:extLst>
          </p:cNvPr>
          <p:cNvGrpSpPr/>
          <p:nvPr/>
        </p:nvGrpSpPr>
        <p:grpSpPr>
          <a:xfrm>
            <a:off x="522288" y="1454050"/>
            <a:ext cx="6551852" cy="450951"/>
            <a:chOff x="522288" y="1454050"/>
            <a:chExt cx="6551852" cy="4509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4C48FB-9FBB-2D93-A1AE-0201EFC3CC79}"/>
                </a:ext>
              </a:extLst>
            </p:cNvPr>
            <p:cNvSpPr txBox="1"/>
            <p:nvPr/>
          </p:nvSpPr>
          <p:spPr>
            <a:xfrm>
              <a:off x="1340198" y="1564200"/>
              <a:ext cx="5733942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학교스포츠클럽 이수시간 </a:t>
              </a:r>
              <a:r>
                <a:rPr lang="ko-KR" altLang="en-US" sz="1500" b="1" spc="-5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미기재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및 제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4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조제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4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항에 따른 변경사항 반영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1669DA1-838A-4157-FC01-4428474F8EEA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43D1190A-FB59-E7B6-710D-4B113279DC92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D615789C-9C5B-4BD8-8B4F-F5AC2AA4E6CF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E0C27B-C547-EDB8-9BBF-2E3FE1D92922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7159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8B0A5-2E94-2C42-5D4B-F9B63B559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F02D6A66-0DBA-28D4-9978-46192499BF67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7043267-8489-2F21-6C9F-A33AAD8EE1B0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BC6CEE04-1C10-E34A-DAED-218FE7964F75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95F6BE4-03F8-DF9F-74DD-C9EAD6E3CF40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추가</a:t>
              </a:r>
            </a:p>
          </p:txBody>
        </p:sp>
      </p:grp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B39F7094-8E24-16F4-0176-F432F3F63451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896E5CD-A618-AE0D-390E-4C3949D9FDC6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9B01DD13-1285-E2BE-C93C-351EAC694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321A7725-28AB-707A-424B-A09F8EDA2FF8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BDE13A86-943D-6A28-12EA-A180253EAD32}"/>
              </a:ext>
            </a:extLst>
          </p:cNvPr>
          <p:cNvSpPr txBox="1"/>
          <p:nvPr/>
        </p:nvSpPr>
        <p:spPr>
          <a:xfrm>
            <a:off x="2090542" y="4212679"/>
            <a:ext cx="7886774" cy="280076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63525" indent="-263525" latinLnBrk="0">
              <a:spcAft>
                <a:spcPts val="600"/>
              </a:spcAft>
            </a:pP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3) ‘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활동 내용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에는 객관적인 봉사활동 내용 또는 제목을 간략하게 입력한다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b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학년도 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1~2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학년의 경우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‘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활동 내용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 </a:t>
            </a:r>
            <a:r>
              <a:rPr lang="ko-KR" altLang="en-US" sz="18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영역명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은</a:t>
            </a:r>
            <a:b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학교교육계획에 따라 창의적 체험활동의 각 영역에서 봉사활동을</a:t>
            </a:r>
            <a:b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실시한 경우만 입력한다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417513" indent="-163513" latinLnBrk="0">
              <a:spcAft>
                <a:spcPts val="600"/>
              </a:spcAft>
            </a:pP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&lt;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예시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&gt; (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자율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자치활동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학급자치회 주관 생태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환경 보호 캠페인 활동</a:t>
            </a:r>
            <a:endParaRPr lang="en-US" altLang="ko-KR" sz="15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71488" indent="-214313" latinLnBrk="0">
              <a:spcAft>
                <a:spcPts val="600"/>
              </a:spcAft>
            </a:pP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활동 내용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에는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특기사항을 드러낼 수 있는 정성적인 평가내용의 입력은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불가함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b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다만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학교교육계획에 따라 실시한 봉사활동은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교사가 직접 관찰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평가한 학생의</a:t>
            </a:r>
            <a:b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특기사항을 필요시 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 및 종합의견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</a:t>
            </a:r>
            <a:r>
              <a:rPr lang="ko-KR" altLang="en-US" sz="15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기재가능함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</a:p>
          <a:p>
            <a:pPr marL="471488" indent="-214313" latinLnBrk="0"/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- 2026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학년도 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1~2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학년의 경우 창의적 체험활동 영역과 연계한 봉사활동의 특기사항은</a:t>
            </a:r>
            <a:endParaRPr lang="en-US" altLang="ko-KR" sz="15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71488" indent="-214313" latinLnBrk="0"/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해당 영역에 기재할 수 있음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C7BFCE7-AE31-2B81-507E-A2296EBF3348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E7CDEA61-4311-3767-BFD9-486BE6B95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D96E7AA3-1EAD-31FD-5867-E065D39F0542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D1C1315E-5B6D-C1C5-73E8-A5067FECA71D}"/>
              </a:ext>
            </a:extLst>
          </p:cNvPr>
          <p:cNvSpPr txBox="1"/>
          <p:nvPr/>
        </p:nvSpPr>
        <p:spPr>
          <a:xfrm>
            <a:off x="2120359" y="2370362"/>
            <a:ext cx="7567777" cy="11644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16000" indent="-216000" latinLnBrk="0">
              <a:spcAft>
                <a:spcPts val="400"/>
              </a:spcAft>
            </a:pP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3) ‘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활동 내용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에는 객관적인 봉사활동 내용 또는 제목을 간략하게 입력한다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또한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‘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활동 내용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</a:t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 </a:t>
            </a:r>
            <a:r>
              <a:rPr lang="ko-KR" altLang="en-US" sz="14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영역명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은 학교교육계획에 따라 창의적 체험활동의 각 영역에서 봉사활동을</a:t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실시한 경우만 입력한다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(1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).</a:t>
            </a:r>
          </a:p>
          <a:p>
            <a:pPr marL="276225" indent="-71438" latinLnBrk="0">
              <a:spcAft>
                <a:spcPts val="400"/>
              </a:spcAft>
            </a:pP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&lt;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예시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&gt; (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자율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자치활동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학급자치회 주관 생태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환경 보호 캠페인 활동</a:t>
            </a:r>
            <a:endParaRPr lang="en-US" altLang="ko-KR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276225" indent="-71438" latinLnBrk="0">
              <a:spcAft>
                <a:spcPts val="400"/>
              </a:spcAft>
            </a:pP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성장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감상 등 학생의 특기사항을 드러낼 수 있는 정성적인 평가내용의 입력은 불가함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260BD39-EFC9-BC39-85AE-938203B614C8}"/>
              </a:ext>
            </a:extLst>
          </p:cNvPr>
          <p:cNvGrpSpPr/>
          <p:nvPr/>
        </p:nvGrpSpPr>
        <p:grpSpPr>
          <a:xfrm>
            <a:off x="522288" y="518880"/>
            <a:ext cx="6251872" cy="677108"/>
            <a:chOff x="522288" y="518880"/>
            <a:chExt cx="6251872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44CF512-698E-7DAF-44BC-2AF0C0679369}"/>
                </a:ext>
              </a:extLst>
            </p:cNvPr>
            <p:cNvSpPr txBox="1"/>
            <p:nvPr/>
          </p:nvSpPr>
          <p:spPr>
            <a:xfrm>
              <a:off x="1923473" y="518880"/>
              <a:ext cx="4850687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 체험활동상황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F87CC0FB-C710-7D27-7252-F9940ECD1538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1B1AF465-0FAB-EB45-AE71-47EE8E6A84DD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1A9ADFF-AC56-1448-4AC7-D2686A9AD26D}"/>
                  </a:ext>
                </a:extLst>
              </p:cNvPr>
              <p:cNvSpPr txBox="1"/>
              <p:nvPr/>
            </p:nvSpPr>
            <p:spPr>
              <a:xfrm>
                <a:off x="644981" y="672768"/>
                <a:ext cx="9585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13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D09DC5D-20BE-D3E2-86AA-30692CD38E08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1DFF96F-A4A1-E69A-2BC5-7F0B1D2F83AA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47" name="사각형: 둥근 위쪽 모서리 46">
              <a:extLst>
                <a:ext uri="{FF2B5EF4-FFF2-40B4-BE49-F238E27FC236}">
                  <a16:creationId xmlns:a16="http://schemas.microsoft.com/office/drawing/2014/main" id="{A36DC434-3308-5D05-3278-CACF6CF9791F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9" name="사각형: 둥근 위쪽 모서리 48">
              <a:extLst>
                <a:ext uri="{FF2B5EF4-FFF2-40B4-BE49-F238E27FC236}">
                  <a16:creationId xmlns:a16="http://schemas.microsoft.com/office/drawing/2014/main" id="{B7F5F371-EADF-4755-A6EC-5CC580DF0EFE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AB074A2B-335C-63CB-61E3-B692A85DBD85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1" name="사각형: 둥근 위쪽 모서리 50">
              <a:extLst>
                <a:ext uri="{FF2B5EF4-FFF2-40B4-BE49-F238E27FC236}">
                  <a16:creationId xmlns:a16="http://schemas.microsoft.com/office/drawing/2014/main" id="{BE812EBD-BEED-7055-C603-00013AD107A0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3" name="사각형: 둥근 위쪽 모서리 52">
              <a:extLst>
                <a:ext uri="{FF2B5EF4-FFF2-40B4-BE49-F238E27FC236}">
                  <a16:creationId xmlns:a16="http://schemas.microsoft.com/office/drawing/2014/main" id="{E15C89E1-5212-9C8D-70E0-7FA765328A6F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7F6C78E-3D24-906E-6570-33A5995A0C59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147036C-1B98-384E-3915-9B1A07ECAB2B}"/>
                </a:ext>
              </a:extLst>
            </p:cNvPr>
            <p:cNvSpPr txBox="1"/>
            <p:nvPr/>
          </p:nvSpPr>
          <p:spPr>
            <a:xfrm>
              <a:off x="893927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p.86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436FD848-E9CC-7BDA-3171-EE1FBB7781C2}"/>
              </a:ext>
            </a:extLst>
          </p:cNvPr>
          <p:cNvGrpSpPr/>
          <p:nvPr/>
        </p:nvGrpSpPr>
        <p:grpSpPr>
          <a:xfrm>
            <a:off x="522288" y="1454050"/>
            <a:ext cx="6070951" cy="450951"/>
            <a:chOff x="522288" y="1454050"/>
            <a:chExt cx="6070951" cy="4509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8B2CE06-4867-1790-2FDE-269500C2DF42}"/>
                </a:ext>
              </a:extLst>
            </p:cNvPr>
            <p:cNvSpPr txBox="1"/>
            <p:nvPr/>
          </p:nvSpPr>
          <p:spPr>
            <a:xfrm>
              <a:off x="1340198" y="1564200"/>
              <a:ext cx="5253041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창의적체험활동과 연계한 봉사활동의 특기사항 기재영역 명료화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7F778825-4E08-7E5D-2ED3-1794E348B7A2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F8C497D8-F256-5B79-1FD7-2CE7B6FDFC10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35614453-F0D0-B363-7DC5-C8834C8CA317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229BC3-90F3-76B5-0139-9A0ADFD26501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115892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F64F6-431D-3DA9-7B31-962C30F21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FE37D8C0-3A1E-6CF8-1403-F46AADA4A033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233323F-3A0E-3E5E-122B-F075B7BEC35C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68623600-2E11-7025-E143-16380BCA8113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BAC889C-C22A-C4E8-1AA8-AEBC28B9F3F2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CA9E965B-811A-404F-4D90-A712E4F67C8F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98DC013-F7F8-53E1-3852-821B98399157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2F3DFB48-EBB4-2882-1322-AB795AB05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3C17745B-3020-5523-2DDF-E4C14EFFA5E7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057DB06A-78A9-E4FF-57F4-74951BA16B1E}"/>
              </a:ext>
            </a:extLst>
          </p:cNvPr>
          <p:cNvSpPr txBox="1"/>
          <p:nvPr/>
        </p:nvSpPr>
        <p:spPr>
          <a:xfrm>
            <a:off x="2120359" y="4383482"/>
            <a:ext cx="7681911" cy="129266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338138" indent="-338138" latinLnBrk="0"/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③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항에 따라 일상생활 활동상황을 누가기록 하는 경우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교육정보시스템 서식 또는 자체 개발한 서식 등을 활용하되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구체적 활동 내용이 포함된 자료를 바탕으로 작성하여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관리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할 수 있다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6991108-3E6F-2EBD-D1CE-3C484C486D79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A44F36F1-467C-68DE-98C0-B97C05A26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C419141B-59D8-163A-9FB4-6F623EE22234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D222F219-1DDC-04CD-4F90-4C7A4FBD9186}"/>
              </a:ext>
            </a:extLst>
          </p:cNvPr>
          <p:cNvSpPr txBox="1"/>
          <p:nvPr/>
        </p:nvSpPr>
        <p:spPr>
          <a:xfrm>
            <a:off x="2120359" y="2431322"/>
            <a:ext cx="7896392" cy="43088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33363" indent="-233363" latinLnBrk="0"/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③ 제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항에 따른 영역별 누가기록은 공정성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객관성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투명성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신뢰도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타당도 등이 확보되도록 서식을</a:t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개발하여 활용하되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구체적 활동 내용이 포함된 자료를 바탕으로 작성하여 관리한다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12F38E-3DF6-6B83-7BF9-5C4D307AD112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5D3226E-358A-DD7F-43D1-735ADB5E55B7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58370B49-B17C-3729-4AD2-F92F7AAC2ECE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E9344FE6-9DB6-85A9-5CFF-DC8D475975F5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6" name="사각형: 둥근 위쪽 모서리 35">
                <a:extLst>
                  <a:ext uri="{FF2B5EF4-FFF2-40B4-BE49-F238E27FC236}">
                    <a16:creationId xmlns:a16="http://schemas.microsoft.com/office/drawing/2014/main" id="{CBA5C06E-FD6C-FA13-F8C1-EE48B40261CC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BB3BA035-1878-3D3A-73A7-27EC229B8E13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CED6FF5D-9E71-E79F-9723-42D530092837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32" name="사각형: 둥근 위쪽 모서리 31">
                <a:extLst>
                  <a:ext uri="{FF2B5EF4-FFF2-40B4-BE49-F238E27FC236}">
                    <a16:creationId xmlns:a16="http://schemas.microsoft.com/office/drawing/2014/main" id="{61F07867-A589-EA74-98D0-CBE6A77D87BB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4" name="사각형: 둥근 위쪽 모서리 33">
                <a:extLst>
                  <a:ext uri="{FF2B5EF4-FFF2-40B4-BE49-F238E27FC236}">
                    <a16:creationId xmlns:a16="http://schemas.microsoft.com/office/drawing/2014/main" id="{35483632-6227-21D5-8CB9-E55381F5997D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FC75240-D376-A583-E9FD-742042E46CAC}"/>
                </a:ext>
              </a:extLst>
            </p:cNvPr>
            <p:cNvSpPr txBox="1"/>
            <p:nvPr/>
          </p:nvSpPr>
          <p:spPr>
            <a:xfrm>
              <a:off x="757479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69F3D13-2509-788A-3835-E3D21834EBF0}"/>
                </a:ext>
              </a:extLst>
            </p:cNvPr>
            <p:cNvSpPr txBox="1"/>
            <p:nvPr/>
          </p:nvSpPr>
          <p:spPr>
            <a:xfrm>
              <a:off x="746579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p.91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E735A485-5C1A-D2A4-456C-FC034884160C}"/>
              </a:ext>
            </a:extLst>
          </p:cNvPr>
          <p:cNvGrpSpPr/>
          <p:nvPr/>
        </p:nvGrpSpPr>
        <p:grpSpPr>
          <a:xfrm>
            <a:off x="522288" y="1454050"/>
            <a:ext cx="3576679" cy="450951"/>
            <a:chOff x="522288" y="1454050"/>
            <a:chExt cx="3576679" cy="45095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60425D1-2D8D-9C7C-41C6-5C7D6A9014EA}"/>
                </a:ext>
              </a:extLst>
            </p:cNvPr>
            <p:cNvSpPr txBox="1"/>
            <p:nvPr/>
          </p:nvSpPr>
          <p:spPr>
            <a:xfrm>
              <a:off x="1340198" y="1564200"/>
              <a:ext cx="2758769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제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4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조제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4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항에 따른 변경사항 반영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408FC122-25DD-D554-1D45-28B9385F8B20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7" name="사각형: 둥근 위쪽 모서리 6">
                <a:extLst>
                  <a:ext uri="{FF2B5EF4-FFF2-40B4-BE49-F238E27FC236}">
                    <a16:creationId xmlns:a16="http://schemas.microsoft.com/office/drawing/2014/main" id="{670AD324-AC9F-B754-5F2E-65EED53F5834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7FBF50DE-717D-4BC6-562D-E718098B9276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4136E20-BE9B-10B8-D8B5-BD4227B1A824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CF7D428-1C5C-5544-6A1E-7B0C1E18C5EA}"/>
              </a:ext>
            </a:extLst>
          </p:cNvPr>
          <p:cNvGrpSpPr/>
          <p:nvPr/>
        </p:nvGrpSpPr>
        <p:grpSpPr>
          <a:xfrm>
            <a:off x="522288" y="518880"/>
            <a:ext cx="6205385" cy="677108"/>
            <a:chOff x="522288" y="-1203263"/>
            <a:chExt cx="6205385" cy="6771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4ECBB1D-3AE8-EE7A-6A93-60791DD1393C}"/>
                </a:ext>
              </a:extLst>
            </p:cNvPr>
            <p:cNvSpPr txBox="1"/>
            <p:nvPr/>
          </p:nvSpPr>
          <p:spPr>
            <a:xfrm>
              <a:off x="2402771" y="-1203263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일상생활 활동상황</a:t>
              </a: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3EA046FF-A7C9-1CD0-CE21-A900FE2E0CA6}"/>
                </a:ext>
              </a:extLst>
            </p:cNvPr>
            <p:cNvSpPr/>
            <p:nvPr/>
          </p:nvSpPr>
          <p:spPr>
            <a:xfrm>
              <a:off x="522288" y="-1145200"/>
              <a:ext cx="1684800" cy="560982"/>
            </a:xfrm>
            <a:prstGeom prst="roundRect">
              <a:avLst>
                <a:gd name="adj" fmla="val 2523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508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endParaRPr lang="ko-KR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2CE1B61-7501-56F7-AEE6-25B71A532226}"/>
                </a:ext>
              </a:extLst>
            </p:cNvPr>
            <p:cNvSpPr txBox="1"/>
            <p:nvPr/>
          </p:nvSpPr>
          <p:spPr>
            <a:xfrm>
              <a:off x="644981" y="-1049375"/>
              <a:ext cx="1437894" cy="36933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제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13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조의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2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53435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6796D-C4F3-AE4E-EAAF-CEFFE31DC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0EE76D75-0E76-7D4E-7237-E1F382316C85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B7F5A0B-ECC7-B4C2-7E95-A5A9FDAF7AC1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466B07D9-A297-E6B2-63F7-2159B1DBFDDD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245FE4A-6DE6-7626-8B5D-A52A322243B4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30A03406-1FDE-8AD7-342A-D6143D636336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29187CF-0E78-46FB-6F1E-EB7BC7C623AF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436515CA-971A-955F-8A19-7064E8FAF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C8212CDB-F5CF-3100-2C7B-853BD89F73BA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7EE02FCD-01D3-1CA7-D54E-98799101191E}"/>
              </a:ext>
            </a:extLst>
          </p:cNvPr>
          <p:cNvSpPr txBox="1"/>
          <p:nvPr/>
        </p:nvSpPr>
        <p:spPr>
          <a:xfrm>
            <a:off x="2120359" y="4936241"/>
            <a:ext cx="8099974" cy="129266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327025" indent="-327025" latinLnBrk="0"/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⑤ 중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고등학교의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비고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란에는 과목 개설 유형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공동교육과정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온라인학교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 밖 교육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온라인 콘텐츠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 이수 상황</a:t>
            </a:r>
            <a:endParaRPr lang="en-US" altLang="ko-KR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327025" indent="-327025" latinLnBrk="0"/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(</a:t>
            </a:r>
            <a:r>
              <a:rPr lang="ko-KR" altLang="en-US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미이수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대체이수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재이수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학적변동으로 인한 이수과목 상이 등</a:t>
            </a:r>
            <a:endParaRPr lang="en-US" altLang="ko-KR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327025" indent="-327025" latinLnBrk="0"/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교육과정 운영에 따른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특기사항에 관한 내용을 간략하게 입력한다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F0155EF-CE39-FA0F-5C7C-5651FB8554CB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E242920C-6451-BC3E-9A5E-1995FF198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09CA0C9C-FFA0-2190-F457-191F71623D7B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1268464F-7076-4DE9-6711-F13AA86207EB}"/>
              </a:ext>
            </a:extLst>
          </p:cNvPr>
          <p:cNvSpPr txBox="1"/>
          <p:nvPr/>
        </p:nvSpPr>
        <p:spPr>
          <a:xfrm>
            <a:off x="2151181" y="2743100"/>
            <a:ext cx="7328609" cy="64633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22250" indent="-222250" latinLnBrk="0"/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⑤ 중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고등학교의 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비고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란에는 과목 개설 유형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공동교육과정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온라인학교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 밖 교육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),</a:t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 이수 상황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출석률 미달로 인한 추가학습 이수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미이수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대체이수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),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학적변동으로 인한</a:t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이수과목 상이 등 교육과정 운영에 따른 특기사항에 관한 내용을 간략하게 입력한다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C6311E4-E1EB-C8B0-05C8-178C344FF756}"/>
              </a:ext>
            </a:extLst>
          </p:cNvPr>
          <p:cNvGrpSpPr/>
          <p:nvPr/>
        </p:nvGrpSpPr>
        <p:grpSpPr>
          <a:xfrm>
            <a:off x="522288" y="518880"/>
            <a:ext cx="5726087" cy="677108"/>
            <a:chOff x="522288" y="518880"/>
            <a:chExt cx="5726087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35A8F0-0D7B-BFE4-9F5E-4DE08C387C7B}"/>
                </a:ext>
              </a:extLst>
            </p:cNvPr>
            <p:cNvSpPr txBox="1"/>
            <p:nvPr/>
          </p:nvSpPr>
          <p:spPr>
            <a:xfrm>
              <a:off x="1923473" y="518880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 발달상황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2E9932E0-8A0E-36AC-88C1-5DB5B05A9D06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AC2F390E-3E98-8718-6AE6-36CC4CD78793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B1B41BA-3DB1-7A00-8D4F-03F147C173A6}"/>
                  </a:ext>
                </a:extLst>
              </p:cNvPr>
              <p:cNvSpPr txBox="1"/>
              <p:nvPr/>
            </p:nvSpPr>
            <p:spPr>
              <a:xfrm>
                <a:off x="644981" y="672768"/>
                <a:ext cx="9585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15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07B0F9D-3DC3-7640-D6E1-05FBE4F4BDD4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138D423-5F27-992A-1C19-BF2AE0AB014F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4A829D23-DDDF-CF6B-80C1-24350C94F26C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413DCB00-760F-5BBF-7868-0A13ACE91545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6" name="사각형: 둥근 위쪽 모서리 35">
                <a:extLst>
                  <a:ext uri="{FF2B5EF4-FFF2-40B4-BE49-F238E27FC236}">
                    <a16:creationId xmlns:a16="http://schemas.microsoft.com/office/drawing/2014/main" id="{2D92C194-2CD5-86CE-386B-31F36D734621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0C250CEB-1F84-71C0-59CE-B98F25733C67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93C0B7BB-796B-2CB4-C975-CDCF02B06B6C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32" name="사각형: 둥근 위쪽 모서리 31">
                <a:extLst>
                  <a:ext uri="{FF2B5EF4-FFF2-40B4-BE49-F238E27FC236}">
                    <a16:creationId xmlns:a16="http://schemas.microsoft.com/office/drawing/2014/main" id="{0D22E224-7A4D-35C2-8174-A8EE63F781E5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4" name="사각형: 둥근 위쪽 모서리 33">
                <a:extLst>
                  <a:ext uri="{FF2B5EF4-FFF2-40B4-BE49-F238E27FC236}">
                    <a16:creationId xmlns:a16="http://schemas.microsoft.com/office/drawing/2014/main" id="{FA99C2B8-9ED2-07D9-2D40-DFC14AA351C7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984CC0A-1B94-AFC2-4446-CCC648A19BFD}"/>
                </a:ext>
              </a:extLst>
            </p:cNvPr>
            <p:cNvSpPr txBox="1"/>
            <p:nvPr/>
          </p:nvSpPr>
          <p:spPr>
            <a:xfrm>
              <a:off x="757479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B246CC5-79AB-3A98-D873-E502BD60D4E2}"/>
                </a:ext>
              </a:extLst>
            </p:cNvPr>
            <p:cNvSpPr txBox="1"/>
            <p:nvPr/>
          </p:nvSpPr>
          <p:spPr>
            <a:xfrm>
              <a:off x="746579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p.94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8292195-38CA-EB62-DAE8-C309106D2BA2}"/>
              </a:ext>
            </a:extLst>
          </p:cNvPr>
          <p:cNvGrpSpPr/>
          <p:nvPr/>
        </p:nvGrpSpPr>
        <p:grpSpPr>
          <a:xfrm>
            <a:off x="522288" y="1454050"/>
            <a:ext cx="3653623" cy="450951"/>
            <a:chOff x="522288" y="1454050"/>
            <a:chExt cx="3653623" cy="45095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56EE8E5-E5F7-2ECD-D964-3F295452B79E}"/>
                </a:ext>
              </a:extLst>
            </p:cNvPr>
            <p:cNvSpPr txBox="1"/>
            <p:nvPr/>
          </p:nvSpPr>
          <p:spPr>
            <a:xfrm>
              <a:off x="1340198" y="1564200"/>
              <a:ext cx="2835713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미이수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학생에 대한 지원 사항 반영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2CBBB2BF-209D-D98A-B99A-BA3497E5FA20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7" name="사각형: 둥근 위쪽 모서리 6">
                <a:extLst>
                  <a:ext uri="{FF2B5EF4-FFF2-40B4-BE49-F238E27FC236}">
                    <a16:creationId xmlns:a16="http://schemas.microsoft.com/office/drawing/2014/main" id="{B9BEAEC8-732F-DD1C-ECF8-87C5BC13D756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7488F89D-882D-E908-ED21-ADA581714D2D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CE04DE-C7B7-C41A-B840-B2BA53F6B019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3E85480-560D-15F8-EA07-1032881433A1}"/>
              </a:ext>
            </a:extLst>
          </p:cNvPr>
          <p:cNvGrpSpPr/>
          <p:nvPr/>
        </p:nvGrpSpPr>
        <p:grpSpPr>
          <a:xfrm>
            <a:off x="2120356" y="4356243"/>
            <a:ext cx="3663995" cy="435760"/>
            <a:chOff x="2120356" y="4253501"/>
            <a:chExt cx="3663995" cy="43576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9CFE5040-6E39-2DD4-E75A-B4B9696A03FC}"/>
                </a:ext>
              </a:extLst>
            </p:cNvPr>
            <p:cNvSpPr/>
            <p:nvPr/>
          </p:nvSpPr>
          <p:spPr>
            <a:xfrm>
              <a:off x="2120356" y="4253501"/>
              <a:ext cx="3663995" cy="435760"/>
            </a:xfrm>
            <a:prstGeom prst="roundRect">
              <a:avLst>
                <a:gd name="adj" fmla="val 50000"/>
              </a:avLst>
            </a:prstGeom>
            <a:solidFill>
              <a:srgbClr val="1D83FF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9B25C48-8F13-E336-6514-E827506AB369}"/>
                </a:ext>
              </a:extLst>
            </p:cNvPr>
            <p:cNvSpPr txBox="1"/>
            <p:nvPr/>
          </p:nvSpPr>
          <p:spPr>
            <a:xfrm>
              <a:off x="2411867" y="4309799"/>
              <a:ext cx="3080972" cy="32316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제</a:t>
              </a:r>
              <a:r>
                <a:rPr lang="en-US" altLang="ko-KR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15</a:t>
              </a:r>
              <a:r>
                <a:rPr lang="ko-KR" altLang="en-US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</a:t>
              </a:r>
              <a:r>
                <a:rPr lang="en-US" altLang="ko-KR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</a:t>
              </a:r>
              <a:r>
                <a:rPr lang="en-US" altLang="ko-KR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D1E559D-849F-97C4-EF7C-1FB33606BC5F}"/>
              </a:ext>
            </a:extLst>
          </p:cNvPr>
          <p:cNvGrpSpPr/>
          <p:nvPr/>
        </p:nvGrpSpPr>
        <p:grpSpPr>
          <a:xfrm>
            <a:off x="2089536" y="2380041"/>
            <a:ext cx="2348899" cy="291459"/>
            <a:chOff x="2159040" y="2172831"/>
            <a:chExt cx="1756317" cy="250349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828810E7-95A1-3A9A-56AD-BE11DEC8B476}"/>
                </a:ext>
              </a:extLst>
            </p:cNvPr>
            <p:cNvSpPr/>
            <p:nvPr/>
          </p:nvSpPr>
          <p:spPr>
            <a:xfrm>
              <a:off x="2159040" y="2172831"/>
              <a:ext cx="1756317" cy="2503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EE0F415-AE72-5509-B52A-1688969C6EA5}"/>
                </a:ext>
              </a:extLst>
            </p:cNvPr>
            <p:cNvSpPr txBox="1"/>
            <p:nvPr/>
          </p:nvSpPr>
          <p:spPr>
            <a:xfrm>
              <a:off x="2280885" y="2205478"/>
              <a:ext cx="1512629" cy="18505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fontAlgn="base"/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제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15</a:t>
              </a:r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8962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5B923-1986-8AF3-1C14-1654B83D1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EE05A6AE-D7E3-8646-AA06-3CA272A1EFBE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52BDAE8-8994-80F9-D1D8-89C35C13427B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AF62991B-2537-EAF7-5D49-BAEF8168CF5A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C160C4E-4C67-1059-B411-F35BB1114239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DAE19B88-E388-8474-38E4-8AB6A98E0D3B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A019829-0BF3-43F6-3439-BEEB1BF62BD7}"/>
              </a:ext>
            </a:extLst>
          </p:cNvPr>
          <p:cNvGrpSpPr/>
          <p:nvPr/>
        </p:nvGrpSpPr>
        <p:grpSpPr>
          <a:xfrm>
            <a:off x="1881855" y="4212679"/>
            <a:ext cx="8289258" cy="3456384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7525790E-0E1F-1695-EB4D-ECEC446E2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51D9B456-1057-CC6C-4445-485D96850D9C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2D72CE49-6652-8BA6-DE27-49FAE39CDFB2}"/>
              </a:ext>
            </a:extLst>
          </p:cNvPr>
          <p:cNvSpPr txBox="1"/>
          <p:nvPr/>
        </p:nvSpPr>
        <p:spPr>
          <a:xfrm>
            <a:off x="2120359" y="4936241"/>
            <a:ext cx="7636706" cy="233910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73050" indent="-273050" latinLnBrk="0">
              <a:buClr>
                <a:schemeClr val="tx1">
                  <a:lumMod val="85000"/>
                  <a:lumOff val="15000"/>
                </a:schemeClr>
              </a:buClr>
            </a:pP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▪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 밖 교육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으로 이수한 과목의 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비고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에는 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 밖 교육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으로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</a:p>
          <a:p>
            <a:pPr marL="273050" indent="-273050" latinLnBrk="0">
              <a:buClr>
                <a:schemeClr val="tx1">
                  <a:lumMod val="85000"/>
                  <a:lumOff val="15000"/>
                </a:schemeClr>
              </a:buClr>
            </a:pP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 ‘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온라인 콘텐츠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로 이수한 과목의 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비고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에는 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온라인 콘텐츠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로 </a:t>
            </a:r>
            <a:endParaRPr lang="en-US" altLang="ko-KR" sz="2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273050" indent="-273050" latinLnBrk="0">
              <a:buClr>
                <a:schemeClr val="tx1">
                  <a:lumMod val="85000"/>
                  <a:lumOff val="15000"/>
                </a:schemeClr>
              </a:buClr>
            </a:pP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표시된다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 </a:t>
            </a:r>
            <a:endParaRPr lang="en-US" altLang="ko-KR" sz="2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3050" indent="-273050" latinLnBrk="0">
              <a:buClr>
                <a:schemeClr val="tx1">
                  <a:lumMod val="85000"/>
                  <a:lumOff val="15000"/>
                </a:schemeClr>
              </a:buClr>
            </a:pP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▪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인정기준 적용에 따라 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20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미이수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’, ‘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대체이수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’, 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20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재이수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한 학생의 </a:t>
            </a:r>
            <a:endParaRPr lang="en-US" altLang="ko-KR" sz="2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273050" indent="-273050" latinLnBrk="0">
              <a:buClr>
                <a:schemeClr val="tx1">
                  <a:lumMod val="85000"/>
                  <a:lumOff val="15000"/>
                </a:schemeClr>
              </a:buClr>
            </a:pP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경우 해당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과목의 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비고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에는 자동으로 각각 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20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미이수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’, ‘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대체이수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’, </a:t>
            </a:r>
          </a:p>
          <a:p>
            <a:pPr marL="273050" indent="-273050" latinLnBrk="0">
              <a:buClr>
                <a:schemeClr val="tx1">
                  <a:lumMod val="85000"/>
                  <a:lumOff val="15000"/>
                </a:schemeClr>
              </a:buClr>
            </a:pP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‘</a:t>
            </a:r>
            <a:r>
              <a:rPr lang="ko-KR" altLang="en-US" sz="20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재이수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로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표시된다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73050" indent="-273050" latinLnBrk="0">
              <a:buClr>
                <a:schemeClr val="tx1">
                  <a:lumMod val="85000"/>
                  <a:lumOff val="15000"/>
                </a:schemeClr>
              </a:buClr>
            </a:pP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    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‘</a:t>
            </a:r>
            <a:r>
              <a:rPr lang="ko-KR" altLang="en-US" sz="16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재이수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란 </a:t>
            </a:r>
            <a:r>
              <a:rPr lang="ko-KR" altLang="en-US" sz="16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미이수한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과목을 공동교육과정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온라인학교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 밖 교육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온라인 </a:t>
            </a:r>
            <a:endParaRPr lang="en-US" altLang="ko-KR" sz="16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273050" indent="-273050" latinLnBrk="0">
              <a:buClr>
                <a:schemeClr val="tx1">
                  <a:lumMod val="85000"/>
                  <a:lumOff val="15000"/>
                </a:schemeClr>
              </a:buClr>
            </a:pP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      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콘텐츠를 통해 다시 수강하여 이수한 경우를 말함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470D952-D2BA-62A7-7438-5843B79B6F71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E89A01D9-7EF6-C861-B1B1-3D9B5A278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B4F22C86-E843-08B3-46C8-749DCF942526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D1904511-8A4E-36FF-9A26-CE3DF0D974AA}"/>
              </a:ext>
            </a:extLst>
          </p:cNvPr>
          <p:cNvSpPr txBox="1"/>
          <p:nvPr/>
        </p:nvSpPr>
        <p:spPr>
          <a:xfrm>
            <a:off x="2120359" y="2743100"/>
            <a:ext cx="7405874" cy="64633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66700" indent="-266700" latinLnBrk="0"/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라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학점이수 인정기준 적용에 따라 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출석률 미달로 인한 추가학습 이수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’, ‘</a:t>
            </a:r>
            <a:r>
              <a:rPr lang="ko-KR" altLang="en-US" sz="14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미이수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’, ‘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대체이수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한</a:t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경우 해당 과목의 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비고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란에는 자동으로 각각 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출석률 미달로 인한 추가학습 이수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’,</a:t>
            </a:r>
            <a:b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4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미이수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’, ‘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대체이수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로 표시된다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53AB152-5E7D-B5E9-5732-32431D5C2020}"/>
              </a:ext>
            </a:extLst>
          </p:cNvPr>
          <p:cNvGrpSpPr/>
          <p:nvPr/>
        </p:nvGrpSpPr>
        <p:grpSpPr>
          <a:xfrm>
            <a:off x="522288" y="518880"/>
            <a:ext cx="5726087" cy="677108"/>
            <a:chOff x="522288" y="518880"/>
            <a:chExt cx="5726087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F9F1855-31D6-08B6-026E-086F83E8079F}"/>
                </a:ext>
              </a:extLst>
            </p:cNvPr>
            <p:cNvSpPr txBox="1"/>
            <p:nvPr/>
          </p:nvSpPr>
          <p:spPr>
            <a:xfrm>
              <a:off x="1923473" y="518880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 발달상황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2F5217A6-1675-65C8-4E0B-E1EF92A942FA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E6D44722-F133-E1E7-6EB8-D9188AAE83CF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8C5F1FA-0024-12D1-5FFE-96FF7C34AB0D}"/>
                  </a:ext>
                </a:extLst>
              </p:cNvPr>
              <p:cNvSpPr txBox="1"/>
              <p:nvPr/>
            </p:nvSpPr>
            <p:spPr>
              <a:xfrm>
                <a:off x="644981" y="672768"/>
                <a:ext cx="9585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15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6E748B5-A324-120D-6336-2DAC24BC7DE0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860716A-CFE4-D206-8EAE-660967E38F09}"/>
              </a:ext>
            </a:extLst>
          </p:cNvPr>
          <p:cNvGrpSpPr/>
          <p:nvPr/>
        </p:nvGrpSpPr>
        <p:grpSpPr>
          <a:xfrm>
            <a:off x="522288" y="1454050"/>
            <a:ext cx="3653623" cy="450951"/>
            <a:chOff x="522288" y="1454050"/>
            <a:chExt cx="3653623" cy="45095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BE5DAAF-21A9-B65D-E337-4B26A722B1BE}"/>
                </a:ext>
              </a:extLst>
            </p:cNvPr>
            <p:cNvSpPr txBox="1"/>
            <p:nvPr/>
          </p:nvSpPr>
          <p:spPr>
            <a:xfrm>
              <a:off x="1340198" y="1564200"/>
              <a:ext cx="2835713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미이수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학생에 대한 지원 사항 반영</a:t>
              </a: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877B7EBE-EC36-CBAA-D5FE-129B73A00EFE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82" name="사각형: 둥근 위쪽 모서리 81">
                <a:extLst>
                  <a:ext uri="{FF2B5EF4-FFF2-40B4-BE49-F238E27FC236}">
                    <a16:creationId xmlns:a16="http://schemas.microsoft.com/office/drawing/2014/main" id="{09F26088-8DDD-46CF-6ABA-20866A1F9856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1" name="사각형: 둥근 위쪽 모서리 90">
                <a:extLst>
                  <a:ext uri="{FF2B5EF4-FFF2-40B4-BE49-F238E27FC236}">
                    <a16:creationId xmlns:a16="http://schemas.microsoft.com/office/drawing/2014/main" id="{C2356FFD-83DA-30CA-C7EB-87394AA6BE29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E6DA53-5397-8B9C-6B1B-99B84B7CA1D5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0664E068-2990-63A9-B6B7-8CEE89FD9E30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47" name="사각형: 둥근 위쪽 모서리 46">
              <a:extLst>
                <a:ext uri="{FF2B5EF4-FFF2-40B4-BE49-F238E27FC236}">
                  <a16:creationId xmlns:a16="http://schemas.microsoft.com/office/drawing/2014/main" id="{F1916492-1840-205A-4945-C601E7756571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E7E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9" name="사각형: 둥근 위쪽 모서리 48">
              <a:extLst>
                <a:ext uri="{FF2B5EF4-FFF2-40B4-BE49-F238E27FC236}">
                  <a16:creationId xmlns:a16="http://schemas.microsoft.com/office/drawing/2014/main" id="{F5204CF5-C7D3-BD08-477F-4A8D4F1A277A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75769D18-404D-C3A3-F52E-7020B24DDBBF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4E7E36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1" name="사각형: 둥근 위쪽 모서리 50">
              <a:extLst>
                <a:ext uri="{FF2B5EF4-FFF2-40B4-BE49-F238E27FC236}">
                  <a16:creationId xmlns:a16="http://schemas.microsoft.com/office/drawing/2014/main" id="{AB600454-B4EF-44E8-5943-1836FE4B75F5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4E7E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3" name="사각형: 둥근 위쪽 모서리 52">
              <a:extLst>
                <a:ext uri="{FF2B5EF4-FFF2-40B4-BE49-F238E27FC236}">
                  <a16:creationId xmlns:a16="http://schemas.microsoft.com/office/drawing/2014/main" id="{FB66A9E0-C133-BDC2-9354-BC27566DEE68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C0E5448-9A6F-BC52-A606-F1D488D19C63}"/>
                </a:ext>
              </a:extLst>
            </p:cNvPr>
            <p:cNvSpPr txBox="1"/>
            <p:nvPr/>
          </p:nvSpPr>
          <p:spPr>
            <a:xfrm>
              <a:off x="904827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해설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7ABE879-E2A6-6AAE-C9FB-E27751C3FD94}"/>
                </a:ext>
              </a:extLst>
            </p:cNvPr>
            <p:cNvSpPr txBox="1"/>
            <p:nvPr/>
          </p:nvSpPr>
          <p:spPr>
            <a:xfrm>
              <a:off x="893927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p.94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E15C243-C54F-3694-608E-08B8C607A88C}"/>
              </a:ext>
            </a:extLst>
          </p:cNvPr>
          <p:cNvGrpSpPr/>
          <p:nvPr/>
        </p:nvGrpSpPr>
        <p:grpSpPr>
          <a:xfrm>
            <a:off x="2120356" y="4356243"/>
            <a:ext cx="3663995" cy="435760"/>
            <a:chOff x="2120356" y="4253501"/>
            <a:chExt cx="3663995" cy="435760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1B19379B-E3F5-E119-69BE-32858E2F357A}"/>
                </a:ext>
              </a:extLst>
            </p:cNvPr>
            <p:cNvSpPr/>
            <p:nvPr/>
          </p:nvSpPr>
          <p:spPr>
            <a:xfrm>
              <a:off x="2120356" y="4253501"/>
              <a:ext cx="3663995" cy="435760"/>
            </a:xfrm>
            <a:prstGeom prst="roundRect">
              <a:avLst>
                <a:gd name="adj" fmla="val 50000"/>
              </a:avLst>
            </a:prstGeom>
            <a:solidFill>
              <a:srgbClr val="1D83FF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0D74C6C-99FE-117E-2C5E-3FAE2E1CF026}"/>
                </a:ext>
              </a:extLst>
            </p:cNvPr>
            <p:cNvSpPr txBox="1"/>
            <p:nvPr/>
          </p:nvSpPr>
          <p:spPr>
            <a:xfrm>
              <a:off x="2411867" y="4309799"/>
              <a:ext cx="3080972" cy="32316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제</a:t>
              </a:r>
              <a:r>
                <a:rPr lang="en-US" altLang="ko-KR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15</a:t>
              </a:r>
              <a:r>
                <a:rPr lang="ko-KR" altLang="en-US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</a:t>
              </a:r>
              <a:r>
                <a:rPr lang="en-US" altLang="ko-KR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</a:t>
              </a:r>
              <a:r>
                <a:rPr lang="en-US" altLang="ko-KR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462C049-A651-02FA-D8EE-B910F1E65B82}"/>
              </a:ext>
            </a:extLst>
          </p:cNvPr>
          <p:cNvGrpSpPr/>
          <p:nvPr/>
        </p:nvGrpSpPr>
        <p:grpSpPr>
          <a:xfrm>
            <a:off x="2089536" y="2380041"/>
            <a:ext cx="2348899" cy="291459"/>
            <a:chOff x="2159040" y="2172831"/>
            <a:chExt cx="1756317" cy="250349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44E8E878-E7F0-23B2-4B46-CF95BCA99171}"/>
                </a:ext>
              </a:extLst>
            </p:cNvPr>
            <p:cNvSpPr/>
            <p:nvPr/>
          </p:nvSpPr>
          <p:spPr>
            <a:xfrm>
              <a:off x="2159040" y="2172831"/>
              <a:ext cx="1756317" cy="2503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9F1E924-B190-C453-04FA-7598C4EAC61D}"/>
                </a:ext>
              </a:extLst>
            </p:cNvPr>
            <p:cNvSpPr txBox="1"/>
            <p:nvPr/>
          </p:nvSpPr>
          <p:spPr>
            <a:xfrm>
              <a:off x="2280885" y="2205478"/>
              <a:ext cx="1512629" cy="18505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fontAlgn="base"/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제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15</a:t>
              </a:r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42131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7CC7F-2C85-EEE3-9753-3028A0AAF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2AF3825E-1E47-8178-BDF6-AE4DB500C12A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3BB159A-7F7E-E038-FBA6-DA29C96A26C7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C5DD89BC-B409-C38E-0D64-30908BF6353A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C0CE4B0-07A5-8160-B7C7-1AF81583C721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신설</a:t>
              </a:r>
            </a:p>
          </p:txBody>
        </p:sp>
      </p:grp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2AC308D7-BBB5-C8EC-BCFC-22B76A469C2E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4CA91FD-EDCC-7B04-A031-B804388CB14C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C9309CC4-05AF-AC69-9E04-1D6FAB33D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0A42CAE8-F669-A03C-5EA4-5DFAFF3EACE9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A8D61044-D345-1689-1273-7797CA7F732E}"/>
              </a:ext>
            </a:extLst>
          </p:cNvPr>
          <p:cNvSpPr txBox="1"/>
          <p:nvPr/>
        </p:nvSpPr>
        <p:spPr>
          <a:xfrm>
            <a:off x="2120359" y="4140671"/>
            <a:ext cx="8045472" cy="284180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71463" indent="-271463" latinLnBrk="0">
              <a:spcAft>
                <a:spcPts val="5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▪ 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세부능력 및 특기사항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에는 교사가 교과학습 수업 및 평가 과정에서</a:t>
            </a:r>
            <a:b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수시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상시로 기록한 내용을 중심으로 교과의 전 영역을 고려하여</a:t>
            </a:r>
            <a:b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구체적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종합적으로 기술한다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542925" indent="-261938" latinLnBrk="0">
              <a:spcAft>
                <a:spcPts val="5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‘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세부능력 및 특기사항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기술은 성취기준과 성취수준에 근거하여 학생 개인의</a:t>
            </a:r>
            <a:b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성취과정과 성취특성이 명료히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드러나도록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하되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수업에서 이루어진 활동의 단순</a:t>
            </a:r>
            <a:b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나열이나 이미 성취기준에 명시된 지식의 단순 서술은 지양함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04788" indent="-204788" latinLnBrk="0">
              <a:spcAft>
                <a:spcPts val="5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▪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과목별 세부능력 및 특기사항의 기재는 입력 가능한 최대 글자 수</a:t>
            </a:r>
            <a:endParaRPr lang="en-US" altLang="ko-KR" sz="2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204788" indent="-204788" latinLnBrk="0">
              <a:spcAft>
                <a:spcPts val="5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([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참고자료 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8])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를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초과하지 않는 범위 내에서 교사가 자율적으로 </a:t>
            </a:r>
            <a:endParaRPr lang="en-US" altLang="ko-KR" sz="2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204788" indent="-204788" latinLnBrk="0">
              <a:spcAft>
                <a:spcPts val="5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입력할 수 있다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2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5C54C6A-4108-882A-62BC-B6D92AE56042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3743BCF7-225E-3F00-8676-7C5E2DC7C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786584EB-EB9B-7E70-69D5-1110E88CCB80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F7F4B08A-1B4F-BD91-99A6-8D65868F502A}"/>
              </a:ext>
            </a:extLst>
          </p:cNvPr>
          <p:cNvSpPr txBox="1"/>
          <p:nvPr/>
        </p:nvSpPr>
        <p:spPr>
          <a:xfrm>
            <a:off x="2120359" y="2677925"/>
            <a:ext cx="7800212" cy="97206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65113" indent="-265113" latinLnBrk="0">
              <a:spcAft>
                <a:spcPts val="500"/>
              </a:spcAft>
            </a:pP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사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‘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세부능력 및 특기사항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에서는 학생들의 특성을 보다 구체적으로 기술한다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학생들의 교과특성은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교사가</a:t>
            </a:r>
            <a:b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교과학습 평가 및 수업 과정에서 수시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상시로 기록한 내용을 중심으로 교과의 전 영역을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고려하여</a:t>
            </a:r>
            <a:b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종합적으로 기술한다</a:t>
            </a:r>
            <a:r>
              <a:rPr lang="en-US" altLang="ko-KR" sz="13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409575" indent="-142875" latinLnBrk="0">
              <a:spcAft>
                <a:spcPts val="500"/>
              </a:spcAft>
              <a:tabLst>
                <a:tab pos="412750" algn="l"/>
              </a:tabLst>
            </a:pP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‘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세부능력 및 특기사항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기술은 성취기준과 성취수준에 근거하여 학생 개인의 성취과정과 성취특성이 명료히 드러나도록 하되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수업에서 이루어진 활동의 단순 나열이나 이미 성취기준에 명시된 지식의 단순 서술은 지양함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0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CBF566D-39F8-2CDD-6051-5D61621807F1}"/>
              </a:ext>
            </a:extLst>
          </p:cNvPr>
          <p:cNvGrpSpPr/>
          <p:nvPr/>
        </p:nvGrpSpPr>
        <p:grpSpPr>
          <a:xfrm>
            <a:off x="522288" y="518880"/>
            <a:ext cx="5726087" cy="677108"/>
            <a:chOff x="522288" y="518880"/>
            <a:chExt cx="5726087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D46598D-46E2-C230-A981-32062012966D}"/>
                </a:ext>
              </a:extLst>
            </p:cNvPr>
            <p:cNvSpPr txBox="1"/>
            <p:nvPr/>
          </p:nvSpPr>
          <p:spPr>
            <a:xfrm>
              <a:off x="1923473" y="518880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 발달상황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FF97C82-116B-3D9F-B3FC-F78BB2BA063B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AAA2F29E-920D-182C-0D8D-8C169D98BB21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F6ACCB5-E250-B2FA-2C61-8697C9D96175}"/>
                  </a:ext>
                </a:extLst>
              </p:cNvPr>
              <p:cNvSpPr txBox="1"/>
              <p:nvPr/>
            </p:nvSpPr>
            <p:spPr>
              <a:xfrm>
                <a:off x="644981" y="672768"/>
                <a:ext cx="9585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15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F57C7B8-2362-3F59-121B-6FD9028E414B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ABCC018-97D5-570C-3AED-AD85249EAAE6}"/>
              </a:ext>
            </a:extLst>
          </p:cNvPr>
          <p:cNvGrpSpPr/>
          <p:nvPr/>
        </p:nvGrpSpPr>
        <p:grpSpPr>
          <a:xfrm>
            <a:off x="522288" y="1454050"/>
            <a:ext cx="5048235" cy="450951"/>
            <a:chOff x="522288" y="1454050"/>
            <a:chExt cx="5048235" cy="45095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646C820-207D-4C24-E50F-40B619C067AC}"/>
                </a:ext>
              </a:extLst>
            </p:cNvPr>
            <p:cNvSpPr txBox="1"/>
            <p:nvPr/>
          </p:nvSpPr>
          <p:spPr>
            <a:xfrm>
              <a:off x="1340198" y="1564200"/>
              <a:ext cx="4230325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과목별 세부능력 및 특기사항 기재에 관한 세부 안내</a:t>
              </a: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290836F4-92CE-E918-5F7B-ADF907BFC626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82" name="사각형: 둥근 위쪽 모서리 81">
                <a:extLst>
                  <a:ext uri="{FF2B5EF4-FFF2-40B4-BE49-F238E27FC236}">
                    <a16:creationId xmlns:a16="http://schemas.microsoft.com/office/drawing/2014/main" id="{588253C7-DFDD-5B54-E7E9-F926FE7EB7E8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1" name="사각형: 둥근 위쪽 모서리 90">
                <a:extLst>
                  <a:ext uri="{FF2B5EF4-FFF2-40B4-BE49-F238E27FC236}">
                    <a16:creationId xmlns:a16="http://schemas.microsoft.com/office/drawing/2014/main" id="{BD6F894E-F3B3-809C-2747-AE9C56241BDD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BE5241-860A-BCC6-DAD5-FC0F5AE78DF8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B022403-D2BE-A0A2-9372-29C8DD1CA8EE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47" name="사각형: 둥근 위쪽 모서리 46">
              <a:extLst>
                <a:ext uri="{FF2B5EF4-FFF2-40B4-BE49-F238E27FC236}">
                  <a16:creationId xmlns:a16="http://schemas.microsoft.com/office/drawing/2014/main" id="{CC206941-6F60-DBD8-4887-37CDA035D56D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E7E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9" name="사각형: 둥근 위쪽 모서리 48">
              <a:extLst>
                <a:ext uri="{FF2B5EF4-FFF2-40B4-BE49-F238E27FC236}">
                  <a16:creationId xmlns:a16="http://schemas.microsoft.com/office/drawing/2014/main" id="{AE01E79B-6083-5964-C6BF-0E8F8A5036D0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DAD3B756-C703-AFA0-4719-B439BEAC9FA0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4E7E36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1" name="사각형: 둥근 위쪽 모서리 50">
              <a:extLst>
                <a:ext uri="{FF2B5EF4-FFF2-40B4-BE49-F238E27FC236}">
                  <a16:creationId xmlns:a16="http://schemas.microsoft.com/office/drawing/2014/main" id="{D99C66A1-A490-0FF9-96C2-3FC8DBFD0606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4E7E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3" name="사각형: 둥근 위쪽 모서리 52">
              <a:extLst>
                <a:ext uri="{FF2B5EF4-FFF2-40B4-BE49-F238E27FC236}">
                  <a16:creationId xmlns:a16="http://schemas.microsoft.com/office/drawing/2014/main" id="{11EC280C-2A2A-DDBB-595A-BDE90AFDDE6C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992314C-3F12-8000-48C8-3B49FADFAD90}"/>
                </a:ext>
              </a:extLst>
            </p:cNvPr>
            <p:cNvSpPr txBox="1"/>
            <p:nvPr/>
          </p:nvSpPr>
          <p:spPr>
            <a:xfrm>
              <a:off x="904827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해설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B5F837D-A798-783C-D54E-FA6A7D70E7D6}"/>
                </a:ext>
              </a:extLst>
            </p:cNvPr>
            <p:cNvSpPr txBox="1"/>
            <p:nvPr/>
          </p:nvSpPr>
          <p:spPr>
            <a:xfrm>
              <a:off x="893927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p.95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314463E4-EFEF-F825-ED01-08B157163B0B}"/>
              </a:ext>
            </a:extLst>
          </p:cNvPr>
          <p:cNvGrpSpPr/>
          <p:nvPr/>
        </p:nvGrpSpPr>
        <p:grpSpPr>
          <a:xfrm>
            <a:off x="2058714" y="2328890"/>
            <a:ext cx="2208486" cy="300010"/>
            <a:chOff x="2058714" y="2328890"/>
            <a:chExt cx="2208486" cy="30001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F15439B0-BD3D-0672-ADAA-9E4130E0040A}"/>
                </a:ext>
              </a:extLst>
            </p:cNvPr>
            <p:cNvSpPr/>
            <p:nvPr/>
          </p:nvSpPr>
          <p:spPr>
            <a:xfrm>
              <a:off x="2058714" y="2328890"/>
              <a:ext cx="2208486" cy="30001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2E8669-D31D-925F-9018-5F0BF160973D}"/>
                </a:ext>
              </a:extLst>
            </p:cNvPr>
            <p:cNvSpPr txBox="1"/>
            <p:nvPr/>
          </p:nvSpPr>
          <p:spPr>
            <a:xfrm>
              <a:off x="2225201" y="2378868"/>
              <a:ext cx="1875513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fontAlgn="base"/>
              <a:r>
                <a:rPr lang="ko-KR" altLang="en-US" sz="13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제</a:t>
              </a:r>
              <a:r>
                <a:rPr lang="en-US" altLang="ko-KR" sz="13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15</a:t>
              </a:r>
              <a:r>
                <a:rPr lang="ko-KR" altLang="en-US" sz="13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</a:t>
              </a:r>
              <a:r>
                <a:rPr lang="en-US" altLang="ko-KR" sz="13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13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</a:t>
              </a:r>
              <a:r>
                <a:rPr lang="en-US" altLang="ko-KR" sz="13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34440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ED0B7-9CC7-AE67-2BB2-0DE7143D4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D96692F1-1454-E489-CA65-1DC083BF4D79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C611B31-D57A-BD56-CEE8-5FF632AD0670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34FCB8BA-8020-AE63-43E2-B7EF2A69BA26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98AE8F5-C097-825F-EDAA-CE2BF88A9F7C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B5D4CDD5-30D7-4C58-E907-F27307698E0B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1288672-4A28-F850-33CC-A0D1533F4B59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2C661AD6-B54A-80DF-DD15-967F211D6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5DCB21A4-56D8-2894-7430-BB5E0F00D3EB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D850E8C2-6755-C47B-C793-A2522C20204C}"/>
              </a:ext>
            </a:extLst>
          </p:cNvPr>
          <p:cNvSpPr txBox="1"/>
          <p:nvPr/>
        </p:nvSpPr>
        <p:spPr>
          <a:xfrm>
            <a:off x="2120359" y="4667335"/>
            <a:ext cx="7712431" cy="166455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324000" indent="-324000" latinLnBrk="0">
              <a:spcAft>
                <a:spcPts val="500"/>
              </a:spcAft>
            </a:pP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평가의 목표 및 방침</a:t>
            </a:r>
            <a:endParaRPr lang="en-US" altLang="ko-KR" sz="2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00050" indent="-400050" latinLnBrk="0"/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나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시도교육청 및 학교는 교과학습의 평가 및 관리의 객관성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b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공정성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투명성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신뢰도를 제고하기 위하여 노력하여야 한다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b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아울러 평가로 인한 학생의 부담이 </a:t>
            </a:r>
            <a:r>
              <a:rPr lang="ko-KR" altLang="en-US" sz="20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과중되지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않도록 평가</a:t>
            </a:r>
            <a:b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유형별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시행 비율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운영 시기 등을 적절하게 조정하여야 한다</a:t>
            </a:r>
            <a:r>
              <a:rPr lang="en-US" altLang="ko-KR" sz="2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24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9F47F1B-3972-397C-E79E-E5D576B5C8E2}"/>
              </a:ext>
            </a:extLst>
          </p:cNvPr>
          <p:cNvGrpSpPr/>
          <p:nvPr/>
        </p:nvGrpSpPr>
        <p:grpSpPr>
          <a:xfrm>
            <a:off x="1881855" y="2193392"/>
            <a:ext cx="8289258" cy="1516860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C9E95869-5448-AB43-10FA-613B3B39B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39B87C65-E4D1-5677-77E2-A41FF422F0FE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19B3D2B7-2269-22F2-EBC8-D8DD6B5AEC19}"/>
              </a:ext>
            </a:extLst>
          </p:cNvPr>
          <p:cNvSpPr txBox="1"/>
          <p:nvPr/>
        </p:nvSpPr>
        <p:spPr>
          <a:xfrm>
            <a:off x="2120359" y="2627764"/>
            <a:ext cx="6631303" cy="6181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latinLnBrk="0">
              <a:spcAft>
                <a:spcPts val="500"/>
              </a:spcAft>
            </a:pP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1.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평가의 목표 및 방침</a:t>
            </a:r>
            <a:endParaRPr lang="en-US" altLang="ko-KR" sz="12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66725" indent="-271463" latinLnBrk="0">
              <a:spcAft>
                <a:spcPts val="400"/>
              </a:spcAft>
            </a:pP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시도교육청 및 학교는 교과학습의 평가 및 관리의 객관성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공정성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투명성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신뢰도를 제고하기</a:t>
            </a:r>
            <a:b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위하여 노력하여야 한다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2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A797988-335B-2C90-7087-A04C8E052852}"/>
              </a:ext>
            </a:extLst>
          </p:cNvPr>
          <p:cNvGrpSpPr/>
          <p:nvPr/>
        </p:nvGrpSpPr>
        <p:grpSpPr>
          <a:xfrm>
            <a:off x="522288" y="518880"/>
            <a:ext cx="5726087" cy="677108"/>
            <a:chOff x="522288" y="518880"/>
            <a:chExt cx="5726087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D5C1BF0-EF87-2992-0C10-36AAB50D0200}"/>
                </a:ext>
              </a:extLst>
            </p:cNvPr>
            <p:cNvSpPr txBox="1"/>
            <p:nvPr/>
          </p:nvSpPr>
          <p:spPr>
            <a:xfrm>
              <a:off x="1923473" y="518880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 발달상황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BD617005-E625-A464-3F74-4C04B043D9C5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E6621973-1623-8BD0-CADC-9C8B6032B91D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42B8474-E012-373A-82CD-F36646C03905}"/>
                  </a:ext>
                </a:extLst>
              </p:cNvPr>
              <p:cNvSpPr txBox="1"/>
              <p:nvPr/>
            </p:nvSpPr>
            <p:spPr>
              <a:xfrm>
                <a:off x="730741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별표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9</a:t>
                </a:r>
                <a:endPara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46B64CC-B4C0-4678-AC83-987D381D4C02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49D2D8B-1CB3-989A-28E0-90B2204DDD5F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A6E8A1B7-0BE2-2450-2A66-A57854275F37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EEDCCF76-6D4C-846D-A3B3-B106C1C9BBE3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6" name="사각형: 둥근 위쪽 모서리 35">
                <a:extLst>
                  <a:ext uri="{FF2B5EF4-FFF2-40B4-BE49-F238E27FC236}">
                    <a16:creationId xmlns:a16="http://schemas.microsoft.com/office/drawing/2014/main" id="{B222D4A4-2BAC-4FE1-783F-EF31C2A18B4F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C1994A99-CC08-D7CD-7631-5C981B59E7D9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E1F1C84D-8259-E805-50EE-85D74477DC49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32" name="사각형: 둥근 위쪽 모서리 31">
                <a:extLst>
                  <a:ext uri="{FF2B5EF4-FFF2-40B4-BE49-F238E27FC236}">
                    <a16:creationId xmlns:a16="http://schemas.microsoft.com/office/drawing/2014/main" id="{D2DE2997-7384-BAAD-BB06-502A67815FD2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4" name="사각형: 둥근 위쪽 모서리 33">
                <a:extLst>
                  <a:ext uri="{FF2B5EF4-FFF2-40B4-BE49-F238E27FC236}">
                    <a16:creationId xmlns:a16="http://schemas.microsoft.com/office/drawing/2014/main" id="{AC254400-132C-7ED0-DA1C-8181F42A7648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59BE632-7FAB-8169-EA20-0BF2DD06A0A8}"/>
                </a:ext>
              </a:extLst>
            </p:cNvPr>
            <p:cNvSpPr txBox="1"/>
            <p:nvPr/>
          </p:nvSpPr>
          <p:spPr>
            <a:xfrm>
              <a:off x="757479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5F55EDE-2550-BF5A-DCD2-CFB66302A726}"/>
                </a:ext>
              </a:extLst>
            </p:cNvPr>
            <p:cNvSpPr txBox="1"/>
            <p:nvPr/>
          </p:nvSpPr>
          <p:spPr>
            <a:xfrm>
              <a:off x="746579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p.97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E89C2BE-E793-9E1A-9064-A1A954B45601}"/>
              </a:ext>
            </a:extLst>
          </p:cNvPr>
          <p:cNvGrpSpPr/>
          <p:nvPr/>
        </p:nvGrpSpPr>
        <p:grpSpPr>
          <a:xfrm>
            <a:off x="522288" y="1454050"/>
            <a:ext cx="4072006" cy="450951"/>
            <a:chOff x="522288" y="1454050"/>
            <a:chExt cx="4072006" cy="45095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27FE78-EE2E-7E27-FDC0-C9CEF13ECE26}"/>
                </a:ext>
              </a:extLst>
            </p:cNvPr>
            <p:cNvSpPr txBox="1"/>
            <p:nvPr/>
          </p:nvSpPr>
          <p:spPr>
            <a:xfrm>
              <a:off x="1340198" y="1564200"/>
              <a:ext cx="3254096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평가로 인한 학생의 부담 완화 조치 안내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8364113-D732-CA9D-B4C4-29CD9FDCC2D2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7" name="사각형: 둥근 위쪽 모서리 6">
                <a:extLst>
                  <a:ext uri="{FF2B5EF4-FFF2-40B4-BE49-F238E27FC236}">
                    <a16:creationId xmlns:a16="http://schemas.microsoft.com/office/drawing/2014/main" id="{D954C83A-83C5-A912-A1EE-7E6AF901C4C1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FDE4600A-0B4E-9E59-CF6A-78E43A1A28B1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37D7AD-435A-A14D-172E-5C741044252C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E064410-8CDD-4537-2CB0-1F39DE7B2E0F}"/>
              </a:ext>
            </a:extLst>
          </p:cNvPr>
          <p:cNvGrpSpPr/>
          <p:nvPr/>
        </p:nvGrpSpPr>
        <p:grpSpPr>
          <a:xfrm>
            <a:off x="2048439" y="2311967"/>
            <a:ext cx="2506261" cy="250349"/>
            <a:chOff x="2159040" y="2172831"/>
            <a:chExt cx="2506261" cy="250349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D45D385A-D79B-913C-61DF-A199E41D0839}"/>
                </a:ext>
              </a:extLst>
            </p:cNvPr>
            <p:cNvSpPr/>
            <p:nvPr/>
          </p:nvSpPr>
          <p:spPr>
            <a:xfrm>
              <a:off x="2159040" y="2172831"/>
              <a:ext cx="2506261" cy="2503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55CFBBA-F486-0EEE-3B8C-FDA9E09DD912}"/>
                </a:ext>
              </a:extLst>
            </p:cNvPr>
            <p:cNvSpPr txBox="1"/>
            <p:nvPr/>
          </p:nvSpPr>
          <p:spPr>
            <a:xfrm>
              <a:off x="2251727" y="2213367"/>
              <a:ext cx="233237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별표 </a:t>
              </a:r>
              <a:r>
                <a:rPr lang="en-US" altLang="ko-KR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9(</a:t>
              </a:r>
              <a:r>
                <a:rPr lang="ko-KR" altLang="en-US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 평가 및 관리</a:t>
              </a:r>
              <a:r>
                <a:rPr lang="en-US" altLang="ko-KR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 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4399444-D997-0A7C-9B2F-37D1F022C0BE}"/>
              </a:ext>
            </a:extLst>
          </p:cNvPr>
          <p:cNvGrpSpPr/>
          <p:nvPr/>
        </p:nvGrpSpPr>
        <p:grpSpPr>
          <a:xfrm>
            <a:off x="2048436" y="4281257"/>
            <a:ext cx="3207294" cy="299049"/>
            <a:chOff x="2159040" y="2187092"/>
            <a:chExt cx="2349188" cy="221825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73EBCEB-C74A-04C1-3F8F-BF4D40F483AB}"/>
                </a:ext>
              </a:extLst>
            </p:cNvPr>
            <p:cNvSpPr/>
            <p:nvPr/>
          </p:nvSpPr>
          <p:spPr>
            <a:xfrm>
              <a:off x="2159040" y="2187092"/>
              <a:ext cx="2349188" cy="221825"/>
            </a:xfrm>
            <a:prstGeom prst="roundRect">
              <a:avLst>
                <a:gd name="adj" fmla="val 50000"/>
              </a:avLst>
            </a:prstGeom>
            <a:solidFill>
              <a:srgbClr val="1D83FF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C001D0E-5A3F-1618-CF4D-954E0C04EE40}"/>
                </a:ext>
              </a:extLst>
            </p:cNvPr>
            <p:cNvSpPr txBox="1"/>
            <p:nvPr/>
          </p:nvSpPr>
          <p:spPr>
            <a:xfrm>
              <a:off x="2242069" y="2218100"/>
              <a:ext cx="2206176" cy="15980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별표 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9(</a:t>
              </a:r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 평가 및 관리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13942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ED0B7-9CC7-AE67-2BB2-0DE7143D4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D96692F1-1454-E489-CA65-1DC083BF4D79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C611B31-D57A-BD56-CEE8-5FF632AD0670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34FCB8BA-8020-AE63-43E2-B7EF2A69BA26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98AE8F5-C097-825F-EDAA-CE2BF88A9F7C}"/>
                </a:ext>
              </a:extLst>
            </p:cNvPr>
            <p:cNvSpPr txBox="1"/>
            <p:nvPr/>
          </p:nvSpPr>
          <p:spPr>
            <a:xfrm>
              <a:off x="8000470" y="3464407"/>
              <a:ext cx="461665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신설</a:t>
              </a:r>
            </a:p>
          </p:txBody>
        </p:sp>
      </p:grp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B5D4CDD5-30D7-4C58-E907-F27307698E0B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1288672-4A28-F850-33CC-A0D1533F4B59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2C661AD6-B54A-80DF-DD15-967F211D6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5DCB21A4-56D8-2894-7430-BB5E0F00D3EB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9F47F1B-3972-397C-E79E-E5D576B5C8E2}"/>
              </a:ext>
            </a:extLst>
          </p:cNvPr>
          <p:cNvGrpSpPr/>
          <p:nvPr/>
        </p:nvGrpSpPr>
        <p:grpSpPr>
          <a:xfrm>
            <a:off x="1881855" y="2193392"/>
            <a:ext cx="8289258" cy="1516860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C9E95869-5448-AB43-10FA-613B3B39B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39B87C65-E4D1-5677-77E2-A41FF422F0FE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19B3D2B7-2269-22F2-EBC8-D8DD6B5AEC19}"/>
              </a:ext>
            </a:extLst>
          </p:cNvPr>
          <p:cNvSpPr txBox="1"/>
          <p:nvPr/>
        </p:nvSpPr>
        <p:spPr>
          <a:xfrm>
            <a:off x="2120359" y="2627764"/>
            <a:ext cx="6631303" cy="6181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latinLnBrk="0">
              <a:spcAft>
                <a:spcPts val="500"/>
              </a:spcAft>
            </a:pP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1.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평가의 목표 및 방침</a:t>
            </a:r>
            <a:endParaRPr lang="en-US" altLang="ko-KR" sz="12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66725" indent="-271463" latinLnBrk="0">
              <a:spcAft>
                <a:spcPts val="400"/>
              </a:spcAft>
            </a:pP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시도교육청 및 학교는 교과학습의 평가 및 관리의 객관성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공정성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투명성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신뢰도를 제고하기</a:t>
            </a:r>
            <a:b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위하여 노력하여야 한다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2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A797988-335B-2C90-7087-A04C8E052852}"/>
              </a:ext>
            </a:extLst>
          </p:cNvPr>
          <p:cNvGrpSpPr/>
          <p:nvPr/>
        </p:nvGrpSpPr>
        <p:grpSpPr>
          <a:xfrm>
            <a:off x="522288" y="518880"/>
            <a:ext cx="5726087" cy="677108"/>
            <a:chOff x="522288" y="518880"/>
            <a:chExt cx="5726087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D5C1BF0-EF87-2992-0C10-36AAB50D0200}"/>
                </a:ext>
              </a:extLst>
            </p:cNvPr>
            <p:cNvSpPr txBox="1"/>
            <p:nvPr/>
          </p:nvSpPr>
          <p:spPr>
            <a:xfrm>
              <a:off x="1923473" y="518880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 발달상황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BD617005-E625-A464-3F74-4C04B043D9C5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E6621973-1623-8BD0-CADC-9C8B6032B91D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42B8474-E012-373A-82CD-F36646C03905}"/>
                  </a:ext>
                </a:extLst>
              </p:cNvPr>
              <p:cNvSpPr txBox="1"/>
              <p:nvPr/>
            </p:nvSpPr>
            <p:spPr>
              <a:xfrm>
                <a:off x="730741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별표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9</a:t>
                </a:r>
                <a:endPara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46B64CC-B4C0-4678-AC83-987D381D4C02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49D2D8B-1CB3-989A-28E0-90B2204DDD5F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A6E8A1B7-0BE2-2450-2A66-A57854275F37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EEDCCF76-6D4C-846D-A3B3-B106C1C9BBE3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6" name="사각형: 둥근 위쪽 모서리 35">
                <a:extLst>
                  <a:ext uri="{FF2B5EF4-FFF2-40B4-BE49-F238E27FC236}">
                    <a16:creationId xmlns:a16="http://schemas.microsoft.com/office/drawing/2014/main" id="{B222D4A4-2BAC-4FE1-783F-EF31C2A18B4F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C1994A99-CC08-D7CD-7631-5C981B59E7D9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E1F1C84D-8259-E805-50EE-85D74477DC49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32" name="사각형: 둥근 위쪽 모서리 31">
                <a:extLst>
                  <a:ext uri="{FF2B5EF4-FFF2-40B4-BE49-F238E27FC236}">
                    <a16:creationId xmlns:a16="http://schemas.microsoft.com/office/drawing/2014/main" id="{D2DE2997-7384-BAAD-BB06-502A67815FD2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4" name="사각형: 둥근 위쪽 모서리 33">
                <a:extLst>
                  <a:ext uri="{FF2B5EF4-FFF2-40B4-BE49-F238E27FC236}">
                    <a16:creationId xmlns:a16="http://schemas.microsoft.com/office/drawing/2014/main" id="{AC254400-132C-7ED0-DA1C-8181F42A7648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59BE632-7FAB-8169-EA20-0BF2DD06A0A8}"/>
                </a:ext>
              </a:extLst>
            </p:cNvPr>
            <p:cNvSpPr txBox="1"/>
            <p:nvPr/>
          </p:nvSpPr>
          <p:spPr>
            <a:xfrm>
              <a:off x="757479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5F55EDE-2550-BF5A-DCD2-CFB66302A726}"/>
                </a:ext>
              </a:extLst>
            </p:cNvPr>
            <p:cNvSpPr txBox="1"/>
            <p:nvPr/>
          </p:nvSpPr>
          <p:spPr>
            <a:xfrm>
              <a:off x="746579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p.97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E89C2BE-E793-9E1A-9064-A1A954B45601}"/>
              </a:ext>
            </a:extLst>
          </p:cNvPr>
          <p:cNvGrpSpPr/>
          <p:nvPr/>
        </p:nvGrpSpPr>
        <p:grpSpPr>
          <a:xfrm>
            <a:off x="522288" y="1454050"/>
            <a:ext cx="4072006" cy="450951"/>
            <a:chOff x="522288" y="1454050"/>
            <a:chExt cx="4072006" cy="45095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27FE78-EE2E-7E27-FDC0-C9CEF13ECE26}"/>
                </a:ext>
              </a:extLst>
            </p:cNvPr>
            <p:cNvSpPr txBox="1"/>
            <p:nvPr/>
          </p:nvSpPr>
          <p:spPr>
            <a:xfrm>
              <a:off x="1340198" y="1564200"/>
              <a:ext cx="3254096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평가로 인한 학생의 부담 완화 조치 안내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8364113-D732-CA9D-B4C4-29CD9FDCC2D2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7" name="사각형: 둥근 위쪽 모서리 6">
                <a:extLst>
                  <a:ext uri="{FF2B5EF4-FFF2-40B4-BE49-F238E27FC236}">
                    <a16:creationId xmlns:a16="http://schemas.microsoft.com/office/drawing/2014/main" id="{D954C83A-83C5-A912-A1EE-7E6AF901C4C1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FDE4600A-0B4E-9E59-CF6A-78E43A1A28B1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37D7AD-435A-A14D-172E-5C741044252C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E064410-8CDD-4537-2CB0-1F39DE7B2E0F}"/>
              </a:ext>
            </a:extLst>
          </p:cNvPr>
          <p:cNvGrpSpPr/>
          <p:nvPr/>
        </p:nvGrpSpPr>
        <p:grpSpPr>
          <a:xfrm>
            <a:off x="2048439" y="2311967"/>
            <a:ext cx="2506261" cy="250349"/>
            <a:chOff x="2159040" y="2172831"/>
            <a:chExt cx="2506261" cy="250349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D45D385A-D79B-913C-61DF-A199E41D0839}"/>
                </a:ext>
              </a:extLst>
            </p:cNvPr>
            <p:cNvSpPr/>
            <p:nvPr/>
          </p:nvSpPr>
          <p:spPr>
            <a:xfrm>
              <a:off x="2159040" y="2172831"/>
              <a:ext cx="2506261" cy="2503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55CFBBA-F486-0EEE-3B8C-FDA9E09DD912}"/>
                </a:ext>
              </a:extLst>
            </p:cNvPr>
            <p:cNvSpPr txBox="1"/>
            <p:nvPr/>
          </p:nvSpPr>
          <p:spPr>
            <a:xfrm>
              <a:off x="2251727" y="2213367"/>
              <a:ext cx="233237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별표 </a:t>
              </a:r>
              <a:r>
                <a:rPr lang="en-US" altLang="ko-KR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9(</a:t>
              </a:r>
              <a:r>
                <a:rPr lang="ko-KR" altLang="en-US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 평가 및 관리</a:t>
              </a:r>
              <a:r>
                <a:rPr lang="en-US" altLang="ko-KR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 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4399444-D997-0A7C-9B2F-37D1F022C0BE}"/>
              </a:ext>
            </a:extLst>
          </p:cNvPr>
          <p:cNvGrpSpPr/>
          <p:nvPr/>
        </p:nvGrpSpPr>
        <p:grpSpPr>
          <a:xfrm>
            <a:off x="2048436" y="4281257"/>
            <a:ext cx="3207294" cy="299049"/>
            <a:chOff x="2159040" y="2187092"/>
            <a:chExt cx="2349188" cy="221825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73EBCEB-C74A-04C1-3F8F-BF4D40F483AB}"/>
                </a:ext>
              </a:extLst>
            </p:cNvPr>
            <p:cNvSpPr/>
            <p:nvPr/>
          </p:nvSpPr>
          <p:spPr>
            <a:xfrm>
              <a:off x="2159040" y="2187092"/>
              <a:ext cx="2349188" cy="221825"/>
            </a:xfrm>
            <a:prstGeom prst="roundRect">
              <a:avLst>
                <a:gd name="adj" fmla="val 50000"/>
              </a:avLst>
            </a:prstGeom>
            <a:solidFill>
              <a:srgbClr val="1D83FF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C001D0E-5A3F-1618-CF4D-954E0C04EE40}"/>
                </a:ext>
              </a:extLst>
            </p:cNvPr>
            <p:cNvSpPr txBox="1"/>
            <p:nvPr/>
          </p:nvSpPr>
          <p:spPr>
            <a:xfrm>
              <a:off x="2242069" y="2218100"/>
              <a:ext cx="2206176" cy="15980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별표 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9(</a:t>
              </a:r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 평가 및 관리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 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C70C980E-CC7E-4771-89D5-301D6A7AD69B}"/>
              </a:ext>
            </a:extLst>
          </p:cNvPr>
          <p:cNvSpPr txBox="1"/>
          <p:nvPr/>
        </p:nvSpPr>
        <p:spPr>
          <a:xfrm>
            <a:off x="2181029" y="4827359"/>
            <a:ext cx="7790274" cy="96949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198000" indent="-198000" latinLnBrk="0">
              <a:spcAft>
                <a:spcPts val="100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▪"/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학교는 교과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목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별 특성과 학생 평가 부담을 고려하여 교과 내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교과 간 협의를 통해 평가 유형별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정기시험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수행평가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서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논술형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평가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적정 시행 비율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횟수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시기 등을 정한다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7148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ED0B7-9CC7-AE67-2BB2-0DE7143D4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D96692F1-1454-E489-CA65-1DC083BF4D79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C611B31-D57A-BD56-CEE8-5FF632AD0670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34FCB8BA-8020-AE63-43E2-B7EF2A69BA26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98AE8F5-C097-825F-EDAA-CE2BF88A9F7C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B5D4CDD5-30D7-4C58-E907-F27307698E0B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1288672-4A28-F850-33CC-A0D1533F4B59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2C661AD6-B54A-80DF-DD15-967F211D6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5DCB21A4-56D8-2894-7430-BB5E0F00D3EB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D850E8C2-6755-C47B-C793-A2522C20204C}"/>
              </a:ext>
            </a:extLst>
          </p:cNvPr>
          <p:cNvSpPr txBox="1"/>
          <p:nvPr/>
        </p:nvSpPr>
        <p:spPr>
          <a:xfrm>
            <a:off x="2120359" y="4667335"/>
            <a:ext cx="7861126" cy="219547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324000" indent="-324000" latinLnBrk="0">
              <a:spcAft>
                <a:spcPts val="500"/>
              </a:spcAft>
            </a:pP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평가의 목표 및 방침</a:t>
            </a:r>
            <a:endParaRPr lang="en-US" altLang="ko-KR" sz="17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577850" indent="-327025" latinLnBrk="0">
              <a:spcAft>
                <a:spcPts val="300"/>
              </a:spcAft>
            </a:pP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마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교과학습의 평가는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정기시험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 수행평가를 활용하여 실시한다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다만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학교별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학업성적관리규정에 따라 교과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목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특성상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수업활동과 연계한</a:t>
            </a:r>
            <a:b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수행평가만으로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평가할 수 있다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574675" indent="-338138" latinLnBrk="0">
              <a:spcAft>
                <a:spcPts val="300"/>
              </a:spcAft>
            </a:pP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바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마항에도 불구하고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감염병의 전국적 유행 등 국가 재난에 준하는</a:t>
            </a:r>
            <a:b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상황에서는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정기시험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또는 수행평가만으로 평가하거나 초등학교와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중학교는</a:t>
            </a:r>
            <a:b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교육부장관이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정하는 바에 따라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정기시험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및 수행평가를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실시하지</a:t>
            </a:r>
            <a:b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않을 수 있다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7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9F47F1B-3972-397C-E79E-E5D576B5C8E2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C9E95869-5448-AB43-10FA-613B3B39B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39B87C65-E4D1-5677-77E2-A41FF422F0FE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19B3D2B7-2269-22F2-EBC8-D8DD6B5AEC19}"/>
              </a:ext>
            </a:extLst>
          </p:cNvPr>
          <p:cNvSpPr txBox="1"/>
          <p:nvPr/>
        </p:nvSpPr>
        <p:spPr>
          <a:xfrm>
            <a:off x="2120359" y="2627764"/>
            <a:ext cx="7740902" cy="105157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latinLnBrk="0">
              <a:spcAft>
                <a:spcPts val="500"/>
              </a:spcAft>
            </a:pP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1.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평가의 목표 및 방침</a:t>
            </a:r>
            <a:endParaRPr lang="en-US" altLang="ko-KR" sz="12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384175" indent="-219075" latinLnBrk="0">
              <a:spcAft>
                <a:spcPts val="500"/>
              </a:spcAft>
            </a:pP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마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교과학습의 평가는 지필평가와 수행평가로 구분하여 실시한다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다만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학교별 학업성적관리규정에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따라</a:t>
            </a:r>
            <a:b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교과목의 특성상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수업활동과 연계한 수행평가만으로 평가할 수 있다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390525" indent="-225425" latinLnBrk="0">
              <a:spcAft>
                <a:spcPts val="500"/>
              </a:spcAft>
            </a:pP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바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마항에도 불구하고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감염병의 전국적 유행 등 국가 재난에 준하는 상황에서는 지필평가 또는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수행평가만으로</a:t>
            </a:r>
            <a:b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평가하거나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초등학교와 중학교는 교육부장관이 정하는 바에 따라 지필 및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수행평가를 실시하지 않을 수 있다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2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A797988-335B-2C90-7087-A04C8E052852}"/>
              </a:ext>
            </a:extLst>
          </p:cNvPr>
          <p:cNvGrpSpPr/>
          <p:nvPr/>
        </p:nvGrpSpPr>
        <p:grpSpPr>
          <a:xfrm>
            <a:off x="522288" y="518880"/>
            <a:ext cx="5726087" cy="677108"/>
            <a:chOff x="522288" y="518880"/>
            <a:chExt cx="5726087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D5C1BF0-EF87-2992-0C10-36AAB50D0200}"/>
                </a:ext>
              </a:extLst>
            </p:cNvPr>
            <p:cNvSpPr txBox="1"/>
            <p:nvPr/>
          </p:nvSpPr>
          <p:spPr>
            <a:xfrm>
              <a:off x="1923473" y="518880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 발달상황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BD617005-E625-A464-3F74-4C04B043D9C5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E6621973-1623-8BD0-CADC-9C8B6032B91D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42B8474-E012-373A-82CD-F36646C03905}"/>
                  </a:ext>
                </a:extLst>
              </p:cNvPr>
              <p:cNvSpPr txBox="1"/>
              <p:nvPr/>
            </p:nvSpPr>
            <p:spPr>
              <a:xfrm>
                <a:off x="730741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별표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9</a:t>
                </a:r>
                <a:endPara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46B64CC-B4C0-4678-AC83-987D381D4C02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49D2D8B-1CB3-989A-28E0-90B2204DDD5F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A6E8A1B7-0BE2-2450-2A66-A57854275F37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EEDCCF76-6D4C-846D-A3B3-B106C1C9BBE3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6" name="사각형: 둥근 위쪽 모서리 35">
                <a:extLst>
                  <a:ext uri="{FF2B5EF4-FFF2-40B4-BE49-F238E27FC236}">
                    <a16:creationId xmlns:a16="http://schemas.microsoft.com/office/drawing/2014/main" id="{B222D4A4-2BAC-4FE1-783F-EF31C2A18B4F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C1994A99-CC08-D7CD-7631-5C981B59E7D9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E1F1C84D-8259-E805-50EE-85D74477DC49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32" name="사각형: 둥근 위쪽 모서리 31">
                <a:extLst>
                  <a:ext uri="{FF2B5EF4-FFF2-40B4-BE49-F238E27FC236}">
                    <a16:creationId xmlns:a16="http://schemas.microsoft.com/office/drawing/2014/main" id="{D2DE2997-7384-BAAD-BB06-502A67815FD2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4" name="사각형: 둥근 위쪽 모서리 33">
                <a:extLst>
                  <a:ext uri="{FF2B5EF4-FFF2-40B4-BE49-F238E27FC236}">
                    <a16:creationId xmlns:a16="http://schemas.microsoft.com/office/drawing/2014/main" id="{AC254400-132C-7ED0-DA1C-8181F42A7648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59BE632-7FAB-8169-EA20-0BF2DD06A0A8}"/>
                </a:ext>
              </a:extLst>
            </p:cNvPr>
            <p:cNvSpPr txBox="1"/>
            <p:nvPr/>
          </p:nvSpPr>
          <p:spPr>
            <a:xfrm>
              <a:off x="757479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5F55EDE-2550-BF5A-DCD2-CFB66302A726}"/>
                </a:ext>
              </a:extLst>
            </p:cNvPr>
            <p:cNvSpPr txBox="1"/>
            <p:nvPr/>
          </p:nvSpPr>
          <p:spPr>
            <a:xfrm>
              <a:off x="7465793" y="865098"/>
              <a:ext cx="57708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p.97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E89C2BE-E793-9E1A-9064-A1A954B45601}"/>
              </a:ext>
            </a:extLst>
          </p:cNvPr>
          <p:cNvGrpSpPr/>
          <p:nvPr/>
        </p:nvGrpSpPr>
        <p:grpSpPr>
          <a:xfrm>
            <a:off x="522288" y="1454050"/>
            <a:ext cx="3938957" cy="450951"/>
            <a:chOff x="522288" y="1454050"/>
            <a:chExt cx="3938957" cy="45095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27FE78-EE2E-7E27-FDC0-C9CEF13ECE26}"/>
                </a:ext>
              </a:extLst>
            </p:cNvPr>
            <p:cNvSpPr txBox="1"/>
            <p:nvPr/>
          </p:nvSpPr>
          <p:spPr>
            <a:xfrm>
              <a:off x="1340198" y="1564200"/>
              <a:ext cx="3121047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지필평가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를 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정기시험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으로 용어 변경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8364113-D732-CA9D-B4C4-29CD9FDCC2D2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7" name="사각형: 둥근 위쪽 모서리 6">
                <a:extLst>
                  <a:ext uri="{FF2B5EF4-FFF2-40B4-BE49-F238E27FC236}">
                    <a16:creationId xmlns:a16="http://schemas.microsoft.com/office/drawing/2014/main" id="{D954C83A-83C5-A912-A1EE-7E6AF901C4C1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FDE4600A-0B4E-9E59-CF6A-78E43A1A28B1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37D7AD-435A-A14D-172E-5C741044252C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E064410-8CDD-4537-2CB0-1F39DE7B2E0F}"/>
              </a:ext>
            </a:extLst>
          </p:cNvPr>
          <p:cNvGrpSpPr/>
          <p:nvPr/>
        </p:nvGrpSpPr>
        <p:grpSpPr>
          <a:xfrm>
            <a:off x="2048439" y="2311967"/>
            <a:ext cx="2506261" cy="250349"/>
            <a:chOff x="2159040" y="2172831"/>
            <a:chExt cx="2506261" cy="250349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D45D385A-D79B-913C-61DF-A199E41D0839}"/>
                </a:ext>
              </a:extLst>
            </p:cNvPr>
            <p:cNvSpPr/>
            <p:nvPr/>
          </p:nvSpPr>
          <p:spPr>
            <a:xfrm>
              <a:off x="2159040" y="2172831"/>
              <a:ext cx="2506261" cy="2503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55CFBBA-F486-0EEE-3B8C-FDA9E09DD912}"/>
                </a:ext>
              </a:extLst>
            </p:cNvPr>
            <p:cNvSpPr txBox="1"/>
            <p:nvPr/>
          </p:nvSpPr>
          <p:spPr>
            <a:xfrm>
              <a:off x="2251727" y="2213367"/>
              <a:ext cx="233237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별표 </a:t>
              </a:r>
              <a:r>
                <a:rPr lang="en-US" altLang="ko-KR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9(</a:t>
              </a:r>
              <a:r>
                <a:rPr lang="ko-KR" altLang="en-US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 평가 및 관리</a:t>
              </a:r>
              <a:r>
                <a:rPr lang="en-US" altLang="ko-KR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 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4399444-D997-0A7C-9B2F-37D1F022C0BE}"/>
              </a:ext>
            </a:extLst>
          </p:cNvPr>
          <p:cNvGrpSpPr/>
          <p:nvPr/>
        </p:nvGrpSpPr>
        <p:grpSpPr>
          <a:xfrm>
            <a:off x="2048436" y="4281257"/>
            <a:ext cx="3207294" cy="299049"/>
            <a:chOff x="2159040" y="2187092"/>
            <a:chExt cx="2349188" cy="221825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73EBCEB-C74A-04C1-3F8F-BF4D40F483AB}"/>
                </a:ext>
              </a:extLst>
            </p:cNvPr>
            <p:cNvSpPr/>
            <p:nvPr/>
          </p:nvSpPr>
          <p:spPr>
            <a:xfrm>
              <a:off x="2159040" y="2187092"/>
              <a:ext cx="2349188" cy="221825"/>
            </a:xfrm>
            <a:prstGeom prst="roundRect">
              <a:avLst>
                <a:gd name="adj" fmla="val 50000"/>
              </a:avLst>
            </a:prstGeom>
            <a:solidFill>
              <a:srgbClr val="1D83FF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C001D0E-5A3F-1618-CF4D-954E0C04EE40}"/>
                </a:ext>
              </a:extLst>
            </p:cNvPr>
            <p:cNvSpPr txBox="1"/>
            <p:nvPr/>
          </p:nvSpPr>
          <p:spPr>
            <a:xfrm>
              <a:off x="2242069" y="2218100"/>
              <a:ext cx="2206176" cy="15980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별표 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9(</a:t>
              </a:r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 평가 및 관리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84540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821A9-AC41-FFEF-D605-B644FED8C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7DBC3031-9907-EBC6-82ED-4979136F1CF2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A6533FF5-A7BA-7306-B3B6-3C0E3940347F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C3A1CF6C-0B19-C471-2C7A-FD20112390C3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14B7DD3-0189-814F-6454-FC78AB814C1A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신설</a:t>
              </a:r>
            </a:p>
          </p:txBody>
        </p:sp>
      </p:grp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2B123289-C179-650F-B3B0-C09C312ECE52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E8EFD43-5D51-76B6-DF67-9F4F5ED7015B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E6526D13-3695-457E-6E6F-040761350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74624833-339E-D86F-85B7-7A473B09E755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C0EB9C62-DAE4-7627-D4F2-B0255D28F465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40D1DEFE-D1F3-92F7-F582-4290821BF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9C6F205A-864B-D952-A0DF-BC9271C62321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F1D56834-B170-0F19-E6E2-854897FC6F53}"/>
              </a:ext>
            </a:extLst>
          </p:cNvPr>
          <p:cNvGrpSpPr/>
          <p:nvPr/>
        </p:nvGrpSpPr>
        <p:grpSpPr>
          <a:xfrm>
            <a:off x="522288" y="518880"/>
            <a:ext cx="5726087" cy="677108"/>
            <a:chOff x="522288" y="518880"/>
            <a:chExt cx="5726087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5948CDC-7AE4-DD72-27F3-626210DE7283}"/>
                </a:ext>
              </a:extLst>
            </p:cNvPr>
            <p:cNvSpPr txBox="1"/>
            <p:nvPr/>
          </p:nvSpPr>
          <p:spPr>
            <a:xfrm>
              <a:off x="1923473" y="518880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 발달상황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898E9F87-181D-DC1E-0B52-E20E48DD5471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DD4CE6E7-782F-1CE6-AC7E-2FA0F629F684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CFD6E22-3D0E-56E7-48FB-BDC642027488}"/>
                  </a:ext>
                </a:extLst>
              </p:cNvPr>
              <p:cNvSpPr txBox="1"/>
              <p:nvPr/>
            </p:nvSpPr>
            <p:spPr>
              <a:xfrm>
                <a:off x="730741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별표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9</a:t>
                </a:r>
                <a:endPara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14C65F04-BABF-7DED-C0A2-D9F841030DFB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399A4C0-84CF-85EC-B691-E383EC597A39}"/>
              </a:ext>
            </a:extLst>
          </p:cNvPr>
          <p:cNvGrpSpPr/>
          <p:nvPr/>
        </p:nvGrpSpPr>
        <p:grpSpPr>
          <a:xfrm>
            <a:off x="522288" y="1454050"/>
            <a:ext cx="4955261" cy="450951"/>
            <a:chOff x="522288" y="1454050"/>
            <a:chExt cx="4955261" cy="45095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C167071-7EBA-D493-14E9-7CDBA50A3A4B}"/>
                </a:ext>
              </a:extLst>
            </p:cNvPr>
            <p:cNvSpPr txBox="1"/>
            <p:nvPr/>
          </p:nvSpPr>
          <p:spPr>
            <a:xfrm>
              <a:off x="1340198" y="1564200"/>
              <a:ext cx="4137351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과제형 수행평가와 암기식 수행평가의 의미 명확화</a:t>
              </a: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5F33F362-B419-00D4-7A43-DDB75AE47E06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82" name="사각형: 둥근 위쪽 모서리 81">
                <a:extLst>
                  <a:ext uri="{FF2B5EF4-FFF2-40B4-BE49-F238E27FC236}">
                    <a16:creationId xmlns:a16="http://schemas.microsoft.com/office/drawing/2014/main" id="{A44DA10A-59A8-5CC6-2611-0AB4B96C3FCD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1" name="사각형: 둥근 위쪽 모서리 90">
                <a:extLst>
                  <a:ext uri="{FF2B5EF4-FFF2-40B4-BE49-F238E27FC236}">
                    <a16:creationId xmlns:a16="http://schemas.microsoft.com/office/drawing/2014/main" id="{D297DE73-8059-077B-C505-77CA78928B4E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9D5470-493D-ABC4-2E2F-A057B11DED44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0C8233C0-CD34-2ECA-B2DF-AC576DB1878D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47" name="사각형: 둥근 위쪽 모서리 46">
              <a:extLst>
                <a:ext uri="{FF2B5EF4-FFF2-40B4-BE49-F238E27FC236}">
                  <a16:creationId xmlns:a16="http://schemas.microsoft.com/office/drawing/2014/main" id="{3BB9C97F-D9F2-EEDE-5B2C-18FCAF53C94D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E7E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9" name="사각형: 둥근 위쪽 모서리 48">
              <a:extLst>
                <a:ext uri="{FF2B5EF4-FFF2-40B4-BE49-F238E27FC236}">
                  <a16:creationId xmlns:a16="http://schemas.microsoft.com/office/drawing/2014/main" id="{1E707B94-DC82-B218-664B-FFDDC00965AE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B655AA38-FF95-820F-A8A6-E8C07C763D07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4E7E36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1" name="사각형: 둥근 위쪽 모서리 50">
              <a:extLst>
                <a:ext uri="{FF2B5EF4-FFF2-40B4-BE49-F238E27FC236}">
                  <a16:creationId xmlns:a16="http://schemas.microsoft.com/office/drawing/2014/main" id="{30FEE851-A906-C1FF-E229-13E4E06AAAE4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4E7E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3" name="사각형: 둥근 위쪽 모서리 52">
              <a:extLst>
                <a:ext uri="{FF2B5EF4-FFF2-40B4-BE49-F238E27FC236}">
                  <a16:creationId xmlns:a16="http://schemas.microsoft.com/office/drawing/2014/main" id="{30C5B756-9C35-4ED1-C189-2281D467312F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1E0338C-0CF2-BAC5-F13C-313D9CC96169}"/>
                </a:ext>
              </a:extLst>
            </p:cNvPr>
            <p:cNvSpPr txBox="1"/>
            <p:nvPr/>
          </p:nvSpPr>
          <p:spPr>
            <a:xfrm>
              <a:off x="904827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해설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6F39C4C-1AD8-28B1-4BC2-C1F4613F30EE}"/>
                </a:ext>
              </a:extLst>
            </p:cNvPr>
            <p:cNvSpPr txBox="1"/>
            <p:nvPr/>
          </p:nvSpPr>
          <p:spPr>
            <a:xfrm>
              <a:off x="8889580" y="865098"/>
              <a:ext cx="676468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p.100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D9447B3-FB1C-32CB-0FB1-04C26711505A}"/>
              </a:ext>
            </a:extLst>
          </p:cNvPr>
          <p:cNvSpPr txBox="1"/>
          <p:nvPr/>
        </p:nvSpPr>
        <p:spPr>
          <a:xfrm>
            <a:off x="2120359" y="4249496"/>
            <a:ext cx="8064708" cy="273151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latinLnBrk="0">
              <a:spcAft>
                <a:spcPts val="300"/>
              </a:spcAft>
            </a:pPr>
            <a:r>
              <a:rPr lang="ko-KR" altLang="en-US" sz="1400" dirty="0"/>
              <a:t>▪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과제형 수행평가 금지는 사전 준비가 필요한 암기식 수행평가 등이 포함됨에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유의하여야 한다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28613" indent="-160338" latinLnBrk="0">
              <a:spcAft>
                <a:spcPts val="300"/>
              </a:spcAft>
            </a:pP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※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과제형 수행평가는 학생이 수업 외 시간에 학교 밖에서 수행한 과제물의 내용을 측정 대상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채점 요소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으로 삼아 과제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이행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여부 및 수행 정도에 따라 점수를 부여하는 평가 방식임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66775" indent="-538163" latinLnBrk="0">
              <a:spcAft>
                <a:spcPts val="300"/>
              </a:spcAft>
            </a:pP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예시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과학 수행평가 과제로 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이번 학기의 학습 내용 중 탐구하고 싶은 주제를 학생 스스로 선택하여</a:t>
            </a:r>
            <a:b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보고서의 형태로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3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작성･제출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하도록 하고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학생이 수업 외 시간에 별도로 수행한 탐구보고서를 평가</a:t>
            </a:r>
          </a:p>
          <a:p>
            <a:pPr marL="349250" indent="-180975" latinLnBrk="0">
              <a:spcAft>
                <a:spcPts val="300"/>
              </a:spcAft>
            </a:pP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※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암기식 수행평가는 생각하고 탐구하는 과정 없이 학습 내용을 단순히 기억하고 반복하여 재생산하는</a:t>
            </a:r>
            <a:b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능력만을 측정 대상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채점 요소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으로 삼아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암기한 내용을 그대로 재현하는 정도에 따라 점수를 부여하는</a:t>
            </a:r>
            <a:b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평가 방식임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903288" indent="-569913" latinLnBrk="0">
              <a:spcAft>
                <a:spcPts val="300"/>
              </a:spcAft>
            </a:pP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예시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학생에게 생물의 분류 체계를 교과서에 제시된 것과 동일하게 암기하도록 하고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용어를 순서대로</a:t>
            </a:r>
            <a:b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정확하게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사용하는지 등</a:t>
            </a:r>
            <a:r>
              <a:rPr lang="en-US" altLang="ko-KR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3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암기 내용의 재현 정도에 따라 평가</a:t>
            </a:r>
          </a:p>
          <a:p>
            <a:pPr marL="168275" indent="-168275" latinLnBrk="0">
              <a:spcAft>
                <a:spcPts val="300"/>
              </a:spcAft>
            </a:pPr>
            <a:r>
              <a:rPr lang="ko-KR" altLang="en-US" sz="1400" dirty="0"/>
              <a:t>▪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복수의 학생이 공동으로 수행하는 </a:t>
            </a:r>
            <a:r>
              <a:rPr lang="ko-KR" altLang="en-US" sz="14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모둠활동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등을 평가할 때에는 개별 학생에게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역할을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부여하고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b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개인별 학습과제에 대한 수행과정과 결과를 평가해야 한다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4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64F648-9547-3D12-96FF-CAB2C2694053}"/>
              </a:ext>
            </a:extLst>
          </p:cNvPr>
          <p:cNvSpPr txBox="1"/>
          <p:nvPr/>
        </p:nvSpPr>
        <p:spPr>
          <a:xfrm>
            <a:off x="2120359" y="2620705"/>
            <a:ext cx="7819448" cy="110799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latinLnBrk="0"/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4.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중학교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고등학교 평가 방법</a:t>
            </a:r>
          </a:p>
          <a:p>
            <a:pPr indent="169863" latinLnBrk="0"/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평가운영</a:t>
            </a:r>
            <a:endParaRPr lang="en-US" altLang="ko-KR" sz="11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571500" indent="-222250" latinLnBrk="0"/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자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모든 수행평가는 수업 중 실시하는 것을 원칙으로 하며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수업시간 외 가정 등에서 이루어지는 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과제형 수행평가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는</a:t>
            </a:r>
            <a:b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실시하지 않는다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77850" indent="3175" latinLnBrk="0"/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※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과제형 수행평가 금지는 사전 준비가 필요한 암기식 수행평가 등이 포함됨을 유의하여야 함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04850" indent="-120650" latinLnBrk="0">
              <a:spcAft>
                <a:spcPts val="200"/>
              </a:spcAft>
            </a:pP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※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복수의 학생이 공동으로 수행하는 </a:t>
            </a:r>
            <a:r>
              <a:rPr lang="ko-KR" altLang="en-US" sz="9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모둠활동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등을 평가할 때에는 개별 학생에게 역할을 부여하고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개인별 학습과제에 대한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수행과정과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결과를</a:t>
            </a:r>
            <a:b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평가해야 함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9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8B7C814-209F-6866-22D5-FD1E8D92FBA4}"/>
              </a:ext>
            </a:extLst>
          </p:cNvPr>
          <p:cNvGrpSpPr/>
          <p:nvPr/>
        </p:nvGrpSpPr>
        <p:grpSpPr>
          <a:xfrm>
            <a:off x="2017617" y="2294634"/>
            <a:ext cx="2506261" cy="250349"/>
            <a:chOff x="2159040" y="2172831"/>
            <a:chExt cx="2506261" cy="250349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39E119C5-D49B-70D7-75DE-3BB47FE72536}"/>
                </a:ext>
              </a:extLst>
            </p:cNvPr>
            <p:cNvSpPr/>
            <p:nvPr/>
          </p:nvSpPr>
          <p:spPr>
            <a:xfrm>
              <a:off x="2159040" y="2172831"/>
              <a:ext cx="2506261" cy="2503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D246210-12C9-78C9-64B9-142B6186824B}"/>
                </a:ext>
              </a:extLst>
            </p:cNvPr>
            <p:cNvSpPr txBox="1"/>
            <p:nvPr/>
          </p:nvSpPr>
          <p:spPr>
            <a:xfrm>
              <a:off x="2251727" y="2213367"/>
              <a:ext cx="233237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별표 </a:t>
              </a:r>
              <a:r>
                <a:rPr lang="en-US" altLang="ko-KR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9(</a:t>
              </a:r>
              <a:r>
                <a:rPr lang="ko-KR" altLang="en-US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 평가 및 관리</a:t>
              </a:r>
              <a:r>
                <a:rPr lang="en-US" altLang="ko-KR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42955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02553-0EB3-B99B-1900-F1DC7880D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9138566-5D64-1A5D-EDCD-C388F893762B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AB72BD0-16C4-9A28-D5E2-199052AAE524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5A20FE99-BCF3-C88E-85B8-AA420CB64E85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7BBD7D8-122B-C133-D3EE-2F9F22E7F177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신설</a:t>
              </a:r>
            </a:p>
          </p:txBody>
        </p:sp>
      </p:grp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FE1290D2-2863-2825-1B6E-0C8F83CFA3DF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779A0E7-3907-CD1A-38B9-12ACA39191EF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C9EC9E6D-20A4-D9DD-9289-FEDB693EA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09C936EA-07F5-4D17-6195-F1B6B6D25020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1C38DC76-5238-7DA3-6A79-CAAB16A7DA51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2A9FE7A6-862B-B908-DEB1-7B1F94DC9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8BDC701F-4D2A-5454-6829-77A233E4B8A8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5B943385-1C7F-694C-3018-128EACE87B95}"/>
              </a:ext>
            </a:extLst>
          </p:cNvPr>
          <p:cNvGrpSpPr/>
          <p:nvPr/>
        </p:nvGrpSpPr>
        <p:grpSpPr>
          <a:xfrm>
            <a:off x="522288" y="518880"/>
            <a:ext cx="5726087" cy="677108"/>
            <a:chOff x="522288" y="518880"/>
            <a:chExt cx="5726087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7D61B9B-00AC-2068-10F7-BF11485EDCDA}"/>
                </a:ext>
              </a:extLst>
            </p:cNvPr>
            <p:cNvSpPr txBox="1"/>
            <p:nvPr/>
          </p:nvSpPr>
          <p:spPr>
            <a:xfrm>
              <a:off x="1923473" y="518880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 발달상황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CA408166-6517-F018-DF74-A9E0C17CE76F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21C35422-8A2B-6DEA-9E80-5D0622F87177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435FE10-04E9-BED1-5AC5-8F5AF0169884}"/>
                  </a:ext>
                </a:extLst>
              </p:cNvPr>
              <p:cNvSpPr txBox="1"/>
              <p:nvPr/>
            </p:nvSpPr>
            <p:spPr>
              <a:xfrm>
                <a:off x="730741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별표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9</a:t>
                </a:r>
                <a:endPara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F513F5E-46C6-1019-3E07-CCC5D74D0B50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A4F0F9E-F2B0-6D06-FDA2-420A2D65D0F3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C1E3DB0-2DC8-232B-EB58-5C32322124D6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566B7C75-396E-3023-7CFC-5B75DAEFE7A5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6" name="사각형: 둥근 위쪽 모서리 35">
                <a:extLst>
                  <a:ext uri="{FF2B5EF4-FFF2-40B4-BE49-F238E27FC236}">
                    <a16:creationId xmlns:a16="http://schemas.microsoft.com/office/drawing/2014/main" id="{0F1735B7-AF84-BF77-FF68-F4993BDBBF63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3A756790-E841-8BE2-B57C-631BC979BDC0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6ACE316F-8F6B-BE79-3CE7-3D66BF3D688E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32" name="사각형: 둥근 위쪽 모서리 31">
                <a:extLst>
                  <a:ext uri="{FF2B5EF4-FFF2-40B4-BE49-F238E27FC236}">
                    <a16:creationId xmlns:a16="http://schemas.microsoft.com/office/drawing/2014/main" id="{788E07DD-D1BA-A1D3-9ED6-3A2CE303857D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4" name="사각형: 둥근 위쪽 모서리 33">
                <a:extLst>
                  <a:ext uri="{FF2B5EF4-FFF2-40B4-BE49-F238E27FC236}">
                    <a16:creationId xmlns:a16="http://schemas.microsoft.com/office/drawing/2014/main" id="{41A76140-BCFC-CBEE-E633-489543A0F1D8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6B52AC4-6833-3517-2126-B9113B24616A}"/>
                </a:ext>
              </a:extLst>
            </p:cNvPr>
            <p:cNvSpPr txBox="1"/>
            <p:nvPr/>
          </p:nvSpPr>
          <p:spPr>
            <a:xfrm>
              <a:off x="7320722" y="523614"/>
              <a:ext cx="86722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 별표</a:t>
              </a:r>
              <a:r>
                <a:rPr lang="en-US" altLang="ko-KR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9</a:t>
              </a:r>
              <a:endParaRPr lang="ko-KR" altLang="en-US" sz="1400" b="1" dirty="0">
                <a:ln>
                  <a:solidFill>
                    <a:srgbClr val="6BAEFF">
                      <a:alpha val="0"/>
                    </a:srgb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62CD5EA-44C1-CDA7-92EF-46DDF4625A82}"/>
                </a:ext>
              </a:extLst>
            </p:cNvPr>
            <p:cNvSpPr txBox="1"/>
            <p:nvPr/>
          </p:nvSpPr>
          <p:spPr>
            <a:xfrm>
              <a:off x="7416100" y="865098"/>
              <a:ext cx="676468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p.101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2E689224-AB19-6586-313A-4A4A2950BF80}"/>
              </a:ext>
            </a:extLst>
          </p:cNvPr>
          <p:cNvGrpSpPr/>
          <p:nvPr/>
        </p:nvGrpSpPr>
        <p:grpSpPr>
          <a:xfrm>
            <a:off x="522288" y="1454050"/>
            <a:ext cx="5296700" cy="450951"/>
            <a:chOff x="522288" y="1454050"/>
            <a:chExt cx="5296700" cy="45095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F856C6E-1F06-EC01-2065-8089F1F30D15}"/>
                </a:ext>
              </a:extLst>
            </p:cNvPr>
            <p:cNvSpPr txBox="1"/>
            <p:nvPr/>
          </p:nvSpPr>
          <p:spPr>
            <a:xfrm>
              <a:off x="1340198" y="1564200"/>
              <a:ext cx="4478790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수행평가에서 인공지능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(AI) 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도구 활용에 대한 지침 마련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82EE362B-DE9B-B539-9987-0F53D2E9854E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7" name="사각형: 둥근 위쪽 모서리 6">
                <a:extLst>
                  <a:ext uri="{FF2B5EF4-FFF2-40B4-BE49-F238E27FC236}">
                    <a16:creationId xmlns:a16="http://schemas.microsoft.com/office/drawing/2014/main" id="{CA5E27BE-E5FB-8C26-81C6-BDBD5CE480CA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E390BF78-BBF9-993B-5CB9-8DB633B54D67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22616C-2830-7E2C-CE28-7A289C2442C1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98056BA-5A4E-8391-7347-AD5A02E92EC6}"/>
              </a:ext>
            </a:extLst>
          </p:cNvPr>
          <p:cNvGrpSpPr/>
          <p:nvPr/>
        </p:nvGrpSpPr>
        <p:grpSpPr>
          <a:xfrm>
            <a:off x="2048440" y="2342789"/>
            <a:ext cx="2506261" cy="250349"/>
            <a:chOff x="2159040" y="2172831"/>
            <a:chExt cx="2506261" cy="250349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93D033BB-9CA6-94EC-3179-BE04D80D6CBE}"/>
                </a:ext>
              </a:extLst>
            </p:cNvPr>
            <p:cNvSpPr/>
            <p:nvPr/>
          </p:nvSpPr>
          <p:spPr>
            <a:xfrm>
              <a:off x="2159040" y="2172831"/>
              <a:ext cx="2506261" cy="2503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7EA96DB-3EC5-19FF-D915-8205DE5D6A8F}"/>
                </a:ext>
              </a:extLst>
            </p:cNvPr>
            <p:cNvSpPr txBox="1"/>
            <p:nvPr/>
          </p:nvSpPr>
          <p:spPr>
            <a:xfrm>
              <a:off x="2251727" y="2213367"/>
              <a:ext cx="233237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별표 </a:t>
              </a:r>
              <a:r>
                <a:rPr lang="en-US" altLang="ko-KR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9(</a:t>
              </a:r>
              <a:r>
                <a:rPr lang="ko-KR" altLang="en-US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 평가 및 관리</a:t>
              </a:r>
              <a:r>
                <a:rPr lang="en-US" altLang="ko-KR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 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373EF91-4C3E-3429-4189-2768773C1077}"/>
              </a:ext>
            </a:extLst>
          </p:cNvPr>
          <p:cNvGrpSpPr/>
          <p:nvPr/>
        </p:nvGrpSpPr>
        <p:grpSpPr>
          <a:xfrm>
            <a:off x="2048437" y="4291531"/>
            <a:ext cx="3207294" cy="299049"/>
            <a:chOff x="2159040" y="2187092"/>
            <a:chExt cx="2349188" cy="221825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4651BDB5-4E1A-3B77-FC69-146466489026}"/>
                </a:ext>
              </a:extLst>
            </p:cNvPr>
            <p:cNvSpPr/>
            <p:nvPr/>
          </p:nvSpPr>
          <p:spPr>
            <a:xfrm>
              <a:off x="2159040" y="2187092"/>
              <a:ext cx="2349188" cy="221825"/>
            </a:xfrm>
            <a:prstGeom prst="roundRect">
              <a:avLst>
                <a:gd name="adj" fmla="val 50000"/>
              </a:avLst>
            </a:prstGeom>
            <a:solidFill>
              <a:srgbClr val="1D83FF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BDB1E98-0C2A-18CE-D5B1-C53BE1ACF214}"/>
                </a:ext>
              </a:extLst>
            </p:cNvPr>
            <p:cNvSpPr txBox="1"/>
            <p:nvPr/>
          </p:nvSpPr>
          <p:spPr>
            <a:xfrm>
              <a:off x="2242069" y="2218100"/>
              <a:ext cx="2206176" cy="15980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별표 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9(</a:t>
              </a:r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 평가 및 관리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 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5A623DC2-FA94-BA49-F6E8-E4AC7DB9DDB2}"/>
              </a:ext>
            </a:extLst>
          </p:cNvPr>
          <p:cNvSpPr txBox="1"/>
          <p:nvPr/>
        </p:nvSpPr>
        <p:spPr>
          <a:xfrm>
            <a:off x="2120359" y="2665864"/>
            <a:ext cx="2332370" cy="49500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latinLnBrk="0">
              <a:spcAft>
                <a:spcPts val="500"/>
              </a:spcAft>
            </a:pP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4.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중학교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고등학교 평가 방법</a:t>
            </a:r>
          </a:p>
          <a:p>
            <a:pPr indent="204788" latinLnBrk="0">
              <a:spcAft>
                <a:spcPts val="500"/>
              </a:spcAft>
            </a:pP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평가운영</a:t>
            </a:r>
            <a:endParaRPr lang="en-US" altLang="ko-KR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753D3C-E91A-72B6-0176-D11C0DC87706}"/>
              </a:ext>
            </a:extLst>
          </p:cNvPr>
          <p:cNvSpPr txBox="1"/>
          <p:nvPr/>
        </p:nvSpPr>
        <p:spPr>
          <a:xfrm>
            <a:off x="2120359" y="4709309"/>
            <a:ext cx="7497245" cy="179536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324000" indent="-324000" latinLnBrk="0">
              <a:spcAft>
                <a:spcPts val="7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중학교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고등학교 평가 방법</a:t>
            </a:r>
          </a:p>
          <a:p>
            <a:pPr marL="323850" indent="-23813" latinLnBrk="0">
              <a:spcAft>
                <a:spcPts val="700"/>
              </a:spcAft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평가운영</a:t>
            </a:r>
            <a:endParaRPr lang="en-US" altLang="ko-KR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35050" indent="-311150" latinLnBrk="0">
              <a:spcAft>
                <a:spcPts val="700"/>
              </a:spcAft>
            </a:pP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5)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수행평가에서 인공지능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(AI)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도구를 활용하는 경우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평가의 공정성 및 신뢰성이 훼손되지 않도록 주의하고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평가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시행 전 학생 유의사항을 충분히 안내한다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8224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02553-0EB3-B99B-1900-F1DC7880D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9138566-5D64-1A5D-EDCD-C388F893762B}"/>
              </a:ext>
            </a:extLst>
          </p:cNvPr>
          <p:cNvSpPr txBox="1"/>
          <p:nvPr/>
        </p:nvSpPr>
        <p:spPr>
          <a:xfrm>
            <a:off x="531148" y="2450916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AB72BD0-16C4-9A28-D5E2-199052AAE524}"/>
              </a:ext>
            </a:extLst>
          </p:cNvPr>
          <p:cNvGrpSpPr/>
          <p:nvPr/>
        </p:nvGrpSpPr>
        <p:grpSpPr>
          <a:xfrm>
            <a:off x="619102" y="3170105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5A20FE99-BCF3-C88E-85B8-AA420CB64E85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7BBD7D8-122B-C133-D3EE-2F9F22E7F177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신설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779A0E7-3907-CD1A-38B9-12ACA39191EF}"/>
              </a:ext>
            </a:extLst>
          </p:cNvPr>
          <p:cNvGrpSpPr/>
          <p:nvPr/>
        </p:nvGrpSpPr>
        <p:grpSpPr>
          <a:xfrm>
            <a:off x="1892229" y="2450916"/>
            <a:ext cx="8289258" cy="4648638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C9EC9E6D-20A4-D9DD-9289-FEDB693EA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09C936EA-07F5-4D17-6195-F1B6B6D25020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5B943385-1C7F-694C-3018-128EACE87B95}"/>
              </a:ext>
            </a:extLst>
          </p:cNvPr>
          <p:cNvGrpSpPr/>
          <p:nvPr/>
        </p:nvGrpSpPr>
        <p:grpSpPr>
          <a:xfrm>
            <a:off x="522288" y="518880"/>
            <a:ext cx="5726087" cy="677108"/>
            <a:chOff x="522288" y="518880"/>
            <a:chExt cx="5726087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7D61B9B-00AC-2068-10F7-BF11485EDCDA}"/>
                </a:ext>
              </a:extLst>
            </p:cNvPr>
            <p:cNvSpPr txBox="1"/>
            <p:nvPr/>
          </p:nvSpPr>
          <p:spPr>
            <a:xfrm>
              <a:off x="1923473" y="518880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 발달상황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CA408166-6517-F018-DF74-A9E0C17CE76F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21C35422-8A2B-6DEA-9E80-5D0622F87177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435FE10-04E9-BED1-5AC5-8F5AF0169884}"/>
                  </a:ext>
                </a:extLst>
              </p:cNvPr>
              <p:cNvSpPr txBox="1"/>
              <p:nvPr/>
            </p:nvSpPr>
            <p:spPr>
              <a:xfrm>
                <a:off x="730741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별표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9</a:t>
                </a:r>
                <a:endPara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5A4F0F9E-F2B0-6D06-FDA2-420A2D65D0F3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C1E3DB0-2DC8-232B-EB58-5C32322124D6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566B7C75-396E-3023-7CFC-5B75DAEFE7A5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6" name="사각형: 둥근 위쪽 모서리 35">
                <a:extLst>
                  <a:ext uri="{FF2B5EF4-FFF2-40B4-BE49-F238E27FC236}">
                    <a16:creationId xmlns:a16="http://schemas.microsoft.com/office/drawing/2014/main" id="{0F1735B7-AF84-BF77-FF68-F4993BDBBF63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3A756790-E841-8BE2-B57C-631BC979BDC0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6ACE316F-8F6B-BE79-3CE7-3D66BF3D688E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32" name="사각형: 둥근 위쪽 모서리 31">
                <a:extLst>
                  <a:ext uri="{FF2B5EF4-FFF2-40B4-BE49-F238E27FC236}">
                    <a16:creationId xmlns:a16="http://schemas.microsoft.com/office/drawing/2014/main" id="{788E07DD-D1BA-A1D3-9ED6-3A2CE303857D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4" name="사각형: 둥근 위쪽 모서리 33">
                <a:extLst>
                  <a:ext uri="{FF2B5EF4-FFF2-40B4-BE49-F238E27FC236}">
                    <a16:creationId xmlns:a16="http://schemas.microsoft.com/office/drawing/2014/main" id="{41A76140-BCFC-CBEE-E633-489543A0F1D8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6B52AC4-6833-3517-2126-B9113B24616A}"/>
                </a:ext>
              </a:extLst>
            </p:cNvPr>
            <p:cNvSpPr txBox="1"/>
            <p:nvPr/>
          </p:nvSpPr>
          <p:spPr>
            <a:xfrm>
              <a:off x="7320722" y="523614"/>
              <a:ext cx="86722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 별표</a:t>
              </a:r>
              <a:r>
                <a:rPr lang="en-US" altLang="ko-KR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9</a:t>
              </a:r>
              <a:endParaRPr lang="ko-KR" altLang="en-US" sz="1400" b="1" dirty="0">
                <a:ln>
                  <a:solidFill>
                    <a:srgbClr val="6BAEFF">
                      <a:alpha val="0"/>
                    </a:srgb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62CD5EA-44C1-CDA7-92EF-46DDF4625A82}"/>
                </a:ext>
              </a:extLst>
            </p:cNvPr>
            <p:cNvSpPr txBox="1"/>
            <p:nvPr/>
          </p:nvSpPr>
          <p:spPr>
            <a:xfrm>
              <a:off x="7416100" y="865098"/>
              <a:ext cx="676468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p.101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2E689224-AB19-6586-313A-4A4A2950BF80}"/>
              </a:ext>
            </a:extLst>
          </p:cNvPr>
          <p:cNvGrpSpPr/>
          <p:nvPr/>
        </p:nvGrpSpPr>
        <p:grpSpPr>
          <a:xfrm>
            <a:off x="522288" y="1454050"/>
            <a:ext cx="5296700" cy="450951"/>
            <a:chOff x="522288" y="1454050"/>
            <a:chExt cx="5296700" cy="45095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F856C6E-1F06-EC01-2065-8089F1F30D15}"/>
                </a:ext>
              </a:extLst>
            </p:cNvPr>
            <p:cNvSpPr txBox="1"/>
            <p:nvPr/>
          </p:nvSpPr>
          <p:spPr>
            <a:xfrm>
              <a:off x="1340198" y="1564200"/>
              <a:ext cx="4478790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수행평가에서 인공지능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(AI) 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도구 활용에 대한 지침 마련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82EE362B-DE9B-B539-9987-0F53D2E9854E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7" name="사각형: 둥근 위쪽 모서리 6">
                <a:extLst>
                  <a:ext uri="{FF2B5EF4-FFF2-40B4-BE49-F238E27FC236}">
                    <a16:creationId xmlns:a16="http://schemas.microsoft.com/office/drawing/2014/main" id="{CA5E27BE-E5FB-8C26-81C6-BDBD5CE480CA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E390BF78-BBF9-993B-5CB9-8DB633B54D67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22616C-2830-7E2C-CE28-7A289C2442C1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373EF91-4C3E-3429-4189-2768773C1077}"/>
              </a:ext>
            </a:extLst>
          </p:cNvPr>
          <p:cNvGrpSpPr/>
          <p:nvPr/>
        </p:nvGrpSpPr>
        <p:grpSpPr>
          <a:xfrm>
            <a:off x="2058811" y="2637172"/>
            <a:ext cx="3207294" cy="299049"/>
            <a:chOff x="2159040" y="2187092"/>
            <a:chExt cx="2349188" cy="221825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4651BDB5-4E1A-3B77-FC69-146466489026}"/>
                </a:ext>
              </a:extLst>
            </p:cNvPr>
            <p:cNvSpPr/>
            <p:nvPr/>
          </p:nvSpPr>
          <p:spPr>
            <a:xfrm>
              <a:off x="2159040" y="2187092"/>
              <a:ext cx="2349188" cy="221825"/>
            </a:xfrm>
            <a:prstGeom prst="roundRect">
              <a:avLst>
                <a:gd name="adj" fmla="val 50000"/>
              </a:avLst>
            </a:prstGeom>
            <a:solidFill>
              <a:srgbClr val="1D83FF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BDB1E98-0C2A-18CE-D5B1-C53BE1ACF214}"/>
                </a:ext>
              </a:extLst>
            </p:cNvPr>
            <p:cNvSpPr txBox="1"/>
            <p:nvPr/>
          </p:nvSpPr>
          <p:spPr>
            <a:xfrm>
              <a:off x="2242069" y="2218100"/>
              <a:ext cx="2206176" cy="15980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별표 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9(</a:t>
              </a:r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 평가 및 관리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 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E3DC123-85C1-4860-B05F-CC9EF3EDA89B}"/>
              </a:ext>
            </a:extLst>
          </p:cNvPr>
          <p:cNvSpPr txBox="1"/>
          <p:nvPr/>
        </p:nvSpPr>
        <p:spPr>
          <a:xfrm>
            <a:off x="2075170" y="3132559"/>
            <a:ext cx="7906991" cy="25186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198000" indent="-198000" latinLnBrk="0">
              <a:spcAft>
                <a:spcPts val="100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▪"/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인공지능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(AI)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는 맞춤형 피드백 제공 등을 위해 수업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평가에서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보조적으로 활용할 수 있으나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평가의 공정성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신뢰성을 훼손하지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않도록 유의해야 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198000" indent="-198000" latinLnBrk="0">
              <a:spcAft>
                <a:spcPts val="100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▪"/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교사가 직접 학생의 활동을 관찰할 수 있는 평가를 통해 학생의</a:t>
            </a:r>
            <a:b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독자적 사고에 따른 결과물이 평가에 반영될 수 있도록 </a:t>
            </a:r>
            <a:r>
              <a:rPr lang="ko-KR" altLang="en-US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해야한다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198000" indent="-198000" latinLnBrk="0">
              <a:spcAft>
                <a:spcPts val="1000"/>
              </a:spcAft>
              <a:buClr>
                <a:schemeClr val="tx1">
                  <a:lumMod val="85000"/>
                  <a:lumOff val="15000"/>
                </a:schemeClr>
              </a:buClr>
              <a:buFont typeface="Arial" panose="020B0604020202020204" pitchFamily="34" charset="0"/>
              <a:buChar char="▪"/>
            </a:pP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실제 평가 상황에서 인공지능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(AI)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활용이 금지되는 행위를 명확히 설정하고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관련 유의사항을 학생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학부모에게 사전 안내해야 한다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45900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273DF-5367-2A2D-EA17-63A923410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그룹 37">
            <a:extLst>
              <a:ext uri="{FF2B5EF4-FFF2-40B4-BE49-F238E27FC236}">
                <a16:creationId xmlns:a16="http://schemas.microsoft.com/office/drawing/2014/main" id="{44CA5292-5692-97B9-DA8C-891BD8CBB2C3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920EC0C7-A6DB-42F2-6708-55417C28D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2BB29C61-D737-447F-7F53-B4EF48C6F88A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E87F2992-E5BA-D8A5-ECAE-60FB36249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802513"/>
              </p:ext>
            </p:extLst>
          </p:nvPr>
        </p:nvGraphicFramePr>
        <p:xfrm>
          <a:off x="2120359" y="4910053"/>
          <a:ext cx="7803742" cy="646920"/>
        </p:xfrm>
        <a:graphic>
          <a:graphicData uri="http://schemas.openxmlformats.org/drawingml/2006/table">
            <a:tbl>
              <a:tblPr/>
              <a:tblGrid>
                <a:gridCol w="3901871">
                  <a:extLst>
                    <a:ext uri="{9D8B030D-6E8A-4147-A177-3AD203B41FA5}">
                      <a16:colId xmlns:a16="http://schemas.microsoft.com/office/drawing/2014/main" val="2997939085"/>
                    </a:ext>
                  </a:extLst>
                </a:gridCol>
                <a:gridCol w="3901871">
                  <a:extLst>
                    <a:ext uri="{9D8B030D-6E8A-4147-A177-3AD203B41FA5}">
                      <a16:colId xmlns:a16="http://schemas.microsoft.com/office/drawing/2014/main" val="3511806698"/>
                    </a:ext>
                  </a:extLst>
                </a:gridCol>
              </a:tblGrid>
              <a:tr h="70087"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성취율</a:t>
                      </a:r>
                      <a:r>
                        <a:rPr lang="en-US" altLang="ko-KR" sz="9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9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원점수</a:t>
                      </a:r>
                      <a:r>
                        <a:rPr lang="en-US" altLang="ko-KR" sz="9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18879"/>
                  </a:ext>
                </a:extLst>
              </a:tr>
              <a:tr h="63919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80% </a:t>
                      </a: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이상 </a:t>
                      </a:r>
                      <a:r>
                        <a:rPr lang="en-US" altLang="ko-KR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~ 100%</a:t>
                      </a:r>
                      <a:endParaRPr lang="ko-KR" altLang="en-US" sz="8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defTabSz="1043056" rtl="0" eaLnBrk="1" fontAlgn="base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A</a:t>
                      </a:r>
                      <a:endParaRPr lang="ko-KR" altLang="en-US" sz="8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222215"/>
                  </a:ext>
                </a:extLst>
              </a:tr>
              <a:tr h="63919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60% </a:t>
                      </a: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이상 </a:t>
                      </a:r>
                      <a:r>
                        <a:rPr lang="en-US" altLang="ko-KR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~ 80% </a:t>
                      </a: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미만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defTabSz="1043056" rtl="0" eaLnBrk="1" fontAlgn="base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B</a:t>
                      </a:r>
                      <a:endParaRPr lang="ko-KR" altLang="en-US" sz="8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254105"/>
                  </a:ext>
                </a:extLst>
              </a:tr>
              <a:tr h="63919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40% </a:t>
                      </a: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이상 </a:t>
                      </a:r>
                      <a:r>
                        <a:rPr lang="en-US" altLang="ko-KR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~ 60% </a:t>
                      </a: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미만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defTabSz="1043056" rtl="0" eaLnBrk="1" fontAlgn="base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</a:t>
                      </a:r>
                      <a:endParaRPr lang="ko-KR" altLang="en-US" sz="8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031671"/>
                  </a:ext>
                </a:extLst>
              </a:tr>
            </a:tbl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428DA090-2C7E-F522-ECFB-5BF69597C712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81286CA0-0FCF-EA61-46AB-86F290C37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14210F69-223C-27CB-5C1D-71CEFF4A52E7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6EACEC37-2AD3-144C-AE62-197A4945A8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544408"/>
              </p:ext>
            </p:extLst>
          </p:nvPr>
        </p:nvGraphicFramePr>
        <p:xfrm>
          <a:off x="2120359" y="2775561"/>
          <a:ext cx="7803742" cy="708720"/>
        </p:xfrm>
        <a:graphic>
          <a:graphicData uri="http://schemas.openxmlformats.org/drawingml/2006/table">
            <a:tbl>
              <a:tblPr/>
              <a:tblGrid>
                <a:gridCol w="3901871">
                  <a:extLst>
                    <a:ext uri="{9D8B030D-6E8A-4147-A177-3AD203B41FA5}">
                      <a16:colId xmlns:a16="http://schemas.microsoft.com/office/drawing/2014/main" val="2997939085"/>
                    </a:ext>
                  </a:extLst>
                </a:gridCol>
                <a:gridCol w="3901871">
                  <a:extLst>
                    <a:ext uri="{9D8B030D-6E8A-4147-A177-3AD203B41FA5}">
                      <a16:colId xmlns:a16="http://schemas.microsoft.com/office/drawing/2014/main" val="1947618731"/>
                    </a:ext>
                  </a:extLst>
                </a:gridCol>
              </a:tblGrid>
              <a:tr h="68028"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성취율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성취감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18879"/>
                  </a:ext>
                </a:extLst>
              </a:tr>
              <a:tr h="63275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90% </a:t>
                      </a:r>
                      <a:r>
                        <a:rPr lang="ko-KR" altLang="en-US" sz="6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이상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A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222215"/>
                  </a:ext>
                </a:extLst>
              </a:tr>
              <a:tr h="63275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80% </a:t>
                      </a:r>
                      <a:r>
                        <a:rPr lang="ko-KR" altLang="en-US" sz="6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이상 </a:t>
                      </a:r>
                      <a:r>
                        <a:rPr lang="en-US" altLang="ko-KR" sz="6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~ 90% </a:t>
                      </a:r>
                      <a:r>
                        <a:rPr lang="ko-KR" altLang="en-US" sz="6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미만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B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254105"/>
                  </a:ext>
                </a:extLst>
              </a:tr>
              <a:tr h="63275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70% </a:t>
                      </a:r>
                      <a:r>
                        <a:rPr lang="ko-KR" altLang="en-US" sz="6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이상 </a:t>
                      </a:r>
                      <a:r>
                        <a:rPr lang="en-US" altLang="ko-KR" sz="6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~ 80% </a:t>
                      </a:r>
                      <a:r>
                        <a:rPr lang="ko-KR" altLang="en-US" sz="6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미만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930460"/>
                  </a:ext>
                </a:extLst>
              </a:tr>
              <a:tr h="63275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60% </a:t>
                      </a:r>
                      <a:r>
                        <a:rPr lang="ko-KR" altLang="en-US" sz="6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이상 </a:t>
                      </a:r>
                      <a:r>
                        <a:rPr lang="en-US" altLang="ko-KR" sz="6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~ 70% </a:t>
                      </a:r>
                      <a:r>
                        <a:rPr lang="ko-KR" altLang="en-US" sz="6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미만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D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505930"/>
                  </a:ext>
                </a:extLst>
              </a:tr>
              <a:tr h="63275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40% </a:t>
                      </a:r>
                      <a:r>
                        <a:rPr lang="ko-KR" altLang="en-US" sz="6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이상 </a:t>
                      </a:r>
                      <a:r>
                        <a:rPr lang="en-US" altLang="ko-KR" sz="6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~ 60% </a:t>
                      </a:r>
                      <a:r>
                        <a:rPr lang="ko-KR" altLang="en-US" sz="6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미만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E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031671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6B409E2E-1DF4-DE78-D606-0F53179C1A24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1222A8E1-6312-E715-D643-A12890C5D681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41642D6-6970-A078-29B6-27D83A8EA84A}"/>
              </a:ext>
            </a:extLst>
          </p:cNvPr>
          <p:cNvGrpSpPr/>
          <p:nvPr/>
        </p:nvGrpSpPr>
        <p:grpSpPr>
          <a:xfrm>
            <a:off x="522288" y="518880"/>
            <a:ext cx="5726087" cy="677108"/>
            <a:chOff x="522288" y="518880"/>
            <a:chExt cx="5726087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51B105D-9B52-764C-EE52-2459810CE8C9}"/>
                </a:ext>
              </a:extLst>
            </p:cNvPr>
            <p:cNvSpPr txBox="1"/>
            <p:nvPr/>
          </p:nvSpPr>
          <p:spPr>
            <a:xfrm>
              <a:off x="1923473" y="518880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 발달상황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B94C46EC-DD9E-0F9A-7350-0B619BEF8D24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F73C81B6-0671-1277-626A-1C3DA6DEB49B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D7F975C-5360-1E02-2F81-6FA6F6FE8D8A}"/>
                  </a:ext>
                </a:extLst>
              </p:cNvPr>
              <p:cNvSpPr txBox="1"/>
              <p:nvPr/>
            </p:nvSpPr>
            <p:spPr>
              <a:xfrm>
                <a:off x="730741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별표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9</a:t>
                </a:r>
                <a:endPara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BF4BFC3-7385-A969-C1D3-2D0C87E96F28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E4CA810-0EC6-1C5C-C76A-E81CDE2C3BC7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B3862F2F-D960-50F1-01A2-99B85CC5BBE0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F5D99137-3F3E-6D74-89E1-D759EFD0553A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6" name="사각형: 둥근 위쪽 모서리 35">
                <a:extLst>
                  <a:ext uri="{FF2B5EF4-FFF2-40B4-BE49-F238E27FC236}">
                    <a16:creationId xmlns:a16="http://schemas.microsoft.com/office/drawing/2014/main" id="{1BE29255-E5E0-7FF5-0A6D-A47EF034A1CA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0AC01F8E-C3FD-8501-63D7-590C60020589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58F7EA24-8508-27FA-B77F-9DABD94D6BB5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32" name="사각형: 둥근 위쪽 모서리 31">
                <a:extLst>
                  <a:ext uri="{FF2B5EF4-FFF2-40B4-BE49-F238E27FC236}">
                    <a16:creationId xmlns:a16="http://schemas.microsoft.com/office/drawing/2014/main" id="{A8EE7255-9304-5229-962F-07FFF9F59E4A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4" name="사각형: 둥근 위쪽 모서리 33">
                <a:extLst>
                  <a:ext uri="{FF2B5EF4-FFF2-40B4-BE49-F238E27FC236}">
                    <a16:creationId xmlns:a16="http://schemas.microsoft.com/office/drawing/2014/main" id="{307CB170-42FC-D62A-A75C-D45146B06A60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DFC503F-2A0E-3FC9-D92F-A5AACD2B11B2}"/>
                </a:ext>
              </a:extLst>
            </p:cNvPr>
            <p:cNvSpPr txBox="1"/>
            <p:nvPr/>
          </p:nvSpPr>
          <p:spPr>
            <a:xfrm>
              <a:off x="7311905" y="523614"/>
              <a:ext cx="884859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 별표</a:t>
              </a:r>
              <a:r>
                <a:rPr lang="en-US" altLang="ko-KR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5E9A117-05BD-0870-E794-135C6184607D}"/>
                </a:ext>
              </a:extLst>
            </p:cNvPr>
            <p:cNvSpPr txBox="1"/>
            <p:nvPr/>
          </p:nvSpPr>
          <p:spPr>
            <a:xfrm>
              <a:off x="7416100" y="865098"/>
              <a:ext cx="676468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p.103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C0967B61-6000-DFAF-16CE-77845FBF1AA2}"/>
              </a:ext>
            </a:extLst>
          </p:cNvPr>
          <p:cNvGrpSpPr/>
          <p:nvPr/>
        </p:nvGrpSpPr>
        <p:grpSpPr>
          <a:xfrm>
            <a:off x="522288" y="1454050"/>
            <a:ext cx="5819279" cy="450951"/>
            <a:chOff x="522288" y="1454050"/>
            <a:chExt cx="5819279" cy="45095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7C9BB56-3296-A682-B336-9D624B55B83D}"/>
                </a:ext>
              </a:extLst>
            </p:cNvPr>
            <p:cNvSpPr txBox="1"/>
            <p:nvPr/>
          </p:nvSpPr>
          <p:spPr>
            <a:xfrm>
              <a:off x="1340198" y="1564200"/>
              <a:ext cx="5001369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2022 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개정 교육과정 일부 개정에 따른 성취도별 성취율 변경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F791A83-478F-C818-1CB4-4DA538217744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7" name="사각형: 둥근 위쪽 모서리 6">
                <a:extLst>
                  <a:ext uri="{FF2B5EF4-FFF2-40B4-BE49-F238E27FC236}">
                    <a16:creationId xmlns:a16="http://schemas.microsoft.com/office/drawing/2014/main" id="{F666918B-6B48-DDDC-F6C1-7F30F964291E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A1E17B1E-BE2B-A1D7-C97B-CD6D2C47927B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B5F1C4D-F1C6-4579-A48B-E5F20493B242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2A799DB-48BE-0B56-A021-5B92A5085E9E}"/>
              </a:ext>
            </a:extLst>
          </p:cNvPr>
          <p:cNvSpPr txBox="1"/>
          <p:nvPr/>
        </p:nvSpPr>
        <p:spPr>
          <a:xfrm>
            <a:off x="2120359" y="2593139"/>
            <a:ext cx="1500411" cy="13849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180000" indent="-277200" latinLnBrk="0"/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4.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중학교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고등학교 평가 방법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1E75EE-C91B-E704-8997-D361260D9009}"/>
              </a:ext>
            </a:extLst>
          </p:cNvPr>
          <p:cNvSpPr txBox="1"/>
          <p:nvPr/>
        </p:nvSpPr>
        <p:spPr>
          <a:xfrm>
            <a:off x="2090542" y="4563384"/>
            <a:ext cx="4576574" cy="3077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88000" indent="-417600" latinLnBrk="0"/>
            <a:r>
              <a:rPr lang="en-US" altLang="ko-KR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4. </a:t>
            </a:r>
            <a:r>
              <a:rPr lang="ko-KR" altLang="en-US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중학교</a:t>
            </a:r>
            <a:r>
              <a:rPr lang="en-US" altLang="ko-KR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고등학교 평가 방법</a:t>
            </a:r>
            <a:endParaRPr lang="en-US" altLang="ko-KR" sz="1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287338" indent="-153988" latinLnBrk="0"/>
            <a:r>
              <a:rPr lang="ko-KR" altLang="en-US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공통과목 </a:t>
            </a:r>
            <a:r>
              <a:rPr lang="en-US" altLang="ko-KR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과학탐구 실험</a:t>
            </a:r>
            <a:r>
              <a:rPr lang="en-US" altLang="ko-KR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ko-KR" altLang="en-US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성취도는 원점수에 따라 다음과 같이 평정한다</a:t>
            </a:r>
            <a:r>
              <a:rPr lang="en-US" altLang="ko-KR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77B407C-A451-C98E-32FD-C5BA96249F8F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10" name="자유형 31">
              <a:extLst>
                <a:ext uri="{FF2B5EF4-FFF2-40B4-BE49-F238E27FC236}">
                  <a16:creationId xmlns:a16="http://schemas.microsoft.com/office/drawing/2014/main" id="{D64531EC-9818-CDC3-88DF-3B6ED3E78108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1D54B72-8C34-9283-5339-9FFB5DE29D2B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2D91EA93-09A9-EADD-9BE9-27B133891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818004"/>
              </p:ext>
            </p:extLst>
          </p:nvPr>
        </p:nvGraphicFramePr>
        <p:xfrm>
          <a:off x="2120359" y="6058207"/>
          <a:ext cx="7803742" cy="746760"/>
        </p:xfrm>
        <a:graphic>
          <a:graphicData uri="http://schemas.openxmlformats.org/drawingml/2006/table">
            <a:tbl>
              <a:tblPr/>
              <a:tblGrid>
                <a:gridCol w="3901871">
                  <a:extLst>
                    <a:ext uri="{9D8B030D-6E8A-4147-A177-3AD203B41FA5}">
                      <a16:colId xmlns:a16="http://schemas.microsoft.com/office/drawing/2014/main" val="2997939085"/>
                    </a:ext>
                  </a:extLst>
                </a:gridCol>
                <a:gridCol w="3901871">
                  <a:extLst>
                    <a:ext uri="{9D8B030D-6E8A-4147-A177-3AD203B41FA5}">
                      <a16:colId xmlns:a16="http://schemas.microsoft.com/office/drawing/2014/main" val="35118066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63500" lvl="0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성취율</a:t>
                      </a:r>
                      <a:r>
                        <a:rPr lang="en-US" altLang="ko-KR" sz="9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9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원점수</a:t>
                      </a:r>
                      <a:r>
                        <a:rPr lang="en-US" altLang="ko-KR" sz="9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lvl="0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18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90% </a:t>
                      </a: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이상</a:t>
                      </a:r>
                    </a:p>
                  </a:txBody>
                  <a:tcPr marL="7200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defTabSz="1043056" rtl="0" eaLnBrk="1" fontAlgn="base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A</a:t>
                      </a:r>
                      <a:endParaRPr lang="ko-KR" altLang="en-US" sz="8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222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80% </a:t>
                      </a: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이상 </a:t>
                      </a:r>
                      <a:r>
                        <a:rPr lang="en-US" altLang="ko-KR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~ 90% </a:t>
                      </a: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미만</a:t>
                      </a:r>
                    </a:p>
                  </a:txBody>
                  <a:tcPr marL="7200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defTabSz="1043056" rtl="0" eaLnBrk="1" fontAlgn="base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B</a:t>
                      </a:r>
                      <a:endParaRPr lang="ko-KR" altLang="en-US" sz="8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254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70% </a:t>
                      </a: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이상 </a:t>
                      </a:r>
                      <a:r>
                        <a:rPr lang="en-US" altLang="ko-KR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~ 80% </a:t>
                      </a: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미만</a:t>
                      </a:r>
                    </a:p>
                  </a:txBody>
                  <a:tcPr marL="7200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defTabSz="1043056" rtl="0" eaLnBrk="1" fontAlgn="base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</a:t>
                      </a:r>
                      <a:endParaRPr lang="ko-KR" altLang="en-US" sz="8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962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60% </a:t>
                      </a: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이상 </a:t>
                      </a:r>
                      <a:r>
                        <a:rPr lang="en-US" altLang="ko-KR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~ 70% </a:t>
                      </a: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미만</a:t>
                      </a:r>
                    </a:p>
                  </a:txBody>
                  <a:tcPr marL="7200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defTabSz="1043056" rtl="0" eaLnBrk="1" fontAlgn="base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D</a:t>
                      </a:r>
                      <a:endParaRPr lang="ko-KR" altLang="en-US" sz="8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140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60% </a:t>
                      </a: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미만</a:t>
                      </a:r>
                    </a:p>
                  </a:txBody>
                  <a:tcPr marL="7200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defTabSz="1043056" rtl="0" eaLnBrk="1" fontAlgn="base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E</a:t>
                      </a:r>
                      <a:endParaRPr lang="ko-KR" altLang="en-US" sz="8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03167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FF50EF80-8FB3-30A3-E0FB-1F128BBE6AE5}"/>
              </a:ext>
            </a:extLst>
          </p:cNvPr>
          <p:cNvSpPr txBox="1"/>
          <p:nvPr/>
        </p:nvSpPr>
        <p:spPr>
          <a:xfrm>
            <a:off x="2090542" y="5811286"/>
            <a:ext cx="7833559" cy="15388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338138" indent="-204788" latinLnBrk="0"/>
            <a:r>
              <a:rPr lang="ko-KR" altLang="en-US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</a:t>
            </a:r>
            <a:r>
              <a:rPr lang="en-US" altLang="ko-KR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선택과목의 성취도는 </a:t>
            </a:r>
            <a:r>
              <a:rPr lang="ko-KR" altLang="en-US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성취율에 따라 다음과 같이 평정한다</a:t>
            </a:r>
            <a:r>
              <a:rPr lang="en-US" altLang="ko-KR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D05765-8353-D8A6-C393-F83606911C99}"/>
              </a:ext>
            </a:extLst>
          </p:cNvPr>
          <p:cNvSpPr txBox="1"/>
          <p:nvPr/>
        </p:nvSpPr>
        <p:spPr>
          <a:xfrm>
            <a:off x="2090542" y="5599723"/>
            <a:ext cx="4413068" cy="15388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87338" indent="-153988" latinLnBrk="0"/>
            <a:r>
              <a:rPr lang="ko-KR" altLang="en-US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성취율</a:t>
            </a:r>
            <a:r>
              <a:rPr lang="en-US" altLang="ko-KR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40% </a:t>
            </a:r>
            <a:r>
              <a:rPr lang="ko-KR" altLang="en-US" sz="10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미도달자</a:t>
            </a:r>
            <a:r>
              <a:rPr lang="ko-KR" altLang="en-US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중 최소 성취수준 보장지도 이수 시 성취도 </a:t>
            </a:r>
            <a:r>
              <a:rPr lang="en-US" altLang="ko-KR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‘C’ </a:t>
            </a:r>
            <a:r>
              <a:rPr lang="ko-KR" altLang="en-US" sz="1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부여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FAE45B-B83E-0953-A471-7C50F7AA6349}"/>
              </a:ext>
            </a:extLst>
          </p:cNvPr>
          <p:cNvSpPr txBox="1"/>
          <p:nvPr/>
        </p:nvSpPr>
        <p:spPr>
          <a:xfrm>
            <a:off x="2120359" y="3536634"/>
            <a:ext cx="4007507" cy="13849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179388" indent="-46038" latinLnBrk="0"/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성취율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40% </a:t>
            </a:r>
            <a:r>
              <a:rPr lang="ko-KR" altLang="en-US" sz="9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미도달자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중 최소 성취수준 보장지도 이수 시 성취도 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‘E’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부여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CCAE92B-B6C1-D4AD-130E-020D3728BDCF}"/>
              </a:ext>
            </a:extLst>
          </p:cNvPr>
          <p:cNvGrpSpPr/>
          <p:nvPr/>
        </p:nvGrpSpPr>
        <p:grpSpPr>
          <a:xfrm>
            <a:off x="2038167" y="4251185"/>
            <a:ext cx="2362248" cy="247148"/>
            <a:chOff x="2120356" y="4314983"/>
            <a:chExt cx="2362248" cy="299049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E8E57761-47F4-89E7-609F-778D7B106D35}"/>
                </a:ext>
              </a:extLst>
            </p:cNvPr>
            <p:cNvSpPr/>
            <p:nvPr/>
          </p:nvSpPr>
          <p:spPr>
            <a:xfrm>
              <a:off x="2120356" y="4314983"/>
              <a:ext cx="2362248" cy="299049"/>
            </a:xfrm>
            <a:prstGeom prst="roundRect">
              <a:avLst>
                <a:gd name="adj" fmla="val 50000"/>
              </a:avLst>
            </a:prstGeom>
            <a:solidFill>
              <a:srgbClr val="1D83FF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657E462-D239-0402-E18B-466BED59E055}"/>
                </a:ext>
              </a:extLst>
            </p:cNvPr>
            <p:cNvSpPr txBox="1"/>
            <p:nvPr/>
          </p:nvSpPr>
          <p:spPr>
            <a:xfrm>
              <a:off x="2218487" y="4366750"/>
              <a:ext cx="2221762" cy="19551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fontAlgn="base"/>
              <a:r>
                <a:rPr lang="ko-KR" altLang="en-US" sz="105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별표 </a:t>
              </a:r>
              <a:r>
                <a:rPr lang="en-US" altLang="ko-KR" sz="105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9(</a:t>
              </a:r>
              <a:r>
                <a:rPr lang="ko-KR" altLang="en-US" sz="105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 평가 및 관리</a:t>
              </a:r>
              <a:r>
                <a:rPr lang="en-US" altLang="ko-KR" sz="105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 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4AB45ADA-0C17-168E-F3A0-43DF17BC4063}"/>
              </a:ext>
            </a:extLst>
          </p:cNvPr>
          <p:cNvGrpSpPr/>
          <p:nvPr/>
        </p:nvGrpSpPr>
        <p:grpSpPr>
          <a:xfrm>
            <a:off x="2038167" y="2319267"/>
            <a:ext cx="2251616" cy="227590"/>
            <a:chOff x="2159041" y="2172831"/>
            <a:chExt cx="2251616" cy="250349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B6E20461-F0B8-DCFC-AF7C-E795F82A3C82}"/>
                </a:ext>
              </a:extLst>
            </p:cNvPr>
            <p:cNvSpPr/>
            <p:nvPr/>
          </p:nvSpPr>
          <p:spPr>
            <a:xfrm>
              <a:off x="2159041" y="2172831"/>
              <a:ext cx="2251616" cy="2503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57AEAE2-55A5-499C-C754-7DB75B041286}"/>
                </a:ext>
              </a:extLst>
            </p:cNvPr>
            <p:cNvSpPr txBox="1"/>
            <p:nvPr/>
          </p:nvSpPr>
          <p:spPr>
            <a:xfrm>
              <a:off x="2251727" y="2213366"/>
              <a:ext cx="2080698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10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별표 </a:t>
              </a:r>
              <a:r>
                <a:rPr lang="en-US" altLang="ko-KR" sz="10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9(</a:t>
              </a:r>
              <a:r>
                <a:rPr lang="ko-KR" altLang="en-US" sz="10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 평가 및 관리</a:t>
              </a:r>
              <a:r>
                <a:rPr lang="en-US" altLang="ko-KR" sz="10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80372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7D0E0-2CCB-7197-811E-E7E43B42C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2D10ECCB-10F2-EDF0-CE63-176C3DD63858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EB450CB0-ABF1-2A3E-C23C-A3315DBACB9B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4E3D11C-F2E5-F0BF-51B4-8FBBF1B86BD7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DC1C832D-3514-066C-D39C-77C74B3DC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CE52AF94-A77A-B66E-7CE8-2F5EC6D68234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449906F-75E7-D981-5AFB-5080FE578CE1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4B49D9F9-66E6-E1A3-3829-EFF43411D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F813ACD1-ACA2-F302-CF23-6B543515AC87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B3DA9840-80DE-5DF8-FAAD-6BD0C6266EE3}"/>
              </a:ext>
            </a:extLst>
          </p:cNvPr>
          <p:cNvGrpSpPr/>
          <p:nvPr/>
        </p:nvGrpSpPr>
        <p:grpSpPr>
          <a:xfrm>
            <a:off x="522288" y="518880"/>
            <a:ext cx="5726087" cy="677108"/>
            <a:chOff x="522288" y="518880"/>
            <a:chExt cx="5726087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B8F7B72-A9AC-3A6B-7BC0-3A9898C8E2CB}"/>
                </a:ext>
              </a:extLst>
            </p:cNvPr>
            <p:cNvSpPr txBox="1"/>
            <p:nvPr/>
          </p:nvSpPr>
          <p:spPr>
            <a:xfrm>
              <a:off x="1923473" y="518880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 발달상황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E731C0CA-9B91-4F0B-4FB9-55CB61B25ADB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1B42E8FF-E7DB-1DBC-D55A-B1B7244D1D02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0AFFF0D-D791-FCDA-6080-37E21CCE27EC}"/>
                  </a:ext>
                </a:extLst>
              </p:cNvPr>
              <p:cNvSpPr txBox="1"/>
              <p:nvPr/>
            </p:nvSpPr>
            <p:spPr>
              <a:xfrm>
                <a:off x="730741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별표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9</a:t>
                </a:r>
                <a:endPara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5355E4D-9F6A-B1F0-9568-C64273970484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CFF3EDE-9491-AD6E-A977-1AB49663897C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6896790" y="461709"/>
            <a:chExt cx="1715089" cy="734279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EB2A0EBE-834F-7E6D-F756-3DA7D4995D29}"/>
                </a:ext>
              </a:extLst>
            </p:cNvPr>
            <p:cNvGrpSpPr/>
            <p:nvPr/>
          </p:nvGrpSpPr>
          <p:grpSpPr>
            <a:xfrm>
              <a:off x="7085741" y="461709"/>
              <a:ext cx="1337186" cy="313811"/>
              <a:chOff x="7139516" y="461709"/>
              <a:chExt cx="1720348" cy="313811"/>
            </a:xfrm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74E3965A-A55A-E3FB-F376-731DF002DC0A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6" name="사각형: 둥근 위쪽 모서리 35">
                <a:extLst>
                  <a:ext uri="{FF2B5EF4-FFF2-40B4-BE49-F238E27FC236}">
                    <a16:creationId xmlns:a16="http://schemas.microsoft.com/office/drawing/2014/main" id="{40853900-9392-3611-873C-125F04BF011D}"/>
                  </a:ext>
                </a:extLst>
              </p:cNvPr>
              <p:cNvSpPr/>
              <p:nvPr/>
            </p:nvSpPr>
            <p:spPr>
              <a:xfrm>
                <a:off x="7139516" y="461709"/>
                <a:ext cx="1720348" cy="3138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1D1C9202-F1B1-F2DB-B839-67C25F449D38}"/>
                </a:ext>
              </a:extLst>
            </p:cNvPr>
            <p:cNvSpPr/>
            <p:nvPr/>
          </p:nvSpPr>
          <p:spPr>
            <a:xfrm>
              <a:off x="689679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BF068B6D-86A5-FA25-6B4D-E3F5543867C8}"/>
                </a:ext>
              </a:extLst>
            </p:cNvPr>
            <p:cNvGrpSpPr/>
            <p:nvPr/>
          </p:nvGrpSpPr>
          <p:grpSpPr>
            <a:xfrm>
              <a:off x="7164321" y="461709"/>
              <a:ext cx="1180026" cy="339255"/>
              <a:chOff x="7218096" y="461709"/>
              <a:chExt cx="1563188" cy="339255"/>
            </a:xfrm>
          </p:grpSpPr>
          <p:sp>
            <p:nvSpPr>
              <p:cNvPr id="32" name="사각형: 둥근 위쪽 모서리 31">
                <a:extLst>
                  <a:ext uri="{FF2B5EF4-FFF2-40B4-BE49-F238E27FC236}">
                    <a16:creationId xmlns:a16="http://schemas.microsoft.com/office/drawing/2014/main" id="{CEA3B288-B85D-BF1C-39E5-CCE365379FD1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4" name="사각형: 둥근 위쪽 모서리 33">
                <a:extLst>
                  <a:ext uri="{FF2B5EF4-FFF2-40B4-BE49-F238E27FC236}">
                    <a16:creationId xmlns:a16="http://schemas.microsoft.com/office/drawing/2014/main" id="{68C9CDED-1013-2CC4-8257-8049F952AAA7}"/>
                  </a:ext>
                </a:extLst>
              </p:cNvPr>
              <p:cNvSpPr/>
              <p:nvPr/>
            </p:nvSpPr>
            <p:spPr>
              <a:xfrm>
                <a:off x="7218096" y="461709"/>
                <a:ext cx="1563188" cy="339255"/>
              </a:xfrm>
              <a:prstGeom prst="round2SameRect">
                <a:avLst>
                  <a:gd name="adj1" fmla="val 20754"/>
                  <a:gd name="adj2" fmla="val 50000"/>
                </a:avLst>
              </a:prstGeom>
              <a:gradFill>
                <a:gsLst>
                  <a:gs pos="47000">
                    <a:schemeClr val="bg1">
                      <a:alpha val="0"/>
                    </a:schemeClr>
                  </a:gs>
                  <a:gs pos="100000">
                    <a:schemeClr val="bg1">
                      <a:alpha val="34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73949" tIns="36974" rIns="73949" bIns="3697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6847" latinLnBrk="0"/>
                <a:endParaRPr lang="ko-KR" altLang="en-US" sz="16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E19CC3C-8C4B-5EFE-8C6F-C350DA4A291B}"/>
                </a:ext>
              </a:extLst>
            </p:cNvPr>
            <p:cNvSpPr txBox="1"/>
            <p:nvPr/>
          </p:nvSpPr>
          <p:spPr>
            <a:xfrm>
              <a:off x="7311905" y="523614"/>
              <a:ext cx="884859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훈령 별표</a:t>
              </a:r>
              <a:r>
                <a:rPr lang="en-US" altLang="ko-KR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DFAEB2B-7E4D-86B9-AD05-66DB293DC8C0}"/>
                </a:ext>
              </a:extLst>
            </p:cNvPr>
            <p:cNvSpPr txBox="1"/>
            <p:nvPr/>
          </p:nvSpPr>
          <p:spPr>
            <a:xfrm>
              <a:off x="7416100" y="865098"/>
              <a:ext cx="676468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p.103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E531E67E-2854-A191-38BD-B14B15C10199}"/>
              </a:ext>
            </a:extLst>
          </p:cNvPr>
          <p:cNvGrpSpPr/>
          <p:nvPr/>
        </p:nvGrpSpPr>
        <p:grpSpPr>
          <a:xfrm>
            <a:off x="522288" y="1454050"/>
            <a:ext cx="5819279" cy="450951"/>
            <a:chOff x="522288" y="1454050"/>
            <a:chExt cx="5819279" cy="45095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16D73E7-814E-64E5-0811-4D11D7F90296}"/>
                </a:ext>
              </a:extLst>
            </p:cNvPr>
            <p:cNvSpPr txBox="1"/>
            <p:nvPr/>
          </p:nvSpPr>
          <p:spPr>
            <a:xfrm>
              <a:off x="1340198" y="1564200"/>
              <a:ext cx="5001369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2022 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개정 교육과정 일부 개정에 따른 성취도별 성취율 변경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92C0EE5A-DF48-A279-3E4A-ABF674422737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7" name="사각형: 둥근 위쪽 모서리 6">
                <a:extLst>
                  <a:ext uri="{FF2B5EF4-FFF2-40B4-BE49-F238E27FC236}">
                    <a16:creationId xmlns:a16="http://schemas.microsoft.com/office/drawing/2014/main" id="{F65F1A88-D90A-3A30-8D49-C887A8F4BB44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7D7E2ABF-F3CE-8993-6EA4-13BC722B39C3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5D90EC7-4B9D-580A-FBB3-B63ECFE73FCF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948EF90-D117-23E9-0A06-68A6AC2885F1}"/>
              </a:ext>
            </a:extLst>
          </p:cNvPr>
          <p:cNvSpPr txBox="1"/>
          <p:nvPr/>
        </p:nvSpPr>
        <p:spPr>
          <a:xfrm>
            <a:off x="2120359" y="2590713"/>
            <a:ext cx="7803743" cy="41549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128588" indent="-225425" latinLnBrk="0"/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4.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중학교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고등학교 평가 방법</a:t>
            </a:r>
            <a:b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또한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보통 교과 공통 과목의 과학탐구 실험 및 체육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예술 교과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군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과목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특수 목적 고등학교 선택 과목 제외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성취도는 원점수에 따라 다음과 같이 평정한다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9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D58EDE-C3AC-8199-EDA8-B831F46FFBD9}"/>
              </a:ext>
            </a:extLst>
          </p:cNvPr>
          <p:cNvSpPr txBox="1"/>
          <p:nvPr/>
        </p:nvSpPr>
        <p:spPr>
          <a:xfrm>
            <a:off x="2090542" y="4592026"/>
            <a:ext cx="7833559" cy="6463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288000" indent="-417600" latinLnBrk="0"/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4.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중학교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고등학교 평가 방법</a:t>
            </a:r>
            <a:endParaRPr lang="en-US" altLang="ko-KR" sz="14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79425" indent="-280988" latinLnBrk="0"/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라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체육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예술 교과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군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과목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특수목적고등학교 체육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예술 교과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군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선택과목은 해당하지 않음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성취도는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원점수에 따라 다음과 같이 평정한다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C7023EB-6A9D-B9A2-FFF9-E7FEAD1FEFA6}"/>
              </a:ext>
            </a:extLst>
          </p:cNvPr>
          <p:cNvGrpSpPr/>
          <p:nvPr/>
        </p:nvGrpSpPr>
        <p:grpSpPr>
          <a:xfrm>
            <a:off x="514422" y="4824464"/>
            <a:ext cx="1154042" cy="680400"/>
            <a:chOff x="514422" y="4824464"/>
            <a:chExt cx="1154042" cy="680400"/>
          </a:xfrm>
        </p:grpSpPr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F7193093-42C9-9908-A086-8DC2543F9BA8}"/>
                </a:ext>
              </a:extLst>
            </p:cNvPr>
            <p:cNvSpPr/>
            <p:nvPr/>
          </p:nvSpPr>
          <p:spPr>
            <a:xfrm>
              <a:off x="514422" y="4824464"/>
              <a:ext cx="1154042" cy="680400"/>
            </a:xfrm>
            <a:prstGeom prst="roundRect">
              <a:avLst>
                <a:gd name="adj" fmla="val 29266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25E6F5D-585A-4D38-9F29-253971B57E16}"/>
                </a:ext>
              </a:extLst>
            </p:cNvPr>
            <p:cNvSpPr txBox="1"/>
            <p:nvPr/>
          </p:nvSpPr>
          <p:spPr>
            <a:xfrm>
              <a:off x="704318" y="4887665"/>
              <a:ext cx="774251" cy="553998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  <a:r>
                <a:rPr lang="en-US" altLang="ko-KR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</a:t>
              </a: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및</a:t>
              </a:r>
              <a:endParaRPr lang="en-US" altLang="ko-KR" sz="1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신설</a:t>
              </a:r>
            </a:p>
          </p:txBody>
        </p:sp>
      </p:grp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946D114-50BB-1922-DDC3-45E93E7C2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028707"/>
              </p:ext>
            </p:extLst>
          </p:nvPr>
        </p:nvGraphicFramePr>
        <p:xfrm>
          <a:off x="2120359" y="3052088"/>
          <a:ext cx="7803742" cy="457200"/>
        </p:xfrm>
        <a:graphic>
          <a:graphicData uri="http://schemas.openxmlformats.org/drawingml/2006/table">
            <a:tbl>
              <a:tblPr/>
              <a:tblGrid>
                <a:gridCol w="3901871">
                  <a:extLst>
                    <a:ext uri="{9D8B030D-6E8A-4147-A177-3AD203B41FA5}">
                      <a16:colId xmlns:a16="http://schemas.microsoft.com/office/drawing/2014/main" val="2997939085"/>
                    </a:ext>
                  </a:extLst>
                </a:gridCol>
                <a:gridCol w="3901871">
                  <a:extLst>
                    <a:ext uri="{9D8B030D-6E8A-4147-A177-3AD203B41FA5}">
                      <a16:colId xmlns:a16="http://schemas.microsoft.com/office/drawing/2014/main" val="19476187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성취율</a:t>
                      </a:r>
                      <a:r>
                        <a:rPr lang="en-US" altLang="ko-KR" sz="9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9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원점수</a:t>
                      </a:r>
                      <a:r>
                        <a:rPr lang="en-US" altLang="ko-KR" sz="9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18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80% </a:t>
                      </a: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이상 </a:t>
                      </a:r>
                      <a:r>
                        <a:rPr lang="en-US" altLang="ko-KR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~ 100%</a:t>
                      </a:r>
                      <a:endParaRPr lang="ko-KR" altLang="en-US" sz="7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7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A</a:t>
                      </a:r>
                      <a:endParaRPr lang="ko-KR" altLang="en-US" sz="7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222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60% </a:t>
                      </a: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이상 </a:t>
                      </a:r>
                      <a:r>
                        <a:rPr lang="en-US" altLang="ko-KR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~ 80% </a:t>
                      </a: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미만</a:t>
                      </a:r>
                    </a:p>
                  </a:txBody>
                  <a:tcPr marL="7200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7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B</a:t>
                      </a:r>
                      <a:endParaRPr lang="ko-KR" altLang="en-US" sz="7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505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40% </a:t>
                      </a: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이상 </a:t>
                      </a:r>
                      <a:r>
                        <a:rPr lang="en-US" altLang="ko-KR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~ 60% </a:t>
                      </a: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미만</a:t>
                      </a:r>
                    </a:p>
                  </a:txBody>
                  <a:tcPr marL="7200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7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</a:t>
                      </a:r>
                      <a:endParaRPr lang="ko-KR" altLang="en-US" sz="7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03167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A8E96CE-7E03-A6F7-DCC4-8C176E1CD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695597"/>
              </p:ext>
            </p:extLst>
          </p:nvPr>
        </p:nvGraphicFramePr>
        <p:xfrm>
          <a:off x="2120359" y="5302755"/>
          <a:ext cx="7803742" cy="935700"/>
        </p:xfrm>
        <a:graphic>
          <a:graphicData uri="http://schemas.openxmlformats.org/drawingml/2006/table">
            <a:tbl>
              <a:tblPr/>
              <a:tblGrid>
                <a:gridCol w="3901871">
                  <a:extLst>
                    <a:ext uri="{9D8B030D-6E8A-4147-A177-3AD203B41FA5}">
                      <a16:colId xmlns:a16="http://schemas.microsoft.com/office/drawing/2014/main" val="2997939085"/>
                    </a:ext>
                  </a:extLst>
                </a:gridCol>
                <a:gridCol w="3901871">
                  <a:extLst>
                    <a:ext uri="{9D8B030D-6E8A-4147-A177-3AD203B41FA5}">
                      <a16:colId xmlns:a16="http://schemas.microsoft.com/office/drawing/2014/main" val="35118066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성취율</a:t>
                      </a: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1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원점수</a:t>
                      </a: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11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18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80% </a:t>
                      </a:r>
                      <a:r>
                        <a:rPr lang="ko-KR" altLang="en-US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이상 </a:t>
                      </a:r>
                      <a:r>
                        <a:rPr lang="en-US" altLang="ko-KR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~ 100%</a:t>
                      </a:r>
                      <a:endParaRPr lang="ko-KR" altLang="en-US" sz="105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defTabSz="1043056" rtl="0" eaLnBrk="1" fontAlgn="base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A</a:t>
                      </a:r>
                      <a:endParaRPr lang="ko-KR" altLang="en-US" sz="105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222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60% </a:t>
                      </a:r>
                      <a:r>
                        <a:rPr lang="ko-KR" altLang="en-US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이상 </a:t>
                      </a:r>
                      <a:r>
                        <a:rPr lang="en-US" altLang="ko-KR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~ 80% </a:t>
                      </a:r>
                      <a:r>
                        <a:rPr lang="ko-KR" altLang="en-US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미만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defTabSz="1043056" rtl="0" eaLnBrk="1" fontAlgn="base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B</a:t>
                      </a:r>
                      <a:endParaRPr lang="ko-KR" altLang="en-US" sz="105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254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60% </a:t>
                      </a:r>
                      <a:r>
                        <a:rPr lang="ko-KR" altLang="en-US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미만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defTabSz="1043056" rtl="0" eaLnBrk="1" fontAlgn="base" latinLnBrk="1" hangingPunct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</a:t>
                      </a:r>
                      <a:endParaRPr lang="ko-KR" altLang="en-US" sz="105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03167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CA5493F-3BC9-B771-4F51-1460FBF81176}"/>
              </a:ext>
            </a:extLst>
          </p:cNvPr>
          <p:cNvSpPr txBox="1"/>
          <p:nvPr/>
        </p:nvSpPr>
        <p:spPr>
          <a:xfrm>
            <a:off x="2090542" y="6309077"/>
            <a:ext cx="7833559" cy="4308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479425" indent="-280988" latinLnBrk="0"/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마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14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미이수한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과목을 공동교육과정 또는 온라인학교를 통해 </a:t>
            </a:r>
            <a:r>
              <a:rPr lang="ko-KR" altLang="en-US" sz="14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재이수한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경우 최하위 성취도를 부여한다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5995B4-809A-6A90-7A6A-A018D795439A}"/>
              </a:ext>
            </a:extLst>
          </p:cNvPr>
          <p:cNvSpPr txBox="1"/>
          <p:nvPr/>
        </p:nvSpPr>
        <p:spPr>
          <a:xfrm>
            <a:off x="2120359" y="3567425"/>
            <a:ext cx="4021935" cy="13849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179388" indent="-46038" latinLnBrk="0"/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성취율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40% </a:t>
            </a:r>
            <a:r>
              <a:rPr lang="ko-KR" altLang="en-US" sz="9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미도달자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중 최소 성취수준 보장지도 이수 시 성취도 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‘C’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부여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43B1257-9354-ECAA-3E08-86DED82635C3}"/>
              </a:ext>
            </a:extLst>
          </p:cNvPr>
          <p:cNvGrpSpPr/>
          <p:nvPr/>
        </p:nvGrpSpPr>
        <p:grpSpPr>
          <a:xfrm>
            <a:off x="2038162" y="4230078"/>
            <a:ext cx="3273577" cy="299049"/>
            <a:chOff x="2120355" y="4314983"/>
            <a:chExt cx="3146969" cy="299049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4BA9AE13-0914-C8A3-72C4-84BC542352E1}"/>
                </a:ext>
              </a:extLst>
            </p:cNvPr>
            <p:cNvSpPr/>
            <p:nvPr/>
          </p:nvSpPr>
          <p:spPr>
            <a:xfrm>
              <a:off x="2120355" y="4314983"/>
              <a:ext cx="3146969" cy="299049"/>
            </a:xfrm>
            <a:prstGeom prst="roundRect">
              <a:avLst>
                <a:gd name="adj" fmla="val 50000"/>
              </a:avLst>
            </a:prstGeom>
            <a:solidFill>
              <a:srgbClr val="1D83FF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7D78C83-4A41-F889-794F-3C1C8A1D6B8E}"/>
                </a:ext>
              </a:extLst>
            </p:cNvPr>
            <p:cNvSpPr txBox="1"/>
            <p:nvPr/>
          </p:nvSpPr>
          <p:spPr>
            <a:xfrm>
              <a:off x="2276734" y="4356786"/>
              <a:ext cx="2895549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fontAlgn="base"/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별표 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9(</a:t>
              </a:r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 평가 및 관리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 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BE7E114-53F7-F14E-CA46-492867A842BC}"/>
              </a:ext>
            </a:extLst>
          </p:cNvPr>
          <p:cNvGrpSpPr/>
          <p:nvPr/>
        </p:nvGrpSpPr>
        <p:grpSpPr>
          <a:xfrm>
            <a:off x="2038167" y="2319267"/>
            <a:ext cx="2251616" cy="227590"/>
            <a:chOff x="2159041" y="2172831"/>
            <a:chExt cx="2251616" cy="250349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60ECF355-7B87-9B3B-EA4B-EE07A94BF8CA}"/>
                </a:ext>
              </a:extLst>
            </p:cNvPr>
            <p:cNvSpPr/>
            <p:nvPr/>
          </p:nvSpPr>
          <p:spPr>
            <a:xfrm>
              <a:off x="2159041" y="2172831"/>
              <a:ext cx="2251616" cy="2503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E93A017-77E5-9DE1-5FF8-1B652AB6D464}"/>
                </a:ext>
              </a:extLst>
            </p:cNvPr>
            <p:cNvSpPr txBox="1"/>
            <p:nvPr/>
          </p:nvSpPr>
          <p:spPr>
            <a:xfrm>
              <a:off x="2251727" y="2213366"/>
              <a:ext cx="2080698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10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별표 </a:t>
              </a:r>
              <a:r>
                <a:rPr lang="en-US" altLang="ko-KR" sz="10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9(</a:t>
              </a:r>
              <a:r>
                <a:rPr lang="ko-KR" altLang="en-US" sz="10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 평가 및 관리</a:t>
              </a:r>
              <a:r>
                <a:rPr lang="en-US" altLang="ko-KR" sz="10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66356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28195-094D-7EED-6185-46178F815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B0CAC12D-B401-BF15-6EA7-5803F2C68240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2F7140D-6688-295D-19A4-C751239D10EE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F489AA02-CCB5-AC4A-EDA1-96156274C5E8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141B42E-C600-EA2F-A082-CE245F9F60CC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97451B9E-1EA2-F6C4-2A09-B58E97778499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84D8743-AE98-B238-2555-6ABC4CA2AD93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6E3B6D4A-29E2-AF4E-7AF8-9E2E4DB6B1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26EC6DBA-8874-6508-87AC-458F6344A652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8611884A-8F47-B003-D3FB-CB9327617DEA}"/>
              </a:ext>
            </a:extLst>
          </p:cNvPr>
          <p:cNvSpPr txBox="1"/>
          <p:nvPr/>
        </p:nvSpPr>
        <p:spPr>
          <a:xfrm>
            <a:off x="2090542" y="4383482"/>
            <a:ext cx="7833560" cy="9694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238125" indent="-476250" latinLnBrk="0"/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▪ 학업성적관리위원회 심의내용 중 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학교생활기록부의 기재방법     </a:t>
            </a:r>
            <a:endParaRPr lang="en-US" altLang="ko-KR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238125" indent="-476250" latinLnBrk="0"/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및 기재내용 등에 관한 사항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예로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출결 특기사항 기재 관련</a:t>
            </a:r>
            <a:endParaRPr lang="en-US" altLang="ko-KR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238125" indent="-476250" latinLnBrk="0"/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사항</a:t>
            </a:r>
            <a:r>
              <a:rPr lang="ko-KR" altLang="en-US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등이 있다</a:t>
            </a:r>
            <a:r>
              <a:rPr lang="en-US" altLang="ko-KR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512A4B8-3F64-314F-E7FE-F8325DB2C2EF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5AE06146-6953-DC16-FD6E-A6B725B2C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A9C8E21C-C3E0-0FDD-AD8C-4F2DAC046BDE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0386E269-5324-33C0-B307-0AB16BC64864}"/>
              </a:ext>
            </a:extLst>
          </p:cNvPr>
          <p:cNvSpPr txBox="1"/>
          <p:nvPr/>
        </p:nvSpPr>
        <p:spPr>
          <a:xfrm>
            <a:off x="2120359" y="2431322"/>
            <a:ext cx="7803743" cy="6463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276225" indent="-276225" latinLnBrk="0"/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라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학업성적관리위원회의 설치 및 운영</a:t>
            </a:r>
            <a:endParaRPr lang="en-US" altLang="ko-KR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98475" indent="-234950" latinLnBrk="0"/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4)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별표 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9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‘5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 </a:t>
            </a:r>
            <a:r>
              <a:rPr lang="ko-KR" altLang="en-US" sz="14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바목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심의내용 중 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학교생활기록부의 기재방법 및 기재내용 등에 관한 사항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예로 장기결석일수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지각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조퇴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결과 횟수 포함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등이 있다</a:t>
            </a:r>
            <a:r>
              <a:rPr lang="en-US" altLang="ko-KR" sz="14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6E36462-C01C-7467-69ED-2CA51A250C1D}"/>
              </a:ext>
            </a:extLst>
          </p:cNvPr>
          <p:cNvGrpSpPr/>
          <p:nvPr/>
        </p:nvGrpSpPr>
        <p:grpSpPr>
          <a:xfrm>
            <a:off x="522288" y="518880"/>
            <a:ext cx="5726087" cy="677108"/>
            <a:chOff x="522288" y="518880"/>
            <a:chExt cx="5726087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14402D-7601-6EFD-3903-FFF539CBC4DE}"/>
                </a:ext>
              </a:extLst>
            </p:cNvPr>
            <p:cNvSpPr txBox="1"/>
            <p:nvPr/>
          </p:nvSpPr>
          <p:spPr>
            <a:xfrm>
              <a:off x="1923473" y="518880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 발달상황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76412986-8006-19CC-6BA2-6F3A174D718A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DD3D3E23-5188-0364-FEA4-904786810ADE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ACE877C-86CA-9CA6-939E-D009D97328C1}"/>
                  </a:ext>
                </a:extLst>
              </p:cNvPr>
              <p:cNvSpPr txBox="1"/>
              <p:nvPr/>
            </p:nvSpPr>
            <p:spPr>
              <a:xfrm>
                <a:off x="730741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별표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9</a:t>
                </a:r>
                <a:endPara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1F2CB08-28F4-D901-B405-C2ED4F44246C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CAB1B1B-59BE-04D6-3694-42FDC8FD971D}"/>
              </a:ext>
            </a:extLst>
          </p:cNvPr>
          <p:cNvGrpSpPr/>
          <p:nvPr/>
        </p:nvGrpSpPr>
        <p:grpSpPr>
          <a:xfrm>
            <a:off x="522288" y="1454050"/>
            <a:ext cx="6349874" cy="450951"/>
            <a:chOff x="522288" y="1454050"/>
            <a:chExt cx="6349874" cy="45095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74EEDF2-F0A4-B47F-66F3-78A865B0955D}"/>
                </a:ext>
              </a:extLst>
            </p:cNvPr>
            <p:cNvSpPr txBox="1"/>
            <p:nvPr/>
          </p:nvSpPr>
          <p:spPr>
            <a:xfrm>
              <a:off x="1340198" y="1564200"/>
              <a:ext cx="5531964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학업성적관리위원회 심의 사항에 출결 특기사항 기재 변경 사항 반영</a:t>
              </a: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53E74840-6028-664D-57B0-82C66F28A17C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82" name="사각형: 둥근 위쪽 모서리 81">
                <a:extLst>
                  <a:ext uri="{FF2B5EF4-FFF2-40B4-BE49-F238E27FC236}">
                    <a16:creationId xmlns:a16="http://schemas.microsoft.com/office/drawing/2014/main" id="{FDF974F3-30DE-6A28-8712-666FB141A353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91" name="사각형: 둥근 위쪽 모서리 90">
                <a:extLst>
                  <a:ext uri="{FF2B5EF4-FFF2-40B4-BE49-F238E27FC236}">
                    <a16:creationId xmlns:a16="http://schemas.microsoft.com/office/drawing/2014/main" id="{9C1BFD8C-572E-D3D9-E0B3-7D3C1D97DB24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1F44785-0120-CEB2-1A0E-0EA19D023CF3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2669482-8F57-DB8A-D938-5D28E47BC154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47" name="사각형: 둥근 위쪽 모서리 46">
              <a:extLst>
                <a:ext uri="{FF2B5EF4-FFF2-40B4-BE49-F238E27FC236}">
                  <a16:creationId xmlns:a16="http://schemas.microsoft.com/office/drawing/2014/main" id="{2A45A950-F426-DCA8-FBCD-5857B3590250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E7E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9" name="사각형: 둥근 위쪽 모서리 48">
              <a:extLst>
                <a:ext uri="{FF2B5EF4-FFF2-40B4-BE49-F238E27FC236}">
                  <a16:creationId xmlns:a16="http://schemas.microsoft.com/office/drawing/2014/main" id="{2F95D55A-2F4F-B69D-AFDE-1414DB065F77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DDDC2E9E-454B-C0AC-E463-46F75DFA7EE0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4E7E36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1" name="사각형: 둥근 위쪽 모서리 50">
              <a:extLst>
                <a:ext uri="{FF2B5EF4-FFF2-40B4-BE49-F238E27FC236}">
                  <a16:creationId xmlns:a16="http://schemas.microsoft.com/office/drawing/2014/main" id="{F93CE256-0E26-F78C-CBE9-11630A3ADFAB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4E7E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3" name="사각형: 둥근 위쪽 모서리 52">
              <a:extLst>
                <a:ext uri="{FF2B5EF4-FFF2-40B4-BE49-F238E27FC236}">
                  <a16:creationId xmlns:a16="http://schemas.microsoft.com/office/drawing/2014/main" id="{0B6F1329-7539-EB4A-2E1F-41B5A67C707E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99D6A53-47C2-CB00-7B59-8ADC5311E757}"/>
                </a:ext>
              </a:extLst>
            </p:cNvPr>
            <p:cNvSpPr txBox="1"/>
            <p:nvPr/>
          </p:nvSpPr>
          <p:spPr>
            <a:xfrm>
              <a:off x="904827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해설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E44B989-90C1-1549-37F4-70E20FC8CE96}"/>
                </a:ext>
              </a:extLst>
            </p:cNvPr>
            <p:cNvSpPr txBox="1"/>
            <p:nvPr/>
          </p:nvSpPr>
          <p:spPr>
            <a:xfrm>
              <a:off x="8889582" y="865098"/>
              <a:ext cx="676468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p.108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20310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0F71E-539B-4E76-056D-048F577B6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6D54D77-1914-CD0E-F8A2-682DDAAE530F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067CECF-E2A1-1A3F-AB47-8FB9711AB4E3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CFB5CBAB-DF7E-F915-A562-87D6DF9C2ABE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52086FF-5F95-53DD-B7FA-1E726F8A3A7D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E09D583D-1158-A7B4-F526-8910DA3E6566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F409879-4F89-3420-A146-E9E6F1371766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C5D86C83-C081-2B5A-5E0E-AD883BBC4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32A0FCDE-EDB3-7A8A-7656-E0239DD779C5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06055450-E383-4721-7E9E-9B3EDD0F636F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49E4C040-5062-F8EF-6CC8-45D296F01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D8A43D59-3108-3F76-B368-E4DB3552A5C5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19E4450D-4777-4972-3BE2-A8F0E0C96E8C}"/>
              </a:ext>
            </a:extLst>
          </p:cNvPr>
          <p:cNvGrpSpPr/>
          <p:nvPr/>
        </p:nvGrpSpPr>
        <p:grpSpPr>
          <a:xfrm>
            <a:off x="522288" y="518880"/>
            <a:ext cx="5726087" cy="677108"/>
            <a:chOff x="522288" y="518880"/>
            <a:chExt cx="5726087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129C25-5FCA-F97E-5C04-26BA8E046E51}"/>
                </a:ext>
              </a:extLst>
            </p:cNvPr>
            <p:cNvSpPr txBox="1"/>
            <p:nvPr/>
          </p:nvSpPr>
          <p:spPr>
            <a:xfrm>
              <a:off x="1923473" y="518880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 발달상황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ECDB5CA1-05CB-19FF-BDAE-82286F511329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826CCEDA-45AA-00E8-BE54-320284EB1057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209B8C7-108E-EA36-DE80-0702D5BC56AB}"/>
                  </a:ext>
                </a:extLst>
              </p:cNvPr>
              <p:cNvSpPr txBox="1"/>
              <p:nvPr/>
            </p:nvSpPr>
            <p:spPr>
              <a:xfrm>
                <a:off x="638569" y="672768"/>
                <a:ext cx="9714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15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76EA125-7EC1-079B-B510-CEB080714012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D701356-9EBF-CA03-0BA5-A6D7EC9AC8C4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47" name="사각형: 둥근 위쪽 모서리 46">
              <a:extLst>
                <a:ext uri="{FF2B5EF4-FFF2-40B4-BE49-F238E27FC236}">
                  <a16:creationId xmlns:a16="http://schemas.microsoft.com/office/drawing/2014/main" id="{5137C8E7-D3AC-00B5-01AE-2092FFCBBBC1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9" name="사각형: 둥근 위쪽 모서리 48">
              <a:extLst>
                <a:ext uri="{FF2B5EF4-FFF2-40B4-BE49-F238E27FC236}">
                  <a16:creationId xmlns:a16="http://schemas.microsoft.com/office/drawing/2014/main" id="{9A6202B0-F8B5-61FC-AB3F-9D9B81E3D1AA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308D12AD-E47B-7DE0-8F47-574E633D62E5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1" name="사각형: 둥근 위쪽 모서리 50">
              <a:extLst>
                <a:ext uri="{FF2B5EF4-FFF2-40B4-BE49-F238E27FC236}">
                  <a16:creationId xmlns:a16="http://schemas.microsoft.com/office/drawing/2014/main" id="{6864CA9A-3E88-B52D-CE46-D14C0AE56E42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3" name="사각형: 둥근 위쪽 모서리 52">
              <a:extLst>
                <a:ext uri="{FF2B5EF4-FFF2-40B4-BE49-F238E27FC236}">
                  <a16:creationId xmlns:a16="http://schemas.microsoft.com/office/drawing/2014/main" id="{CCB457DF-9053-8802-4D11-C7FBFED03C80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750A272-FAAE-CF76-2FA7-F9988C0E4CBB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A2E25C6-E336-2D1C-356E-D5C96C4C477B}"/>
                </a:ext>
              </a:extLst>
            </p:cNvPr>
            <p:cNvSpPr txBox="1"/>
            <p:nvPr/>
          </p:nvSpPr>
          <p:spPr>
            <a:xfrm>
              <a:off x="8724182" y="865098"/>
              <a:ext cx="1007263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p.115-117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98CB53DD-36A1-4CD2-94FD-CD4888A03266}"/>
              </a:ext>
            </a:extLst>
          </p:cNvPr>
          <p:cNvGrpSpPr/>
          <p:nvPr/>
        </p:nvGrpSpPr>
        <p:grpSpPr>
          <a:xfrm>
            <a:off x="522288" y="1454050"/>
            <a:ext cx="4828623" cy="450951"/>
            <a:chOff x="522288" y="1454050"/>
            <a:chExt cx="4828623" cy="4509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AE67EE-F7E5-1D5F-C4B7-C5F833E60D48}"/>
                </a:ext>
              </a:extLst>
            </p:cNvPr>
            <p:cNvSpPr txBox="1"/>
            <p:nvPr/>
          </p:nvSpPr>
          <p:spPr>
            <a:xfrm>
              <a:off x="1340198" y="1564200"/>
              <a:ext cx="4010713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2022 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개정 교육과정 일부 개정에 따른 훈령 반영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09EA353C-3A8B-F14D-8DAC-D36280AABE73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83F5F2B2-F982-3022-5358-F615F8EACDF3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6CA80005-2D4B-E718-1083-2E803AF4945B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B46685-D47C-7802-DD6F-FC4B0A539609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18E2E73-2EB0-EEF5-BFB6-C6014EF5FC24}"/>
              </a:ext>
            </a:extLst>
          </p:cNvPr>
          <p:cNvSpPr txBox="1"/>
          <p:nvPr/>
        </p:nvSpPr>
        <p:spPr>
          <a:xfrm>
            <a:off x="2120359" y="2446087"/>
            <a:ext cx="7803743" cy="21544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180000" indent="-277200" latinLnBrk="0"/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라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학점이수 인정기준에 따른 교과학습 발달상황 기재는 다음과 같이 처리한다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139700" indent="-6350" latinLnBrk="0"/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학업 성취율 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40% 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미만인 대상자가 최소 성취수준 보장지도를 이수한 경우→ 해당 과목을 이수 처리하고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7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성취도란에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‘E’(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성취도 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단계 산출과목은 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‘C’)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를 기재 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보충학습 여부 </a:t>
            </a:r>
            <a:r>
              <a:rPr lang="ko-KR" altLang="en-US" sz="7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미기재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sz="7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2C208E-3E6A-D74A-6708-977473735C4A}"/>
              </a:ext>
            </a:extLst>
          </p:cNvPr>
          <p:cNvSpPr txBox="1"/>
          <p:nvPr/>
        </p:nvSpPr>
        <p:spPr>
          <a:xfrm>
            <a:off x="2090542" y="4298230"/>
            <a:ext cx="7833559" cy="107721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417600" indent="-417600" latinLnBrk="0"/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학점이수 인정기준에 따른 교과학습발달상황은 다음과 같이 입력한다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476250" indent="-203200" latinLnBrk="0"/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공통과목 학업 성취율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40%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미만인 대상자가 최소 성취수준 보장지도를 이수한 경우</a:t>
            </a:r>
            <a:b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해당 과목을 이수 처리하고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4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성취도란에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‘E’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과학탐구 실험은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‘C’)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를 기재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보충학습 여부 </a:t>
            </a:r>
            <a:r>
              <a:rPr lang="ko-KR" altLang="en-US" sz="14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미기재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sz="14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7600" indent="-417600" latinLnBrk="0"/>
            <a:endParaRPr lang="ko-KR" altLang="en-US" sz="14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25D63BD0-C96F-5FDA-3B01-17E571BDD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132533"/>
              </p:ext>
            </p:extLst>
          </p:nvPr>
        </p:nvGraphicFramePr>
        <p:xfrm>
          <a:off x="2120359" y="2756548"/>
          <a:ext cx="7803742" cy="713760"/>
        </p:xfrm>
        <a:graphic>
          <a:graphicData uri="http://schemas.openxmlformats.org/drawingml/2006/table">
            <a:tbl>
              <a:tblPr/>
              <a:tblGrid>
                <a:gridCol w="780374">
                  <a:extLst>
                    <a:ext uri="{9D8B030D-6E8A-4147-A177-3AD203B41FA5}">
                      <a16:colId xmlns:a16="http://schemas.microsoft.com/office/drawing/2014/main" val="2997939085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03498917"/>
                    </a:ext>
                  </a:extLst>
                </a:gridCol>
                <a:gridCol w="780375">
                  <a:extLst>
                    <a:ext uri="{9D8B030D-6E8A-4147-A177-3AD203B41FA5}">
                      <a16:colId xmlns:a16="http://schemas.microsoft.com/office/drawing/2014/main" val="2646897149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391909342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028786836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94761873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894908688"/>
                    </a:ext>
                  </a:extLst>
                </a:gridCol>
                <a:gridCol w="780375">
                  <a:extLst>
                    <a:ext uri="{9D8B030D-6E8A-4147-A177-3AD203B41FA5}">
                      <a16:colId xmlns:a16="http://schemas.microsoft.com/office/drawing/2014/main" val="14959910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95629455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3232837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학기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교 과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 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학점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원점수</a:t>
                      </a:r>
                      <a:r>
                        <a:rPr lang="en-US" altLang="ko-KR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/</a:t>
                      </a:r>
                    </a:p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성취도별</a:t>
                      </a:r>
                      <a:br>
                        <a:rPr lang="en-US" altLang="ko-KR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분포비율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석차 등급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수강자수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비 고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18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6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국어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문학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39/70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E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A(11.2%)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B(24.3%)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C(31.7%)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D(24.3%)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E(8.5%)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60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031671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C150E3B2-179D-C67E-0103-C5C012D21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51614"/>
              </p:ext>
            </p:extLst>
          </p:nvPr>
        </p:nvGraphicFramePr>
        <p:xfrm>
          <a:off x="2120359" y="5215090"/>
          <a:ext cx="7803742" cy="1033800"/>
        </p:xfrm>
        <a:graphic>
          <a:graphicData uri="http://schemas.openxmlformats.org/drawingml/2006/table">
            <a:tbl>
              <a:tblPr/>
              <a:tblGrid>
                <a:gridCol w="780374">
                  <a:extLst>
                    <a:ext uri="{9D8B030D-6E8A-4147-A177-3AD203B41FA5}">
                      <a16:colId xmlns:a16="http://schemas.microsoft.com/office/drawing/2014/main" val="2997939085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03498917"/>
                    </a:ext>
                  </a:extLst>
                </a:gridCol>
                <a:gridCol w="780375">
                  <a:extLst>
                    <a:ext uri="{9D8B030D-6E8A-4147-A177-3AD203B41FA5}">
                      <a16:colId xmlns:a16="http://schemas.microsoft.com/office/drawing/2014/main" val="2646897149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391909342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028786836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94761873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894908688"/>
                    </a:ext>
                  </a:extLst>
                </a:gridCol>
                <a:gridCol w="780375">
                  <a:extLst>
                    <a:ext uri="{9D8B030D-6E8A-4147-A177-3AD203B41FA5}">
                      <a16:colId xmlns:a16="http://schemas.microsoft.com/office/drawing/2014/main" val="14959910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95629455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3232837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학기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교 과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 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학점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원점수</a:t>
                      </a:r>
                      <a:r>
                        <a:rPr lang="en-US" altLang="ko-KR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/</a:t>
                      </a:r>
                    </a:p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성취도별</a:t>
                      </a:r>
                      <a:br>
                        <a:rPr lang="en-US" altLang="ko-KR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분포비율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석차 등급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수강자수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비 고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18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9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국어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공통국어</a:t>
                      </a:r>
                      <a:r>
                        <a:rPr lang="en-US" altLang="ko-KR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9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4</a:t>
                      </a:r>
                      <a:endParaRPr lang="ko-KR" altLang="en-US" sz="9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39/70</a:t>
                      </a:r>
                      <a:endParaRPr lang="ko-KR" altLang="en-US" sz="9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E</a:t>
                      </a:r>
                      <a:endParaRPr lang="ko-KR" altLang="en-US" sz="9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A(11.2%)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B(24.3%)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C(31.7%)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D(24.3%)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E(8.5%)</a:t>
                      </a:r>
                      <a:endParaRPr lang="ko-KR" altLang="en-US" sz="9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</a:t>
                      </a:r>
                      <a:endParaRPr lang="ko-KR" altLang="en-US" sz="9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60</a:t>
                      </a:r>
                      <a:endParaRPr lang="ko-KR" altLang="en-US" sz="9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9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031671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3DC9BC7E-2113-97CE-EFB8-FF9107FE9DF4}"/>
              </a:ext>
            </a:extLst>
          </p:cNvPr>
          <p:cNvSpPr txBox="1"/>
          <p:nvPr/>
        </p:nvSpPr>
        <p:spPr>
          <a:xfrm>
            <a:off x="2120359" y="3551162"/>
            <a:ext cx="7803743" cy="10772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139700" indent="-6350" latinLnBrk="0"/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※ 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과목 출석률 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2/3 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미만이면서 학업 성취율 </a:t>
            </a:r>
            <a:r>
              <a:rPr lang="en-US" altLang="ko-KR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40% </a:t>
            </a:r>
            <a:r>
              <a:rPr lang="ko-KR" altLang="en-US" sz="7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미만인 대상자가 최소 성취수준 보장지도를 이수한 경우도 포함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01928-D5BA-D501-62DF-941A50227552}"/>
              </a:ext>
            </a:extLst>
          </p:cNvPr>
          <p:cNvSpPr txBox="1"/>
          <p:nvPr/>
        </p:nvSpPr>
        <p:spPr>
          <a:xfrm>
            <a:off x="2090542" y="6358090"/>
            <a:ext cx="7833559" cy="4308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476250" indent="-203200" latinLnBrk="0"/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※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과목 출석률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2/3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미만이면서 학업 성취율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40%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미만인 대상자가 최소 성취수준 보장지도를 이수한 경우도 포함</a:t>
            </a:r>
            <a:endParaRPr lang="ko-KR" altLang="en-US" sz="14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069F186-00AF-24A9-4034-92E4BB0FE0BB}"/>
              </a:ext>
            </a:extLst>
          </p:cNvPr>
          <p:cNvGrpSpPr/>
          <p:nvPr/>
        </p:nvGrpSpPr>
        <p:grpSpPr>
          <a:xfrm>
            <a:off x="2090542" y="2263387"/>
            <a:ext cx="360040" cy="150197"/>
            <a:chOff x="2217029" y="2224724"/>
            <a:chExt cx="360040" cy="150197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864470C3-60E6-B228-0BBC-D57154DBCCB5}"/>
                </a:ext>
              </a:extLst>
            </p:cNvPr>
            <p:cNvSpPr/>
            <p:nvPr/>
          </p:nvSpPr>
          <p:spPr>
            <a:xfrm>
              <a:off x="2217029" y="2224724"/>
              <a:ext cx="360040" cy="150197"/>
            </a:xfrm>
            <a:prstGeom prst="roundRect">
              <a:avLst>
                <a:gd name="adj" fmla="val 50000"/>
              </a:avLst>
            </a:prstGeom>
            <a:solidFill>
              <a:srgbClr val="DBDBDB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E85BD79-C706-70A6-D90D-AE61EDE0DC21}"/>
                </a:ext>
              </a:extLst>
            </p:cNvPr>
            <p:cNvSpPr txBox="1"/>
            <p:nvPr/>
          </p:nvSpPr>
          <p:spPr>
            <a:xfrm>
              <a:off x="2270412" y="2244143"/>
              <a:ext cx="253274" cy="10772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7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➊교과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7300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65AC8-2D7F-6882-0D45-CD71CD758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551B64CE-84FF-9978-1DE0-95909CC1A5A3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97380F2-EAE9-8E06-2443-7C4432E9689E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FA134D33-5881-461B-140C-6586BF145F27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D1B94B2-F4EF-A985-1265-3E272CF33F83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A5210F3E-30BF-BE3D-F2DA-D95AB7A09823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4DA6CE3-22B7-C3D7-015B-18692CF631F4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EADDD59E-4EA9-D76A-31FE-7451429BE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EEB835AA-B640-949A-BC05-997028C066FC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1EA21D1-B86D-C581-9311-10F1FD621884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5F5CE1C4-2C79-7B73-2FD6-774191BED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7E3EDD93-B094-1706-B1FD-90463D10BC8F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C82C0C61-5AF5-6B89-7DE1-4B6A55A478B2}"/>
              </a:ext>
            </a:extLst>
          </p:cNvPr>
          <p:cNvGrpSpPr/>
          <p:nvPr/>
        </p:nvGrpSpPr>
        <p:grpSpPr>
          <a:xfrm>
            <a:off x="522288" y="518880"/>
            <a:ext cx="5726087" cy="677108"/>
            <a:chOff x="522288" y="518880"/>
            <a:chExt cx="5726087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514AB42-9E54-1BB9-DE43-65EB350642EC}"/>
                </a:ext>
              </a:extLst>
            </p:cNvPr>
            <p:cNvSpPr txBox="1"/>
            <p:nvPr/>
          </p:nvSpPr>
          <p:spPr>
            <a:xfrm>
              <a:off x="1923473" y="518880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 발달상황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5E9E0D96-DD21-9F0B-60A4-1F2C1B959C9B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DBA932CF-C0B6-A6C8-B470-082441397C5E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C5B8BE5-2BA0-7F15-B3A0-86E1ABE8AC93}"/>
                  </a:ext>
                </a:extLst>
              </p:cNvPr>
              <p:cNvSpPr txBox="1"/>
              <p:nvPr/>
            </p:nvSpPr>
            <p:spPr>
              <a:xfrm>
                <a:off x="638569" y="672768"/>
                <a:ext cx="9714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15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27EB839-043D-088F-D252-DE834225CB62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BB79648-81DD-EEA4-90DA-D104D947A3E6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47" name="사각형: 둥근 위쪽 모서리 46">
              <a:extLst>
                <a:ext uri="{FF2B5EF4-FFF2-40B4-BE49-F238E27FC236}">
                  <a16:creationId xmlns:a16="http://schemas.microsoft.com/office/drawing/2014/main" id="{59F7347A-C345-0846-413A-257CE6233EDF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9" name="사각형: 둥근 위쪽 모서리 48">
              <a:extLst>
                <a:ext uri="{FF2B5EF4-FFF2-40B4-BE49-F238E27FC236}">
                  <a16:creationId xmlns:a16="http://schemas.microsoft.com/office/drawing/2014/main" id="{C414508B-0EB4-E03F-3B84-3E21250C75D6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EA0BF8DC-C028-C064-F712-D07974ED8A71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1" name="사각형: 둥근 위쪽 모서리 50">
              <a:extLst>
                <a:ext uri="{FF2B5EF4-FFF2-40B4-BE49-F238E27FC236}">
                  <a16:creationId xmlns:a16="http://schemas.microsoft.com/office/drawing/2014/main" id="{9B902467-69BF-04CA-250D-16E33DE07A16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3" name="사각형: 둥근 위쪽 모서리 52">
              <a:extLst>
                <a:ext uri="{FF2B5EF4-FFF2-40B4-BE49-F238E27FC236}">
                  <a16:creationId xmlns:a16="http://schemas.microsoft.com/office/drawing/2014/main" id="{CA90572A-6BA5-3633-EE4A-6F94A1E835E8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A9016F0-5D6E-40C5-CF93-F57807206087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DA0133D-3EA9-8259-E836-ACF39DE0899C}"/>
                </a:ext>
              </a:extLst>
            </p:cNvPr>
            <p:cNvSpPr txBox="1"/>
            <p:nvPr/>
          </p:nvSpPr>
          <p:spPr>
            <a:xfrm>
              <a:off x="8724182" y="865098"/>
              <a:ext cx="1007263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p.116-117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9023C13-C3F9-4DF4-4B35-133CACD8FDB1}"/>
              </a:ext>
            </a:extLst>
          </p:cNvPr>
          <p:cNvGrpSpPr/>
          <p:nvPr/>
        </p:nvGrpSpPr>
        <p:grpSpPr>
          <a:xfrm>
            <a:off x="522288" y="1454050"/>
            <a:ext cx="4828623" cy="450951"/>
            <a:chOff x="522288" y="1454050"/>
            <a:chExt cx="4828623" cy="4509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B080C6E-84FE-756B-8773-CB98D342F241}"/>
                </a:ext>
              </a:extLst>
            </p:cNvPr>
            <p:cNvSpPr txBox="1"/>
            <p:nvPr/>
          </p:nvSpPr>
          <p:spPr>
            <a:xfrm>
              <a:off x="1340198" y="1564200"/>
              <a:ext cx="4010713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2022 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개정 교육과정 일부 개정에 따른 훈령 반영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7B49816-691D-C5A4-249E-B545B993F57D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420A39BC-286A-B1DF-154C-3DA515CABB4E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12CB65DB-37F2-AE10-6167-93FEF7F2A13B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33E463-24F9-3F78-854E-9EAD593B2896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A04ED53-50DC-0402-6F94-33FC0F8D66D3}"/>
              </a:ext>
            </a:extLst>
          </p:cNvPr>
          <p:cNvSpPr txBox="1"/>
          <p:nvPr/>
        </p:nvSpPr>
        <p:spPr>
          <a:xfrm>
            <a:off x="2090542" y="4361274"/>
            <a:ext cx="7891619" cy="7848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266700" indent="-266700" latinLnBrk="0"/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2)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 출석률이 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2/3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미만인 대상자가 추가학습을 이수한 경우</a:t>
            </a:r>
            <a:endParaRPr lang="en-US" altLang="ko-KR" sz="17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523875" indent="-269875" latinLnBrk="0"/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→ 해당 과목을 이수 처리하고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학생이 성취한 성취도 입력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추가학습 여부 </a:t>
            </a:r>
            <a:r>
              <a:rPr lang="ko-KR" altLang="en-US" sz="17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미기재</a:t>
            </a:r>
            <a:r>
              <a:rPr lang="en-US" altLang="ko-KR" sz="17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endParaRPr lang="ko-KR" altLang="en-US" sz="17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23F416-01DA-DABA-9ABE-74FBF766C01D}"/>
              </a:ext>
            </a:extLst>
          </p:cNvPr>
          <p:cNvSpPr txBox="1"/>
          <p:nvPr/>
        </p:nvSpPr>
        <p:spPr>
          <a:xfrm>
            <a:off x="2120359" y="2346587"/>
            <a:ext cx="7803743" cy="30777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153988" indent="-250825" latinLnBrk="0"/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2)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학업 성취율은 이수기준을 충족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(40%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이상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하지만 출석률이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2/3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미만인 대상자가 최소 성취수준 보장지도에 준하는 추가학습을 이수한 경우→ 해당 과목을 이수 처리하고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성취한 성취도 입력 및 비고란에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출석률 미달로 인한 추가학습 이수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기재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24B7A70-A7AF-233A-31C4-F19D733C7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197691"/>
              </p:ext>
            </p:extLst>
          </p:nvPr>
        </p:nvGraphicFramePr>
        <p:xfrm>
          <a:off x="2120359" y="2699664"/>
          <a:ext cx="7803742" cy="713760"/>
        </p:xfrm>
        <a:graphic>
          <a:graphicData uri="http://schemas.openxmlformats.org/drawingml/2006/table">
            <a:tbl>
              <a:tblPr/>
              <a:tblGrid>
                <a:gridCol w="780374">
                  <a:extLst>
                    <a:ext uri="{9D8B030D-6E8A-4147-A177-3AD203B41FA5}">
                      <a16:colId xmlns:a16="http://schemas.microsoft.com/office/drawing/2014/main" val="2997939085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03498917"/>
                    </a:ext>
                  </a:extLst>
                </a:gridCol>
                <a:gridCol w="780375">
                  <a:extLst>
                    <a:ext uri="{9D8B030D-6E8A-4147-A177-3AD203B41FA5}">
                      <a16:colId xmlns:a16="http://schemas.microsoft.com/office/drawing/2014/main" val="2646897149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391909342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028786836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94761873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894908688"/>
                    </a:ext>
                  </a:extLst>
                </a:gridCol>
                <a:gridCol w="780375">
                  <a:extLst>
                    <a:ext uri="{9D8B030D-6E8A-4147-A177-3AD203B41FA5}">
                      <a16:colId xmlns:a16="http://schemas.microsoft.com/office/drawing/2014/main" val="14959910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95629455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3232837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학기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교 과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 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학점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원점수</a:t>
                      </a:r>
                      <a:r>
                        <a:rPr lang="en-US" altLang="ko-KR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/</a:t>
                      </a:r>
                    </a:p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성취도별</a:t>
                      </a:r>
                      <a:br>
                        <a:rPr lang="en-US" altLang="ko-KR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분포비율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석차 등급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수강자수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비 고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18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국어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문학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93/70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A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A(11.2%)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B(24.3%)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C(31.7%)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D(24.3%)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E(8.5%)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60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출석률</a:t>
                      </a:r>
                      <a:b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ko-KR" altLang="en-US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미달로 인한 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추가학습 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이수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03167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76C2D13-AC04-7E78-3C9E-6EF61539C8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545220"/>
              </p:ext>
            </p:extLst>
          </p:nvPr>
        </p:nvGraphicFramePr>
        <p:xfrm>
          <a:off x="2120359" y="5286459"/>
          <a:ext cx="7803740" cy="1418408"/>
        </p:xfrm>
        <a:graphic>
          <a:graphicData uri="http://schemas.openxmlformats.org/drawingml/2006/table">
            <a:tbl>
              <a:tblPr/>
              <a:tblGrid>
                <a:gridCol w="780374">
                  <a:extLst>
                    <a:ext uri="{9D8B030D-6E8A-4147-A177-3AD203B41FA5}">
                      <a16:colId xmlns:a16="http://schemas.microsoft.com/office/drawing/2014/main" val="2997939085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03498917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646897149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391909342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028786836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94761873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894908688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4959910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95629455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323283709"/>
                    </a:ext>
                  </a:extLst>
                </a:gridCol>
              </a:tblGrid>
              <a:tr h="429501"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학기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교 과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 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학점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원점수</a:t>
                      </a: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/</a:t>
                      </a:r>
                    </a:p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성취도별</a:t>
                      </a:r>
                      <a:b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분포비율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석차등급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수강자수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비 고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18879"/>
                  </a:ext>
                </a:extLst>
              </a:tr>
              <a:tr h="988907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05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국어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문학</a:t>
                      </a:r>
                      <a:endParaRPr lang="ko-KR" altLang="en-US" sz="105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4</a:t>
                      </a:r>
                      <a:endParaRPr lang="ko-KR" altLang="en-US" sz="105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93/70</a:t>
                      </a:r>
                      <a:endParaRPr lang="ko-KR" altLang="en-US" sz="105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A</a:t>
                      </a:r>
                      <a:endParaRPr lang="ko-KR" altLang="en-US" sz="105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A(11.2%)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B(24.3%)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C(31.7%)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D(24.3%)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E(8.5%)</a:t>
                      </a:r>
                      <a:endParaRPr lang="ko-KR" altLang="en-US" sz="105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05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60</a:t>
                      </a:r>
                      <a:endParaRPr lang="ko-KR" altLang="en-US" sz="105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5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03167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7B64D93-9FE5-E558-812F-D77558673CD6}"/>
              </a:ext>
            </a:extLst>
          </p:cNvPr>
          <p:cNvSpPr txBox="1"/>
          <p:nvPr/>
        </p:nvSpPr>
        <p:spPr>
          <a:xfrm>
            <a:off x="2120359" y="3481626"/>
            <a:ext cx="7803743" cy="15388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161925" indent="23813" latinLnBrk="0"/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※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교양과목의 출석률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2/3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미만 대상자가 최소 성취수준 보장지도에 준하는 추가학습을 이수한 경우도 포함</a:t>
            </a:r>
          </a:p>
        </p:txBody>
      </p:sp>
    </p:spTree>
    <p:extLst>
      <p:ext uri="{BB962C8B-B14F-4D97-AF65-F5344CB8AC3E}">
        <p14:creationId xmlns:p14="http://schemas.microsoft.com/office/powerpoint/2010/main" val="2516831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1483A-CA9B-4F02-8393-A59B153FE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EB917DCA-AEC2-E78B-3C05-5B4AB79FABE9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7BDDA734-8DEF-D71A-19AA-2D5921F7D4F5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BB1C0FFA-E0B3-A386-61B0-E4E430947FB3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1C30CCC-80D2-CFCF-AD39-AED4C92C06D1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6D661626-DAA4-7CE4-FD42-613A1A9EBC37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0200629-7F75-BAC5-B779-73A6E52C0149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353E1C33-B6FA-9F43-9422-399AF0B10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7688F76C-AC56-F33D-9E21-2A3AC0A1ED75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06F5756D-A5AB-9F4F-2171-00ED1739948E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CFCDB1A9-7348-3C52-F4E6-14F4CF990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44AA8FAC-02FB-7106-9B09-2E89B34F4235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B189A944-26EF-AA74-C6C2-D2714675D593}"/>
              </a:ext>
            </a:extLst>
          </p:cNvPr>
          <p:cNvGrpSpPr/>
          <p:nvPr/>
        </p:nvGrpSpPr>
        <p:grpSpPr>
          <a:xfrm>
            <a:off x="522288" y="518880"/>
            <a:ext cx="5726087" cy="677108"/>
            <a:chOff x="522288" y="518880"/>
            <a:chExt cx="5726087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70D841F-2AA8-EC29-B804-FD42B7161425}"/>
                </a:ext>
              </a:extLst>
            </p:cNvPr>
            <p:cNvSpPr txBox="1"/>
            <p:nvPr/>
          </p:nvSpPr>
          <p:spPr>
            <a:xfrm>
              <a:off x="1923473" y="518880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 발달상황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8B127F88-CA36-EA84-960F-79BE98D56482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DC23E82F-61B0-70D7-1165-3339808F3EA8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9366B7C-B4B6-98BB-73C1-8F907FC0354E}"/>
                  </a:ext>
                </a:extLst>
              </p:cNvPr>
              <p:cNvSpPr txBox="1"/>
              <p:nvPr/>
            </p:nvSpPr>
            <p:spPr>
              <a:xfrm>
                <a:off x="638569" y="672768"/>
                <a:ext cx="9714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15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24A3324-2513-5780-EC7E-10C34B8F5A11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8D7F68D-63F9-E632-69A4-D5E70FE7E631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47" name="사각형: 둥근 위쪽 모서리 46">
              <a:extLst>
                <a:ext uri="{FF2B5EF4-FFF2-40B4-BE49-F238E27FC236}">
                  <a16:creationId xmlns:a16="http://schemas.microsoft.com/office/drawing/2014/main" id="{DED05061-3428-86C6-25E8-39A06B09B832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9" name="사각형: 둥근 위쪽 모서리 48">
              <a:extLst>
                <a:ext uri="{FF2B5EF4-FFF2-40B4-BE49-F238E27FC236}">
                  <a16:creationId xmlns:a16="http://schemas.microsoft.com/office/drawing/2014/main" id="{07AE0861-A90E-5C14-E975-A2ACC0408A00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B3C94B53-5CB4-E9AA-C99D-5E0FB21E7D6C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1" name="사각형: 둥근 위쪽 모서리 50">
              <a:extLst>
                <a:ext uri="{FF2B5EF4-FFF2-40B4-BE49-F238E27FC236}">
                  <a16:creationId xmlns:a16="http://schemas.microsoft.com/office/drawing/2014/main" id="{F11F5BB3-EB67-4988-1B50-CBF07BD9AA77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3" name="사각형: 둥근 위쪽 모서리 52">
              <a:extLst>
                <a:ext uri="{FF2B5EF4-FFF2-40B4-BE49-F238E27FC236}">
                  <a16:creationId xmlns:a16="http://schemas.microsoft.com/office/drawing/2014/main" id="{1FE522AC-75C5-3466-BEED-847516002B74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AA34FF6-D11A-8A93-E754-2D4767BD8F8A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2265621-0370-2CBB-F286-D6C6ACCF7E4F}"/>
                </a:ext>
              </a:extLst>
            </p:cNvPr>
            <p:cNvSpPr txBox="1"/>
            <p:nvPr/>
          </p:nvSpPr>
          <p:spPr>
            <a:xfrm>
              <a:off x="8724182" y="865098"/>
              <a:ext cx="1007263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p.116-117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E2189A1C-3D30-1A26-F372-6C08314C93C8}"/>
              </a:ext>
            </a:extLst>
          </p:cNvPr>
          <p:cNvGrpSpPr/>
          <p:nvPr/>
        </p:nvGrpSpPr>
        <p:grpSpPr>
          <a:xfrm>
            <a:off x="522288" y="1454050"/>
            <a:ext cx="4828623" cy="450951"/>
            <a:chOff x="522288" y="1454050"/>
            <a:chExt cx="4828623" cy="4509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8110B34-CB4D-19FF-9105-94BA40C4D989}"/>
                </a:ext>
              </a:extLst>
            </p:cNvPr>
            <p:cNvSpPr txBox="1"/>
            <p:nvPr/>
          </p:nvSpPr>
          <p:spPr>
            <a:xfrm>
              <a:off x="1340198" y="1564200"/>
              <a:ext cx="4010713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2022 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개정 교육과정 일부 개정에 따른 훈령 반영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F1488B20-4D69-C9B7-A07D-31B931BE93AD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53F9393E-CBB2-E759-0625-AF7C3756BC19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56119E97-6CB7-593C-6557-A15F8017CC57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C294BB-758D-240D-4602-3C0011A50F49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B21CC19-6A97-B1F1-87F7-FB88BFE914BC}"/>
              </a:ext>
            </a:extLst>
          </p:cNvPr>
          <p:cNvSpPr txBox="1"/>
          <p:nvPr/>
        </p:nvSpPr>
        <p:spPr>
          <a:xfrm>
            <a:off x="2090543" y="4304124"/>
            <a:ext cx="7542386" cy="153888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76225" indent="-514350" latinLnBrk="0"/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3)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 이수기준 </a:t>
            </a:r>
            <a:r>
              <a:rPr lang="ko-KR" altLang="en-US" sz="20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미도달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대상자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학업성취율 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40%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미만 또는 과목 </a:t>
            </a:r>
            <a:b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출석률 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2/3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미만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 최소 성취수준 보장지도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또는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추가학습을 </a:t>
            </a:r>
            <a:b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이수하지 않은 경우</a:t>
            </a:r>
            <a:endParaRPr lang="en-US" altLang="ko-KR" sz="2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609600" indent="-314325" latinLnBrk="0"/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→ 해당 과목을 </a:t>
            </a:r>
            <a:r>
              <a:rPr lang="ko-KR" altLang="en-US" sz="20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미이수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처리하고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비고란에 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20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미이수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기재</a:t>
            </a:r>
            <a: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과목별</a:t>
            </a:r>
            <a:br>
              <a:rPr lang="en-US" altLang="ko-KR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2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세부능력 특기사항은 </a:t>
            </a:r>
            <a:r>
              <a:rPr lang="ko-KR" altLang="en-US" sz="20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미기재</a:t>
            </a:r>
            <a:endParaRPr lang="ko-KR" altLang="en-US" sz="2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91A19D-7BF0-5C06-AF1B-49D77FF01979}"/>
              </a:ext>
            </a:extLst>
          </p:cNvPr>
          <p:cNvSpPr txBox="1"/>
          <p:nvPr/>
        </p:nvSpPr>
        <p:spPr>
          <a:xfrm>
            <a:off x="2120359" y="2346587"/>
            <a:ext cx="7211911" cy="55399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171450" indent="-304800" latinLnBrk="0"/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3)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 이수기준 </a:t>
            </a:r>
            <a:r>
              <a:rPr lang="ko-KR" altLang="en-US" sz="12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미도달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대상자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학업성취율 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40%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미만 또는 출석률 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2/3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미만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 최소 성취수준 보장지도 및</a:t>
            </a:r>
            <a:b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추가학습을 이수하지 않은 경우</a:t>
            </a:r>
            <a:endParaRPr lang="en-US" altLang="ko-KR" sz="12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371475" indent="-193675" latinLnBrk="0"/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→ 해당 과목을 </a:t>
            </a:r>
            <a:r>
              <a:rPr lang="ko-KR" altLang="en-US" sz="12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미이수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처리하고 비고란에 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2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미이수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기재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과목별 세부능력 및</a:t>
            </a:r>
            <a:r>
              <a:rPr lang="en-US" altLang="ko-KR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특기사항은 </a:t>
            </a:r>
            <a:r>
              <a:rPr lang="ko-KR" altLang="en-US" sz="12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미기재</a:t>
            </a:r>
            <a:endParaRPr lang="ko-KR" altLang="en-US" sz="12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F43CFC9-6703-6CB7-3564-F638C71B4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878885"/>
              </p:ext>
            </p:extLst>
          </p:nvPr>
        </p:nvGraphicFramePr>
        <p:xfrm>
          <a:off x="2120359" y="3020374"/>
          <a:ext cx="7803742" cy="614400"/>
        </p:xfrm>
        <a:graphic>
          <a:graphicData uri="http://schemas.openxmlformats.org/drawingml/2006/table">
            <a:tbl>
              <a:tblPr/>
              <a:tblGrid>
                <a:gridCol w="780374">
                  <a:extLst>
                    <a:ext uri="{9D8B030D-6E8A-4147-A177-3AD203B41FA5}">
                      <a16:colId xmlns:a16="http://schemas.microsoft.com/office/drawing/2014/main" val="2997939085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03498917"/>
                    </a:ext>
                  </a:extLst>
                </a:gridCol>
                <a:gridCol w="780375">
                  <a:extLst>
                    <a:ext uri="{9D8B030D-6E8A-4147-A177-3AD203B41FA5}">
                      <a16:colId xmlns:a16="http://schemas.microsoft.com/office/drawing/2014/main" val="2646897149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391909342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028786836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94761873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894908688"/>
                    </a:ext>
                  </a:extLst>
                </a:gridCol>
                <a:gridCol w="780375">
                  <a:extLst>
                    <a:ext uri="{9D8B030D-6E8A-4147-A177-3AD203B41FA5}">
                      <a16:colId xmlns:a16="http://schemas.microsoft.com/office/drawing/2014/main" val="14959910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95629455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3232837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학기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교 과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 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학점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원점수</a:t>
                      </a:r>
                      <a:r>
                        <a:rPr lang="en-US" altLang="ko-KR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/</a:t>
                      </a:r>
                    </a:p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성취도별</a:t>
                      </a:r>
                      <a:br>
                        <a:rPr lang="en-US" altLang="ko-KR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분포비율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석차등급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수강자수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비 고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1887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9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국어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문학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9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9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9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9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9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9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미이수</a:t>
                      </a:r>
                      <a:endParaRPr lang="ko-KR" altLang="en-US" sz="9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03167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4631017-7606-73DE-7FEC-9E870F6A6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886640"/>
              </p:ext>
            </p:extLst>
          </p:nvPr>
        </p:nvGraphicFramePr>
        <p:xfrm>
          <a:off x="2120359" y="5975558"/>
          <a:ext cx="7803740" cy="857280"/>
        </p:xfrm>
        <a:graphic>
          <a:graphicData uri="http://schemas.openxmlformats.org/drawingml/2006/table">
            <a:tbl>
              <a:tblPr/>
              <a:tblGrid>
                <a:gridCol w="780374">
                  <a:extLst>
                    <a:ext uri="{9D8B030D-6E8A-4147-A177-3AD203B41FA5}">
                      <a16:colId xmlns:a16="http://schemas.microsoft.com/office/drawing/2014/main" val="2997939085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03498917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646897149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391909342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028786836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94761873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894908688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4959910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95629455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323283709"/>
                    </a:ext>
                  </a:extLst>
                </a:gridCol>
              </a:tblGrid>
              <a:tr h="78062"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학기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교 과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 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학점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원점수</a:t>
                      </a: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/</a:t>
                      </a:r>
                    </a:p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성취도별</a:t>
                      </a:r>
                      <a:b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분포비율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석차등급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수강자수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비 고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18879"/>
                  </a:ext>
                </a:extLst>
              </a:tr>
              <a:tr h="50040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05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국어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문학</a:t>
                      </a:r>
                      <a:endParaRPr lang="ko-KR" altLang="en-US" sz="105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5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5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5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5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5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5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50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미이수</a:t>
                      </a:r>
                      <a:endParaRPr lang="ko-KR" altLang="en-US" sz="105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031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72232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3FFA-6473-B76F-1497-B0319317D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D09601A-4A0A-5186-F1A9-E131C0A9AC13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A7B8052-9601-4895-8CA3-C150DFED68F6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7E4CFE21-2645-8C1A-E1FA-62A935F77BCF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8ECD428-96EE-43E2-8CA1-0DD1102F5BC8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12E894AD-3E42-EDBB-BF96-0ADC05D60810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B4010DB-301E-2D36-704B-FC666D7D8CF8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4DA2615B-9713-BBC1-35F0-2A2D46E36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FC2CE3CF-14D2-99D2-70C9-EA6410D9728B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7920F18-DF4B-5EFD-C401-C39375A366B9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6CBCD54B-32CF-44BF-15AD-83EE49DDA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61FAE6B6-5274-609C-98D0-546F279589E3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2E921557-DAAB-D6C9-E19B-93981B2A6F3B}"/>
              </a:ext>
            </a:extLst>
          </p:cNvPr>
          <p:cNvGrpSpPr/>
          <p:nvPr/>
        </p:nvGrpSpPr>
        <p:grpSpPr>
          <a:xfrm>
            <a:off x="522288" y="518880"/>
            <a:ext cx="5726087" cy="677108"/>
            <a:chOff x="522288" y="518880"/>
            <a:chExt cx="5726087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AB8F657-36A6-5AE9-7D02-1CF4DA699C8E}"/>
                </a:ext>
              </a:extLst>
            </p:cNvPr>
            <p:cNvSpPr txBox="1"/>
            <p:nvPr/>
          </p:nvSpPr>
          <p:spPr>
            <a:xfrm>
              <a:off x="1923473" y="518880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 발달상황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DFB61BC7-018C-6D82-0B64-F0595EEF0A18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748220D8-5AEB-E1C8-3A50-73321D020D9F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01F041-F167-C35D-B2D7-281C2A772DE3}"/>
                  </a:ext>
                </a:extLst>
              </p:cNvPr>
              <p:cNvSpPr txBox="1"/>
              <p:nvPr/>
            </p:nvSpPr>
            <p:spPr>
              <a:xfrm>
                <a:off x="638569" y="672768"/>
                <a:ext cx="9714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15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5DCC301-7176-4D45-860B-CD191D865997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1E43A04-34AB-038D-CE22-C0A3C94A7971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47" name="사각형: 둥근 위쪽 모서리 46">
              <a:extLst>
                <a:ext uri="{FF2B5EF4-FFF2-40B4-BE49-F238E27FC236}">
                  <a16:creationId xmlns:a16="http://schemas.microsoft.com/office/drawing/2014/main" id="{872E0AE8-814C-68AC-AE0E-36D6E9F34EBE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9" name="사각형: 둥근 위쪽 모서리 48">
              <a:extLst>
                <a:ext uri="{FF2B5EF4-FFF2-40B4-BE49-F238E27FC236}">
                  <a16:creationId xmlns:a16="http://schemas.microsoft.com/office/drawing/2014/main" id="{D3CD9E8C-91FF-B3BB-7173-2BB12DE410A6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6658A970-48C5-270C-FF4F-549B23EE7DCF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1" name="사각형: 둥근 위쪽 모서리 50">
              <a:extLst>
                <a:ext uri="{FF2B5EF4-FFF2-40B4-BE49-F238E27FC236}">
                  <a16:creationId xmlns:a16="http://schemas.microsoft.com/office/drawing/2014/main" id="{9EFCB5B4-EF76-A53A-3632-C13B5DDDD3AC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3" name="사각형: 둥근 위쪽 모서리 52">
              <a:extLst>
                <a:ext uri="{FF2B5EF4-FFF2-40B4-BE49-F238E27FC236}">
                  <a16:creationId xmlns:a16="http://schemas.microsoft.com/office/drawing/2014/main" id="{E4530A1A-B056-0784-2764-036E90AFECF3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0CCA81B-F00D-6010-310F-044EBC852589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D0AC24E-1901-E6AE-F262-444D687F2D1C}"/>
                </a:ext>
              </a:extLst>
            </p:cNvPr>
            <p:cNvSpPr txBox="1"/>
            <p:nvPr/>
          </p:nvSpPr>
          <p:spPr>
            <a:xfrm>
              <a:off x="8724182" y="865098"/>
              <a:ext cx="1007263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p.116-117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EFE7ECE-AF4D-1702-D423-0E75A4843ABD}"/>
              </a:ext>
            </a:extLst>
          </p:cNvPr>
          <p:cNvGrpSpPr/>
          <p:nvPr/>
        </p:nvGrpSpPr>
        <p:grpSpPr>
          <a:xfrm>
            <a:off x="522288" y="1454050"/>
            <a:ext cx="4828623" cy="450951"/>
            <a:chOff x="522288" y="1454050"/>
            <a:chExt cx="4828623" cy="4509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C610FCA-3B5C-03EC-7680-66593E2EF9E8}"/>
                </a:ext>
              </a:extLst>
            </p:cNvPr>
            <p:cNvSpPr txBox="1"/>
            <p:nvPr/>
          </p:nvSpPr>
          <p:spPr>
            <a:xfrm>
              <a:off x="1340198" y="1564200"/>
              <a:ext cx="4010713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2022 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개정 교육과정 일부 개정에 따른 훈령 반영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02737F38-1E99-5966-B82B-5797E3752299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3F728F1C-BB08-DFED-5CF7-41ECCB655D2A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A0F54EF3-1138-F122-E48E-97558334355D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02872B-DA50-5AD6-C8EE-F08A224147D1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4C1896F-6697-3715-B9C8-41C9D19F18CC}"/>
              </a:ext>
            </a:extLst>
          </p:cNvPr>
          <p:cNvSpPr txBox="1"/>
          <p:nvPr/>
        </p:nvSpPr>
        <p:spPr>
          <a:xfrm>
            <a:off x="2090543" y="4289355"/>
            <a:ext cx="7805864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201600" indent="-417600" latinLnBrk="0"/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4)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공통수학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1,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공통영어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수강하였으나 </a:t>
            </a:r>
            <a:r>
              <a:rPr lang="ko-KR" altLang="en-US" sz="15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미이수한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학생이 기본수학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1,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기본영어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대체 이수한 경우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5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미이수한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과목의 성적처리 결과는 </a:t>
            </a:r>
            <a:r>
              <a:rPr lang="ko-KR" altLang="en-US" sz="15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나이스에서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자동 삭제 처리됨</a:t>
            </a:r>
            <a:endParaRPr lang="en-US" altLang="ko-KR" sz="15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76250" indent="-244475" latinLnBrk="0"/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→ 해당 과목을 대체이수 처리하고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5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미이수한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해당 과목의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성적처리 결과는 </a:t>
            </a:r>
            <a:r>
              <a:rPr lang="ko-KR" altLang="en-US" sz="15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나이스에서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자동 삭제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C644E2-9EFF-F847-1F38-8876E0A559BE}"/>
              </a:ext>
            </a:extLst>
          </p:cNvPr>
          <p:cNvSpPr txBox="1"/>
          <p:nvPr/>
        </p:nvSpPr>
        <p:spPr>
          <a:xfrm>
            <a:off x="2120359" y="2321191"/>
            <a:ext cx="7803743" cy="4616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144000" indent="-277200" latinLnBrk="0"/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4)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공통수학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1,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공통영어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수강하였으나 </a:t>
            </a:r>
            <a:r>
              <a:rPr lang="ko-KR" altLang="en-US" sz="10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미이수한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학생이 기본수학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1,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기본영어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</a:t>
            </a:r>
            <a:r>
              <a:rPr lang="ko-KR" altLang="en-US" sz="10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대체이수한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경우</a:t>
            </a:r>
            <a:endParaRPr lang="en-US" altLang="ko-KR" sz="10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304800" indent="-158750" latinLnBrk="0"/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→ 해당 과목을 대체이수 처리하고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이전 학기에 </a:t>
            </a:r>
            <a:r>
              <a:rPr lang="ko-KR" altLang="en-US" sz="10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미이수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처리한 공통수학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1,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공통영어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성적처리 결과 전부를 학교생활기록부 정정을 통해 삭제 처리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0E1E0D1-2A90-1D0A-5762-2C13F4647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547998"/>
              </p:ext>
            </p:extLst>
          </p:nvPr>
        </p:nvGraphicFramePr>
        <p:xfrm>
          <a:off x="2120359" y="2826032"/>
          <a:ext cx="7803742" cy="826800"/>
        </p:xfrm>
        <a:graphic>
          <a:graphicData uri="http://schemas.openxmlformats.org/drawingml/2006/table">
            <a:tbl>
              <a:tblPr/>
              <a:tblGrid>
                <a:gridCol w="780374">
                  <a:extLst>
                    <a:ext uri="{9D8B030D-6E8A-4147-A177-3AD203B41FA5}">
                      <a16:colId xmlns:a16="http://schemas.microsoft.com/office/drawing/2014/main" val="2997939085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03498917"/>
                    </a:ext>
                  </a:extLst>
                </a:gridCol>
                <a:gridCol w="780375">
                  <a:extLst>
                    <a:ext uri="{9D8B030D-6E8A-4147-A177-3AD203B41FA5}">
                      <a16:colId xmlns:a16="http://schemas.microsoft.com/office/drawing/2014/main" val="2646897149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391909342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028786836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94761873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894908688"/>
                    </a:ext>
                  </a:extLst>
                </a:gridCol>
                <a:gridCol w="780375">
                  <a:extLst>
                    <a:ext uri="{9D8B030D-6E8A-4147-A177-3AD203B41FA5}">
                      <a16:colId xmlns:a16="http://schemas.microsoft.com/office/drawing/2014/main" val="14959910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95629455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323283709"/>
                    </a:ext>
                  </a:extLst>
                </a:gridCol>
              </a:tblGrid>
              <a:tr h="79988"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학기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교 과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 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학점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원점수</a:t>
                      </a:r>
                      <a:r>
                        <a:rPr lang="en-US" altLang="ko-KR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/</a:t>
                      </a:r>
                    </a:p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성취도별</a:t>
                      </a:r>
                      <a:br>
                        <a:rPr lang="en-US" altLang="ko-KR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분포비율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석차 등급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수강자수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비 고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18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b="1" strike="sngStrike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600" b="1" strike="sngStrike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600" strike="sngStrike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수학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600" strike="sngStrike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공통수학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600" strike="sngStrike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D83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미이수</a:t>
                      </a:r>
                      <a:r>
                        <a:rPr lang="en-US" altLang="ko-KR" sz="600" strike="sngStrike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D83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600" strike="sngStrike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D83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삭제</a:t>
                      </a:r>
                      <a:r>
                        <a:rPr lang="en-US" altLang="ko-KR" sz="600" strike="sngStrike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D83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600" strike="sngStrike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1D83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655955"/>
                  </a:ext>
                </a:extLst>
              </a:tr>
              <a:tr h="162998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6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수학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기본수학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74/68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A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A(11.2%)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B(24.3%)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C(31.7%)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D(24.3%)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E(8.5%)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89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6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대체이수</a:t>
                      </a:r>
                      <a:endParaRPr lang="ko-KR" altLang="en-US" sz="6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03167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E28F16C-D23F-EA88-E491-5C8690B06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557332"/>
              </p:ext>
            </p:extLst>
          </p:nvPr>
        </p:nvGraphicFramePr>
        <p:xfrm>
          <a:off x="2120359" y="5277978"/>
          <a:ext cx="7803740" cy="1572480"/>
        </p:xfrm>
        <a:graphic>
          <a:graphicData uri="http://schemas.openxmlformats.org/drawingml/2006/table">
            <a:tbl>
              <a:tblPr/>
              <a:tblGrid>
                <a:gridCol w="780374">
                  <a:extLst>
                    <a:ext uri="{9D8B030D-6E8A-4147-A177-3AD203B41FA5}">
                      <a16:colId xmlns:a16="http://schemas.microsoft.com/office/drawing/2014/main" val="2997939085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03498917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646897149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391909342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028786836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94761873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894908688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4959910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95629455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3232837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학기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교 과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 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학점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원점수</a:t>
                      </a: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/</a:t>
                      </a:r>
                    </a:p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성취도별</a:t>
                      </a:r>
                      <a:b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분포비율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석차등급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수강자수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비 고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188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strike="sngStrike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000" b="1" strike="sngStrike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strike="sngStrike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수학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strike="sngStrike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공통수학</a:t>
                      </a:r>
                      <a:r>
                        <a:rPr lang="en-US" altLang="ko-KR" sz="1000" b="1" strike="sngStrike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000" b="1" strike="sngStrike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strike="sngStrike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미이수</a:t>
                      </a:r>
                      <a:endParaRPr lang="ko-KR" altLang="en-US" sz="1000" b="1" strike="sngStrike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605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수학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기본수학</a:t>
                      </a: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74/68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B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A(11.2%)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B(24.3%)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C(31.7%)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D(24.3%)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pt-BR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E(8.5%)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89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대체이수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031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29686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8DB53-0BD8-4ED2-D20B-485015351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그룹 67">
            <a:extLst>
              <a:ext uri="{FF2B5EF4-FFF2-40B4-BE49-F238E27FC236}">
                <a16:creationId xmlns:a16="http://schemas.microsoft.com/office/drawing/2014/main" id="{49E1F4BD-F284-519E-3E6E-43B99D8227D9}"/>
              </a:ext>
            </a:extLst>
          </p:cNvPr>
          <p:cNvGrpSpPr/>
          <p:nvPr/>
        </p:nvGrpSpPr>
        <p:grpSpPr>
          <a:xfrm>
            <a:off x="1881855" y="2193391"/>
            <a:ext cx="8289258" cy="5118675"/>
            <a:chOff x="1881855" y="2193391"/>
            <a:chExt cx="8289258" cy="5118675"/>
          </a:xfrm>
        </p:grpSpPr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F1B16668-3954-C412-7B07-EFECFDB3D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6AF936A8-3FF3-3418-8010-3944FD62C167}"/>
                </a:ext>
              </a:extLst>
            </p:cNvPr>
            <p:cNvSpPr/>
            <p:nvPr/>
          </p:nvSpPr>
          <p:spPr>
            <a:xfrm>
              <a:off x="1881855" y="2193391"/>
              <a:ext cx="8289258" cy="4827600"/>
            </a:xfrm>
            <a:prstGeom prst="roundRect">
              <a:avLst>
                <a:gd name="adj" fmla="val 3034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6563B082-60BE-1FA2-CAED-84827A9677F7}"/>
              </a:ext>
            </a:extLst>
          </p:cNvPr>
          <p:cNvGrpSpPr/>
          <p:nvPr/>
        </p:nvGrpSpPr>
        <p:grpSpPr>
          <a:xfrm>
            <a:off x="522288" y="1454050"/>
            <a:ext cx="4708399" cy="450951"/>
            <a:chOff x="522288" y="1454050"/>
            <a:chExt cx="4708399" cy="450951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75066E3-9072-C7B7-F3EB-77E06F73A772}"/>
                </a:ext>
              </a:extLst>
            </p:cNvPr>
            <p:cNvSpPr txBox="1"/>
            <p:nvPr/>
          </p:nvSpPr>
          <p:spPr>
            <a:xfrm>
              <a:off x="1340198" y="1564200"/>
              <a:ext cx="3890489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2022 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개정 교육과정 일부 개정에 따른 훈령 반영</a:t>
              </a:r>
            </a:p>
          </p:txBody>
        </p: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CACD68C3-88DD-E9FE-6ABD-A56A8C421010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81" name="사각형: 둥근 위쪽 모서리 80">
                <a:extLst>
                  <a:ext uri="{FF2B5EF4-FFF2-40B4-BE49-F238E27FC236}">
                    <a16:creationId xmlns:a16="http://schemas.microsoft.com/office/drawing/2014/main" id="{27D0766E-559D-9E3B-C119-8CF8D956DEEB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사각형: 둥근 위쪽 모서리 81">
                <a:extLst>
                  <a:ext uri="{FF2B5EF4-FFF2-40B4-BE49-F238E27FC236}">
                    <a16:creationId xmlns:a16="http://schemas.microsoft.com/office/drawing/2014/main" id="{E739F743-525C-A77B-B43C-809F2AD58A9C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ADB51D3-BC7B-7A96-7293-F302188AF62D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AB4511E4-9B93-9049-0F06-AF228202E3AA}"/>
              </a:ext>
            </a:extLst>
          </p:cNvPr>
          <p:cNvSpPr txBox="1"/>
          <p:nvPr/>
        </p:nvSpPr>
        <p:spPr>
          <a:xfrm>
            <a:off x="520774" y="2193391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72718E34-116E-DE21-5706-6BBE9EF7AAEE}"/>
              </a:ext>
            </a:extLst>
          </p:cNvPr>
          <p:cNvGrpSpPr/>
          <p:nvPr/>
        </p:nvGrpSpPr>
        <p:grpSpPr>
          <a:xfrm>
            <a:off x="608728" y="2912580"/>
            <a:ext cx="965431" cy="404231"/>
            <a:chOff x="7748588" y="3400790"/>
            <a:chExt cx="965431" cy="404231"/>
          </a:xfrm>
        </p:grpSpPr>
        <p:sp>
          <p:nvSpPr>
            <p:cNvPr id="86" name="자유형 31">
              <a:extLst>
                <a:ext uri="{FF2B5EF4-FFF2-40B4-BE49-F238E27FC236}">
                  <a16:creationId xmlns:a16="http://schemas.microsoft.com/office/drawing/2014/main" id="{61A35417-074F-9DCA-EA28-603B9A59B2F6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84F308E-810A-A8DB-20C5-34800A833ECB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신설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44A89465-81F5-4A16-4206-6F239383A950}"/>
              </a:ext>
            </a:extLst>
          </p:cNvPr>
          <p:cNvGrpSpPr/>
          <p:nvPr/>
        </p:nvGrpSpPr>
        <p:grpSpPr>
          <a:xfrm>
            <a:off x="522288" y="518880"/>
            <a:ext cx="5726087" cy="677108"/>
            <a:chOff x="522288" y="518880"/>
            <a:chExt cx="5726087" cy="67710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58E12FB-50A2-26EC-BDBB-B3B1D7404915}"/>
                </a:ext>
              </a:extLst>
            </p:cNvPr>
            <p:cNvSpPr txBox="1"/>
            <p:nvPr/>
          </p:nvSpPr>
          <p:spPr>
            <a:xfrm>
              <a:off x="1923473" y="518880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 발달상황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58F6769-B608-0E92-26AE-9B011A83EE38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4B704CE5-FF40-B929-A348-B5EEACEFA497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F12D79-AAE6-C388-9872-D1E3065841B2}"/>
                  </a:ext>
                </a:extLst>
              </p:cNvPr>
              <p:cNvSpPr txBox="1"/>
              <p:nvPr/>
            </p:nvSpPr>
            <p:spPr>
              <a:xfrm>
                <a:off x="638569" y="672768"/>
                <a:ext cx="9714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15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C0B6FA83-AD7D-9BFB-FCF7-BB4D23FC624F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8" name="사각형: 둥근 위쪽 모서리 7">
              <a:extLst>
                <a:ext uri="{FF2B5EF4-FFF2-40B4-BE49-F238E27FC236}">
                  <a16:creationId xmlns:a16="http://schemas.microsoft.com/office/drawing/2014/main" id="{ACF0A99A-35A4-A79E-AE42-36674EE01AD9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" name="사각형: 둥근 위쪽 모서리 8">
              <a:extLst>
                <a:ext uri="{FF2B5EF4-FFF2-40B4-BE49-F238E27FC236}">
                  <a16:creationId xmlns:a16="http://schemas.microsoft.com/office/drawing/2014/main" id="{904D3C68-EA35-1D09-B39A-6D3B620FB69E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F3D7280B-D59F-C031-22C0-A8379B6A32BB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1" name="사각형: 둥근 위쪽 모서리 10">
              <a:extLst>
                <a:ext uri="{FF2B5EF4-FFF2-40B4-BE49-F238E27FC236}">
                  <a16:creationId xmlns:a16="http://schemas.microsoft.com/office/drawing/2014/main" id="{A1D05892-1E27-FC71-F68A-E4B88486C03A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" name="사각형: 둥근 위쪽 모서리 11">
              <a:extLst>
                <a:ext uri="{FF2B5EF4-FFF2-40B4-BE49-F238E27FC236}">
                  <a16:creationId xmlns:a16="http://schemas.microsoft.com/office/drawing/2014/main" id="{B13A3337-0E16-7716-EA43-688351281928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7D718D-21CE-A1A2-CECD-A9E1C0292BE4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263F3DD-B4CA-B6AF-D407-65D474171193}"/>
                </a:ext>
              </a:extLst>
            </p:cNvPr>
            <p:cNvSpPr txBox="1"/>
            <p:nvPr/>
          </p:nvSpPr>
          <p:spPr>
            <a:xfrm>
              <a:off x="8724182" y="865098"/>
              <a:ext cx="1007263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p.116-117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E6DD9BC-0DA3-7BF8-2794-59BB5C960001}"/>
              </a:ext>
            </a:extLst>
          </p:cNvPr>
          <p:cNvSpPr txBox="1"/>
          <p:nvPr/>
        </p:nvSpPr>
        <p:spPr>
          <a:xfrm>
            <a:off x="2090543" y="2378129"/>
            <a:ext cx="7805864" cy="6463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201600" indent="-417600" latinLnBrk="0"/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5) </a:t>
            </a:r>
            <a:r>
              <a:rPr lang="ko-KR" altLang="en-US" sz="14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미이수한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과목을 공동교육과정 또는 온라인학교를 통해 </a:t>
            </a:r>
            <a:r>
              <a:rPr lang="ko-KR" altLang="en-US" sz="14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재이수한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경우 </a:t>
            </a:r>
          </a:p>
          <a:p>
            <a:pPr marL="441325" indent="-215900" latinLnBrk="0"/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→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해당 과목을 </a:t>
            </a:r>
            <a:r>
              <a:rPr lang="ko-KR" altLang="en-US" sz="14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재이수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처리하고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미이수한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해당 과목의 성적처리 결과는 </a:t>
            </a:r>
            <a:r>
              <a:rPr lang="ko-KR" altLang="en-US" sz="14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나이스에서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자동 삭제됨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성취도란에는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해당 과목의 최하위 성취도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(5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단계인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경우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‘E’, 3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단계인 경우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‘C’)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를 기재함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4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FB88E711-6276-8C20-22FA-5463F1C62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56495"/>
              </p:ext>
            </p:extLst>
          </p:nvPr>
        </p:nvGraphicFramePr>
        <p:xfrm>
          <a:off x="2120359" y="3106588"/>
          <a:ext cx="7803740" cy="1293334"/>
        </p:xfrm>
        <a:graphic>
          <a:graphicData uri="http://schemas.openxmlformats.org/drawingml/2006/table">
            <a:tbl>
              <a:tblPr/>
              <a:tblGrid>
                <a:gridCol w="780374">
                  <a:extLst>
                    <a:ext uri="{9D8B030D-6E8A-4147-A177-3AD203B41FA5}">
                      <a16:colId xmlns:a16="http://schemas.microsoft.com/office/drawing/2014/main" val="2997939085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03498917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646897149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391909342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028786836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94761873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894908688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4959910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95629455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323283709"/>
                    </a:ext>
                  </a:extLst>
                </a:gridCol>
              </a:tblGrid>
              <a:tr h="430268"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학기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교 과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 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학점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원점수</a:t>
                      </a: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/</a:t>
                      </a:r>
                    </a:p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성취도별</a:t>
                      </a:r>
                      <a:b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분포비율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석차등급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수강자수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비 고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18879"/>
                  </a:ext>
                </a:extLst>
              </a:tr>
              <a:tr h="285808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strike="sngStrike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000" b="1" strike="sngStrike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strike="sngStrike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영어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strike="sngStrike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영어</a:t>
                      </a:r>
                      <a:r>
                        <a:rPr lang="en-US" altLang="ko-KR" sz="1000" b="1" strike="sngStrike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000" b="1" strike="sngStrike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strike="sngStrike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b="1" strike="sngStrike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strike="sngStrike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b="1" strike="sngStrike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strike="sngStrike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b="1" strike="sngStrike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strike="sngStrike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b="1" strike="sngStrike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strike="sngStrike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b="1" strike="sngStrike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strike="sngStrike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b="1" strike="sngStrike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strike="sngStrike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미이수</a:t>
                      </a:r>
                      <a:endParaRPr lang="ko-KR" altLang="en-US" sz="1000" b="1" strike="sngStrike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605302"/>
                  </a:ext>
                </a:extLst>
              </a:tr>
              <a:tr h="577258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영어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영어</a:t>
                      </a: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4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E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온라인</a:t>
                      </a:r>
                      <a:b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학교</a:t>
                      </a: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, 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재이수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031671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8C19EC2-1E84-FA60-8B27-04C54704C668}"/>
              </a:ext>
            </a:extLst>
          </p:cNvPr>
          <p:cNvSpPr txBox="1"/>
          <p:nvPr/>
        </p:nvSpPr>
        <p:spPr>
          <a:xfrm>
            <a:off x="2090543" y="4668866"/>
            <a:ext cx="7805864" cy="6463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201600" indent="-417600" latinLnBrk="0"/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6)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고등학교에서 온라인 콘텐츠를 통해 과목을 이수한 경우</a:t>
            </a:r>
          </a:p>
          <a:p>
            <a:pPr marL="433388" indent="-220663" latinLnBrk="0"/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→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해당 과목을 입력하고 비고란에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온라인 콘텐츠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를 기재함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과목별 세부능력 및 특기사항은 </a:t>
            </a:r>
            <a:r>
              <a:rPr lang="ko-KR" altLang="en-US" sz="14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미기재</a:t>
            </a:r>
            <a:endParaRPr lang="ko-KR" altLang="en-US" sz="14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C8A889B-41CE-8A85-B2B5-04514194D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592830"/>
              </p:ext>
            </p:extLst>
          </p:nvPr>
        </p:nvGraphicFramePr>
        <p:xfrm>
          <a:off x="2120359" y="5397325"/>
          <a:ext cx="7803740" cy="1104172"/>
        </p:xfrm>
        <a:graphic>
          <a:graphicData uri="http://schemas.openxmlformats.org/drawingml/2006/table">
            <a:tbl>
              <a:tblPr/>
              <a:tblGrid>
                <a:gridCol w="780374">
                  <a:extLst>
                    <a:ext uri="{9D8B030D-6E8A-4147-A177-3AD203B41FA5}">
                      <a16:colId xmlns:a16="http://schemas.microsoft.com/office/drawing/2014/main" val="2997939085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03498917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646897149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391909342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028786836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94761873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2894908688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14959910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956294551"/>
                    </a:ext>
                  </a:extLst>
                </a:gridCol>
                <a:gridCol w="780374">
                  <a:extLst>
                    <a:ext uri="{9D8B030D-6E8A-4147-A177-3AD203B41FA5}">
                      <a16:colId xmlns:a16="http://schemas.microsoft.com/office/drawing/2014/main" val="3232837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학기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교 과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 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학점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원점수</a:t>
                      </a: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/</a:t>
                      </a:r>
                    </a:p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성취도별</a:t>
                      </a:r>
                      <a:b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분포비율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석차등급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수강자수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비 고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18879"/>
                  </a:ext>
                </a:extLst>
              </a:tr>
              <a:tr h="747292"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국어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문학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4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온라인</a:t>
                      </a:r>
                      <a:b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콘텐츠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031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8911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72039-1B9F-CA20-80DC-C0C20ED7E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74E59A35-F2B0-21EB-23CF-7B4D5E5A0D35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D8A09FDB-E10A-2BD9-492B-DF6B0D27F8D8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89C7D6F-B2D3-6DC6-2EB5-3AE839FF1BFF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6249D08A-D3EE-3966-7544-9FFB8F823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68360599-7819-EF7C-D894-ED1DAE0D2625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58B5551A-9149-7354-BE05-EB843105360B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F36E509D-0F30-F830-4EC4-F20AB75A0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D2804C81-1777-9180-EC5B-993455438E9F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743E9624-778F-5511-6E6C-245CD98B5159}"/>
              </a:ext>
            </a:extLst>
          </p:cNvPr>
          <p:cNvGrpSpPr/>
          <p:nvPr/>
        </p:nvGrpSpPr>
        <p:grpSpPr>
          <a:xfrm>
            <a:off x="522288" y="518880"/>
            <a:ext cx="5726087" cy="677108"/>
            <a:chOff x="522288" y="518880"/>
            <a:chExt cx="5726087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842FDCF-9AA6-77F1-7429-00B72F56716B}"/>
                </a:ext>
              </a:extLst>
            </p:cNvPr>
            <p:cNvSpPr txBox="1"/>
            <p:nvPr/>
          </p:nvSpPr>
          <p:spPr>
            <a:xfrm>
              <a:off x="1923473" y="518880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 발달상황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1D7CF0CE-27B8-4F7A-CA4D-BA3789290CF2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9BF1A063-92B4-7BE8-44F9-F5CCFF92AF32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7D7CCD4-D196-47D5-0731-C171FFBA9169}"/>
                  </a:ext>
                </a:extLst>
              </p:cNvPr>
              <p:cNvSpPr txBox="1"/>
              <p:nvPr/>
            </p:nvSpPr>
            <p:spPr>
              <a:xfrm>
                <a:off x="638569" y="672768"/>
                <a:ext cx="9714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15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263284F-C301-9BCD-016F-B64611C674CE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548366B-FF0D-8DA9-8748-6F53D17DD515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47" name="사각형: 둥근 위쪽 모서리 46">
              <a:extLst>
                <a:ext uri="{FF2B5EF4-FFF2-40B4-BE49-F238E27FC236}">
                  <a16:creationId xmlns:a16="http://schemas.microsoft.com/office/drawing/2014/main" id="{02CF7D7A-1D92-F392-DBF1-7CE5A141EA4E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9" name="사각형: 둥근 위쪽 모서리 48">
              <a:extLst>
                <a:ext uri="{FF2B5EF4-FFF2-40B4-BE49-F238E27FC236}">
                  <a16:creationId xmlns:a16="http://schemas.microsoft.com/office/drawing/2014/main" id="{75399F2A-C7A2-F378-727A-BBADB5ACEFF9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4E0F3B01-9F81-24AA-5DF0-B00178E1ECBC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1" name="사각형: 둥근 위쪽 모서리 50">
              <a:extLst>
                <a:ext uri="{FF2B5EF4-FFF2-40B4-BE49-F238E27FC236}">
                  <a16:creationId xmlns:a16="http://schemas.microsoft.com/office/drawing/2014/main" id="{6B0B0274-B379-4777-1953-D7AF72E63310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3" name="사각형: 둥근 위쪽 모서리 52">
              <a:extLst>
                <a:ext uri="{FF2B5EF4-FFF2-40B4-BE49-F238E27FC236}">
                  <a16:creationId xmlns:a16="http://schemas.microsoft.com/office/drawing/2014/main" id="{4D6A373B-ED06-E1B1-713B-FEE22D9E61AB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88A009B-6D1E-1E32-186E-2BCB407BFC03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BD92FD9-7E95-90F6-A741-01731F0D8471}"/>
                </a:ext>
              </a:extLst>
            </p:cNvPr>
            <p:cNvSpPr txBox="1"/>
            <p:nvPr/>
          </p:nvSpPr>
          <p:spPr>
            <a:xfrm>
              <a:off x="8896249" y="865098"/>
              <a:ext cx="66313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p.117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9391C88C-064E-579A-B45C-D381DC7BCE57}"/>
              </a:ext>
            </a:extLst>
          </p:cNvPr>
          <p:cNvGrpSpPr/>
          <p:nvPr/>
        </p:nvGrpSpPr>
        <p:grpSpPr>
          <a:xfrm>
            <a:off x="522288" y="1454050"/>
            <a:ext cx="5841721" cy="450951"/>
            <a:chOff x="522288" y="1454050"/>
            <a:chExt cx="5841721" cy="4509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01EA76D-77BA-949D-3578-0D868480C6B8}"/>
                </a:ext>
              </a:extLst>
            </p:cNvPr>
            <p:cNvSpPr txBox="1"/>
            <p:nvPr/>
          </p:nvSpPr>
          <p:spPr>
            <a:xfrm>
              <a:off x="1340198" y="1564200"/>
              <a:ext cx="5023811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교과학습발달상황의 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세부능력 및 특기사항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란 기재 지침 추가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3530F8BD-4692-87FB-BEEF-63EEE7D1AD25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A30ACF9B-57E6-2AAF-B5D2-9254956EB91E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D7BBD362-044B-4AFF-26D8-86347E678062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717772-D0DE-4255-C1EB-271396BC0478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590CA9D-C90A-31C2-7AA9-F4E8746D11E6}"/>
              </a:ext>
            </a:extLst>
          </p:cNvPr>
          <p:cNvSpPr txBox="1"/>
          <p:nvPr/>
        </p:nvSpPr>
        <p:spPr>
          <a:xfrm>
            <a:off x="2120359" y="2618233"/>
            <a:ext cx="7835478" cy="106182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180000" indent="-277200" latinLnBrk="0">
              <a:spcAft>
                <a:spcPts val="100"/>
              </a:spcAft>
            </a:pP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‘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세부능력 및 특기사항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은 학생참여형 수업 및 수업과 연계된 수행평가 등에서 관찰한 내용을 입력한다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180000" indent="-277200" latinLnBrk="0">
              <a:spcAft>
                <a:spcPts val="100"/>
              </a:spcAft>
            </a:pP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과목별 세부능력 및 특기사항은 모든 교과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군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모든 학생을 대상으로 입력한다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139700" latinLnBrk="0">
              <a:spcAft>
                <a:spcPts val="100"/>
              </a:spcAft>
            </a:pP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1)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교과수업에 참여하지 못한 학생의 경우 그 사유를 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세부능력 및 특기사항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입력한다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</a:p>
          <a:p>
            <a:pPr marL="139700" indent="127000" latinLnBrk="0">
              <a:spcAft>
                <a:spcPts val="100"/>
              </a:spcAft>
            </a:pP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&lt;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예시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&gt;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순회교육대상학생의 경우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순회교육으로 특이사항 없음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139700" indent="127000" latinLnBrk="0">
              <a:spcAft>
                <a:spcPts val="100"/>
              </a:spcAft>
            </a:pP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&lt;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예시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&gt; </a:t>
            </a:r>
            <a:r>
              <a:rPr lang="ko-KR" altLang="en-US" sz="8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장기결석생인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경우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장기결석으로 특이사항 없음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139700" indent="127000" latinLnBrk="0">
              <a:spcAft>
                <a:spcPts val="100"/>
              </a:spcAft>
            </a:pP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&lt;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예시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&gt;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위탁학생의 경우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위탁학생으로 특이사항 없음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376238" indent="-109538" latinLnBrk="0">
              <a:spcAft>
                <a:spcPts val="100"/>
              </a:spcAft>
            </a:pP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위탁교육기관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병원학교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원격수업 기관의 활동 내용이 있는 경우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해당 기관의 자료를 그대로 입력하되 자료 입력 내용은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 기재요령의 각종 유의사항을</a:t>
            </a:r>
            <a:b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준수하여 입력함</a:t>
            </a:r>
            <a:r>
              <a:rPr lang="en-US" altLang="ko-KR" sz="8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8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C7BC80-DD73-90B6-7718-5E08308A5D7A}"/>
              </a:ext>
            </a:extLst>
          </p:cNvPr>
          <p:cNvSpPr txBox="1"/>
          <p:nvPr/>
        </p:nvSpPr>
        <p:spPr>
          <a:xfrm>
            <a:off x="2090543" y="4633917"/>
            <a:ext cx="7825860" cy="226215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80988" indent="-280988" latinLnBrk="0">
              <a:spcAft>
                <a:spcPts val="300"/>
              </a:spcAft>
              <a:tabLst>
                <a:tab pos="285750" algn="l"/>
              </a:tabLst>
            </a:pP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‘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세부능력 및 특기사항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은 학생참여형 수업 및 수업과 연계된 수행평가 등에서 관찰한 내용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바탕으로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입력하되</a:t>
            </a:r>
            <a:b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과목별 성취기준에 따른 성취수준의 특성 및 학습활동 참여도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자기주도적 학습에 의한 변화와 성장 정도를</a:t>
            </a:r>
            <a:b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중심으로 기재한다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41300" indent="-458788" latinLnBrk="0">
              <a:spcAft>
                <a:spcPts val="300"/>
              </a:spcAft>
            </a:pP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과목별 세부능력 및 특기사항은 모든 교과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군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모든 학생을 대상으로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입력하는 것을 원칙으로 한다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</a:p>
          <a:p>
            <a:pPr marL="241300" indent="-12700" latinLnBrk="0">
              <a:spcAft>
                <a:spcPts val="300"/>
              </a:spcAft>
            </a:pP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1)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교과수업에 참여하지 못한 학생의 경우 그 사유를 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세부능력 및 특기사항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입력한다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</a:p>
          <a:p>
            <a:pPr marL="936625" indent="-533400" latinLnBrk="0">
              <a:spcAft>
                <a:spcPts val="300"/>
              </a:spcAft>
            </a:pP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&lt;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예시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&gt;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순회교육대상학생의 경우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순회교육으로 특이사항 없음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/ </a:t>
            </a:r>
            <a:r>
              <a:rPr lang="ko-KR" altLang="en-US" sz="12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장기결석생인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경우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장기결석으로 특이사항</a:t>
            </a:r>
            <a:b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없음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./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위탁학생의 경우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위탁학생으로 특이사항 없음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579438" indent="-168275" latinLnBrk="0">
              <a:spcAft>
                <a:spcPts val="300"/>
              </a:spcAft>
            </a:pP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순회교육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위탁교육기관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병원학교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원격수업 기관의 활동 내용이 있는 경우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 기재요령의</a:t>
            </a:r>
            <a:b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각종 유의사항을 준수하여 해당 기관의 자료를 입력함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403225" indent="-166688" latinLnBrk="0">
              <a:spcAft>
                <a:spcPts val="300"/>
              </a:spcAft>
            </a:pP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2)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학생이 해당 과목의 수업 활동에 대부분 참여하지 않아 관찰 내용이 없는 등 부득이한 경우에는 </a:t>
            </a:r>
            <a:endParaRPr lang="en-US" altLang="ko-KR" sz="12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03225" indent="-166688" latinLnBrk="0">
              <a:spcAft>
                <a:spcPts val="300"/>
              </a:spcAft>
            </a:pP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학업성적관리위원회의 심의를 통해 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특이사항 없음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.’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으로 입력할 수 있다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lang="ko-KR" altLang="en-US" sz="12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4E20B84-43C7-3328-B171-36FB0AD7DEEF}"/>
              </a:ext>
            </a:extLst>
          </p:cNvPr>
          <p:cNvGrpSpPr/>
          <p:nvPr/>
        </p:nvGrpSpPr>
        <p:grpSpPr>
          <a:xfrm>
            <a:off x="514422" y="4824464"/>
            <a:ext cx="1154042" cy="680400"/>
            <a:chOff x="514422" y="4824464"/>
            <a:chExt cx="1154042" cy="680400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EF1E465B-2571-C880-C278-3AF2D1908655}"/>
                </a:ext>
              </a:extLst>
            </p:cNvPr>
            <p:cNvSpPr/>
            <p:nvPr/>
          </p:nvSpPr>
          <p:spPr>
            <a:xfrm>
              <a:off x="514422" y="4824464"/>
              <a:ext cx="1154042" cy="680400"/>
            </a:xfrm>
            <a:prstGeom prst="roundRect">
              <a:avLst>
                <a:gd name="adj" fmla="val 29266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0BE6FE9-A36B-7466-CCCA-FC8DDC75891B}"/>
                </a:ext>
              </a:extLst>
            </p:cNvPr>
            <p:cNvSpPr txBox="1"/>
            <p:nvPr/>
          </p:nvSpPr>
          <p:spPr>
            <a:xfrm>
              <a:off x="704318" y="4887665"/>
              <a:ext cx="774251" cy="553998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  <a:r>
                <a:rPr lang="en-US" altLang="ko-KR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</a:t>
              </a: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및</a:t>
              </a:r>
              <a:endParaRPr lang="en-US" altLang="ko-KR" sz="1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신설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67D0E4D-9879-DC1E-B75B-D9D6DB4CF766}"/>
              </a:ext>
            </a:extLst>
          </p:cNvPr>
          <p:cNvGrpSpPr/>
          <p:nvPr/>
        </p:nvGrpSpPr>
        <p:grpSpPr>
          <a:xfrm>
            <a:off x="2048440" y="2289034"/>
            <a:ext cx="1637735" cy="250349"/>
            <a:chOff x="2159040" y="2172831"/>
            <a:chExt cx="1637735" cy="250349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D8AF6E05-D4BD-26C1-676A-CE755DF36990}"/>
                </a:ext>
              </a:extLst>
            </p:cNvPr>
            <p:cNvSpPr/>
            <p:nvPr/>
          </p:nvSpPr>
          <p:spPr>
            <a:xfrm>
              <a:off x="2159040" y="2172831"/>
              <a:ext cx="1637735" cy="250349"/>
            </a:xfrm>
            <a:prstGeom prst="roundRect">
              <a:avLst>
                <a:gd name="adj" fmla="val 50000"/>
              </a:avLst>
            </a:prstGeom>
            <a:solidFill>
              <a:srgbClr val="DBDBDB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BB29691-1F73-3615-4957-3E5162A4F976}"/>
                </a:ext>
              </a:extLst>
            </p:cNvPr>
            <p:cNvSpPr txBox="1"/>
            <p:nvPr/>
          </p:nvSpPr>
          <p:spPr>
            <a:xfrm>
              <a:off x="2251727" y="2213367"/>
              <a:ext cx="1417055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➋ 세부능력 및 특기사항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4ED9503-22E1-112C-ADEE-5287CA7143A0}"/>
              </a:ext>
            </a:extLst>
          </p:cNvPr>
          <p:cNvGrpSpPr/>
          <p:nvPr/>
        </p:nvGrpSpPr>
        <p:grpSpPr>
          <a:xfrm>
            <a:off x="2048436" y="4254796"/>
            <a:ext cx="2023501" cy="299049"/>
            <a:chOff x="2120355" y="4314983"/>
            <a:chExt cx="2023501" cy="299049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158B55D-3F81-075E-B603-800BB7585C0D}"/>
                </a:ext>
              </a:extLst>
            </p:cNvPr>
            <p:cNvSpPr/>
            <p:nvPr/>
          </p:nvSpPr>
          <p:spPr>
            <a:xfrm>
              <a:off x="2120355" y="4314983"/>
              <a:ext cx="2023501" cy="299049"/>
            </a:xfrm>
            <a:prstGeom prst="roundRect">
              <a:avLst>
                <a:gd name="adj" fmla="val 50000"/>
              </a:avLst>
            </a:prstGeom>
            <a:solidFill>
              <a:srgbClr val="1D83FF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2397A8-47AA-333E-76DF-D3610392216B}"/>
                </a:ext>
              </a:extLst>
            </p:cNvPr>
            <p:cNvSpPr txBox="1"/>
            <p:nvPr/>
          </p:nvSpPr>
          <p:spPr>
            <a:xfrm>
              <a:off x="2218487" y="4356786"/>
              <a:ext cx="1827423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➋ 세부능력 및 특기사항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83721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그룹 31">
            <a:extLst>
              <a:ext uri="{FF2B5EF4-FFF2-40B4-BE49-F238E27FC236}">
                <a16:creationId xmlns:a16="http://schemas.microsoft.com/office/drawing/2014/main" id="{D05C6633-4E8A-12D7-9496-5930989E3AED}"/>
              </a:ext>
            </a:extLst>
          </p:cNvPr>
          <p:cNvGrpSpPr/>
          <p:nvPr/>
        </p:nvGrpSpPr>
        <p:grpSpPr>
          <a:xfrm>
            <a:off x="1881855" y="2193391"/>
            <a:ext cx="8289258" cy="5118675"/>
            <a:chOff x="1881855" y="2193391"/>
            <a:chExt cx="8289258" cy="5118675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BDB062B5-4C12-F7B0-A138-3D06F9BF7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272EBF86-A9A8-4121-88C7-11F175A24A32}"/>
                </a:ext>
              </a:extLst>
            </p:cNvPr>
            <p:cNvSpPr/>
            <p:nvPr/>
          </p:nvSpPr>
          <p:spPr>
            <a:xfrm>
              <a:off x="1881855" y="2193391"/>
              <a:ext cx="8289258" cy="4827600"/>
            </a:xfrm>
            <a:prstGeom prst="roundRect">
              <a:avLst>
                <a:gd name="adj" fmla="val 303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11162AE4-1E3B-754C-CA8D-575F3991B7C1}"/>
              </a:ext>
            </a:extLst>
          </p:cNvPr>
          <p:cNvGrpSpPr/>
          <p:nvPr/>
        </p:nvGrpSpPr>
        <p:grpSpPr>
          <a:xfrm>
            <a:off x="522288" y="518880"/>
            <a:ext cx="5726087" cy="677108"/>
            <a:chOff x="522288" y="518880"/>
            <a:chExt cx="5726087" cy="67710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9E2C870-A14F-A86C-A2DC-4C0040441151}"/>
                </a:ext>
              </a:extLst>
            </p:cNvPr>
            <p:cNvSpPr txBox="1"/>
            <p:nvPr/>
          </p:nvSpPr>
          <p:spPr>
            <a:xfrm>
              <a:off x="1923473" y="518880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 발달상황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09A16EA8-E5E9-0676-B0EB-800E988384B8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FE55FEB1-0D5E-0F95-8175-64AA91B92088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C17A12-6ED9-6BB2-E165-5C366763BFDF}"/>
                  </a:ext>
                </a:extLst>
              </p:cNvPr>
              <p:cNvSpPr txBox="1"/>
              <p:nvPr/>
            </p:nvSpPr>
            <p:spPr>
              <a:xfrm>
                <a:off x="638569" y="672768"/>
                <a:ext cx="9714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15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C6859CDD-491E-5575-E860-5CEE74146054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8" name="사각형: 둥근 위쪽 모서리 7">
              <a:extLst>
                <a:ext uri="{FF2B5EF4-FFF2-40B4-BE49-F238E27FC236}">
                  <a16:creationId xmlns:a16="http://schemas.microsoft.com/office/drawing/2014/main" id="{525A4BB4-0F41-C839-8F94-CE2855F8336A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" name="사각형: 둥근 위쪽 모서리 8">
              <a:extLst>
                <a:ext uri="{FF2B5EF4-FFF2-40B4-BE49-F238E27FC236}">
                  <a16:creationId xmlns:a16="http://schemas.microsoft.com/office/drawing/2014/main" id="{217FED4A-43F6-EDFD-F5C6-E2E8BE001FDF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C3B42820-8677-1CCD-39E5-BC2E28D9AC3E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1" name="사각형: 둥근 위쪽 모서리 10">
              <a:extLst>
                <a:ext uri="{FF2B5EF4-FFF2-40B4-BE49-F238E27FC236}">
                  <a16:creationId xmlns:a16="http://schemas.microsoft.com/office/drawing/2014/main" id="{4FC7ECA2-F862-A3EF-D9C0-D991B8D6EF0C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" name="사각형: 둥근 위쪽 모서리 11">
              <a:extLst>
                <a:ext uri="{FF2B5EF4-FFF2-40B4-BE49-F238E27FC236}">
                  <a16:creationId xmlns:a16="http://schemas.microsoft.com/office/drawing/2014/main" id="{E06A49E0-4734-9477-EC97-70E5D38A9916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4DCD42-BC6F-6E5D-7DEC-78BFCBD2616E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B39D1A6-A19A-C912-051F-E4717CF1EDF0}"/>
                </a:ext>
              </a:extLst>
            </p:cNvPr>
            <p:cNvSpPr txBox="1"/>
            <p:nvPr/>
          </p:nvSpPr>
          <p:spPr>
            <a:xfrm>
              <a:off x="8896250" y="865098"/>
              <a:ext cx="66313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p.118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4B70C1F-F543-1DD6-6B67-40F824E0EF5B}"/>
              </a:ext>
            </a:extLst>
          </p:cNvPr>
          <p:cNvGrpSpPr/>
          <p:nvPr/>
        </p:nvGrpSpPr>
        <p:grpSpPr>
          <a:xfrm>
            <a:off x="522288" y="1454050"/>
            <a:ext cx="8928868" cy="450951"/>
            <a:chOff x="522288" y="1454050"/>
            <a:chExt cx="8928868" cy="45095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8109B1D-16C4-E0F5-C119-2B46652AEF80}"/>
                </a:ext>
              </a:extLst>
            </p:cNvPr>
            <p:cNvSpPr txBox="1"/>
            <p:nvPr/>
          </p:nvSpPr>
          <p:spPr>
            <a:xfrm>
              <a:off x="1340198" y="1564200"/>
              <a:ext cx="8110958" cy="2308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교과학습발달상황의 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세부능력 및 특기사항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란 입력 불가 항목 내용을 별도 항목 신설</a:t>
              </a: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908C869F-6A67-0448-CB60-3D58552975B1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8" name="사각형: 둥근 위쪽 모서리 17">
                <a:extLst>
                  <a:ext uri="{FF2B5EF4-FFF2-40B4-BE49-F238E27FC236}">
                    <a16:creationId xmlns:a16="http://schemas.microsoft.com/office/drawing/2014/main" id="{5E2F0899-BBCB-77DB-30D0-4296C42B2194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사각형: 둥근 위쪽 모서리 18">
                <a:extLst>
                  <a:ext uri="{FF2B5EF4-FFF2-40B4-BE49-F238E27FC236}">
                    <a16:creationId xmlns:a16="http://schemas.microsoft.com/office/drawing/2014/main" id="{001523B3-57D7-1D5B-3877-75C0E1458A9D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4E54537-BC72-4FAB-A349-199981328B01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E6DD06E-C022-DDF1-0823-59349007DF9C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630D800-688E-FEB8-D09B-BC04980F8479}"/>
              </a:ext>
            </a:extLst>
          </p:cNvPr>
          <p:cNvGrpSpPr/>
          <p:nvPr/>
        </p:nvGrpSpPr>
        <p:grpSpPr>
          <a:xfrm>
            <a:off x="2120359" y="3735024"/>
            <a:ext cx="741904" cy="250349"/>
            <a:chOff x="2159040" y="2172831"/>
            <a:chExt cx="741904" cy="250349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0E7DAA53-EE33-BAE2-01F3-89630258B133}"/>
                </a:ext>
              </a:extLst>
            </p:cNvPr>
            <p:cNvSpPr/>
            <p:nvPr/>
          </p:nvSpPr>
          <p:spPr>
            <a:xfrm>
              <a:off x="2159040" y="2172831"/>
              <a:ext cx="741904" cy="2503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F9971D2-C094-D04F-FE94-3F7282C0A954}"/>
                </a:ext>
              </a:extLst>
            </p:cNvPr>
            <p:cNvSpPr txBox="1"/>
            <p:nvPr/>
          </p:nvSpPr>
          <p:spPr>
            <a:xfrm>
              <a:off x="2251727" y="2213367"/>
              <a:ext cx="538609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fontAlgn="base"/>
              <a:r>
                <a:rPr lang="ko-KR" altLang="en-US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유의사항</a:t>
              </a:r>
              <a:endParaRPr lang="en-US" altLang="ko-KR" sz="11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E094DEE-DEAF-D938-3C85-C7461F08EFEA}"/>
              </a:ext>
            </a:extLst>
          </p:cNvPr>
          <p:cNvSpPr txBox="1"/>
          <p:nvPr/>
        </p:nvSpPr>
        <p:spPr>
          <a:xfrm>
            <a:off x="2191132" y="4069962"/>
            <a:ext cx="7803743" cy="27546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latinLnBrk="0">
              <a:spcAft>
                <a:spcPts val="300"/>
              </a:spcAft>
            </a:pP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교과학습발달상황의 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세부능력 및 특기사항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란 입력 불가 항목</a:t>
            </a:r>
          </a:p>
          <a:p>
            <a:pPr marL="82550" latinLnBrk="0">
              <a:spcAft>
                <a:spcPts val="300"/>
              </a:spcAft>
            </a:pP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각종 공인어학시험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 작성 시 유의사항 참조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참여 사실과 그 성적 및 수상 실적</a:t>
            </a:r>
          </a:p>
          <a:p>
            <a:pPr marL="88900" latinLnBrk="0">
              <a:spcAft>
                <a:spcPts val="300"/>
              </a:spcAft>
            </a:pP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교과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9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비교과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관련 교내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외 대회 참여 사실과 그 성적 및 수상 실적</a:t>
            </a:r>
            <a:endParaRPr lang="en-US" altLang="ko-KR" sz="9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179388" latinLnBrk="0">
              <a:spcAft>
                <a:spcPts val="300"/>
              </a:spcAft>
            </a:pP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학교장의 참가 허락을 받아 참여한 각종 교외대회에서의 수상실적도 기재 불가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</a:p>
          <a:p>
            <a:pPr marL="88900" latinLnBrk="0">
              <a:spcAft>
                <a:spcPts val="300"/>
              </a:spcAft>
            </a:pP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교외 기관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단체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장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등에게 수상한 교외상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표창장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감사장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공로상 등도 기재 불가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</a:p>
          <a:p>
            <a:pPr indent="92075" latinLnBrk="0">
              <a:spcAft>
                <a:spcPts val="300"/>
              </a:spcAft>
            </a:pP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교내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외 인증시험 참여 사실이나 그 성적</a:t>
            </a:r>
          </a:p>
          <a:p>
            <a:pPr marL="88900" indent="6350" latinLnBrk="0">
              <a:spcAft>
                <a:spcPts val="300"/>
              </a:spcAft>
            </a:pP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모의고사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전국연합학력평가 성적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9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원점수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석차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석차등급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백분위 등 성적 관련 내용 일체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및 관련 교내 수상실적</a:t>
            </a:r>
          </a:p>
          <a:p>
            <a:pPr indent="92075" latinLnBrk="0">
              <a:spcAft>
                <a:spcPts val="300"/>
              </a:spcAft>
            </a:pP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논문을 </a:t>
            </a:r>
            <a:r>
              <a:rPr lang="ko-KR" altLang="en-US" sz="9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학회지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등에 투고 또는 등재하거나 학회 등에서 발표한 사실</a:t>
            </a:r>
          </a:p>
          <a:p>
            <a:pPr indent="95250" latinLnBrk="0">
              <a:spcAft>
                <a:spcPts val="300"/>
              </a:spcAft>
            </a:pP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 </a:t>
            </a:r>
            <a:r>
              <a:rPr lang="ko-KR" altLang="en-US" sz="9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도서출간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사실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지식재산권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특허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실용신안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상표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디자인 등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출원 또는 등록 사실</a:t>
            </a:r>
          </a:p>
          <a:p>
            <a:pPr indent="98425" latinLnBrk="0">
              <a:spcAft>
                <a:spcPts val="300"/>
              </a:spcAft>
            </a:pP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교내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외 대회 참여 사실과 그 성적 및 수상실적</a:t>
            </a:r>
          </a:p>
          <a:p>
            <a:pPr indent="95250" latinLnBrk="0">
              <a:spcAft>
                <a:spcPts val="300"/>
              </a:spcAft>
            </a:pP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이외 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 작성 시 유의사항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에서 기재 금지한 사항 일체</a:t>
            </a:r>
          </a:p>
          <a:p>
            <a:pPr indent="92075" latinLnBrk="0">
              <a:spcAft>
                <a:spcPts val="300"/>
              </a:spcAft>
            </a:pP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 K-MOOC, MOOC, </a:t>
            </a:r>
            <a:r>
              <a:rPr lang="en-US" altLang="ko-KR" sz="9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KOCW</a:t>
            </a:r>
            <a:endParaRPr lang="en-US" altLang="ko-KR" sz="9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indent="92075" latinLnBrk="0">
              <a:spcAft>
                <a:spcPts val="300"/>
              </a:spcAft>
            </a:pP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자율탐구활동으로 작성한 연구보고서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9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소논문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관련사항 일체는 기재할 수 없으며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탐구보고서 등으로 편법적 기재 금지</a:t>
            </a:r>
          </a:p>
          <a:p>
            <a:pPr marL="285750" indent="-125413" latinLnBrk="0">
              <a:spcAft>
                <a:spcPts val="300"/>
              </a:spcAft>
            </a:pP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대회와 관련하여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대회의 명칭을 단순행사로 변경하여 입력하는 행위 불가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(‘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세부능력 및 특기사항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포함하여 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수상경력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이외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</a:t>
            </a:r>
            <a:b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어떠한 항목에도 변경 입력 불가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</a:p>
          <a:p>
            <a:pPr marL="333375" indent="-333375" latinLnBrk="0">
              <a:spcAft>
                <a:spcPts val="300"/>
              </a:spcAft>
            </a:pP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2024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학년도 대입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졸업생 포함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부터 상급학교 진학 시 영재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발명교육 실적은 제공하지 않음</a:t>
            </a:r>
            <a:r>
              <a:rPr lang="en-US" altLang="ko-KR" sz="9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9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0C88928-D4E3-B48E-7002-8348D9916263}"/>
              </a:ext>
            </a:extLst>
          </p:cNvPr>
          <p:cNvGrpSpPr/>
          <p:nvPr/>
        </p:nvGrpSpPr>
        <p:grpSpPr>
          <a:xfrm>
            <a:off x="2049109" y="2325145"/>
            <a:ext cx="7954750" cy="1243098"/>
            <a:chOff x="2049109" y="2366241"/>
            <a:chExt cx="7954750" cy="124309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CCE540B-4C83-3162-FEE3-F6B01E805F26}"/>
                </a:ext>
              </a:extLst>
            </p:cNvPr>
            <p:cNvSpPr txBox="1"/>
            <p:nvPr/>
          </p:nvSpPr>
          <p:spPr>
            <a:xfrm>
              <a:off x="2191132" y="2707172"/>
              <a:ext cx="7663958" cy="807913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latinLnBrk="0">
                <a:spcAft>
                  <a:spcPts val="300"/>
                </a:spcAft>
              </a:pP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• </a:t>
              </a:r>
              <a:r>
                <a: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과목별 성취기준에 따른 성취수준의 특성 및 학습활동 참여도</a:t>
              </a: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자기주도적 학습에 의한 변화와 성장 정도를 중심으로 기재함</a:t>
              </a: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.</a:t>
              </a:r>
            </a:p>
            <a:p>
              <a:pPr latinLnBrk="0">
                <a:spcAft>
                  <a:spcPts val="300"/>
                </a:spcAft>
              </a:pP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• </a:t>
              </a:r>
              <a:r>
                <a:rPr lang="ko-KR" altLang="en-US" sz="900" dirty="0" err="1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방과후학교</a:t>
              </a:r>
              <a:r>
                <a: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활동은 기재하지 않음</a:t>
              </a: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.</a:t>
              </a:r>
            </a:p>
            <a:p>
              <a:pPr marL="71438" indent="-71438" latinLnBrk="0">
                <a:spcAft>
                  <a:spcPts val="300"/>
                </a:spcAft>
              </a:pP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• </a:t>
              </a:r>
              <a:r>
                <a: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정규교육과정의 교과 성취기준에 따라 수업 중 연구보고서</a:t>
              </a: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900" dirty="0" err="1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소논문</a:t>
              </a: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 </a:t>
              </a:r>
              <a:r>
                <a: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작성이 가능한 과목*은 특기할 만한 사항이 있는 과목 및 학생에 대하여 연구보고서</a:t>
              </a:r>
              <a:b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</a:b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900" dirty="0" err="1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소논문</a:t>
              </a: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 </a:t>
              </a:r>
              <a:r>
                <a: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실적</a:t>
              </a: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제목</a:t>
              </a: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연구 주제 및 참여인원</a:t>
              </a: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소요시간</a:t>
              </a: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</a:t>
              </a:r>
              <a:r>
                <a: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을 제외하고 </a:t>
              </a: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세부능력 및 특기사항</a:t>
              </a: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을 기재할 수 있음</a:t>
              </a: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.</a:t>
              </a:r>
            </a:p>
            <a:p>
              <a:pPr marL="90488" latinLnBrk="0">
                <a:spcAft>
                  <a:spcPts val="300"/>
                </a:spcAft>
              </a:pP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* </a:t>
              </a:r>
              <a:r>
                <a: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연구보고서</a:t>
              </a: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900" dirty="0" err="1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소논문</a:t>
              </a: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) </a:t>
              </a:r>
              <a:r>
                <a: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작성 가능 과목</a:t>
              </a: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: </a:t>
              </a:r>
              <a:r>
                <a: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수학과제 탐구</a:t>
              </a: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사회문제 탐구</a:t>
              </a: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융합과학 탐구</a:t>
              </a: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과학과제 연구</a:t>
              </a: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사회과제 연구</a:t>
              </a:r>
              <a:r>
                <a:rPr lang="en-US" altLang="ko-KR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윤리문제 탐구</a:t>
              </a:r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F0D250E0-9BF0-D9D6-3999-1A398888B0F1}"/>
                </a:ext>
              </a:extLst>
            </p:cNvPr>
            <p:cNvSpPr/>
            <p:nvPr/>
          </p:nvSpPr>
          <p:spPr>
            <a:xfrm>
              <a:off x="2049109" y="2483327"/>
              <a:ext cx="7954750" cy="1126012"/>
            </a:xfrm>
            <a:prstGeom prst="roundRect">
              <a:avLst>
                <a:gd name="adj" fmla="val 9900"/>
              </a:avLst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0A3D12EC-B7D4-1A56-34DC-A300CA6810A7}"/>
                </a:ext>
              </a:extLst>
            </p:cNvPr>
            <p:cNvGrpSpPr/>
            <p:nvPr/>
          </p:nvGrpSpPr>
          <p:grpSpPr>
            <a:xfrm>
              <a:off x="2120359" y="2366241"/>
              <a:ext cx="1138109" cy="250349"/>
              <a:chOff x="2159040" y="2172831"/>
              <a:chExt cx="1138109" cy="250349"/>
            </a:xfrm>
          </p:grpSpPr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26A3A43C-579B-856F-C490-4C0787CDCAA4}"/>
                  </a:ext>
                </a:extLst>
              </p:cNvPr>
              <p:cNvSpPr/>
              <p:nvPr/>
            </p:nvSpPr>
            <p:spPr>
              <a:xfrm>
                <a:off x="2159040" y="2172831"/>
                <a:ext cx="1138109" cy="250349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CED2870-8B4F-299A-7CEB-DC7201535832}"/>
                  </a:ext>
                </a:extLst>
              </p:cNvPr>
              <p:cNvSpPr txBox="1"/>
              <p:nvPr/>
            </p:nvSpPr>
            <p:spPr>
              <a:xfrm>
                <a:off x="2251727" y="2213367"/>
                <a:ext cx="974626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100" b="1" spc="-5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표준 가이드라인</a:t>
                </a:r>
                <a:endParaRPr lang="en-US" altLang="ko-KR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7967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3C7F0-9B8B-1BFA-03E8-5DBECB2ED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그룹 67">
            <a:extLst>
              <a:ext uri="{FF2B5EF4-FFF2-40B4-BE49-F238E27FC236}">
                <a16:creationId xmlns:a16="http://schemas.microsoft.com/office/drawing/2014/main" id="{839E66B0-EE4E-6405-FD20-6532F8593D4A}"/>
              </a:ext>
            </a:extLst>
          </p:cNvPr>
          <p:cNvGrpSpPr/>
          <p:nvPr/>
        </p:nvGrpSpPr>
        <p:grpSpPr>
          <a:xfrm>
            <a:off x="1881855" y="2193391"/>
            <a:ext cx="8289258" cy="5118675"/>
            <a:chOff x="1881855" y="2193391"/>
            <a:chExt cx="8289258" cy="5118675"/>
          </a:xfrm>
        </p:grpSpPr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E84C0A7D-D6D0-4476-3683-C8F335433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03262220-7D67-0582-1B42-E5492A10DF53}"/>
                </a:ext>
              </a:extLst>
            </p:cNvPr>
            <p:cNvSpPr/>
            <p:nvPr/>
          </p:nvSpPr>
          <p:spPr>
            <a:xfrm>
              <a:off x="1881855" y="2193391"/>
              <a:ext cx="8289258" cy="4827600"/>
            </a:xfrm>
            <a:prstGeom prst="roundRect">
              <a:avLst>
                <a:gd name="adj" fmla="val 3034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CB7C2312-3278-229D-AC41-3851E9969CA9}"/>
              </a:ext>
            </a:extLst>
          </p:cNvPr>
          <p:cNvSpPr txBox="1"/>
          <p:nvPr/>
        </p:nvSpPr>
        <p:spPr>
          <a:xfrm>
            <a:off x="520774" y="2193391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1EEAC5D8-4DD2-4F70-FB5F-27ACFD22173F}"/>
              </a:ext>
            </a:extLst>
          </p:cNvPr>
          <p:cNvGrpSpPr/>
          <p:nvPr/>
        </p:nvGrpSpPr>
        <p:grpSpPr>
          <a:xfrm>
            <a:off x="608728" y="2912580"/>
            <a:ext cx="965431" cy="404231"/>
            <a:chOff x="7748588" y="3400790"/>
            <a:chExt cx="965431" cy="404231"/>
          </a:xfrm>
        </p:grpSpPr>
        <p:sp>
          <p:nvSpPr>
            <p:cNvPr id="86" name="자유형 31">
              <a:extLst>
                <a:ext uri="{FF2B5EF4-FFF2-40B4-BE49-F238E27FC236}">
                  <a16:creationId xmlns:a16="http://schemas.microsoft.com/office/drawing/2014/main" id="{38501218-928B-D5E4-4310-0CEE0479FCA3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63237A4-1764-95DF-1B46-730B989B283F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신설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FBF66A6-6515-C2F6-BF61-9297ECA14A05}"/>
              </a:ext>
            </a:extLst>
          </p:cNvPr>
          <p:cNvGrpSpPr/>
          <p:nvPr/>
        </p:nvGrpSpPr>
        <p:grpSpPr>
          <a:xfrm>
            <a:off x="522288" y="518880"/>
            <a:ext cx="5726087" cy="677108"/>
            <a:chOff x="522288" y="518880"/>
            <a:chExt cx="5726087" cy="67710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D05E244-C59A-6045-086D-01B8D62FFDB6}"/>
                </a:ext>
              </a:extLst>
            </p:cNvPr>
            <p:cNvSpPr txBox="1"/>
            <p:nvPr/>
          </p:nvSpPr>
          <p:spPr>
            <a:xfrm>
              <a:off x="1923473" y="518880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 발달상황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DDABB973-627E-3CC0-7757-45A580E8FA88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FE8C9E98-6386-73E3-D58B-FC698FBF5D07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D67950-C343-774C-F7B1-2F1B0733476A}"/>
                  </a:ext>
                </a:extLst>
              </p:cNvPr>
              <p:cNvSpPr txBox="1"/>
              <p:nvPr/>
            </p:nvSpPr>
            <p:spPr>
              <a:xfrm>
                <a:off x="638569" y="672768"/>
                <a:ext cx="9714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15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4FA141B-5F99-E1F3-9195-D720185628C3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16" name="사각형: 둥근 위쪽 모서리 15">
              <a:extLst>
                <a:ext uri="{FF2B5EF4-FFF2-40B4-BE49-F238E27FC236}">
                  <a16:creationId xmlns:a16="http://schemas.microsoft.com/office/drawing/2014/main" id="{92BDCF64-3C5D-0CD6-7103-DAEBB550BDE7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id="{4C0E439D-AC91-74CC-7C9E-3691F6F49AAC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D3B5EB98-0AA3-798D-9C72-F7DDFA8EDB33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3" name="사각형: 둥근 위쪽 모서리 22">
              <a:extLst>
                <a:ext uri="{FF2B5EF4-FFF2-40B4-BE49-F238E27FC236}">
                  <a16:creationId xmlns:a16="http://schemas.microsoft.com/office/drawing/2014/main" id="{57207D78-8160-E843-3F61-8A4CDF20EE04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4" name="사각형: 둥근 위쪽 모서리 23">
              <a:extLst>
                <a:ext uri="{FF2B5EF4-FFF2-40B4-BE49-F238E27FC236}">
                  <a16:creationId xmlns:a16="http://schemas.microsoft.com/office/drawing/2014/main" id="{D1C1659E-9C84-DF99-9183-E2FD50F78A0F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F5B79D1-97A1-A368-FC23-7B0C6EC889F9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0EF41BB-F9E3-1B0D-B4B2-4DBC1A5E5FF1}"/>
                </a:ext>
              </a:extLst>
            </p:cNvPr>
            <p:cNvSpPr txBox="1"/>
            <p:nvPr/>
          </p:nvSpPr>
          <p:spPr>
            <a:xfrm>
              <a:off x="8896250" y="865098"/>
              <a:ext cx="66313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p.118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041C96F-21E8-111D-A25E-9662B8083231}"/>
              </a:ext>
            </a:extLst>
          </p:cNvPr>
          <p:cNvGrpSpPr/>
          <p:nvPr/>
        </p:nvGrpSpPr>
        <p:grpSpPr>
          <a:xfrm>
            <a:off x="522288" y="1454050"/>
            <a:ext cx="8928868" cy="450951"/>
            <a:chOff x="522288" y="1454050"/>
            <a:chExt cx="8928868" cy="45095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B23DD0E-5E18-2C7A-47AF-CAE663237772}"/>
                </a:ext>
              </a:extLst>
            </p:cNvPr>
            <p:cNvSpPr txBox="1"/>
            <p:nvPr/>
          </p:nvSpPr>
          <p:spPr>
            <a:xfrm>
              <a:off x="1340198" y="1564200"/>
              <a:ext cx="8110958" cy="2308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교과학습발달상황의 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세부능력 및 특기사항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란 입력 불가 항목 내용을 별도 항목 신설</a:t>
              </a: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FB58B005-5AE9-A860-B4FC-B748C201CF2A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30" name="사각형: 둥근 위쪽 모서리 29">
                <a:extLst>
                  <a:ext uri="{FF2B5EF4-FFF2-40B4-BE49-F238E27FC236}">
                    <a16:creationId xmlns:a16="http://schemas.microsoft.com/office/drawing/2014/main" id="{262E2F53-79F9-330C-3BDE-EF7DC29F6080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1" name="사각형: 둥근 위쪽 모서리 30">
                <a:extLst>
                  <a:ext uri="{FF2B5EF4-FFF2-40B4-BE49-F238E27FC236}">
                    <a16:creationId xmlns:a16="http://schemas.microsoft.com/office/drawing/2014/main" id="{79E3D12C-535F-234D-B9CD-4E62059DF454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3992F97-8455-19F9-6B76-8D4A5D2A45A9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8D17212-318D-735E-17F6-4B358CD0C183}"/>
              </a:ext>
            </a:extLst>
          </p:cNvPr>
          <p:cNvSpPr txBox="1"/>
          <p:nvPr/>
        </p:nvSpPr>
        <p:spPr>
          <a:xfrm>
            <a:off x="2181029" y="2811770"/>
            <a:ext cx="7736092" cy="396262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50850" indent="-450850" latinLnBrk="0">
              <a:spcAft>
                <a:spcPts val="300"/>
              </a:spcAft>
            </a:pP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바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교과학습발달상황의 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세부능력 및 특기사항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다음의 항목은 입력할 수 없다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323850" latinLnBrk="0">
              <a:spcAft>
                <a:spcPts val="300"/>
              </a:spcAft>
            </a:pP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1) &lt;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 작성 시 유의사항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&gt;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에서 기재를 금지하고 있는 사항 </a:t>
            </a:r>
            <a:b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2)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교내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외 대회 참여 사실과 그 성적 및 수상실적</a:t>
            </a:r>
            <a:endParaRPr lang="en-US" altLang="ko-KR" sz="16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769938" indent="-228600" latinLnBrk="0">
              <a:spcAft>
                <a:spcPts val="300"/>
              </a:spcAft>
            </a:pP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대회와 관련하여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대회의 명칭을 단순행사로 변경하여 입력하는 행위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불가</a:t>
            </a:r>
            <a:b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(‘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세부능력 및 특기사항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포함하여 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수상경력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이외 학교생활기록부 어떠한</a:t>
            </a:r>
            <a:b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항목에도 변경 입력 불가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</a:p>
          <a:p>
            <a:pPr marL="769938" indent="-449263" latinLnBrk="0">
              <a:spcAft>
                <a:spcPts val="300"/>
              </a:spcAft>
            </a:pP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3) K-MOOC, MOOC, </a:t>
            </a:r>
            <a:r>
              <a:rPr lang="en-US" altLang="ko-KR" sz="16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KOCW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등 관련 사항</a:t>
            </a:r>
            <a:endParaRPr lang="en-US" altLang="ko-KR" sz="16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769938" indent="-449263" latinLnBrk="0">
              <a:spcAft>
                <a:spcPts val="300"/>
              </a:spcAft>
            </a:pP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4) </a:t>
            </a:r>
            <a:r>
              <a:rPr lang="ko-KR" altLang="en-US" sz="16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방과후학교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활동</a:t>
            </a:r>
            <a:endParaRPr lang="en-US" altLang="ko-KR" sz="16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563563" indent="-242888" latinLnBrk="0">
              <a:spcAft>
                <a:spcPts val="300"/>
              </a:spcAft>
            </a:pP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5)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연구보고서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6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소논문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관련 사항 </a:t>
            </a:r>
            <a:endParaRPr lang="en-US" altLang="ko-KR" sz="16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777875" indent="-228600" latinLnBrk="0">
              <a:spcAft>
                <a:spcPts val="300"/>
              </a:spcAft>
            </a:pP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다만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정규교육과정의 교과 성취기준에 따라 수업 중 연구보고서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6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소논문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b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작성이 가능한 과목*은 특기할 만한 사항이 있는 과목 및 학생에 대하여</a:t>
            </a:r>
            <a:b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연구보고서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6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소논문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실적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제목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연구 주제 및 참여인원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소요시간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제외하고</a:t>
            </a:r>
            <a:b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세부능력 및 특기사항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기재할 수 있음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936625" indent="-136525" latinLnBrk="0">
              <a:spcAft>
                <a:spcPts val="300"/>
              </a:spcAft>
            </a:pP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*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연구보고서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6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소논문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작성 가능 과목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수학과제 탐구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사회문제 탐구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융합과학 탐구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과학과제 연구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사회과제 연구</a:t>
            </a:r>
            <a:r>
              <a:rPr lang="en-US" altLang="ko-KR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윤리문제 탐구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EA24381-484B-7B84-D7E9-DC61F82BCD68}"/>
              </a:ext>
            </a:extLst>
          </p:cNvPr>
          <p:cNvGrpSpPr/>
          <p:nvPr/>
        </p:nvGrpSpPr>
        <p:grpSpPr>
          <a:xfrm>
            <a:off x="2120356" y="2403099"/>
            <a:ext cx="2013494" cy="299049"/>
            <a:chOff x="2120356" y="4314983"/>
            <a:chExt cx="2013494" cy="299049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8F1E4D05-D18B-E204-67E0-77021398B79D}"/>
                </a:ext>
              </a:extLst>
            </p:cNvPr>
            <p:cNvSpPr/>
            <p:nvPr/>
          </p:nvSpPr>
          <p:spPr>
            <a:xfrm>
              <a:off x="2120356" y="4314983"/>
              <a:ext cx="2013494" cy="299049"/>
            </a:xfrm>
            <a:prstGeom prst="roundRect">
              <a:avLst>
                <a:gd name="adj" fmla="val 50000"/>
              </a:avLst>
            </a:prstGeom>
            <a:solidFill>
              <a:srgbClr val="1D83FF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DCE7E95-4C77-5B2A-17D5-415888012CC7}"/>
                </a:ext>
              </a:extLst>
            </p:cNvPr>
            <p:cNvSpPr txBox="1"/>
            <p:nvPr/>
          </p:nvSpPr>
          <p:spPr>
            <a:xfrm>
              <a:off x="2196847" y="4356786"/>
              <a:ext cx="1827423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fontAlgn="base"/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➋ 세부능력 및 특기사항</a:t>
              </a:r>
              <a:endParaRPr lang="en-US" altLang="ko-KR" sz="14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77448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B2BEA-726F-CCE4-3B30-C016C2EE8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47EECCB2-1A65-EB50-51A1-933145676427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405A0037-5F14-FB63-02AF-D026BDFFD592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95DF9E5-8054-C6DD-1D88-DD7D01F6B7A9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5346B3B8-98C1-8956-74F3-CAF5DFA71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E260A9A6-2175-101C-FB58-E0B043123A63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FB6964C-5A3E-9214-361A-D6442146F2F9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CFDFF8FA-29CE-9C5B-A592-A8C0A139A2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B9619C82-2669-2133-8497-D04F589630EC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DA1BD-E762-1A79-685E-9D7994A0DB67}"/>
              </a:ext>
            </a:extLst>
          </p:cNvPr>
          <p:cNvGrpSpPr/>
          <p:nvPr/>
        </p:nvGrpSpPr>
        <p:grpSpPr>
          <a:xfrm>
            <a:off x="522288" y="518880"/>
            <a:ext cx="5726087" cy="677108"/>
            <a:chOff x="522288" y="518880"/>
            <a:chExt cx="5726087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651BF99-1CF7-2983-C6AE-4B5CFC9E466F}"/>
                </a:ext>
              </a:extLst>
            </p:cNvPr>
            <p:cNvSpPr txBox="1"/>
            <p:nvPr/>
          </p:nvSpPr>
          <p:spPr>
            <a:xfrm>
              <a:off x="1923473" y="518880"/>
              <a:ext cx="432490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 발달상황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650537F0-FB4D-320F-77CA-37D852EB25DA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3C14E15E-88B6-4757-CD0C-F0F007FA6331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6B31F92-5B14-1F05-CE2F-6EBEBC4F5D54}"/>
                  </a:ext>
                </a:extLst>
              </p:cNvPr>
              <p:cNvSpPr txBox="1"/>
              <p:nvPr/>
            </p:nvSpPr>
            <p:spPr>
              <a:xfrm>
                <a:off x="730742" y="672768"/>
                <a:ext cx="7870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별표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9</a:t>
                </a:r>
                <a:endPara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949447C7-EE8B-F4F5-2DBC-3AAF4D968158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6E854EF-90A1-0917-AAE0-12BD7AC35241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47" name="사각형: 둥근 위쪽 모서리 46">
              <a:extLst>
                <a:ext uri="{FF2B5EF4-FFF2-40B4-BE49-F238E27FC236}">
                  <a16:creationId xmlns:a16="http://schemas.microsoft.com/office/drawing/2014/main" id="{5F734F65-A7F0-49A4-CC9C-84D43BB0F96A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9" name="사각형: 둥근 위쪽 모서리 48">
              <a:extLst>
                <a:ext uri="{FF2B5EF4-FFF2-40B4-BE49-F238E27FC236}">
                  <a16:creationId xmlns:a16="http://schemas.microsoft.com/office/drawing/2014/main" id="{7670D4F6-B6AF-A35E-BBD0-1D7CF9EFB60B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CCEFBBCA-E643-E51E-72A7-E3A93EC20491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1" name="사각형: 둥근 위쪽 모서리 50">
              <a:extLst>
                <a:ext uri="{FF2B5EF4-FFF2-40B4-BE49-F238E27FC236}">
                  <a16:creationId xmlns:a16="http://schemas.microsoft.com/office/drawing/2014/main" id="{65B02538-9764-35BE-51C8-5FDBB64FBADD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3" name="사각형: 둥근 위쪽 모서리 52">
              <a:extLst>
                <a:ext uri="{FF2B5EF4-FFF2-40B4-BE49-F238E27FC236}">
                  <a16:creationId xmlns:a16="http://schemas.microsoft.com/office/drawing/2014/main" id="{F73BB9FF-1A7F-D3E0-C1BB-012C73D6B2ED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BF43F97-FE71-AD67-F9A1-7D6DEC094AC3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0C14A14-BAC1-D966-7354-1B9D63CA8F2D}"/>
                </a:ext>
              </a:extLst>
            </p:cNvPr>
            <p:cNvSpPr txBox="1"/>
            <p:nvPr/>
          </p:nvSpPr>
          <p:spPr>
            <a:xfrm>
              <a:off x="8889580" y="865098"/>
              <a:ext cx="676468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p.121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1FDE99F7-5859-0E82-B488-619B93062285}"/>
              </a:ext>
            </a:extLst>
          </p:cNvPr>
          <p:cNvGrpSpPr/>
          <p:nvPr/>
        </p:nvGrpSpPr>
        <p:grpSpPr>
          <a:xfrm>
            <a:off x="522288" y="1454050"/>
            <a:ext cx="3938957" cy="450951"/>
            <a:chOff x="522288" y="1454050"/>
            <a:chExt cx="3938957" cy="4509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7B7029-EB1B-5E5D-EDA5-A5EBB813885E}"/>
                </a:ext>
              </a:extLst>
            </p:cNvPr>
            <p:cNvSpPr txBox="1"/>
            <p:nvPr/>
          </p:nvSpPr>
          <p:spPr>
            <a:xfrm>
              <a:off x="1340198" y="1564200"/>
              <a:ext cx="3121047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지필평가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를 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‘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정기시험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’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으로 용어 변경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23EE464F-AF68-112A-EA82-1E5A6464AE3E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127C7800-002E-697B-17F2-8A87A7B6D854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81DE0DAF-E893-382A-5B93-5A27BA8553C2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8FF1D2-9BCB-CFC5-6D2B-3AB944AE3F7F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F9F9B71-2A90-B1B7-D83B-B401830338BE}"/>
              </a:ext>
            </a:extLst>
          </p:cNvPr>
          <p:cNvSpPr txBox="1"/>
          <p:nvPr/>
        </p:nvSpPr>
        <p:spPr>
          <a:xfrm>
            <a:off x="2048440" y="2648459"/>
            <a:ext cx="7968528" cy="105413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811213" indent="-908050" latinLnBrk="0">
              <a:spcAft>
                <a:spcPts val="300"/>
              </a:spcAft>
            </a:pP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▪ 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지필평가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‘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중간 또는 기말고사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(1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회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2</a:t>
            </a:r>
            <a:r>
              <a:rPr lang="ko-KR" altLang="en-US" sz="11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회고사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등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)’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와 같은 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1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일제식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정기고사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를 의미하며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‘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문항정보표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구성에 따라 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선택형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 </a:t>
            </a:r>
            <a:b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1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서답형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으로 구분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도교육청 공동으로 실시하는 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영어듣기평가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는 수행평가로 간주할 수 있으며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학교에서 </a:t>
            </a:r>
            <a:b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형성평가 및 수행평가의 일환으로 실시하는 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선택형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및 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1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서답형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문항으로 구성된 평가는 본 훈령의 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지필평가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</a:t>
            </a:r>
            <a:b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해당하지 않음</a:t>
            </a:r>
          </a:p>
          <a:p>
            <a:pPr marL="971550" indent="-152400" latinLnBrk="0">
              <a:spcAft>
                <a:spcPts val="300"/>
              </a:spcAft>
            </a:pP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지필평가 문항 중 선택형 문항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진위형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배합형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선다형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), </a:t>
            </a:r>
            <a:r>
              <a:rPr lang="ko-KR" altLang="en-US" sz="11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서답형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문항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완성형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단답형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서술형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논술형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구분은</a:t>
            </a:r>
            <a:b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「고등학교 학생평가 안내서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1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톺아보기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」 자료 참고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8442133-D90B-9A78-4F7D-820E0D0D5C49}"/>
              </a:ext>
            </a:extLst>
          </p:cNvPr>
          <p:cNvGrpSpPr/>
          <p:nvPr/>
        </p:nvGrpSpPr>
        <p:grpSpPr>
          <a:xfrm>
            <a:off x="2048440" y="2325144"/>
            <a:ext cx="1066101" cy="250349"/>
            <a:chOff x="2159040" y="2172831"/>
            <a:chExt cx="1066101" cy="250349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38A5D23A-0FB3-3DB7-A984-C67CFFA67993}"/>
                </a:ext>
              </a:extLst>
            </p:cNvPr>
            <p:cNvSpPr/>
            <p:nvPr/>
          </p:nvSpPr>
          <p:spPr>
            <a:xfrm>
              <a:off x="2159040" y="2172831"/>
              <a:ext cx="1066101" cy="2503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BDEB3A-9EC2-BD25-B47F-0C1ABB87A39B}"/>
                </a:ext>
              </a:extLst>
            </p:cNvPr>
            <p:cNvSpPr txBox="1"/>
            <p:nvPr/>
          </p:nvSpPr>
          <p:spPr>
            <a:xfrm>
              <a:off x="2251727" y="2213367"/>
              <a:ext cx="872034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주요 용어 정리</a:t>
              </a:r>
              <a:endParaRPr lang="en-US" altLang="ko-KR" sz="11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1C44910-D601-6825-EF40-694332F0517D}"/>
              </a:ext>
            </a:extLst>
          </p:cNvPr>
          <p:cNvSpPr txBox="1"/>
          <p:nvPr/>
        </p:nvSpPr>
        <p:spPr>
          <a:xfrm>
            <a:off x="2228256" y="5082907"/>
            <a:ext cx="7592402" cy="193899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196850" indent="-196850" latinLnBrk="0"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ko-KR" altLang="en-US" sz="1600" dirty="0"/>
              <a:t>▪ 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정기시험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‘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중간 또는 기말고사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(1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회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2</a:t>
            </a:r>
            <a:r>
              <a:rPr lang="ko-KR" altLang="en-US" sz="15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회고사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등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)’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와 같은 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5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일제식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정기고사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를 </a:t>
            </a:r>
            <a:b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의미하며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‘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문항정보표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구성에 따라 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선택형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 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5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서답형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으로 구분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b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‘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영어듣기평가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는 수행평가로 간주할 수 있으며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학교에서 형성평가 및 수행평가의 </a:t>
            </a:r>
            <a:b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일환으로 실시하는 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선택형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및 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5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서답형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문항으로 구성된 평가는 본 훈령의 </a:t>
            </a:r>
            <a:b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‘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정기시험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해당하지 않음</a:t>
            </a:r>
            <a:endParaRPr lang="en-US" altLang="ko-KR" sz="15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00050" indent="-193675" latinLnBrk="0"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정기시험 문항 중 선택형 문항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진위형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배합형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선다형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), </a:t>
            </a:r>
            <a:r>
              <a:rPr lang="ko-KR" altLang="en-US" sz="15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서답형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문항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완성형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단답형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서술형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논술형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구분은 「고등학교 학생평가 안내서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5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톺아보기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」 자료 참고관을 행동으로 드러내는 것 등을 모두 포함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37E24FD-398B-0AA7-333D-92926F51BE41}"/>
              </a:ext>
            </a:extLst>
          </p:cNvPr>
          <p:cNvGrpSpPr/>
          <p:nvPr/>
        </p:nvGrpSpPr>
        <p:grpSpPr>
          <a:xfrm>
            <a:off x="2049109" y="4263526"/>
            <a:ext cx="7954750" cy="681146"/>
            <a:chOff x="2049109" y="4263526"/>
            <a:chExt cx="7954750" cy="68114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567AD99-E086-11D9-938C-FF6EE41DCBB2}"/>
                </a:ext>
              </a:extLst>
            </p:cNvPr>
            <p:cNvSpPr txBox="1"/>
            <p:nvPr/>
          </p:nvSpPr>
          <p:spPr>
            <a:xfrm>
              <a:off x="2228256" y="4620528"/>
              <a:ext cx="3239669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latinLnBrk="0"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ko-KR" altLang="en-US" sz="1600" dirty="0"/>
                <a:t>▪ </a:t>
              </a:r>
              <a:r>
                <a:rPr lang="ko-KR" altLang="en-US" sz="1500" b="1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교과학습발달상황의 주요 용어 정리</a:t>
              </a: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F42470F6-52BF-980A-1D9B-1C2C8F7A2126}"/>
                </a:ext>
              </a:extLst>
            </p:cNvPr>
            <p:cNvSpPr/>
            <p:nvPr/>
          </p:nvSpPr>
          <p:spPr>
            <a:xfrm>
              <a:off x="2049109" y="4413050"/>
              <a:ext cx="7954750" cy="531622"/>
            </a:xfrm>
            <a:prstGeom prst="roundRect">
              <a:avLst/>
            </a:prstGeom>
            <a:noFill/>
            <a:ln w="12700">
              <a:solidFill>
                <a:srgbClr val="1D83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1B5881DA-0488-4C79-AA83-5A7C9C533160}"/>
                </a:ext>
              </a:extLst>
            </p:cNvPr>
            <p:cNvGrpSpPr/>
            <p:nvPr/>
          </p:nvGrpSpPr>
          <p:grpSpPr>
            <a:xfrm>
              <a:off x="2120356" y="4263526"/>
              <a:ext cx="562048" cy="299049"/>
              <a:chOff x="2120356" y="4314983"/>
              <a:chExt cx="562048" cy="299049"/>
            </a:xfrm>
          </p:grpSpPr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6CDEC423-6107-1BB8-0C3F-FCF4F83EFBEE}"/>
                  </a:ext>
                </a:extLst>
              </p:cNvPr>
              <p:cNvSpPr/>
              <p:nvPr/>
            </p:nvSpPr>
            <p:spPr>
              <a:xfrm>
                <a:off x="2120356" y="4314983"/>
                <a:ext cx="562048" cy="299049"/>
              </a:xfrm>
              <a:prstGeom prst="roundRect">
                <a:avLst>
                  <a:gd name="adj" fmla="val 50000"/>
                </a:avLst>
              </a:prstGeom>
              <a:solidFill>
                <a:srgbClr val="1D83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36B5EA2-CF34-7893-4412-BCABA0FB8A29}"/>
                  </a:ext>
                </a:extLst>
              </p:cNvPr>
              <p:cNvSpPr txBox="1"/>
              <p:nvPr/>
            </p:nvSpPr>
            <p:spPr>
              <a:xfrm>
                <a:off x="2228256" y="4356786"/>
                <a:ext cx="34624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fontAlgn="base"/>
                <a:r>
                  <a:rPr lang="ko-KR" altLang="en-US" sz="1400" b="1" spc="-5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참고</a:t>
                </a:r>
                <a:endPara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82C3ADC9-A57C-02E5-8268-4B4C900DE400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38" name="자유형 31">
              <a:extLst>
                <a:ext uri="{FF2B5EF4-FFF2-40B4-BE49-F238E27FC236}">
                  <a16:creationId xmlns:a16="http://schemas.microsoft.com/office/drawing/2014/main" id="{97E093BD-89A9-81FE-1E90-6A4DDDB92C35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88B3199-CB6F-F1C1-B982-D7776ECD1346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81895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4D342-6A0A-EE50-9740-94C959392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072FF07B-13C4-7C64-FF07-FB4469BA2855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8D3DEABB-8F0E-B669-7A41-F8811ED8824E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26719CE-0691-2159-D00C-18C07173730F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CC15EECF-C3AF-F752-C76A-7BC315BAD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2669F837-54EF-70D7-4FA3-46FAB08032BF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92E1D2B9-6708-5D99-27FF-E4862EA01B75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C2FAFB11-9C48-548E-8D53-0D7792B09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357877D1-D57A-115A-7409-A159B3C558E5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80D5329E-A435-DCA3-7C05-2F2F9F482892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34130A9-8830-2DF5-E6F5-F3733A002E80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47" name="사각형: 둥근 위쪽 모서리 46">
              <a:extLst>
                <a:ext uri="{FF2B5EF4-FFF2-40B4-BE49-F238E27FC236}">
                  <a16:creationId xmlns:a16="http://schemas.microsoft.com/office/drawing/2014/main" id="{2C730B57-5A2D-4A65-8AAE-32397C06F734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9" name="사각형: 둥근 위쪽 모서리 48">
              <a:extLst>
                <a:ext uri="{FF2B5EF4-FFF2-40B4-BE49-F238E27FC236}">
                  <a16:creationId xmlns:a16="http://schemas.microsoft.com/office/drawing/2014/main" id="{39728CAC-1E73-4E97-F848-C8E62BA0D675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688E35DB-E06F-EB44-0625-784BF38A3C7E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1" name="사각형: 둥근 위쪽 모서리 50">
              <a:extLst>
                <a:ext uri="{FF2B5EF4-FFF2-40B4-BE49-F238E27FC236}">
                  <a16:creationId xmlns:a16="http://schemas.microsoft.com/office/drawing/2014/main" id="{81391E4D-E2DE-406C-4282-8F12CE4403FB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3" name="사각형: 둥근 위쪽 모서리 52">
              <a:extLst>
                <a:ext uri="{FF2B5EF4-FFF2-40B4-BE49-F238E27FC236}">
                  <a16:creationId xmlns:a16="http://schemas.microsoft.com/office/drawing/2014/main" id="{5D44A6AC-9DFE-86E9-AE3C-7A6C09C28C24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2B5A11F-2B76-9C7D-3169-CC96F875B374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9E5D0A5-3289-8B6F-A0EC-834A693049FA}"/>
                </a:ext>
              </a:extLst>
            </p:cNvPr>
            <p:cNvSpPr txBox="1"/>
            <p:nvPr/>
          </p:nvSpPr>
          <p:spPr>
            <a:xfrm>
              <a:off x="8889580" y="865098"/>
              <a:ext cx="676468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p.157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63BDCE4-CD71-3121-C6F8-051EE64472B9}"/>
              </a:ext>
            </a:extLst>
          </p:cNvPr>
          <p:cNvGrpSpPr/>
          <p:nvPr/>
        </p:nvGrpSpPr>
        <p:grpSpPr>
          <a:xfrm>
            <a:off x="522288" y="1454050"/>
            <a:ext cx="8784852" cy="450951"/>
            <a:chOff x="522288" y="1454050"/>
            <a:chExt cx="8784852" cy="4509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2D1A05-B384-DE95-32FF-DFF0BEEFC3CE}"/>
                </a:ext>
              </a:extLst>
            </p:cNvPr>
            <p:cNvSpPr txBox="1"/>
            <p:nvPr/>
          </p:nvSpPr>
          <p:spPr>
            <a:xfrm>
              <a:off x="1340198" y="1564200"/>
              <a:ext cx="7966942" cy="2308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도서명과 저자명에 쓰인 상호명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기관명 기재 가능 명시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BD1C72DC-1055-C2AF-DD92-3E35466AF053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258940F9-CFA5-29AC-104F-14AAF27EA6F3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3B939457-12A0-530A-5395-DD6991A95EBE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11916AC-86B0-EB66-20CA-D0FCA7A69413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17508A7-B331-C7F9-30FA-63DBD7B2ACF3}"/>
              </a:ext>
            </a:extLst>
          </p:cNvPr>
          <p:cNvSpPr txBox="1"/>
          <p:nvPr/>
        </p:nvSpPr>
        <p:spPr>
          <a:xfrm>
            <a:off x="2172736" y="4723179"/>
            <a:ext cx="7805864" cy="205440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412750" indent="-630238" latinLnBrk="0">
              <a:spcAft>
                <a:spcPts val="300"/>
              </a:spcAft>
            </a:pP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‘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독서활동상황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에는 독서활동에 특기할 만한 사항이 있는 학생을 대상으로 읽은 책을 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도서명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저자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)’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형식으로만 입력한다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661988" indent="-242888" latinLnBrk="0">
              <a:spcAft>
                <a:spcPts val="300"/>
              </a:spcAft>
              <a:tabLst>
                <a:tab pos="661988" algn="l"/>
              </a:tabLst>
            </a:pP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독서 과정의 관찰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확인이 어려운 독서 성향 등은 기재하지 않고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읽은 책의 제목과 저자만 기재하여 독서활동 기록의 신뢰도를 제고함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652463" indent="-233363" latinLnBrk="0">
              <a:spcAft>
                <a:spcPts val="300"/>
              </a:spcAft>
            </a:pP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ISBN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등재된 도서에 한해 기재 가능하며 정기간행물 즉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ISSN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등재된 도서는 기재할 수 없음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617538" indent="-198438" latinLnBrk="0">
              <a:spcAft>
                <a:spcPts val="300"/>
              </a:spcAft>
            </a:pP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도서명과 저자명에 쓰인 </a:t>
            </a:r>
            <a:r>
              <a:rPr lang="ko-KR" altLang="en-US" sz="18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대학명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상호명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기관명 등은 입력할 수 있음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lang="ko-KR" altLang="en-US" sz="18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A9DAAF7-6D1C-A76D-CFA8-95A2579AE2F9}"/>
              </a:ext>
            </a:extLst>
          </p:cNvPr>
          <p:cNvGrpSpPr/>
          <p:nvPr/>
        </p:nvGrpSpPr>
        <p:grpSpPr>
          <a:xfrm>
            <a:off x="2049109" y="2289034"/>
            <a:ext cx="7954750" cy="1365304"/>
            <a:chOff x="2049109" y="2289034"/>
            <a:chExt cx="7954750" cy="1365304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017EE102-5F16-1AF3-07FA-8845865628F6}"/>
                </a:ext>
              </a:extLst>
            </p:cNvPr>
            <p:cNvGrpSpPr/>
            <p:nvPr/>
          </p:nvGrpSpPr>
          <p:grpSpPr>
            <a:xfrm>
              <a:off x="2049109" y="2289034"/>
              <a:ext cx="7954750" cy="778016"/>
              <a:chOff x="2049109" y="2289034"/>
              <a:chExt cx="7954750" cy="778016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55D0AB-B766-DF6F-1FFB-E7CD2EBC1CFC}"/>
                  </a:ext>
                </a:extLst>
              </p:cNvPr>
              <p:cNvSpPr txBox="1"/>
              <p:nvPr/>
            </p:nvSpPr>
            <p:spPr>
              <a:xfrm>
                <a:off x="2191132" y="2601390"/>
                <a:ext cx="7803743" cy="41549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marL="90488" indent="-90488" latinLnBrk="0">
                  <a:spcAft>
                    <a:spcPts val="300"/>
                  </a:spcAft>
                </a:pPr>
                <a:r>
                  <a:rPr lang="en-US" altLang="ko-KR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• </a:t>
                </a:r>
                <a:r>
                  <a:rPr lang="ko-KR" altLang="en-US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독서 과정의 관찰</a:t>
                </a:r>
                <a:r>
                  <a:rPr lang="en-US" altLang="ko-KR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·</a:t>
                </a:r>
                <a:r>
                  <a:rPr lang="ko-KR" altLang="en-US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확인이 어려운 독서 성향 등은 기재하지 않고</a:t>
                </a:r>
                <a:r>
                  <a:rPr lang="en-US" altLang="ko-KR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, </a:t>
                </a:r>
                <a:r>
                  <a:rPr lang="ko-KR" altLang="en-US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읽은 책의 제목과 저자만 기재하여 독서활동 기록의 신뢰도를 제고함</a:t>
                </a:r>
                <a:r>
                  <a:rPr lang="en-US" altLang="ko-KR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.</a:t>
                </a:r>
                <a:br>
                  <a:rPr lang="en-US" altLang="ko-KR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</a:br>
                <a:r>
                  <a:rPr lang="en-US" altLang="ko-KR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※ ISBN</a:t>
                </a:r>
                <a:r>
                  <a:rPr lang="ko-KR" altLang="en-US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에 등재된 도서에 한해 기재 가능함</a:t>
                </a:r>
                <a:r>
                  <a:rPr lang="en-US" altLang="ko-KR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(</a:t>
                </a:r>
                <a:r>
                  <a:rPr lang="ko-KR" altLang="en-US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정기간행물은 입력 불가</a:t>
                </a:r>
                <a:r>
                  <a:rPr lang="en-US" altLang="ko-KR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).</a:t>
                </a:r>
                <a:br>
                  <a:rPr lang="en-US" altLang="ko-KR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</a:br>
                <a:r>
                  <a:rPr lang="en-US" altLang="ko-KR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※ </a:t>
                </a:r>
                <a:r>
                  <a:rPr lang="ko-KR" altLang="en-US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정기간행물 즉 </a:t>
                </a:r>
                <a:r>
                  <a:rPr lang="en-US" altLang="ko-KR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ISSN</a:t>
                </a:r>
                <a:r>
                  <a:rPr lang="ko-KR" altLang="en-US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에 등재된 도서는 기재할 수 없음</a:t>
                </a:r>
                <a:r>
                  <a:rPr lang="en-US" altLang="ko-KR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.</a:t>
                </a:r>
                <a:endPara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8E117211-AF9F-A45D-90A4-5DF273640971}"/>
                  </a:ext>
                </a:extLst>
              </p:cNvPr>
              <p:cNvSpPr/>
              <p:nvPr/>
            </p:nvSpPr>
            <p:spPr>
              <a:xfrm>
                <a:off x="2049109" y="2406120"/>
                <a:ext cx="7954750" cy="660930"/>
              </a:xfrm>
              <a:prstGeom prst="roundRect">
                <a:avLst>
                  <a:gd name="adj" fmla="val 14512"/>
                </a:avLst>
              </a:prstGeom>
              <a:noFill/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B3A10852-87E3-E134-59A4-545EAB743001}"/>
                  </a:ext>
                </a:extLst>
              </p:cNvPr>
              <p:cNvGrpSpPr/>
              <p:nvPr/>
            </p:nvGrpSpPr>
            <p:grpSpPr>
              <a:xfrm>
                <a:off x="2120359" y="2289034"/>
                <a:ext cx="1138109" cy="250349"/>
                <a:chOff x="2159040" y="2172831"/>
                <a:chExt cx="1138109" cy="250349"/>
              </a:xfrm>
            </p:grpSpPr>
            <p:sp>
              <p:nvSpPr>
                <p:cNvPr id="25" name="사각형: 둥근 모서리 24">
                  <a:extLst>
                    <a:ext uri="{FF2B5EF4-FFF2-40B4-BE49-F238E27FC236}">
                      <a16:creationId xmlns:a16="http://schemas.microsoft.com/office/drawing/2014/main" id="{0DAA1425-7ECF-EC75-DEAC-67502F1EC074}"/>
                    </a:ext>
                  </a:extLst>
                </p:cNvPr>
                <p:cNvSpPr/>
                <p:nvPr/>
              </p:nvSpPr>
              <p:spPr>
                <a:xfrm>
                  <a:off x="2159040" y="2172831"/>
                  <a:ext cx="1138109" cy="2503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BDBD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61346AD-5456-FCA4-960A-443533F7CA6D}"/>
                    </a:ext>
                  </a:extLst>
                </p:cNvPr>
                <p:cNvSpPr txBox="1"/>
                <p:nvPr/>
              </p:nvSpPr>
              <p:spPr>
                <a:xfrm>
                  <a:off x="2251727" y="2213367"/>
                  <a:ext cx="974626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spAutoFit/>
                </a:bodyPr>
                <a:lstStyle/>
                <a:p>
                  <a:pPr algn="ctr" fontAlgn="base"/>
                  <a:r>
                    <a:rPr lang="ko-KR" altLang="en-US" sz="1100" b="1" spc="-50" dirty="0">
                      <a:ln>
                        <a:solidFill>
                          <a:schemeClr val="accent1">
                            <a:shade val="15000"/>
                            <a:alpha val="0"/>
                          </a:schemeClr>
                        </a:solidFill>
                      </a:ln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ea typeface="맑은 고딕" panose="020B0503020000020004" pitchFamily="50" charset="-127"/>
                      <a:cs typeface="Arial" panose="020B0604020202020204" pitchFamily="34" charset="0"/>
                    </a:rPr>
                    <a:t>표준 가이드라인</a:t>
                  </a:r>
                  <a:endParaRPr lang="en-US" altLang="ko-KR" sz="1100" b="1" spc="-5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93A7B4B5-03EA-15FC-1A45-F3F084080062}"/>
                </a:ext>
              </a:extLst>
            </p:cNvPr>
            <p:cNvGrpSpPr/>
            <p:nvPr/>
          </p:nvGrpSpPr>
          <p:grpSpPr>
            <a:xfrm>
              <a:off x="2120359" y="3193343"/>
              <a:ext cx="7874516" cy="460995"/>
              <a:chOff x="2120359" y="3193343"/>
              <a:chExt cx="7874516" cy="460995"/>
            </a:xfrm>
          </p:grpSpPr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850C12CC-5CC3-851D-8D89-C1869B9BF389}"/>
                  </a:ext>
                </a:extLst>
              </p:cNvPr>
              <p:cNvGrpSpPr/>
              <p:nvPr/>
            </p:nvGrpSpPr>
            <p:grpSpPr>
              <a:xfrm>
                <a:off x="2120359" y="3193343"/>
                <a:ext cx="1141953" cy="250349"/>
                <a:chOff x="2159040" y="2172831"/>
                <a:chExt cx="1141953" cy="250349"/>
              </a:xfrm>
            </p:grpSpPr>
            <p:sp>
              <p:nvSpPr>
                <p:cNvPr id="29" name="사각형: 둥근 모서리 28">
                  <a:extLst>
                    <a:ext uri="{FF2B5EF4-FFF2-40B4-BE49-F238E27FC236}">
                      <a16:creationId xmlns:a16="http://schemas.microsoft.com/office/drawing/2014/main" id="{5FD5B7C0-4B14-72C0-7755-28509BB62D0F}"/>
                    </a:ext>
                  </a:extLst>
                </p:cNvPr>
                <p:cNvSpPr/>
                <p:nvPr/>
              </p:nvSpPr>
              <p:spPr>
                <a:xfrm>
                  <a:off x="2159040" y="2172831"/>
                  <a:ext cx="1141953" cy="2503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BDBD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8986FD6-55A3-3AFF-30BB-972A712CD8F9}"/>
                    </a:ext>
                  </a:extLst>
                </p:cNvPr>
                <p:cNvSpPr txBox="1"/>
                <p:nvPr/>
              </p:nvSpPr>
              <p:spPr>
                <a:xfrm>
                  <a:off x="2251727" y="2213367"/>
                  <a:ext cx="948978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spAutoFit/>
                </a:bodyPr>
                <a:lstStyle/>
                <a:p>
                  <a:pPr fontAlgn="base"/>
                  <a:r>
                    <a:rPr lang="ko-KR" altLang="en-US" sz="1100" b="1" spc="-50" dirty="0">
                      <a:ln>
                        <a:solidFill>
                          <a:schemeClr val="accent1">
                            <a:shade val="15000"/>
                            <a:alpha val="0"/>
                          </a:schemeClr>
                        </a:solidFill>
                      </a:ln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ea typeface="맑은 고딕" panose="020B0503020000020004" pitchFamily="50" charset="-127"/>
                      <a:cs typeface="Arial" panose="020B0604020202020204" pitchFamily="34" charset="0"/>
                    </a:rPr>
                    <a:t>➋ 독서활동상황</a:t>
                  </a:r>
                  <a:endParaRPr lang="en-US" altLang="ko-KR" sz="1100" b="1" spc="-5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08585D-8277-89AF-1773-A6771F51B0EA}"/>
                  </a:ext>
                </a:extLst>
              </p:cNvPr>
              <p:cNvSpPr txBox="1"/>
              <p:nvPr/>
            </p:nvSpPr>
            <p:spPr>
              <a:xfrm>
                <a:off x="2191132" y="3515839"/>
                <a:ext cx="7803743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marL="90488" indent="-90488" latinLnBrk="0">
                  <a:spcAft>
                    <a:spcPts val="300"/>
                  </a:spcAft>
                </a:pPr>
                <a:r>
                  <a:rPr lang="ko-KR" altLang="en-US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가</a:t>
                </a:r>
                <a:r>
                  <a:rPr lang="en-US" altLang="ko-KR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. ‘</a:t>
                </a:r>
                <a:r>
                  <a:rPr lang="ko-KR" altLang="en-US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독서활동상황</a:t>
                </a:r>
                <a:r>
                  <a:rPr lang="en-US" altLang="ko-KR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’</a:t>
                </a:r>
                <a:r>
                  <a:rPr lang="ko-KR" altLang="en-US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에는 독서활동에 특기할 만한 사항이 있는 학생을 대상으로 읽은 책을 </a:t>
                </a:r>
                <a:r>
                  <a:rPr lang="en-US" altLang="ko-KR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‘</a:t>
                </a:r>
                <a:r>
                  <a:rPr lang="ko-KR" altLang="en-US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도서명</a:t>
                </a:r>
                <a:r>
                  <a:rPr lang="en-US" altLang="ko-KR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(</a:t>
                </a:r>
                <a:r>
                  <a:rPr lang="ko-KR" altLang="en-US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저자</a:t>
                </a:r>
                <a:r>
                  <a:rPr lang="en-US" altLang="ko-KR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)’ </a:t>
                </a:r>
                <a:r>
                  <a:rPr lang="ko-KR" altLang="en-US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형식으로만 입력한다</a:t>
                </a:r>
                <a:r>
                  <a:rPr lang="en-US" altLang="ko-KR" sz="9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.</a:t>
                </a:r>
                <a:endParaRPr lang="ko-KR" altLang="en-US" sz="900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074FE81-EFAD-33DA-C680-56C70F20BD1C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35" name="자유형 31">
              <a:extLst>
                <a:ext uri="{FF2B5EF4-FFF2-40B4-BE49-F238E27FC236}">
                  <a16:creationId xmlns:a16="http://schemas.microsoft.com/office/drawing/2014/main" id="{732BAD24-D9E5-BED8-392C-F73608DAAE74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8023064-CE2A-9FBB-4D3A-2B566DCA75A9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추가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C49CC6E-3B9E-8714-E859-17443196846D}"/>
              </a:ext>
            </a:extLst>
          </p:cNvPr>
          <p:cNvGrpSpPr/>
          <p:nvPr/>
        </p:nvGrpSpPr>
        <p:grpSpPr>
          <a:xfrm>
            <a:off x="2120355" y="4304051"/>
            <a:ext cx="1722180" cy="323826"/>
            <a:chOff x="2120355" y="4304051"/>
            <a:chExt cx="1722180" cy="323826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AF840967-677A-A861-FB65-87A1BDF27720}"/>
                </a:ext>
              </a:extLst>
            </p:cNvPr>
            <p:cNvSpPr/>
            <p:nvPr/>
          </p:nvSpPr>
          <p:spPr>
            <a:xfrm>
              <a:off x="2120355" y="4304051"/>
              <a:ext cx="1722180" cy="323826"/>
            </a:xfrm>
            <a:prstGeom prst="roundRect">
              <a:avLst>
                <a:gd name="adj" fmla="val 50000"/>
              </a:avLst>
            </a:prstGeom>
            <a:solidFill>
              <a:srgbClr val="1D83FF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DDB2BD0-FF99-48E3-134D-892ADA53A52F}"/>
                </a:ext>
              </a:extLst>
            </p:cNvPr>
            <p:cNvSpPr txBox="1"/>
            <p:nvPr/>
          </p:nvSpPr>
          <p:spPr>
            <a:xfrm>
              <a:off x="2278528" y="4342854"/>
              <a:ext cx="140583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fontAlgn="base"/>
              <a:r>
                <a:rPr lang="ko-KR" altLang="en-US" sz="16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➋ 독서활동상황</a:t>
              </a:r>
              <a:endParaRPr lang="en-US" altLang="ko-KR" sz="16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D7115C4-CABD-2493-3281-D077399AF4DE}"/>
              </a:ext>
            </a:extLst>
          </p:cNvPr>
          <p:cNvGrpSpPr/>
          <p:nvPr/>
        </p:nvGrpSpPr>
        <p:grpSpPr>
          <a:xfrm>
            <a:off x="522288" y="518880"/>
            <a:ext cx="5153815" cy="677108"/>
            <a:chOff x="522288" y="-1203263"/>
            <a:chExt cx="5153815" cy="677108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B74BF37-A6B5-44E2-A3B6-A1D81331F2CF}"/>
                </a:ext>
              </a:extLst>
            </p:cNvPr>
            <p:cNvSpPr txBox="1"/>
            <p:nvPr/>
          </p:nvSpPr>
          <p:spPr>
            <a:xfrm>
              <a:off x="2402771" y="-1203263"/>
              <a:ext cx="327333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독서활동 상황</a:t>
              </a: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616E0D12-7B07-F986-0097-D9D9D0571FF8}"/>
                </a:ext>
              </a:extLst>
            </p:cNvPr>
            <p:cNvSpPr/>
            <p:nvPr/>
          </p:nvSpPr>
          <p:spPr>
            <a:xfrm>
              <a:off x="522288" y="-1145200"/>
              <a:ext cx="1684800" cy="560982"/>
            </a:xfrm>
            <a:prstGeom prst="roundRect">
              <a:avLst>
                <a:gd name="adj" fmla="val 2523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508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endParaRPr lang="ko-KR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C9C8429-444B-90E6-B508-D943ECF1ABE1}"/>
                </a:ext>
              </a:extLst>
            </p:cNvPr>
            <p:cNvSpPr txBox="1"/>
            <p:nvPr/>
          </p:nvSpPr>
          <p:spPr>
            <a:xfrm>
              <a:off x="644981" y="-1049375"/>
              <a:ext cx="1437894" cy="36933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제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15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조의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3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61580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11239-F6C2-448E-D40A-C64608937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5D42D38F-1401-DE2B-2261-49B4482935C3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4C082DB2-48A5-06F3-B5D1-A8133C600BE9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A53E51F-D7C0-2DD9-24EB-84B99E237132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FAA26174-88D3-679D-8CDF-CEAED0D8B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DBD01FB6-2CB8-C063-940D-693616BF867B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BDC81395-7037-3AD6-2A15-0DAF5B47FA3C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01BEDC78-4106-5BE2-1344-4FBBFC41E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12559834-74FC-D805-6705-CBBC26F0B4F4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B1B39CA-ECC6-9157-4F72-B7CBF739B1B6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9B23B26-5038-26E3-0B8E-B07054DF9FCA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47" name="사각형: 둥근 위쪽 모서리 46">
              <a:extLst>
                <a:ext uri="{FF2B5EF4-FFF2-40B4-BE49-F238E27FC236}">
                  <a16:creationId xmlns:a16="http://schemas.microsoft.com/office/drawing/2014/main" id="{84301A1E-7D7E-65D7-6021-0945B6F6872B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9" name="사각형: 둥근 위쪽 모서리 48">
              <a:extLst>
                <a:ext uri="{FF2B5EF4-FFF2-40B4-BE49-F238E27FC236}">
                  <a16:creationId xmlns:a16="http://schemas.microsoft.com/office/drawing/2014/main" id="{A0193D66-3BE3-81D5-D0BA-9A03AB1A6827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BEDB12C9-E79D-8CCC-BC43-3A882DB0C845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1" name="사각형: 둥근 위쪽 모서리 50">
              <a:extLst>
                <a:ext uri="{FF2B5EF4-FFF2-40B4-BE49-F238E27FC236}">
                  <a16:creationId xmlns:a16="http://schemas.microsoft.com/office/drawing/2014/main" id="{298C0227-911E-832B-DFF3-0F8E4370D957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3" name="사각형: 둥근 위쪽 모서리 52">
              <a:extLst>
                <a:ext uri="{FF2B5EF4-FFF2-40B4-BE49-F238E27FC236}">
                  <a16:creationId xmlns:a16="http://schemas.microsoft.com/office/drawing/2014/main" id="{DCEABC8A-993A-435C-C7A2-2C7259A4E005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61E731F-2B30-C375-0A4B-96B44DB89F14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0261046-5364-8319-08BE-2CC7EE6D9F22}"/>
                </a:ext>
              </a:extLst>
            </p:cNvPr>
            <p:cNvSpPr txBox="1"/>
            <p:nvPr/>
          </p:nvSpPr>
          <p:spPr>
            <a:xfrm>
              <a:off x="8889580" y="865098"/>
              <a:ext cx="676468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p.157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45236196-CF12-291E-6666-F1F27807B9FF}"/>
              </a:ext>
            </a:extLst>
          </p:cNvPr>
          <p:cNvGrpSpPr/>
          <p:nvPr/>
        </p:nvGrpSpPr>
        <p:grpSpPr>
          <a:xfrm>
            <a:off x="522288" y="1454050"/>
            <a:ext cx="8784852" cy="450951"/>
            <a:chOff x="522288" y="1454050"/>
            <a:chExt cx="8784852" cy="4509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C05EB32-C6F7-D09E-DE95-2B2724770D22}"/>
                </a:ext>
              </a:extLst>
            </p:cNvPr>
            <p:cNvSpPr txBox="1"/>
            <p:nvPr/>
          </p:nvSpPr>
          <p:spPr>
            <a:xfrm>
              <a:off x="1340198" y="1564200"/>
              <a:ext cx="7966942" cy="2308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독서활동상황 내 중복 입력 허용 조건 추가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7CD2B861-56F0-F840-1C77-BAAE54518811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73198C11-EB20-90E2-0D5C-528EAB84CFD0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807D8D6A-4CAA-466B-4517-E87BBF4DD8F0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A917A26-001F-54E0-DFFA-20248110D493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A20CE8C-E0FC-8CDE-2000-D8BF018BAE30}"/>
              </a:ext>
            </a:extLst>
          </p:cNvPr>
          <p:cNvSpPr txBox="1"/>
          <p:nvPr/>
        </p:nvSpPr>
        <p:spPr>
          <a:xfrm>
            <a:off x="2090543" y="4373542"/>
            <a:ext cx="7805864" cy="20159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354013" indent="-571500" latinLnBrk="0">
              <a:spcAft>
                <a:spcPts val="300"/>
              </a:spcAft>
            </a:pP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학생이 동일한 책을 반복하여 읽고 동일하지 않은 독서 증빙자료를 제출한 경우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학기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또는 영역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상관없이 중복하여 입력할 수 있다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</a:p>
          <a:p>
            <a:pPr marL="609600" indent="-250825" latinLnBrk="0">
              <a:spcAft>
                <a:spcPts val="300"/>
              </a:spcAft>
            </a:pP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원서와 한국어 번역본을 읽고 동일하지 않은 증빙자료를 제출한 경우에도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각각 입력할 수 있음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</a:p>
          <a:p>
            <a:pPr marL="352800" indent="-572400" latinLnBrk="0">
              <a:spcAft>
                <a:spcPts val="300"/>
              </a:spcAft>
            </a:pP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단순 독후활동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감상문 작성 등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외 교육활동을 전개하였다면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도서명을 포함하여 그 내용을 다른 영역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교과학습발달상황 세부능력 및 특기사항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체험활동상황 영역별 특기사항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등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입력할 수 있다</a:t>
            </a:r>
            <a:r>
              <a:rPr lang="en-US" altLang="ko-KR" sz="18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8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3FEABD-B27A-73DD-39BE-A06F1F47FBAB}"/>
              </a:ext>
            </a:extLst>
          </p:cNvPr>
          <p:cNvSpPr txBox="1"/>
          <p:nvPr/>
        </p:nvSpPr>
        <p:spPr>
          <a:xfrm>
            <a:off x="2191132" y="2601390"/>
            <a:ext cx="7803743" cy="102592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90488" indent="-90488" latinLnBrk="0">
              <a:spcAft>
                <a:spcPts val="200"/>
              </a:spcAft>
            </a:pP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•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독서활동상황은 독서기록장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독서 포트폴리오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독서로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구 </a:t>
            </a:r>
            <a:r>
              <a:rPr lang="ko-KR" altLang="en-US" sz="10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독서교육종합지원시스템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증빙자료를 근거로 입력함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90488" indent="-90488" latinLnBrk="0">
              <a:spcAft>
                <a:spcPts val="200"/>
              </a:spcAft>
            </a:pP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전체 학년 동안 동일한 책을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독서활동상황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중복하여 입력하지 않도록 함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90488" indent="-90488" latinLnBrk="0">
              <a:spcAft>
                <a:spcPts val="200"/>
              </a:spcAft>
            </a:pP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단순 독후활동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감상문 작성 등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외 교육활동을 전개하였다면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도서명을 포함하여 그 내용을 다른 영역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0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교과세특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창의적 체험활동 등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입력할 수 있음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90488" indent="-90488" latinLnBrk="0">
              <a:spcAft>
                <a:spcPts val="200"/>
              </a:spcAft>
            </a:pP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원서와 한국어 번역본을 모두 읽은 경우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중복하여 입력하지 않음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90488" indent="-90488" latinLnBrk="0">
              <a:spcAft>
                <a:spcPts val="200"/>
              </a:spcAft>
            </a:pP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2024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학년도 대입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졸업생 포함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부터 상급학교 진학 시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독서활동상황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은 제공하지 않음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0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3E8FDA6-316B-4D5E-A635-3C04D2AC70FF}"/>
              </a:ext>
            </a:extLst>
          </p:cNvPr>
          <p:cNvGrpSpPr/>
          <p:nvPr/>
        </p:nvGrpSpPr>
        <p:grpSpPr>
          <a:xfrm>
            <a:off x="2120359" y="2289034"/>
            <a:ext cx="706061" cy="250349"/>
            <a:chOff x="2159040" y="2172831"/>
            <a:chExt cx="706061" cy="250349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12E88830-F396-CC89-4930-6D09F3EC472F}"/>
                </a:ext>
              </a:extLst>
            </p:cNvPr>
            <p:cNvSpPr/>
            <p:nvPr/>
          </p:nvSpPr>
          <p:spPr>
            <a:xfrm>
              <a:off x="2159040" y="2172831"/>
              <a:ext cx="706061" cy="250349"/>
            </a:xfrm>
            <a:prstGeom prst="roundRect">
              <a:avLst>
                <a:gd name="adj" fmla="val 50000"/>
              </a:avLst>
            </a:prstGeom>
            <a:solidFill>
              <a:srgbClr val="DBDBDB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3D87618-C0F2-F5AB-3C63-7597333D4175}"/>
                </a:ext>
              </a:extLst>
            </p:cNvPr>
            <p:cNvSpPr txBox="1"/>
            <p:nvPr/>
          </p:nvSpPr>
          <p:spPr>
            <a:xfrm>
              <a:off x="2251727" y="2213367"/>
              <a:ext cx="538609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유의사항</a:t>
              </a:r>
              <a:endParaRPr lang="en-US" altLang="ko-KR" sz="11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B63D040-F116-3716-5C5A-33CC34DC0C50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35" name="자유형 31">
              <a:extLst>
                <a:ext uri="{FF2B5EF4-FFF2-40B4-BE49-F238E27FC236}">
                  <a16:creationId xmlns:a16="http://schemas.microsoft.com/office/drawing/2014/main" id="{9711CA6C-9297-1BE9-0649-5D8D60B0AC9B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34B8A3B-3364-32C3-9600-0E5BA633666F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ACAFF614-66B6-5ECF-C78F-D8910E22148B}"/>
              </a:ext>
            </a:extLst>
          </p:cNvPr>
          <p:cNvGrpSpPr/>
          <p:nvPr/>
        </p:nvGrpSpPr>
        <p:grpSpPr>
          <a:xfrm>
            <a:off x="522288" y="518880"/>
            <a:ext cx="5153815" cy="677108"/>
            <a:chOff x="522288" y="-1203263"/>
            <a:chExt cx="5153815" cy="677108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467735-3782-6064-D276-60035876D3BD}"/>
                </a:ext>
              </a:extLst>
            </p:cNvPr>
            <p:cNvSpPr txBox="1"/>
            <p:nvPr/>
          </p:nvSpPr>
          <p:spPr>
            <a:xfrm>
              <a:off x="2402771" y="-1203263"/>
              <a:ext cx="3273332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독서활동 상황</a:t>
              </a: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68E56407-81C5-7553-BA8B-13878438ADD2}"/>
                </a:ext>
              </a:extLst>
            </p:cNvPr>
            <p:cNvSpPr/>
            <p:nvPr/>
          </p:nvSpPr>
          <p:spPr>
            <a:xfrm>
              <a:off x="522288" y="-1145200"/>
              <a:ext cx="1684800" cy="560982"/>
            </a:xfrm>
            <a:prstGeom prst="roundRect">
              <a:avLst>
                <a:gd name="adj" fmla="val 2523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508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endParaRPr lang="ko-KR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C09EE62-D166-A6B9-A3A4-807FEC80D1EC}"/>
                </a:ext>
              </a:extLst>
            </p:cNvPr>
            <p:cNvSpPr txBox="1"/>
            <p:nvPr/>
          </p:nvSpPr>
          <p:spPr>
            <a:xfrm>
              <a:off x="644981" y="-1049375"/>
              <a:ext cx="1437894" cy="36933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제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15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조의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3</a:t>
              </a:r>
              <a:endPara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29170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D1052-A561-2EE4-90E1-4677EA97A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D41A3094-3604-D5E1-C7B7-945CB7D1C63B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D41DA1F3-0C81-3B29-7253-C5B518876EF3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A95FF38-06E6-280B-91B3-75766EBE3826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8D472134-05EC-3CF9-BCFD-5F7E127F7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E8C43617-B778-F0C4-F5CE-20C23799B751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EDF3E142-2FC2-72CC-06A4-E9B2AB3158C3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886DF34A-0D7E-8C45-2852-43BD37B99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DF3C1E9A-E22F-F552-9721-79494B46667A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44497924-1DFB-694D-7FA2-FC6BE7A114AA}"/>
              </a:ext>
            </a:extLst>
          </p:cNvPr>
          <p:cNvGrpSpPr/>
          <p:nvPr/>
        </p:nvGrpSpPr>
        <p:grpSpPr>
          <a:xfrm>
            <a:off x="522288" y="518880"/>
            <a:ext cx="6370494" cy="677108"/>
            <a:chOff x="522288" y="518880"/>
            <a:chExt cx="6370494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7F89B59-1D25-66B3-A1D1-36A9BD03C0B1}"/>
                </a:ext>
              </a:extLst>
            </p:cNvPr>
            <p:cNvSpPr txBox="1"/>
            <p:nvPr/>
          </p:nvSpPr>
          <p:spPr>
            <a:xfrm>
              <a:off x="1923473" y="518880"/>
              <a:ext cx="4969309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행동특성 및 종합의견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A99F0CCE-EEB0-AEEF-2A21-DB1FEEEB7DBC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22027D54-E927-D2F4-4BEB-CD96C7458133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1AE4B19-725E-B0A1-3E3D-D6DDF4C815ED}"/>
                  </a:ext>
                </a:extLst>
              </p:cNvPr>
              <p:cNvSpPr txBox="1"/>
              <p:nvPr/>
            </p:nvSpPr>
            <p:spPr>
              <a:xfrm>
                <a:off x="638569" y="672768"/>
                <a:ext cx="9714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16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7A64D43-2A14-EB9C-BA97-1792DA1BD36E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8095CC5-C77C-F123-5CA4-F52647B6739B}"/>
              </a:ext>
            </a:extLst>
          </p:cNvPr>
          <p:cNvGrpSpPr/>
          <p:nvPr/>
        </p:nvGrpSpPr>
        <p:grpSpPr>
          <a:xfrm>
            <a:off x="522288" y="1454050"/>
            <a:ext cx="9139099" cy="450951"/>
            <a:chOff x="522288" y="1454050"/>
            <a:chExt cx="9139099" cy="4509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9BC2A0-7274-2B5E-B4A1-9748F9AD19C9}"/>
                </a:ext>
              </a:extLst>
            </p:cNvPr>
            <p:cNvSpPr txBox="1"/>
            <p:nvPr/>
          </p:nvSpPr>
          <p:spPr>
            <a:xfrm>
              <a:off x="1340198" y="1564200"/>
              <a:ext cx="8321189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행동특성 및 종합의견 작성 관점 명시</a:t>
              </a:r>
              <a:r>
                <a:rPr lang="en-US" altLang="ko-KR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학생의 부정적 행동특성을 입력하는 경우에 대한 처리 방법 변경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11E4B9B-7747-F11D-4EB5-2C163BEC96D1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3D4F8B34-2FFB-5B3B-5CB2-4EFA031839F5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3D244DFD-8E6A-1C05-3899-563192CF6BEB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182F62-75B3-6025-66B7-48080F10B107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1C60197-53DF-E3D0-079F-A7AB171F6D78}"/>
              </a:ext>
            </a:extLst>
          </p:cNvPr>
          <p:cNvGrpSpPr/>
          <p:nvPr/>
        </p:nvGrpSpPr>
        <p:grpSpPr>
          <a:xfrm>
            <a:off x="514422" y="4824464"/>
            <a:ext cx="1154042" cy="680400"/>
            <a:chOff x="514422" y="4824464"/>
            <a:chExt cx="1154042" cy="680400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F5529CD2-2F6E-4B96-4F1E-1AC6520C6B14}"/>
                </a:ext>
              </a:extLst>
            </p:cNvPr>
            <p:cNvSpPr/>
            <p:nvPr/>
          </p:nvSpPr>
          <p:spPr>
            <a:xfrm>
              <a:off x="514422" y="4824464"/>
              <a:ext cx="1154042" cy="680400"/>
            </a:xfrm>
            <a:prstGeom prst="roundRect">
              <a:avLst>
                <a:gd name="adj" fmla="val 29266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1EDAA7F-5F57-BA8F-1FC7-BCC09ADBC38F}"/>
                </a:ext>
              </a:extLst>
            </p:cNvPr>
            <p:cNvSpPr txBox="1"/>
            <p:nvPr/>
          </p:nvSpPr>
          <p:spPr>
            <a:xfrm>
              <a:off x="704318" y="4887665"/>
              <a:ext cx="774251" cy="553998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  <a:r>
                <a:rPr lang="en-US" altLang="ko-KR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</a:t>
              </a: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및</a:t>
              </a:r>
              <a:endParaRPr lang="en-US" altLang="ko-KR" sz="1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보완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5234764-DADA-C5E0-5D3E-EE835B13112A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15" name="사각형: 둥근 위쪽 모서리 14">
              <a:extLst>
                <a:ext uri="{FF2B5EF4-FFF2-40B4-BE49-F238E27FC236}">
                  <a16:creationId xmlns:a16="http://schemas.microsoft.com/office/drawing/2014/main" id="{D50BBC5D-7AEB-6D17-0B59-99D12FB1C79E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E7E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id="{064DBD4B-CFB1-F7A4-C183-E96A65D6B6D8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3E898520-235F-1FFD-7431-4FEBA403DE7B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4E7E36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2" name="사각형: 둥근 위쪽 모서리 31">
              <a:extLst>
                <a:ext uri="{FF2B5EF4-FFF2-40B4-BE49-F238E27FC236}">
                  <a16:creationId xmlns:a16="http://schemas.microsoft.com/office/drawing/2014/main" id="{F3C577A6-5318-8DE7-9F8A-07F5B6FBD60A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4E7E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4" name="사각형: 둥근 위쪽 모서리 33">
              <a:extLst>
                <a:ext uri="{FF2B5EF4-FFF2-40B4-BE49-F238E27FC236}">
                  <a16:creationId xmlns:a16="http://schemas.microsoft.com/office/drawing/2014/main" id="{03FDB54D-7C31-9081-44EB-6B60B8D07817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88A2DE8-7652-0583-52C1-DC9C82D3731B}"/>
                </a:ext>
              </a:extLst>
            </p:cNvPr>
            <p:cNvSpPr txBox="1"/>
            <p:nvPr/>
          </p:nvSpPr>
          <p:spPr>
            <a:xfrm>
              <a:off x="9048277" y="523614"/>
              <a:ext cx="359074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해설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F175AD6-488F-9EDC-C231-4049D1DA1460}"/>
                </a:ext>
              </a:extLst>
            </p:cNvPr>
            <p:cNvSpPr txBox="1"/>
            <p:nvPr/>
          </p:nvSpPr>
          <p:spPr>
            <a:xfrm>
              <a:off x="8889582" y="865098"/>
              <a:ext cx="676468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p.158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C0EE9866-1A07-73F3-7909-3837DC283119}"/>
              </a:ext>
            </a:extLst>
          </p:cNvPr>
          <p:cNvSpPr txBox="1"/>
          <p:nvPr/>
        </p:nvSpPr>
        <p:spPr>
          <a:xfrm>
            <a:off x="2120359" y="2326298"/>
            <a:ext cx="7803743" cy="13849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196850" indent="-196850" latinLnBrk="0">
              <a:spcAft>
                <a:spcPts val="200"/>
              </a:spcAft>
            </a:pP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‘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 및 종합의견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은 모든 학생에 대해 입력하며 행동특성을 포함한 각 항목에 기록된 자료를 종합하여 학생을 총체적으로 이해할 수 있도록 학급담임교사가 문장으로 입력하여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학생에 대한 일종의 추천서 또는 지도 자료가 되도록 작성한다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00025" indent="3175" latinLnBrk="0">
              <a:spcAft>
                <a:spcPts val="200"/>
              </a:spcAft>
            </a:pP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학급담임교사가 직접 관찰이 불가능한 경우 그 사유를 입력할 수 있음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indent="203200" latinLnBrk="0">
              <a:spcAft>
                <a:spcPts val="200"/>
              </a:spcAft>
            </a:pP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행동특성과 관련된 내용은 시도교육감이 정한 방법에 따라 누가 기록하여 관리함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342900" indent="-139700" latinLnBrk="0">
              <a:spcAft>
                <a:spcPts val="200"/>
              </a:spcAft>
            </a:pP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교육정보시스템을 이용하여 누가 기록하는 경우에는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[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학생생활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0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행동특성및종합의견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00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행동특성및종합의견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]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{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누가기록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}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탭에서 입력함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03200" indent="-203200" latinLnBrk="0">
              <a:spcAft>
                <a:spcPts val="200"/>
              </a:spcAft>
            </a:pP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 교육활동 전반에서 지속적으로 관찰된 학생의 행동특성에 관한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누가기록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참고하여 입력하고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성장 정도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발전 가능성 등을 구체적으로 작성한다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다만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부정적인 행동특성을 입력하는 경우에는 </a:t>
            </a:r>
            <a:r>
              <a:rPr lang="ko-KR" altLang="en-US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변화 가능성을 함께 입력한다</a:t>
            </a:r>
            <a:r>
              <a:rPr lang="en-US" altLang="ko-KR" sz="10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  <a:endParaRPr lang="ko-KR" altLang="en-US" sz="100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EB46F7-6152-AE90-AC2A-0C13F6CC4AEB}"/>
              </a:ext>
            </a:extLst>
          </p:cNvPr>
          <p:cNvSpPr txBox="1"/>
          <p:nvPr/>
        </p:nvSpPr>
        <p:spPr>
          <a:xfrm>
            <a:off x="2090543" y="4373542"/>
            <a:ext cx="8159285" cy="233910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44475" indent="-244475" latinLnBrk="0"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ko-KR" altLang="en-US" sz="1600" dirty="0"/>
              <a:t>▪ 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 및 종합의견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은 모든 학생에 대해 입력하며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행동특성을 포함한 각 항목에 기록된</a:t>
            </a:r>
            <a:b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자료를 종합하여 학급담임교사가 문장으로 입력한다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381000" indent="-139700" latinLnBrk="0"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학급담임교사가 직접 관찰이 불가능한 경우 그 사유를 입력할 수 있음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196850" indent="-196850" latinLnBrk="0"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ko-KR" altLang="en-US" sz="1600" dirty="0"/>
              <a:t>▪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학습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 및 인성 등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학교 교육활동 전반에서 지속적으로 관찰된 학생의 행동특성을</a:t>
            </a:r>
            <a:b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바탕으로 입력하고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성장 정도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특기사항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발전 가능성 등을 고려하여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성장을</a:t>
            </a:r>
            <a:b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지원하는 교육적 관점에서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작성한다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</a:p>
          <a:p>
            <a:pPr marL="419100" indent="-204788" latinLnBrk="0"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행동특성과 관련한 누가기록 여부 및 방법은 학교장이 정하되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다만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학생의 부정적인</a:t>
            </a:r>
            <a:b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행동특성을 입력하는 경우에는 학생의 행동특성이 구체적으로 드러나도록</a:t>
            </a:r>
            <a:b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누가 기록할 것을 권장함</a:t>
            </a:r>
            <a:r>
              <a:rPr lang="en-US" altLang="ko-KR" sz="15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lang="ko-KR" altLang="en-US" sz="15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9323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B3490-25E4-660A-F5CC-9E10464B7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DBF4CDA4-AD2E-3B44-D058-0F16715A597B}"/>
              </a:ext>
            </a:extLst>
          </p:cNvPr>
          <p:cNvSpPr txBox="1"/>
          <p:nvPr/>
        </p:nvSpPr>
        <p:spPr>
          <a:xfrm>
            <a:off x="520774" y="4105275"/>
            <a:ext cx="1186222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368" name="그래픽 2362">
            <a:extLst>
              <a:ext uri="{FF2B5EF4-FFF2-40B4-BE49-F238E27FC236}">
                <a16:creationId xmlns:a16="http://schemas.microsoft.com/office/drawing/2014/main" id="{4681135A-3E8C-2387-0922-DA9716078B1C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9219303-A804-3E51-6890-0AA5D2238804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7B3B94EF-6179-9D67-DB4D-D10B5D33B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EA2CDE90-6A4B-566D-1EAE-389ED96622A8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994B1A45-D0CA-0163-7439-B619EE0392BB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69962B10-27D8-E310-ADD9-056EFE81B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30F42E11-D18E-3674-EE79-C5ED62F2CEE7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069ADA6B-C841-F0BB-E220-0D5EB12E94BE}"/>
              </a:ext>
            </a:extLst>
          </p:cNvPr>
          <p:cNvGrpSpPr/>
          <p:nvPr/>
        </p:nvGrpSpPr>
        <p:grpSpPr>
          <a:xfrm>
            <a:off x="522288" y="518880"/>
            <a:ext cx="6370494" cy="677108"/>
            <a:chOff x="522288" y="518880"/>
            <a:chExt cx="6370494" cy="6771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C80947-EEC1-CF6D-F605-549551C0A10C}"/>
                </a:ext>
              </a:extLst>
            </p:cNvPr>
            <p:cNvSpPr txBox="1"/>
            <p:nvPr/>
          </p:nvSpPr>
          <p:spPr>
            <a:xfrm>
              <a:off x="1923473" y="518880"/>
              <a:ext cx="4969309" cy="67710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44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행동특성 및 종합의견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959F252C-EC47-F4FD-D9BF-C07318371571}"/>
                </a:ext>
              </a:extLst>
            </p:cNvPr>
            <p:cNvGrpSpPr/>
            <p:nvPr/>
          </p:nvGrpSpPr>
          <p:grpSpPr>
            <a:xfrm>
              <a:off x="522288" y="576943"/>
              <a:ext cx="1203982" cy="560982"/>
              <a:chOff x="522288" y="576943"/>
              <a:chExt cx="1203982" cy="560982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48EF0A56-8BDB-9545-13FD-4082B34780C4}"/>
                  </a:ext>
                </a:extLst>
              </p:cNvPr>
              <p:cNvSpPr/>
              <p:nvPr/>
            </p:nvSpPr>
            <p:spPr>
              <a:xfrm>
                <a:off x="522288" y="576943"/>
                <a:ext cx="1203982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A85C711-9CEA-B186-0451-681F9E7BFCD3}"/>
                  </a:ext>
                </a:extLst>
              </p:cNvPr>
              <p:cNvSpPr txBox="1"/>
              <p:nvPr/>
            </p:nvSpPr>
            <p:spPr>
              <a:xfrm>
                <a:off x="638569" y="672768"/>
                <a:ext cx="9714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제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16</a:t>
                </a:r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조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96503797-3A31-5647-0390-BC4F7B4810E2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0AA1F4C-D2E0-7AF3-D0A2-BC09F8B2C81B}"/>
              </a:ext>
            </a:extLst>
          </p:cNvPr>
          <p:cNvGrpSpPr/>
          <p:nvPr/>
        </p:nvGrpSpPr>
        <p:grpSpPr>
          <a:xfrm>
            <a:off x="522288" y="1454050"/>
            <a:ext cx="4862287" cy="450951"/>
            <a:chOff x="522288" y="1454050"/>
            <a:chExt cx="4862287" cy="4509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FC372C9-49DB-F7D4-92C3-6DC4CA9C64CE}"/>
                </a:ext>
              </a:extLst>
            </p:cNvPr>
            <p:cNvSpPr txBox="1"/>
            <p:nvPr/>
          </p:nvSpPr>
          <p:spPr>
            <a:xfrm>
              <a:off x="1340198" y="1564200"/>
              <a:ext cx="4044377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ko-KR" altLang="en-US" sz="15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행동특성 및 종합의견에 기재할 수 없는 내용 명시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72E786EF-ABAE-BB80-F977-86E3AF9F7857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2" name="사각형: 둥근 위쪽 모서리 11">
                <a:extLst>
                  <a:ext uri="{FF2B5EF4-FFF2-40B4-BE49-F238E27FC236}">
                    <a16:creationId xmlns:a16="http://schemas.microsoft.com/office/drawing/2014/main" id="{303453B0-41DF-3573-2D0E-DC1A641CC04B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61FD49CE-023C-1AC3-F113-4C1FDD8F8D0D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EFFDA8-C024-6A54-DB1D-43D3287D9275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0598B0A1-B1B2-98A0-CF3C-902A44B50398}"/>
              </a:ext>
            </a:extLst>
          </p:cNvPr>
          <p:cNvGrpSpPr/>
          <p:nvPr/>
        </p:nvGrpSpPr>
        <p:grpSpPr>
          <a:xfrm>
            <a:off x="2068984" y="4254796"/>
            <a:ext cx="2058515" cy="299049"/>
            <a:chOff x="2120355" y="4314983"/>
            <a:chExt cx="2058515" cy="299049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EA65417F-395F-BB8F-E85A-C8AEF37F2E18}"/>
                </a:ext>
              </a:extLst>
            </p:cNvPr>
            <p:cNvSpPr/>
            <p:nvPr/>
          </p:nvSpPr>
          <p:spPr>
            <a:xfrm>
              <a:off x="2120355" y="4314983"/>
              <a:ext cx="2058515" cy="299049"/>
            </a:xfrm>
            <a:prstGeom prst="roundRect">
              <a:avLst>
                <a:gd name="adj" fmla="val 50000"/>
              </a:avLst>
            </a:prstGeom>
            <a:solidFill>
              <a:srgbClr val="1D83FF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6EBBB6E-9002-BA3C-6379-F606D3BA0831}"/>
                </a:ext>
              </a:extLst>
            </p:cNvPr>
            <p:cNvSpPr txBox="1"/>
            <p:nvPr/>
          </p:nvSpPr>
          <p:spPr>
            <a:xfrm>
              <a:off x="2218487" y="4356786"/>
              <a:ext cx="1827423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1D83FF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➊ 행동특성 및 종합의견</a:t>
              </a:r>
              <a:endParaRPr lang="en-US" altLang="ko-KR" sz="14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1EAD180-F769-28A9-466C-FE737B1699E9}"/>
              </a:ext>
            </a:extLst>
          </p:cNvPr>
          <p:cNvSpPr txBox="1"/>
          <p:nvPr/>
        </p:nvSpPr>
        <p:spPr>
          <a:xfrm>
            <a:off x="2090543" y="4661535"/>
            <a:ext cx="7790274" cy="203902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284163" indent="-501650" latinLnBrk="0">
              <a:spcAft>
                <a:spcPts val="300"/>
              </a:spcAft>
            </a:pP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종합의견은 학기를 구분하여 입력할 수 있으며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학기별로 입력하는 경우 교육정보시스템에 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‘(1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학기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)’,‘(2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학기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)’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와</a:t>
            </a:r>
            <a:b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같이 직접 입력한다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476250" indent="-201613" latinLnBrk="0">
              <a:spcAft>
                <a:spcPts val="300"/>
              </a:spcAft>
            </a:pP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교육정보시스템을 이용하여 누가 기록하는 경우에는 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[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학생생활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2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행동특성및종합의견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r>
              <a:rPr lang="ko-KR" altLang="en-US" sz="12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행동특성및종합의견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]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</a:t>
            </a:r>
            <a:b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{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누가기록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}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탭에서 입력함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87338" indent="-504825" latinLnBrk="0">
              <a:spcAft>
                <a:spcPts val="300"/>
              </a:spcAft>
            </a:pP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다른 항목에 입력할 수 없는 내용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2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방과후학교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활동 등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은 행동특성 및 종합의견에도 입력할 수 없다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87338" indent="-504825" latinLnBrk="0">
              <a:spcAft>
                <a:spcPts val="300"/>
              </a:spcAft>
            </a:pP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 ※ &lt;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학교생활기록부 작성 시 유의사항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&gt;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을 참고함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41300" indent="-458788" latinLnBrk="0">
              <a:spcAft>
                <a:spcPts val="300"/>
              </a:spcAft>
            </a:pP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체육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예술활동은 학교교육활동을 통한 체육 및 예술활동을 종합적으로 입력할 수 있다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280988" indent="-498475" latinLnBrk="0">
              <a:spcAft>
                <a:spcPts val="300"/>
              </a:spcAft>
            </a:pP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라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「</a:t>
            </a:r>
            <a:r>
              <a:rPr lang="ko-KR" altLang="en-US" sz="12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영재교육진흥법」에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따른 영재교육기관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영재학교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영재학급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영재교육원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에서 수료한 영재교육 관련 내용은</a:t>
            </a:r>
            <a:b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 및 종합의견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입력하지 않고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교과학습발달상황 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세부능력 및 특기사항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입력한다</a:t>
            </a:r>
            <a:b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「영재교육진흥법 시행령」 제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36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조제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제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).</a:t>
            </a:r>
            <a:endParaRPr lang="ko-KR" altLang="en-US" sz="12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C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AE235BF-B59A-81BE-BA4C-FF65443A0ACE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26" name="자유형 31">
              <a:extLst>
                <a:ext uri="{FF2B5EF4-FFF2-40B4-BE49-F238E27FC236}">
                  <a16:creationId xmlns:a16="http://schemas.microsoft.com/office/drawing/2014/main" id="{28B8093B-53EF-9024-4F94-F1429D174B4A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FFBB961-FBF5-D729-C8EF-B5D6FC4333AC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추가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A449763-3883-0597-6594-DB47CA35A4D7}"/>
              </a:ext>
            </a:extLst>
          </p:cNvPr>
          <p:cNvGrpSpPr/>
          <p:nvPr/>
        </p:nvGrpSpPr>
        <p:grpSpPr>
          <a:xfrm>
            <a:off x="8456024" y="461709"/>
            <a:ext cx="1715089" cy="734279"/>
            <a:chOff x="8370270" y="461709"/>
            <a:chExt cx="1715089" cy="734279"/>
          </a:xfrm>
        </p:grpSpPr>
        <p:sp>
          <p:nvSpPr>
            <p:cNvPr id="35" name="사각형: 둥근 위쪽 모서리 34">
              <a:extLst>
                <a:ext uri="{FF2B5EF4-FFF2-40B4-BE49-F238E27FC236}">
                  <a16:creationId xmlns:a16="http://schemas.microsoft.com/office/drawing/2014/main" id="{A18B0E29-A932-3AE5-A018-41ECBE6E9273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6" name="사각형: 둥근 위쪽 모서리 35">
              <a:extLst>
                <a:ext uri="{FF2B5EF4-FFF2-40B4-BE49-F238E27FC236}">
                  <a16:creationId xmlns:a16="http://schemas.microsoft.com/office/drawing/2014/main" id="{931B25C2-2F5C-FEEE-B7EC-9BC8CAAE859A}"/>
                </a:ext>
              </a:extLst>
            </p:cNvPr>
            <p:cNvSpPr/>
            <p:nvPr/>
          </p:nvSpPr>
          <p:spPr>
            <a:xfrm>
              <a:off x="8559221" y="461709"/>
              <a:ext cx="1337186" cy="3138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0DC2AF1F-E6FE-0FAF-F533-9B8B50D24F25}"/>
                </a:ext>
              </a:extLst>
            </p:cNvPr>
            <p:cNvSpPr/>
            <p:nvPr/>
          </p:nvSpPr>
          <p:spPr>
            <a:xfrm>
              <a:off x="8370270" y="579956"/>
              <a:ext cx="1715089" cy="616032"/>
            </a:xfrm>
            <a:prstGeom prst="roundRect">
              <a:avLst>
                <a:gd name="adj" fmla="val 21980"/>
              </a:avLst>
            </a:prstGeom>
            <a:solidFill>
              <a:schemeClr val="bg1"/>
            </a:solidFill>
            <a:ln w="22225">
              <a:solidFill>
                <a:srgbClr val="B433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2" name="사각형: 둥근 위쪽 모서리 41">
              <a:extLst>
                <a:ext uri="{FF2B5EF4-FFF2-40B4-BE49-F238E27FC236}">
                  <a16:creationId xmlns:a16="http://schemas.microsoft.com/office/drawing/2014/main" id="{263EB938-B190-058B-4425-F085E062E62C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solidFill>
              <a:srgbClr val="B4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3" name="사각형: 둥근 위쪽 모서리 42">
              <a:extLst>
                <a:ext uri="{FF2B5EF4-FFF2-40B4-BE49-F238E27FC236}">
                  <a16:creationId xmlns:a16="http://schemas.microsoft.com/office/drawing/2014/main" id="{ECFB7187-2E1A-34FB-0179-C83BA2D5B1BA}"/>
                </a:ext>
              </a:extLst>
            </p:cNvPr>
            <p:cNvSpPr/>
            <p:nvPr/>
          </p:nvSpPr>
          <p:spPr>
            <a:xfrm>
              <a:off x="8637801" y="461709"/>
              <a:ext cx="1180026" cy="339255"/>
            </a:xfrm>
            <a:prstGeom prst="round2SameRect">
              <a:avLst>
                <a:gd name="adj1" fmla="val 20754"/>
                <a:gd name="adj2" fmla="val 50000"/>
              </a:avLst>
            </a:prstGeom>
            <a:gradFill>
              <a:gsLst>
                <a:gs pos="4700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73949" tIns="36974" rIns="73949" bIns="369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6847" latinLnBrk="0"/>
              <a:endParaRPr lang="ko-KR" altLang="en-US" sz="16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70C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36190F7-B293-2A1A-5A74-6A907E74A22B}"/>
                </a:ext>
              </a:extLst>
            </p:cNvPr>
            <p:cNvSpPr txBox="1"/>
            <p:nvPr/>
          </p:nvSpPr>
          <p:spPr>
            <a:xfrm>
              <a:off x="8868742" y="52361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기재요령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081BC98-96D5-4C1F-149B-715C75B46B8A}"/>
                </a:ext>
              </a:extLst>
            </p:cNvPr>
            <p:cNvSpPr txBox="1"/>
            <p:nvPr/>
          </p:nvSpPr>
          <p:spPr>
            <a:xfrm>
              <a:off x="8889580" y="865098"/>
              <a:ext cx="676468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p.159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385DEE52-31B2-F192-B9B0-D94E82D66482}"/>
              </a:ext>
            </a:extLst>
          </p:cNvPr>
          <p:cNvSpPr txBox="1"/>
          <p:nvPr/>
        </p:nvSpPr>
        <p:spPr>
          <a:xfrm>
            <a:off x="2150036" y="2601390"/>
            <a:ext cx="7803743" cy="10464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212725" indent="-212725" latinLnBrk="0">
              <a:spcAft>
                <a:spcPts val="300"/>
              </a:spcAft>
            </a:pP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가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종합의견은 학기를 구분하여 입력할 수 있으며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학기별로 입력하는 경우 교육정보시스템에 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‘(1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학기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)’, ‘(2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학기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)’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와 같이 직접 입력한다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90488" indent="-90488" latinLnBrk="0">
              <a:spcAft>
                <a:spcPts val="300"/>
              </a:spcAft>
            </a:pP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나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체육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예술활동은 학교교육활동을 통한 체육 및 예술활동을 종합적으로 입력할 수 있다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  <a:p>
            <a:pPr marL="187325" indent="-187325" latinLnBrk="0">
              <a:spcAft>
                <a:spcPts val="300"/>
              </a:spcAft>
            </a:pP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다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「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2015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학년도 외고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5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국제고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5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국제중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입학전형 개선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안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」 발표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(2014.01.08.)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따라 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2014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학년도부터 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「</a:t>
            </a:r>
            <a:r>
              <a:rPr lang="ko-KR" altLang="en-US" sz="105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영재교육진흥법」에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따른 영재교육기관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영재학교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영재학급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영재교육원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에서 수료한 영재교육 관련 내용은 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행동특성 및 종합의견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입력하지 않고 관련 교과 교과학습발달상황의 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세부능력 및 특기사항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 입력한다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.(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근거 법령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「영재교육진흥법 시행령」 제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36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 제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제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ko-KR" altLang="en-US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항</a:t>
            </a:r>
            <a:r>
              <a:rPr lang="en-US" altLang="ko-KR" sz="105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endParaRPr lang="ko-KR" altLang="en-US" sz="105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B7F70643-5CEB-12E1-82DC-B25378B48A4E}"/>
              </a:ext>
            </a:extLst>
          </p:cNvPr>
          <p:cNvGrpSpPr/>
          <p:nvPr/>
        </p:nvGrpSpPr>
        <p:grpSpPr>
          <a:xfrm>
            <a:off x="2068988" y="2289034"/>
            <a:ext cx="1624331" cy="250349"/>
            <a:chOff x="2159040" y="2172831"/>
            <a:chExt cx="1624331" cy="250349"/>
          </a:xfrm>
        </p:grpSpPr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D803D9EC-66AA-341C-577C-2415C1E39BBB}"/>
                </a:ext>
              </a:extLst>
            </p:cNvPr>
            <p:cNvSpPr/>
            <p:nvPr/>
          </p:nvSpPr>
          <p:spPr>
            <a:xfrm>
              <a:off x="2159040" y="2172831"/>
              <a:ext cx="1624331" cy="250349"/>
            </a:xfrm>
            <a:prstGeom prst="roundRect">
              <a:avLst>
                <a:gd name="adj" fmla="val 50000"/>
              </a:avLst>
            </a:prstGeom>
            <a:solidFill>
              <a:srgbClr val="DBDBDB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9636498-03E4-D4E6-77D7-85D33BF11450}"/>
                </a:ext>
              </a:extLst>
            </p:cNvPr>
            <p:cNvSpPr txBox="1"/>
            <p:nvPr/>
          </p:nvSpPr>
          <p:spPr>
            <a:xfrm>
              <a:off x="2251727" y="2213367"/>
              <a:ext cx="1417055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fontAlgn="base"/>
              <a:r>
                <a:rPr lang="ko-KR" altLang="en-US" sz="11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➊ 행동특성 및 종합의견</a:t>
              </a:r>
              <a:endParaRPr lang="en-US" altLang="ko-KR" sz="11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52288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24AC3F-8351-7992-3218-207826FDF153}"/>
              </a:ext>
            </a:extLst>
          </p:cNvPr>
          <p:cNvSpPr txBox="1"/>
          <p:nvPr/>
        </p:nvSpPr>
        <p:spPr>
          <a:xfrm>
            <a:off x="520774" y="4105275"/>
            <a:ext cx="1141338" cy="61555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40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D83F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endParaRPr lang="ko-KR" altLang="en-US" sz="40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D83FF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A16D6F5-714C-0D10-3F8E-AAA0E71A6B0D}"/>
              </a:ext>
            </a:extLst>
          </p:cNvPr>
          <p:cNvGrpSpPr/>
          <p:nvPr/>
        </p:nvGrpSpPr>
        <p:grpSpPr>
          <a:xfrm>
            <a:off x="608728" y="4824464"/>
            <a:ext cx="965431" cy="404231"/>
            <a:chOff x="7748588" y="3400790"/>
            <a:chExt cx="965431" cy="404231"/>
          </a:xfrm>
        </p:grpSpPr>
        <p:sp>
          <p:nvSpPr>
            <p:cNvPr id="4" name="자유형 31">
              <a:extLst>
                <a:ext uri="{FF2B5EF4-FFF2-40B4-BE49-F238E27FC236}">
                  <a16:creationId xmlns:a16="http://schemas.microsoft.com/office/drawing/2014/main" id="{CAC34866-A627-1CCD-4380-BDA0A41FEFE8}"/>
                </a:ext>
              </a:extLst>
            </p:cNvPr>
            <p:cNvSpPr/>
            <p:nvPr/>
          </p:nvSpPr>
          <p:spPr>
            <a:xfrm rot="10800000" flipV="1">
              <a:off x="7748588" y="3400790"/>
              <a:ext cx="965431" cy="404231"/>
            </a:xfrm>
            <a:prstGeom prst="roundRect">
              <a:avLst>
                <a:gd name="adj" fmla="val 50000"/>
              </a:avLst>
            </a:prstGeom>
            <a:solidFill>
              <a:srgbClr val="1D83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27A147A-D1A9-F809-EE7A-37821D638957}"/>
                </a:ext>
              </a:extLst>
            </p:cNvPr>
            <p:cNvSpPr txBox="1"/>
            <p:nvPr/>
          </p:nvSpPr>
          <p:spPr>
            <a:xfrm>
              <a:off x="8000470" y="3464407"/>
              <a:ext cx="46166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8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수정</a:t>
              </a:r>
            </a:p>
          </p:txBody>
        </p:sp>
      </p:grpSp>
      <p:sp>
        <p:nvSpPr>
          <p:cNvPr id="6" name="그래픽 2362">
            <a:extLst>
              <a:ext uri="{FF2B5EF4-FFF2-40B4-BE49-F238E27FC236}">
                <a16:creationId xmlns:a16="http://schemas.microsoft.com/office/drawing/2014/main" id="{662B00DA-6395-8D4A-3FE8-BBF3BA3D4C3B}"/>
              </a:ext>
            </a:extLst>
          </p:cNvPr>
          <p:cNvSpPr/>
          <p:nvPr/>
        </p:nvSpPr>
        <p:spPr>
          <a:xfrm rot="5400000" flipV="1">
            <a:off x="401882" y="3060018"/>
            <a:ext cx="1379124" cy="644292"/>
          </a:xfrm>
          <a:custGeom>
            <a:avLst/>
            <a:gdLst>
              <a:gd name="connsiteX0" fmla="*/ 471297 w 471296"/>
              <a:gd name="connsiteY0" fmla="*/ 133255 h 266414"/>
              <a:gd name="connsiteX1" fmla="*/ 304324 w 471296"/>
              <a:gd name="connsiteY1" fmla="*/ 0 h 266414"/>
              <a:gd name="connsiteX2" fmla="*/ 344805 w 471296"/>
              <a:gd name="connsiteY2" fmla="*/ 85630 h 266414"/>
              <a:gd name="connsiteX3" fmla="*/ 0 w 471296"/>
              <a:gd name="connsiteY3" fmla="*/ 133255 h 266414"/>
              <a:gd name="connsiteX4" fmla="*/ 344805 w 471296"/>
              <a:gd name="connsiteY4" fmla="*/ 180785 h 266414"/>
              <a:gd name="connsiteX5" fmla="*/ 304324 w 471296"/>
              <a:gd name="connsiteY5" fmla="*/ 266414 h 266414"/>
              <a:gd name="connsiteX6" fmla="*/ 471297 w 471296"/>
              <a:gd name="connsiteY6" fmla="*/ 133255 h 26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96" h="266414">
                <a:moveTo>
                  <a:pt x="471297" y="133255"/>
                </a:moveTo>
                <a:lnTo>
                  <a:pt x="304324" y="0"/>
                </a:lnTo>
                <a:lnTo>
                  <a:pt x="344805" y="85630"/>
                </a:lnTo>
                <a:lnTo>
                  <a:pt x="0" y="133255"/>
                </a:lnTo>
                <a:lnTo>
                  <a:pt x="344805" y="180785"/>
                </a:lnTo>
                <a:lnTo>
                  <a:pt x="304324" y="266414"/>
                </a:lnTo>
                <a:lnTo>
                  <a:pt x="471297" y="133255"/>
                </a:lnTo>
                <a:close/>
              </a:path>
            </a:pathLst>
          </a:custGeom>
          <a:gradFill>
            <a:gsLst>
              <a:gs pos="23000">
                <a:schemeClr val="bg1">
                  <a:lumMod val="65000"/>
                </a:schemeClr>
              </a:gs>
              <a:gs pos="88000">
                <a:srgbClr val="1D83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183FAC9-B810-1CA1-214B-67256E5CF110}"/>
              </a:ext>
            </a:extLst>
          </p:cNvPr>
          <p:cNvGrpSpPr/>
          <p:nvPr/>
        </p:nvGrpSpPr>
        <p:grpSpPr>
          <a:xfrm>
            <a:off x="1881855" y="4105275"/>
            <a:ext cx="8289258" cy="3206791"/>
            <a:chOff x="1881855" y="4105275"/>
            <a:chExt cx="8289258" cy="320679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0DC5150-BA50-85D0-3383-81BBF8546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7019925"/>
              <a:ext cx="8109353" cy="292141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68DAE76E-6036-5B46-D2ED-74C586416533}"/>
                </a:ext>
              </a:extLst>
            </p:cNvPr>
            <p:cNvSpPr/>
            <p:nvPr/>
          </p:nvSpPr>
          <p:spPr>
            <a:xfrm>
              <a:off x="1881855" y="4105275"/>
              <a:ext cx="8289258" cy="2914650"/>
            </a:xfrm>
            <a:prstGeom prst="roundRect">
              <a:avLst>
                <a:gd name="adj" fmla="val 5056"/>
              </a:avLst>
            </a:prstGeom>
            <a:solidFill>
              <a:srgbClr val="E8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39762B4-13AE-51F0-940C-344FD1EE4852}"/>
              </a:ext>
            </a:extLst>
          </p:cNvPr>
          <p:cNvGrpSpPr/>
          <p:nvPr/>
        </p:nvGrpSpPr>
        <p:grpSpPr>
          <a:xfrm>
            <a:off x="1881855" y="2193391"/>
            <a:ext cx="8289258" cy="1879381"/>
            <a:chOff x="1881855" y="2193391"/>
            <a:chExt cx="8289258" cy="187938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C617A68-85E0-A91B-A84E-95F3F2F88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5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1808" y="3780631"/>
              <a:ext cx="8109353" cy="292141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2E587D71-EC7A-FE12-6492-B09D29C11706}"/>
                </a:ext>
              </a:extLst>
            </p:cNvPr>
            <p:cNvSpPr/>
            <p:nvPr/>
          </p:nvSpPr>
          <p:spPr>
            <a:xfrm>
              <a:off x="1881855" y="2193391"/>
              <a:ext cx="8289258" cy="1587240"/>
            </a:xfrm>
            <a:prstGeom prst="roundRect">
              <a:avLst>
                <a:gd name="adj" fmla="val 897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A6BB30A-548D-D668-90FF-7C64D68A0C14}"/>
              </a:ext>
            </a:extLst>
          </p:cNvPr>
          <p:cNvSpPr txBox="1"/>
          <p:nvPr/>
        </p:nvSpPr>
        <p:spPr>
          <a:xfrm>
            <a:off x="690693" y="2193391"/>
            <a:ext cx="801501" cy="43088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Bef>
                <a:spcPct val="0"/>
              </a:spcBef>
              <a:defRPr/>
            </a:pPr>
            <a:r>
              <a:rPr lang="en-US" altLang="ko-KR" sz="28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스터닝  Bold" panose="020B0600000101010101" pitchFamily="50" charset="-127"/>
                <a:cs typeface="Arial" panose="020B0604020202020204" pitchFamily="34" charset="0"/>
              </a:rPr>
              <a:t>2025</a:t>
            </a:r>
            <a:endParaRPr lang="ko-KR" altLang="en-US" sz="28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스터닝 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247C961-9E78-349E-C899-33FC18264A6B}"/>
              </a:ext>
            </a:extLst>
          </p:cNvPr>
          <p:cNvGrpSpPr/>
          <p:nvPr/>
        </p:nvGrpSpPr>
        <p:grpSpPr>
          <a:xfrm>
            <a:off x="522288" y="1454050"/>
            <a:ext cx="9376343" cy="541037"/>
            <a:chOff x="522288" y="1454050"/>
            <a:chExt cx="9376343" cy="54103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B3B653-BD56-BEA1-3111-96923D37C075}"/>
                </a:ext>
              </a:extLst>
            </p:cNvPr>
            <p:cNvSpPr txBox="1"/>
            <p:nvPr/>
          </p:nvSpPr>
          <p:spPr>
            <a:xfrm>
              <a:off x="1340198" y="1564200"/>
              <a:ext cx="8558433" cy="430887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fontAlgn="base"/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1. </a:t>
              </a:r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진로활동 특기사항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봉사활동실적 활동내용</a:t>
              </a:r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행동특성 및 종합의견의 최대 글자수 변경</a:t>
              </a:r>
            </a:p>
            <a:p>
              <a:pPr fontAlgn="base"/>
              <a:r>
                <a:rPr lang="en-US" altLang="ko-KR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2. 2022 </a:t>
              </a:r>
              <a:r>
                <a:rPr lang="ko-KR" altLang="en-US" sz="1400" b="1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개정 교육과정 적용 학년의 공통과목과 전공실무과목의 과목별 세부능력 및 특기사항의 최대 글자수 변경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E46372C-4DAF-22F5-8AD5-3F8FD023217B}"/>
                </a:ext>
              </a:extLst>
            </p:cNvPr>
            <p:cNvGrpSpPr/>
            <p:nvPr/>
          </p:nvGrpSpPr>
          <p:grpSpPr>
            <a:xfrm>
              <a:off x="522288" y="1454050"/>
              <a:ext cx="644292" cy="450951"/>
              <a:chOff x="522288" y="1454050"/>
              <a:chExt cx="644292" cy="450951"/>
            </a:xfrm>
          </p:grpSpPr>
          <p:sp>
            <p:nvSpPr>
              <p:cNvPr id="17" name="사각형: 둥근 위쪽 모서리 16">
                <a:extLst>
                  <a:ext uri="{FF2B5EF4-FFF2-40B4-BE49-F238E27FC236}">
                    <a16:creationId xmlns:a16="http://schemas.microsoft.com/office/drawing/2014/main" id="{4E14DF15-D572-89A1-59F1-F2E5E552C5DC}"/>
                  </a:ext>
                </a:extLst>
              </p:cNvPr>
              <p:cNvSpPr/>
              <p:nvPr/>
            </p:nvSpPr>
            <p:spPr>
              <a:xfrm>
                <a:off x="522288" y="1454051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rgbClr val="1D8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사각형: 둥근 위쪽 모서리 17">
                <a:extLst>
                  <a:ext uri="{FF2B5EF4-FFF2-40B4-BE49-F238E27FC236}">
                    <a16:creationId xmlns:a16="http://schemas.microsoft.com/office/drawing/2014/main" id="{44178A00-6161-8E5A-4FC4-5781C7EDD4F4}"/>
                  </a:ext>
                </a:extLst>
              </p:cNvPr>
              <p:cNvSpPr/>
              <p:nvPr/>
            </p:nvSpPr>
            <p:spPr>
              <a:xfrm>
                <a:off x="522288" y="1454050"/>
                <a:ext cx="644292" cy="450950"/>
              </a:xfrm>
              <a:prstGeom prst="round2SameRect">
                <a:avLst>
                  <a:gd name="adj1" fmla="val 0"/>
                  <a:gd name="adj2" fmla="val 30883"/>
                </a:avLst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D90361-ECE4-1054-CE50-2C5ACA95528F}"/>
                  </a:ext>
                </a:extLst>
              </p:cNvPr>
              <p:cNvSpPr txBox="1"/>
              <p:nvPr/>
            </p:nvSpPr>
            <p:spPr>
              <a:xfrm>
                <a:off x="652074" y="1564200"/>
                <a:ext cx="38472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15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사유</a:t>
                </a:r>
              </a:p>
            </p:txBody>
          </p:sp>
        </p:grpSp>
      </p:grp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32F3CE38-F15D-E392-23DB-3ED54ABA1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553794"/>
              </p:ext>
            </p:extLst>
          </p:nvPr>
        </p:nvGraphicFramePr>
        <p:xfrm>
          <a:off x="2120359" y="2301778"/>
          <a:ext cx="7803743" cy="1167350"/>
        </p:xfrm>
        <a:graphic>
          <a:graphicData uri="http://schemas.openxmlformats.org/drawingml/2006/table">
            <a:tbl>
              <a:tblPr/>
              <a:tblGrid>
                <a:gridCol w="1625471">
                  <a:extLst>
                    <a:ext uri="{9D8B030D-6E8A-4147-A177-3AD203B41FA5}">
                      <a16:colId xmlns:a16="http://schemas.microsoft.com/office/drawing/2014/main" val="2550285270"/>
                    </a:ext>
                  </a:extLst>
                </a:gridCol>
                <a:gridCol w="2059424">
                  <a:extLst>
                    <a:ext uri="{9D8B030D-6E8A-4147-A177-3AD203B41FA5}">
                      <a16:colId xmlns:a16="http://schemas.microsoft.com/office/drawing/2014/main" val="3511806698"/>
                    </a:ext>
                  </a:extLst>
                </a:gridCol>
                <a:gridCol w="2059424">
                  <a:extLst>
                    <a:ext uri="{9D8B030D-6E8A-4147-A177-3AD203B41FA5}">
                      <a16:colId xmlns:a16="http://schemas.microsoft.com/office/drawing/2014/main" val="1830615272"/>
                    </a:ext>
                  </a:extLst>
                </a:gridCol>
                <a:gridCol w="2059424">
                  <a:extLst>
                    <a:ext uri="{9D8B030D-6E8A-4147-A177-3AD203B41FA5}">
                      <a16:colId xmlns:a16="http://schemas.microsoft.com/office/drawing/2014/main" val="17445225"/>
                    </a:ext>
                  </a:extLst>
                </a:gridCol>
              </a:tblGrid>
              <a:tr h="160860"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영역</a:t>
                      </a:r>
                    </a:p>
                  </a:txBody>
                  <a:tcPr marL="72000" marR="72000" marT="10800" marB="1080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세부항목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최대 글자수 </a:t>
                      </a:r>
                      <a:r>
                        <a:rPr lang="en-US" altLang="ko-KR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한글 기준</a:t>
                      </a:r>
                      <a:r>
                        <a:rPr lang="en-US" altLang="ko-KR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10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비고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18879"/>
                  </a:ext>
                </a:extLst>
              </a:tr>
              <a:tr h="198670">
                <a:tc rowSpan="2">
                  <a:txBody>
                    <a:bodyPr/>
                    <a:lstStyle/>
                    <a:p>
                      <a:pPr marL="0" marR="5080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5. </a:t>
                      </a: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창의적 체험활동상황*</a:t>
                      </a:r>
                      <a:endParaRPr lang="en-US" altLang="ko-KR" sz="8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진로활동 특기사항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D83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700</a:t>
                      </a:r>
                      <a:r>
                        <a:rPr lang="ko-KR" altLang="en-US" sz="8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D83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endParaRPr lang="ko-KR" altLang="en-US" sz="80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222215"/>
                  </a:ext>
                </a:extLst>
              </a:tr>
              <a:tr h="198670">
                <a:tc vMerge="1"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endParaRPr lang="en-US" altLang="ko-KR" sz="8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봉사활동실적 활동내용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D83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250</a:t>
                      </a:r>
                      <a:r>
                        <a:rPr lang="ko-KR" altLang="en-US" sz="8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D83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endParaRPr lang="ko-KR" altLang="en-US" sz="80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291231"/>
                  </a:ext>
                </a:extLst>
              </a:tr>
              <a:tr h="198670">
                <a:tc rowSpan="2">
                  <a:txBody>
                    <a:bodyPr/>
                    <a:lstStyle/>
                    <a:p>
                      <a:pPr marL="0" marR="5080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7. </a:t>
                      </a: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교과학습발달상황*</a:t>
                      </a:r>
                    </a:p>
                  </a:txBody>
                  <a:tcPr marL="72000" marR="72000" marT="10800" marB="1080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과목별 세부능력 및 특기사항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과목별 </a:t>
                      </a:r>
                      <a:r>
                        <a:rPr lang="en-US" altLang="ko-KR" sz="8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500</a:t>
                      </a:r>
                      <a:r>
                        <a:rPr lang="ko-KR" altLang="en-US" sz="8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l" fontAlgn="base" latinLnBrk="1">
                        <a:lnSpc>
                          <a:spcPct val="100000"/>
                        </a:lnSpc>
                        <a:buNone/>
                      </a:pPr>
                      <a:endParaRPr lang="ko-KR" altLang="en-US" sz="8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254105"/>
                  </a:ext>
                </a:extLst>
              </a:tr>
              <a:tr h="198670">
                <a:tc vMerge="1"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endParaRPr lang="ko-KR" altLang="en-US" sz="8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개인별 세부능력 및 특기사항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500</a:t>
                      </a:r>
                      <a:r>
                        <a:rPr lang="ko-KR" altLang="en-US" sz="8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l" fontAlgn="base" latinLnBrk="1">
                        <a:lnSpc>
                          <a:spcPct val="100000"/>
                        </a:lnSpc>
                        <a:buNone/>
                      </a:pPr>
                      <a:endParaRPr lang="ko-KR" altLang="en-US" sz="8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993597"/>
                  </a:ext>
                </a:extLst>
              </a:tr>
              <a:tr h="198670">
                <a:tc>
                  <a:txBody>
                    <a:bodyPr/>
                    <a:lstStyle/>
                    <a:p>
                      <a:pPr marL="0" marR="5080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9. </a:t>
                      </a:r>
                      <a:r>
                        <a:rPr lang="ko-KR" altLang="en-US" sz="8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행동특성 및 종합의견*</a:t>
                      </a:r>
                    </a:p>
                  </a:txBody>
                  <a:tcPr marL="72000" marR="72000" marT="10800" marB="1080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행동특성 및 종합의견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D83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500</a:t>
                      </a:r>
                      <a:r>
                        <a:rPr lang="ko-KR" altLang="en-US" sz="8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1D83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</a:t>
                      </a: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endParaRPr lang="ko-KR" altLang="en-US" sz="80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031671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CABFA7EF-2385-7FB8-4743-347FB5CB8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564887"/>
              </p:ext>
            </p:extLst>
          </p:nvPr>
        </p:nvGraphicFramePr>
        <p:xfrm>
          <a:off x="2120359" y="4254590"/>
          <a:ext cx="7803742" cy="1784172"/>
        </p:xfrm>
        <a:graphic>
          <a:graphicData uri="http://schemas.openxmlformats.org/drawingml/2006/table">
            <a:tbl>
              <a:tblPr/>
              <a:tblGrid>
                <a:gridCol w="1826647">
                  <a:extLst>
                    <a:ext uri="{9D8B030D-6E8A-4147-A177-3AD203B41FA5}">
                      <a16:colId xmlns:a16="http://schemas.microsoft.com/office/drawing/2014/main" val="2550285270"/>
                    </a:ext>
                  </a:extLst>
                </a:gridCol>
                <a:gridCol w="2084429">
                  <a:extLst>
                    <a:ext uri="{9D8B030D-6E8A-4147-A177-3AD203B41FA5}">
                      <a16:colId xmlns:a16="http://schemas.microsoft.com/office/drawing/2014/main" val="2997939085"/>
                    </a:ext>
                  </a:extLst>
                </a:gridCol>
                <a:gridCol w="1888455">
                  <a:extLst>
                    <a:ext uri="{9D8B030D-6E8A-4147-A177-3AD203B41FA5}">
                      <a16:colId xmlns:a16="http://schemas.microsoft.com/office/drawing/2014/main" val="3657494680"/>
                    </a:ext>
                  </a:extLst>
                </a:gridCol>
                <a:gridCol w="2004211">
                  <a:extLst>
                    <a:ext uri="{9D8B030D-6E8A-4147-A177-3AD203B41FA5}">
                      <a16:colId xmlns:a16="http://schemas.microsoft.com/office/drawing/2014/main" val="2299552337"/>
                    </a:ext>
                  </a:extLst>
                </a:gridCol>
              </a:tblGrid>
              <a:tr h="230201"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영역</a:t>
                      </a:r>
                    </a:p>
                  </a:txBody>
                  <a:tcPr marL="72000" marR="72000" marT="36000" marB="3600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세부항목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최대 글자수 </a:t>
                      </a: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한글 기준</a:t>
                      </a: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11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비고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8EC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18879"/>
                  </a:ext>
                </a:extLst>
              </a:tr>
              <a:tr h="270992">
                <a:tc rowSpan="2">
                  <a:txBody>
                    <a:bodyPr/>
                    <a:lstStyle/>
                    <a:p>
                      <a:pPr marL="0" marR="5080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5. </a:t>
                      </a: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창의적 체험활동상황*</a:t>
                      </a:r>
                      <a:endParaRPr lang="en-US" altLang="ko-KR" sz="11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진로활동 특기사항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500</a:t>
                      </a: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endParaRPr lang="ko-KR" altLang="en-US" sz="11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222215"/>
                  </a:ext>
                </a:extLst>
              </a:tr>
              <a:tr h="270992">
                <a:tc vMerge="1"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endParaRPr lang="en-US" altLang="ko-KR" sz="12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봉사활동실적 활동내용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50</a:t>
                      </a: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endParaRPr lang="ko-KR" altLang="en-US" sz="11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36723"/>
                  </a:ext>
                </a:extLst>
              </a:tr>
              <a:tr h="460564">
                <a:tc rowSpan="2">
                  <a:txBody>
                    <a:bodyPr/>
                    <a:lstStyle/>
                    <a:p>
                      <a:pPr marL="0" marR="5080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7. </a:t>
                      </a: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교과학습발달상황*</a:t>
                      </a:r>
                    </a:p>
                  </a:txBody>
                  <a:tcPr marL="72000" marR="72000" marT="36000" marB="3600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과목별 세부능력 및 특기사항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과목별</a:t>
                      </a: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500</a:t>
                      </a: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공통과목 </a:t>
                      </a: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1·2 </a:t>
                      </a: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합산 </a:t>
                      </a: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500</a:t>
                      </a: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자**</a:t>
                      </a:r>
                    </a:p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전공실무과목 학기별 </a:t>
                      </a: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500</a:t>
                      </a: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254105"/>
                  </a:ext>
                </a:extLst>
              </a:tr>
              <a:tr h="270992">
                <a:tc vMerge="1"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endParaRPr lang="ko-KR" altLang="en-US" sz="12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개인별 세부능력 및 특기사항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500</a:t>
                      </a: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endParaRPr lang="ko-KR" altLang="en-US" sz="11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459011"/>
                  </a:ext>
                </a:extLst>
              </a:tr>
              <a:tr h="270992">
                <a:tc>
                  <a:txBody>
                    <a:bodyPr/>
                    <a:lstStyle/>
                    <a:p>
                      <a:pPr marL="0" marR="5080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9. </a:t>
                      </a: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행동특성 및 종합의견*</a:t>
                      </a:r>
                    </a:p>
                  </a:txBody>
                  <a:tcPr marL="72000" marR="72000" marT="36000" marB="36000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행동특성 및 종합의견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자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0" indent="0" algn="ctr" fontAlgn="base" latinLnBrk="1">
                        <a:lnSpc>
                          <a:spcPct val="100000"/>
                        </a:lnSpc>
                        <a:buNone/>
                      </a:pPr>
                      <a:endParaRPr lang="ko-KR" altLang="en-US" sz="1100" b="1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8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03167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C3BED217-DBFF-302E-D121-C05100510FB2}"/>
              </a:ext>
            </a:extLst>
          </p:cNvPr>
          <p:cNvSpPr txBox="1"/>
          <p:nvPr/>
        </p:nvSpPr>
        <p:spPr>
          <a:xfrm>
            <a:off x="2120359" y="3533749"/>
            <a:ext cx="2080698" cy="16927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latinLnBrk="0">
              <a:spcAft>
                <a:spcPts val="500"/>
              </a:spcAft>
            </a:pPr>
            <a:r>
              <a:rPr lang="ko-KR" altLang="en-US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*최대 글자수 기준은 학년 단위임</a:t>
            </a:r>
            <a:r>
              <a:rPr lang="en-US" altLang="ko-KR" sz="110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334408-3CA6-17BA-98B2-4F704F5D1808}"/>
              </a:ext>
            </a:extLst>
          </p:cNvPr>
          <p:cNvSpPr txBox="1"/>
          <p:nvPr/>
        </p:nvSpPr>
        <p:spPr>
          <a:xfrm>
            <a:off x="2120359" y="6189761"/>
            <a:ext cx="8136843" cy="68480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417600" indent="-417600" latinLnBrk="0">
              <a:spcAft>
                <a:spcPts val="300"/>
              </a:spcAft>
            </a:pP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* 최대 글자수 기준은 학년 단위임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과목별 세부능력 및 특기사항은 제외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).</a:t>
            </a:r>
          </a:p>
          <a:p>
            <a:pPr marL="180975" indent="-180975" latinLnBrk="0">
              <a:spcAft>
                <a:spcPts val="300"/>
              </a:spcAft>
            </a:pP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** 2022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개정 교육과정을 </a:t>
            </a:r>
            <a:r>
              <a:rPr lang="ko-KR" altLang="en-US" sz="14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적용받는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2026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학년도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1~2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학년의 경우 공통과목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공통국어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공통수학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</a:t>
            </a:r>
            <a:b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공통영어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통합사회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통합과학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한국사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과학탐구실험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은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1·2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를 합산하여 </a:t>
            </a:r>
            <a:r>
              <a:rPr lang="en-US" altLang="ko-KR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500</a:t>
            </a:r>
            <a:r>
              <a:rPr lang="ko-KR" altLang="en-US" sz="14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 이내에서 기재 가능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7D82184-6D98-D29B-1C64-3C1085349FA1}"/>
              </a:ext>
            </a:extLst>
          </p:cNvPr>
          <p:cNvGrpSpPr/>
          <p:nvPr/>
        </p:nvGrpSpPr>
        <p:grpSpPr>
          <a:xfrm>
            <a:off x="8456024" y="749652"/>
            <a:ext cx="1715089" cy="446336"/>
            <a:chOff x="8370270" y="749652"/>
            <a:chExt cx="1715089" cy="446336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D509292D-72CE-4896-D0DD-549309C8D48C}"/>
                </a:ext>
              </a:extLst>
            </p:cNvPr>
            <p:cNvSpPr/>
            <p:nvPr/>
          </p:nvSpPr>
          <p:spPr>
            <a:xfrm>
              <a:off x="8370270" y="749652"/>
              <a:ext cx="1715089" cy="446336"/>
            </a:xfrm>
            <a:prstGeom prst="roundRect">
              <a:avLst>
                <a:gd name="adj" fmla="val 30007"/>
              </a:avLst>
            </a:prstGeom>
            <a:solidFill>
              <a:schemeClr val="bg1"/>
            </a:solidFill>
            <a:ln w="22225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0A7C5EF-40C8-72E3-A709-9794844AB6BF}"/>
                </a:ext>
              </a:extLst>
            </p:cNvPr>
            <p:cNvSpPr txBox="1"/>
            <p:nvPr/>
          </p:nvSpPr>
          <p:spPr>
            <a:xfrm>
              <a:off x="8889579" y="865098"/>
              <a:ext cx="676468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고 </a:t>
              </a:r>
              <a:r>
                <a:rPr lang="en-US" altLang="ko-KR" sz="1400" dirty="0">
                  <a:ln>
                    <a:solidFill>
                      <a:srgbClr val="6BAE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p.208</a:t>
              </a: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135A852-A689-AEB2-22EE-863E24368B95}"/>
              </a:ext>
            </a:extLst>
          </p:cNvPr>
          <p:cNvGrpSpPr/>
          <p:nvPr/>
        </p:nvGrpSpPr>
        <p:grpSpPr>
          <a:xfrm>
            <a:off x="522288" y="364992"/>
            <a:ext cx="7596791" cy="984885"/>
            <a:chOff x="522288" y="-1355389"/>
            <a:chExt cx="7596791" cy="98488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304A0BB-CD98-B8AC-F9C8-6E69231D2BEF}"/>
                </a:ext>
              </a:extLst>
            </p:cNvPr>
            <p:cNvSpPr txBox="1"/>
            <p:nvPr/>
          </p:nvSpPr>
          <p:spPr>
            <a:xfrm>
              <a:off x="2611161" y="-1355389"/>
              <a:ext cx="5507918" cy="98488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Bef>
                  <a:spcPct val="0"/>
                </a:spcBef>
                <a:defRPr/>
              </a:pPr>
              <a:r>
                <a:rPr lang="ko-KR" altLang="en-US" sz="32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학교생활기록부 영역별 입력 가능 </a:t>
              </a:r>
              <a:endParaRPr lang="en-US" altLang="ko-KR" sz="3200" b="1" spc="-3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50800" dist="63500" dir="2700000" algn="tl" rotWithShape="0">
                    <a:prstClr val="black">
                      <a:alpha val="25000"/>
                    </a:prstClr>
                  </a:outerShdw>
                </a:effectLst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defRPr/>
              </a:pPr>
              <a:r>
                <a:rPr lang="ko-KR" altLang="en-US" sz="3200" b="1" spc="-30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50800" dist="63500" dir="2700000" algn="tl" rotWithShape="0">
                      <a:prstClr val="black">
                        <a:alpha val="25000"/>
                      </a:prstClr>
                    </a:outerShdw>
                  </a:effectLst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최대 글자수</a:t>
              </a: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E4E32496-5995-5014-CA95-CAC920628E24}"/>
                </a:ext>
              </a:extLst>
            </p:cNvPr>
            <p:cNvGrpSpPr/>
            <p:nvPr/>
          </p:nvGrpSpPr>
          <p:grpSpPr>
            <a:xfrm>
              <a:off x="522288" y="-1143438"/>
              <a:ext cx="1893600" cy="560982"/>
              <a:chOff x="522288" y="-1143438"/>
              <a:chExt cx="1893600" cy="560982"/>
            </a:xfrm>
          </p:grpSpPr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6967D9EA-3C4C-3192-F717-09B783236602}"/>
                  </a:ext>
                </a:extLst>
              </p:cNvPr>
              <p:cNvSpPr/>
              <p:nvPr/>
            </p:nvSpPr>
            <p:spPr>
              <a:xfrm>
                <a:off x="522288" y="-1143438"/>
                <a:ext cx="1893600" cy="560982"/>
              </a:xfrm>
              <a:prstGeom prst="roundRect">
                <a:avLst>
                  <a:gd name="adj" fmla="val 2523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508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ko-KR" altLang="en-US" sz="160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E6471F3-95AB-B43A-6E60-E4EAF45631DE}"/>
                  </a:ext>
                </a:extLst>
              </p:cNvPr>
              <p:cNvSpPr txBox="1"/>
              <p:nvPr/>
            </p:nvSpPr>
            <p:spPr>
              <a:xfrm>
                <a:off x="639534" y="-1047613"/>
                <a:ext cx="16591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base"/>
                <a:r>
                  <a:rPr lang="ko-KR" altLang="en-US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참고자료 </a:t>
                </a:r>
                <a:r>
                  <a:rPr lang="en-US" altLang="ko-KR" sz="24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1D83FF"/>
                    </a:solidFill>
                    <a:latin typeface="Arial" panose="020B0604020202020204" pitchFamily="34" charset="0"/>
                    <a:ea typeface="맑은 고딕" panose="020B0503020000020004" pitchFamily="50" charset="-127"/>
                    <a:cs typeface="Arial" panose="020B0604020202020204" pitchFamily="34" charset="0"/>
                  </a:rPr>
                  <a:t>08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8372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c19950b-9af0-49e2-8dae-9d93b5b20172">
      <Terms xmlns="http://schemas.microsoft.com/office/infopath/2007/PartnerControls"/>
    </lcf76f155ced4ddcb4097134ff3c332f>
    <TaxCatchAll xmlns="a7eb6601-72a9-4fc6-8ec6-2b64904e3f8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AFE568587A0BA40B61E4C1A864C004F" ma:contentTypeVersion="12" ma:contentTypeDescription="새 문서를 만듭니다." ma:contentTypeScope="" ma:versionID="0c6a758f8c55c9471df868aba3b37020">
  <xsd:schema xmlns:xsd="http://www.w3.org/2001/XMLSchema" xmlns:xs="http://www.w3.org/2001/XMLSchema" xmlns:p="http://schemas.microsoft.com/office/2006/metadata/properties" xmlns:ns2="7c19950b-9af0-49e2-8dae-9d93b5b20172" xmlns:ns3="a7eb6601-72a9-4fc6-8ec6-2b64904e3f86" targetNamespace="http://schemas.microsoft.com/office/2006/metadata/properties" ma:root="true" ma:fieldsID="421cbdddad4ef3b2e7d978e3ba21712f" ns2:_="" ns3:_="">
    <xsd:import namespace="7c19950b-9af0-49e2-8dae-9d93b5b20172"/>
    <xsd:import namespace="a7eb6601-72a9-4fc6-8ec6-2b64904e3f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19950b-9af0-49e2-8dae-9d93b5b201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65228936-ac40-43e2-a2cf-fe6ebecb63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eb6601-72a9-4fc6-8ec6-2b64904e3f86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541d2abd-d289-40ce-9375-e0224f3fdc6d}" ma:internalName="TaxCatchAll" ma:showField="CatchAllData" ma:web="a7eb6601-72a9-4fc6-8ec6-2b64904e3f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68E1846-26A8-485D-8E15-EA50A46CADA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7A1B86-DC06-47FB-A8E3-6A1129AF7752}">
  <ds:schemaRefs>
    <ds:schemaRef ds:uri="http://schemas.microsoft.com/office/2006/metadata/properties"/>
    <ds:schemaRef ds:uri="http://schemas.microsoft.com/office/infopath/2007/PartnerControls"/>
    <ds:schemaRef ds:uri="7c19950b-9af0-49e2-8dae-9d93b5b20172"/>
    <ds:schemaRef ds:uri="a7eb6601-72a9-4fc6-8ec6-2b64904e3f86"/>
  </ds:schemaRefs>
</ds:datastoreItem>
</file>

<file path=customXml/itemProps3.xml><?xml version="1.0" encoding="utf-8"?>
<ds:datastoreItem xmlns:ds="http://schemas.openxmlformats.org/officeDocument/2006/customXml" ds:itemID="{618E56CD-DDBC-4149-8122-6628AEACD8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19950b-9af0-49e2-8dae-9d93b5b20172"/>
    <ds:schemaRef ds:uri="a7eb6601-72a9-4fc6-8ec6-2b64904e3f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1714</TotalTime>
  <Words>9785</Words>
  <Application>Microsoft Office PowerPoint</Application>
  <PresentationFormat>사용자 지정</PresentationFormat>
  <Paragraphs>1343</Paragraphs>
  <Slides>52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5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susoft</dc:creator>
  <cp:lastModifiedBy>MOE</cp:lastModifiedBy>
  <cp:revision>435</cp:revision>
  <dcterms:created xsi:type="dcterms:W3CDTF">2014-04-15T00:30:20Z</dcterms:created>
  <dcterms:modified xsi:type="dcterms:W3CDTF">2026-02-18T08:27:03Z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0x010100EAFE568587A0BA40B61E4C1A864C004F</vt:lpwstr>
  </property>
  <property fmtid="{D5CDD505-2E9C-101B-9397-08002B2CF9AE}" pid="3" name="MediaServiceImageTags">
    <vt:lpwstr/>
  </property>
</Properties>
</file>