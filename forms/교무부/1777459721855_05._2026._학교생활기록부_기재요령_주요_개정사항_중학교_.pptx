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68" r:id="rId5"/>
    <p:sldId id="306" r:id="rId6"/>
    <p:sldId id="308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</p:sldIdLst>
  <p:sldSz cx="10693400" cy="7561263"/>
  <p:notesSz cx="6858000" cy="9144000"/>
  <p:embeddedFontLs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1BB92FB-4D25-4D45-A04F-CB841178D20C}">
          <p14:sldIdLst>
            <p14:sldId id="268"/>
            <p14:sldId id="306"/>
            <p14:sldId id="30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AD26"/>
    <a:srgbClr val="4E7E36"/>
    <a:srgbClr val="91D692"/>
    <a:srgbClr val="D8E8ED"/>
    <a:srgbClr val="3D8CA5"/>
    <a:srgbClr val="31859C"/>
    <a:srgbClr val="DD594B"/>
    <a:srgbClr val="81A541"/>
    <a:srgbClr val="E6EDD9"/>
    <a:srgbClr val="F8D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076" autoAdjust="0"/>
  </p:normalViewPr>
  <p:slideViewPr>
    <p:cSldViewPr>
      <p:cViewPr varScale="1">
        <p:scale>
          <a:sx n="105" d="100"/>
          <a:sy n="105" d="100"/>
        </p:scale>
        <p:origin x="12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0AA8D-48B8-4CC7-B634-5360E3F3E284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EB3DE-0B28-4FE5-B5AC-45916934D2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89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8BCFF9-71C5-8FB5-48A0-7EA3D4E4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059F65CD-A666-EE05-B518-D48046642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EFC5A3F7-7ADD-1098-9C4C-8FC3693F5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6779F94-5B9D-D03F-E8FD-12C9621E8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861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F0FCB4-872B-A8B8-2F4A-7C8BB013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A4328F1C-1C80-6A1D-D1C4-87F2008B5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DD7DA5D7-DA45-BAE9-B0AE-AB5B54C62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1BBBB9E-7D1E-7105-A01C-D36072B0E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44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73BF32-E33F-D096-B2C9-B80C19DD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EADCF9A2-7662-B5E6-BC2E-4EEE5802C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32ADF81C-8261-9D92-9BC3-13EE3D011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7A592F5-DB38-E96C-9773-00C2A7D3E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96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B20693-95E3-A0AF-225B-EEC775CF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80D54D11-0EC5-2D57-4273-27C3760EC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2C5DDFF1-C51B-16AF-D913-F46E60584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608E507-7F1C-B0A8-C268-CBAA05D25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198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A776C1-5D81-040D-F94C-89434B52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67EEDEBE-1677-118D-9E0E-0BC39DBED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7A374A01-A1A2-A2B3-F91E-49AC3D939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7695EB5-7C09-EE35-4A73-41F460E2B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26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5F91F4-C18B-7B3D-90C9-63A47854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C3B0AC79-30F0-F6D9-D5C6-0F66AFB8F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55BFCD9D-5E28-8E79-7B36-73230F98E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A91F2D93-7386-1ADE-9C8E-B46DF4CC3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24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9F9FFF-5B76-C5BD-675E-F6DAB52BD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4A09417B-C36B-FAA0-A71F-AD79418B9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4DFF4193-A4A9-411E-0717-D1FA86AB6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319620D-09FB-A99D-8F3B-89839A61A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80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A4E0AD-B731-82C9-EFF8-7558A5D2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88419D35-CEFC-56F9-2D0A-088511D13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43E36350-A5FB-B8C7-2EF0-148C7AD39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93F7E60-8249-CCF1-3621-EC3BA3089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599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1DF36A-9F97-F3A4-77DC-82682C46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06866429-9979-8A9C-DFB5-D9738B049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1FACF8A1-4D8A-2972-2E92-CFE245A21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09BA816-08DB-9F81-6854-43B21AEA7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449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07F309-50C5-AB51-BB94-95E08E48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9BD8DC0D-4324-1368-0B57-56E8436BC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0B82EA3C-2CCA-1AF2-E844-9E7204FFD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93B37D6-156E-47E8-F9DC-22B31A951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557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28B9C1-BE12-D05E-1921-DA1D4F0E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A933F6A6-AFAA-DD9F-5E89-58329CB42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130CB55C-9C4F-5C04-2DBD-13E0105CB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ABBC2FD-F197-47F8-7ACD-ECFBD7FA1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574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9F962D-4DDF-4303-DCBE-EB664650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8533DB63-BE9A-7C6F-034F-6B735ECA8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53B3C8D3-9272-A598-3565-1011E82C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0B4BEAE-70D5-D2AE-580D-C2F23BB03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528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B424252-65A0-A592-F135-73968B47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911C24B8-6330-4027-4F17-E1D5746CB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3310D68D-0F49-C359-7FA8-BEE15C4F5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DA2EB535-E9A1-8F61-F6EF-BE683103F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688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010AAE-98A6-4A10-3AA7-D39CAAF8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CD6D8626-D440-D6E1-82EC-1747A43BD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A51D0B6A-EE5F-73FE-91B3-6418670FD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B894A0C-4B56-0DDB-6914-EC44E8B9B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505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099223-2DF2-0A38-F223-9943CB66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2F37A0C6-E935-C6D2-C9B8-7F06D17E7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A188790C-3F3A-8D06-0EC8-C2E9EA47F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FE70B3CE-1F4E-1D0F-F56D-8B33168D8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45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E9D4C4-FCF3-4532-EEDB-880F8BFF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7AED8D18-DA2C-4DE1-EE63-83CF3181C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36EDEE37-616E-788F-379F-FF28CDBB0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A9CDE5B-C7F3-7FCD-5CE8-B64EB7F6A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596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877F553-DB8C-8B27-D974-7D15228B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07B6F1A6-3406-1AF6-9A9D-7E0EE4C7B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B5D24043-E7FD-A275-7E0D-819595E03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80A78E5-EE36-5285-BF91-B8342E043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380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F11353-397B-D140-BE07-30199B08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78BCB8EE-E6A6-86C4-4F0D-433865FC4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DA945D37-FE6E-094A-4B70-F09F090F0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6FE4A15-2B0D-A34A-D9CF-A92E6C8E4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167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8F54B0-0042-B9A5-AE46-F3015B6A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A7F711A5-D1B9-32B0-87CA-7988DC777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B9993FC1-BA5B-5B56-3576-9FFC81E8A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55D847C-F454-7996-45AF-197F0BF9F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554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444A11-BB57-26B6-60C4-23935438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F6D7A703-5E10-CB47-AB83-15D8D8A5F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E38CA51C-189C-AE2E-ED84-69A0FD3B0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F1F488-705E-6D0F-E641-CCD2FE6A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613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EAFD79-F2CF-87CC-DF1A-A8D22791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1B4BCBF3-AC8C-2595-BE53-0FF073395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1F6477F5-738B-C328-AB5E-0FC6CC15C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F406FEE6-7108-D2F1-129F-FBC3D66C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722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8D708F-FAA9-E40D-191D-A3595FC3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7A2651BA-3690-40E4-F85A-40FA48415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D3FFACC7-649C-172A-55F1-30DC96AB6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5518F00-4EE4-2D78-5DEA-8A088EF7E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055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4026E6-D670-43BB-8C4B-B89B4F98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4634607D-CDBF-D7B3-D440-8E957BD9F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E55D3CED-7F58-0100-BB31-57207B32B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FEF981F9-8280-05B0-C952-EAFFD2ED5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65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CF37A3-DD01-7380-7595-F94E1BA3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7354CB05-7576-BBD6-6715-E80D25FE5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CD9545CD-2F81-CB8D-DE43-47A1F559E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366F82B-F68D-38CC-5340-E829A625D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933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90CB60-E003-73C8-45E8-15D853D3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92F53424-F67F-A4A3-9134-11BE483AB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B0653929-11A9-7B5F-B954-873C61D24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BE3C75A-2E43-DB68-FF89-C026B8E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95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08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22" userDrawn="1">
          <p15:clr>
            <a:srgbClr val="FBAE40"/>
          </p15:clr>
        </p15:guide>
        <p15:guide id="2" pos="329" userDrawn="1">
          <p15:clr>
            <a:srgbClr val="FBAE40"/>
          </p15:clr>
        </p15:guide>
        <p15:guide id="3" pos="64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15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22" userDrawn="1">
          <p15:clr>
            <a:srgbClr val="FBAE40"/>
          </p15:clr>
        </p15:guide>
        <p15:guide id="2" pos="329" userDrawn="1">
          <p15:clr>
            <a:srgbClr val="FBAE40"/>
          </p15:clr>
        </p15:guide>
        <p15:guide id="3" pos="640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5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8B418A-BEA4-B6E7-E84E-07F5E99B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638566-E398-80FA-BD0B-5B831D5F635C}"/>
              </a:ext>
            </a:extLst>
          </p:cNvPr>
          <p:cNvSpPr txBox="1"/>
          <p:nvPr/>
        </p:nvSpPr>
        <p:spPr>
          <a:xfrm>
            <a:off x="1047316" y="1238212"/>
            <a:ext cx="137217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BF5EA2C-E16C-A1D6-3776-3EF7F3554B40}"/>
              </a:ext>
            </a:extLst>
          </p:cNvPr>
          <p:cNvSpPr txBox="1"/>
          <p:nvPr/>
        </p:nvSpPr>
        <p:spPr>
          <a:xfrm>
            <a:off x="1009216" y="2108744"/>
            <a:ext cx="6133089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400" b="1" spc="-1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기재요령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F28CBD0-4A87-83A9-D88B-A25331D914D5}"/>
              </a:ext>
            </a:extLst>
          </p:cNvPr>
          <p:cNvSpPr txBox="1"/>
          <p:nvPr/>
        </p:nvSpPr>
        <p:spPr>
          <a:xfrm>
            <a:off x="958416" y="2835669"/>
            <a:ext cx="7050007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500" b="1" spc="-1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주요 개정사항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xmlns="" id="{E5729449-3617-77EB-C33B-D9E1F000DAC1}"/>
              </a:ext>
            </a:extLst>
          </p:cNvPr>
          <p:cNvSpPr/>
          <p:nvPr/>
        </p:nvSpPr>
        <p:spPr>
          <a:xfrm>
            <a:off x="1021916" y="5295900"/>
            <a:ext cx="1594284" cy="454156"/>
          </a:xfrm>
          <a:prstGeom prst="roundRect">
            <a:avLst>
              <a:gd name="adj" fmla="val 50000"/>
            </a:avLst>
          </a:prstGeom>
          <a:solidFill>
            <a:srgbClr val="23AD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2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6BAE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A9B003A-46DC-0D3D-3492-B8658734801F}"/>
              </a:ext>
            </a:extLst>
          </p:cNvPr>
          <p:cNvSpPr txBox="1"/>
          <p:nvPr/>
        </p:nvSpPr>
        <p:spPr>
          <a:xfrm>
            <a:off x="1395865" y="5353701"/>
            <a:ext cx="846386" cy="33855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ko-KR" altLang="en-US" sz="2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</a:p>
        </p:txBody>
      </p:sp>
    </p:spTree>
    <p:extLst>
      <p:ext uri="{BB962C8B-B14F-4D97-AF65-F5344CB8AC3E}">
        <p14:creationId xmlns:p14="http://schemas.microsoft.com/office/powerpoint/2010/main" val="270063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F03F42-5328-3AD3-DF1F-90418346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45F1973-8035-CD01-A299-A07FBBCE9D51}"/>
              </a:ext>
            </a:extLst>
          </p:cNvPr>
          <p:cNvSpPr txBox="1"/>
          <p:nvPr/>
        </p:nvSpPr>
        <p:spPr>
          <a:xfrm>
            <a:off x="522288" y="518880"/>
            <a:ext cx="7716856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4400" b="1" spc="-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5000"/>
                    </a:prstClr>
                  </a:outerShdw>
                </a:effectLst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D53B59EE-700E-3069-0947-C3F541DDE05B}"/>
              </a:ext>
            </a:extLst>
          </p:cNvPr>
          <p:cNvGrpSpPr/>
          <p:nvPr/>
        </p:nvGrpSpPr>
        <p:grpSpPr>
          <a:xfrm>
            <a:off x="522288" y="1454050"/>
            <a:ext cx="3221710" cy="450951"/>
            <a:chOff x="522288" y="1454050"/>
            <a:chExt cx="3221710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1483D6E7-4C10-4C99-F905-25F576B061F2}"/>
                </a:ext>
              </a:extLst>
            </p:cNvPr>
            <p:cNvSpPr txBox="1"/>
            <p:nvPr/>
          </p:nvSpPr>
          <p:spPr>
            <a:xfrm>
              <a:off x="1340198" y="1564200"/>
              <a:ext cx="2403800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생성형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AI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활용 유의사항 안내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FE3F6C50-A52D-D64F-611E-6CADBEC6214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xmlns="" id="{E0376E3C-5625-446F-48C3-3C193AA743BF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xmlns="" id="{7FB52461-C566-EE7F-F1C9-FB159DDCFC61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72E95086-4ACB-E905-733A-0D0436442E9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41B86B58-8319-E1E8-2151-E2257F9693F2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xmlns="" id="{0FAA7857-D103-569D-D4A7-6E8BA8111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xmlns="" id="{980D72FA-F245-99DA-5E7D-742FBA9D209A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1E4D276-1B38-0A2D-A384-1AA75227349F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xmlns="" id="{E61EE9CA-0256-40B8-9A1A-1F9EA806494A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32" name="자유형 31">
              <a:extLst>
                <a:ext uri="{FF2B5EF4-FFF2-40B4-BE49-F238E27FC236}">
                  <a16:creationId xmlns:a16="http://schemas.microsoft.com/office/drawing/2014/main" xmlns="" id="{3222862F-9CCC-7A8B-6901-7370797E7F8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189DC1DE-8B0D-5BCB-7E00-1148DED164E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48625E-CD13-37A8-D1F6-DE8B60EE20AE}"/>
              </a:ext>
            </a:extLst>
          </p:cNvPr>
          <p:cNvSpPr txBox="1"/>
          <p:nvPr/>
        </p:nvSpPr>
        <p:spPr>
          <a:xfrm>
            <a:off x="2181029" y="2514460"/>
            <a:ext cx="8016938" cy="40831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90513" indent="-290513" latinLnBrk="0">
              <a:spcAft>
                <a:spcPts val="8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기재는 교사의 고유권한으로 학교생활기록부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서술형 항목은 교사가 평소 학생을 직접 관찰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평가한 내용을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바탕으로 작성하는 것이 원칙이므로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다음과 같이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학교생활기록부의 신뢰도를 저하시키는 사례가 발생하지 않도록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유의하여야 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88975" indent="-401638" latinLnBrk="0">
              <a:spcAft>
                <a:spcPts val="8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AI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활용하여 생성한 자료를 학교생활기록부의 서술형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항목에 그대로 입력하는 행위</a:t>
            </a:r>
          </a:p>
          <a:p>
            <a:pPr marL="976313" indent="-287338" latinLnBrk="0">
              <a:spcAft>
                <a:spcPts val="8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작성 과정에서 윤문 등을 위한 보조 수단으로 생성형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AI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도움을 받을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반드시 최종 입력 전에 작성 내용에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대해서 학생의 실제 수행과는 무관한 허위 또는 과장 기재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여부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기재요령의 각종 유의사항 준수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여부 등을 철저히 확인해야 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1B2B14E7-54E5-47C5-BDDE-C9260DD25807}"/>
              </a:ext>
            </a:extLst>
          </p:cNvPr>
          <p:cNvGrpSpPr/>
          <p:nvPr/>
        </p:nvGrpSpPr>
        <p:grpSpPr>
          <a:xfrm>
            <a:off x="8456024" y="749652"/>
            <a:ext cx="1715089" cy="446336"/>
            <a:chOff x="8370270" y="749652"/>
            <a:chExt cx="1715089" cy="446336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xmlns="" id="{558BEE4C-52EF-4A64-ACB5-067FE4F22F2C}"/>
                </a:ext>
              </a:extLst>
            </p:cNvPr>
            <p:cNvSpPr/>
            <p:nvPr/>
          </p:nvSpPr>
          <p:spPr>
            <a:xfrm>
              <a:off x="8370270" y="749652"/>
              <a:ext cx="1715089" cy="446336"/>
            </a:xfrm>
            <a:prstGeom prst="roundRect">
              <a:avLst>
                <a:gd name="adj" fmla="val 30007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95A15328-C013-4616-9C76-A1D9765902F7}"/>
                </a:ext>
              </a:extLst>
            </p:cNvPr>
            <p:cNvSpPr txBox="1"/>
            <p:nvPr/>
          </p:nvSpPr>
          <p:spPr>
            <a:xfrm>
              <a:off x="8939272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257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E610C6A-E527-5918-2230-91366EB777D9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DF9F90D9-B801-9A28-033B-1CEE4D4C4F6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xmlns="" id="{72C3B9D9-63EB-4A3C-1214-4BFC15261FD8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5E320F0D-2961-18F0-9B9B-863470E2F63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xmlns="" id="{108DBB37-6835-DFF8-2C30-00C85F6AC623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B20E04B-CFF4-D635-A999-7E2E58AEDE6D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AE2AC8B0-DCE1-3EB3-B34B-A40A714F6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0F78D7C3-32A3-BFBC-C89F-3A613719A9DA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2F0EC94-FD8C-6335-5D73-9CB2B9F8907F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E8F47812-4224-2E58-3C45-75887DC06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D55726F2-2617-E9C6-4E0C-77A8F5FAC813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95FFAA-4FC6-C27A-951F-5390A434BA65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06999EBF-EE6E-6FB8-8AE5-E9E0C9A087F8}"/>
              </a:ext>
            </a:extLst>
          </p:cNvPr>
          <p:cNvGrpSpPr/>
          <p:nvPr/>
        </p:nvGrpSpPr>
        <p:grpSpPr>
          <a:xfrm>
            <a:off x="522288" y="1454050"/>
            <a:ext cx="8308743" cy="450951"/>
            <a:chOff x="522288" y="1454050"/>
            <a:chExt cx="8308743" cy="45095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57EF5CA8-5952-9FCE-5017-9E1FF8203F53}"/>
                </a:ext>
              </a:extLst>
            </p:cNvPr>
            <p:cNvSpPr txBox="1"/>
            <p:nvPr/>
          </p:nvSpPr>
          <p:spPr>
            <a:xfrm>
              <a:off x="1340198" y="1564200"/>
              <a:ext cx="749083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’, 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’, 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69E94547-D826-D94B-0AF0-805A968AB5F1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7" name="사각형: 둥근 위쪽 모서리 16">
                <a:extLst>
                  <a:ext uri="{FF2B5EF4-FFF2-40B4-BE49-F238E27FC236}">
                    <a16:creationId xmlns:a16="http://schemas.microsoft.com/office/drawing/2014/main" xmlns="" id="{B47C4D8F-46B5-355C-2DAD-8AF550AB54D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사각형: 둥근 위쪽 모서리 17">
                <a:extLst>
                  <a:ext uri="{FF2B5EF4-FFF2-40B4-BE49-F238E27FC236}">
                    <a16:creationId xmlns:a16="http://schemas.microsoft.com/office/drawing/2014/main" xmlns="" id="{4900A913-4399-FF00-D498-21C058422888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37BBBD81-224B-FE38-2566-C67B2360D41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9ED8529D-3EFA-1522-7D5B-6E49611138DE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0A745584-9EB9-2CBF-7F04-B5BBA2FEF249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처리요령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xmlns="" id="{51AAB271-A3A0-3486-25B4-CAE93C8265D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xmlns="" id="{6BA9DFEB-E989-8775-9D47-74A6DA5054E5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0351B952-E481-D393-50D7-CF77F6B016DF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4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762B10E7-CC50-7C15-9CA4-16E99754D1CE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73CE341B-CAA6-AB3B-B7BE-69218C10A86A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3" name="사각형: 둥근 위쪽 모서리 32">
                <a:extLst>
                  <a:ext uri="{FF2B5EF4-FFF2-40B4-BE49-F238E27FC236}">
                    <a16:creationId xmlns:a16="http://schemas.microsoft.com/office/drawing/2014/main" xmlns="" id="{B48A9061-9837-CE01-14A7-A958AD67BFCA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xmlns="" id="{5AC1B365-964E-915A-0E31-88D1CEAACE1C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1C604881-3E12-732B-FDCA-64C68C8DD739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xmlns="" id="{A21827EB-F1C5-D787-1445-5A5C0F968D12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1" name="사각형: 둥근 위쪽 모서리 30">
                <a:extLst>
                  <a:ext uri="{FF2B5EF4-FFF2-40B4-BE49-F238E27FC236}">
                    <a16:creationId xmlns:a16="http://schemas.microsoft.com/office/drawing/2014/main" xmlns="" id="{844039B1-372A-2312-D788-3177B092EB4A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xmlns="" id="{7276B962-7A67-A1A8-725C-850C3BAEE355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C7467D22-4366-9D4A-2091-1B910587D367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23A6E89C-007A-5B35-815D-125587EA1388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p.28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E0EDADD1-154B-9588-BDEF-E2F97D1EFDF6}"/>
              </a:ext>
            </a:extLst>
          </p:cNvPr>
          <p:cNvSpPr txBox="1"/>
          <p:nvPr/>
        </p:nvSpPr>
        <p:spPr>
          <a:xfrm>
            <a:off x="2120359" y="2431322"/>
            <a:ext cx="7878439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3363" indent="-233363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④ 학교생활기록부 작성에 필요한 보조부는 각 학교의 실정에 맞게 계획을 수립하여 전산입력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관리하되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방법은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시도교육감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정한다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4B6AC92-D558-F041-163A-AB1BE535EF41}"/>
              </a:ext>
            </a:extLst>
          </p:cNvPr>
          <p:cNvSpPr txBox="1"/>
          <p:nvPr/>
        </p:nvSpPr>
        <p:spPr>
          <a:xfrm>
            <a:off x="2181029" y="4426344"/>
            <a:ext cx="7949292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49250" indent="-34925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④ 학교생활기록부 작성에 필요한 보조부는 각 학교의 실정에 맞게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계획을 수립하여 전산입력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여부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및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방법은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정한다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68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6922B3-3D76-D677-7E06-4ADF60B6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95C9C37-1A37-48DF-8B1D-693099275BFA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A16F15D9-907A-61EF-DEBB-CF12D0046032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xmlns="" id="{A1AE53D7-8414-DF77-D815-0180E2A61C07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DAD68F88-5548-5CE7-8477-CFB41CC82880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xmlns="" id="{B2FCAA4F-3ACC-9F96-E1FC-25AFB8B0498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34053262-BD75-25B9-C4D6-37DBA11C0653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29D43DA9-D58F-7D25-1E4E-9E33090EB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0EDA0CFD-A46A-B1B6-2920-2B32915246D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ADDDCB5-05DD-398E-2944-30581EC10424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7C117790-A4AC-6F44-62DF-55E7FC28D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CFA5EB3F-93D0-2D36-6E7B-68F1E1AC9C21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06C2402D-B976-29FF-7580-6DD86EAC4745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ACAB78BB-681F-87C2-335E-D07A9CA8DCAC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처리요령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38840DBF-90E9-7ECC-DC10-AC8EBDDF579E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xmlns="" id="{8FE77C82-89CA-7630-0E31-5355888F3AAE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8528BB2D-375C-2389-B53F-628B9722E323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4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07D4BCA-491C-4987-2AB4-D14BC3B789CE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81522A54-F21C-14C2-BA00-D6C8E41EE3C2}"/>
              </a:ext>
            </a:extLst>
          </p:cNvPr>
          <p:cNvGrpSpPr/>
          <p:nvPr/>
        </p:nvGrpSpPr>
        <p:grpSpPr>
          <a:xfrm>
            <a:off x="522288" y="1454050"/>
            <a:ext cx="8308743" cy="450951"/>
            <a:chOff x="522288" y="1454050"/>
            <a:chExt cx="8308743" cy="4509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C6D50E47-1E1D-E30A-E3BC-A0DD2AC61820}"/>
                </a:ext>
              </a:extLst>
            </p:cNvPr>
            <p:cNvSpPr txBox="1"/>
            <p:nvPr/>
          </p:nvSpPr>
          <p:spPr>
            <a:xfrm>
              <a:off x="1340198" y="1564200"/>
              <a:ext cx="749083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’, 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’, 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xmlns="" id="{0D949C06-0783-FFF9-481D-716ABD041306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8BEC7CE9-285A-0DB1-A7BA-754347618ABC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xmlns="" id="{B1349189-7972-F962-96E1-08A9158EA677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9A6AD6DA-E28A-8398-4B2E-7CDB9E2A875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70D55C-2AA7-1274-F0D4-BE955BDE82C2}"/>
              </a:ext>
            </a:extLst>
          </p:cNvPr>
          <p:cNvSpPr txBox="1"/>
          <p:nvPr/>
        </p:nvSpPr>
        <p:spPr>
          <a:xfrm>
            <a:off x="2120359" y="2355122"/>
            <a:ext cx="7946086" cy="12644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5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전출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면제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유예 등을 할 경우에도 원적교에서는 해당 학생이 재학할 때까지의 각종 자료를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 등에 입력하여 보관해야 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 누가기록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 영역별 누가기록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누가기록 관련 사항은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지침에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54025" indent="-165100" latinLnBrk="0">
              <a:spcAft>
                <a:spcPts val="500"/>
              </a:spcAft>
            </a:pP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통하여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전송받을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수 있는 전입생의 자료는 기본학적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 관련 누가기록 자료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건강기록부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출결내역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PAPS,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학부모서비스 신청내역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정정대장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 누가기록자료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개별화 교육계획 등임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05C4EB85-DFC8-233F-A676-76C9846B418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xmlns="" id="{6F1AEC83-D1E1-827D-9906-829E3CE5243B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xmlns="" id="{33F2610F-ED8A-E77F-F68D-C59ADAE35B09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60E75D6B-19AF-3BCD-F5C5-2E77AE2493A2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xmlns="" id="{7C7BF1B8-8FC9-2E86-2574-083C1D23B0A2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xmlns="" id="{AFF897B5-2BEB-8628-215D-D3EB2F9FDFBE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41575FCE-DDA1-3643-095B-6BA124B9F8CF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62368543-3A36-5354-75C4-650C22D2EF84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p.28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2943F9D3-86A9-0E54-6D96-1A5AAB8A78DA}"/>
              </a:ext>
            </a:extLst>
          </p:cNvPr>
          <p:cNvSpPr txBox="1"/>
          <p:nvPr/>
        </p:nvSpPr>
        <p:spPr>
          <a:xfrm>
            <a:off x="2181029" y="4385246"/>
            <a:ext cx="7978466" cy="240065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180000" latinLnBrk="0"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전출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면제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유예 등을 할 경우에도 원적교에서는 해당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재학할 때까지의 각종 자료를 교육정보 시스템 등에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입력하여 보관해야 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 영역별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종합의견 누가기록 관련 사항은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 정한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지침에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04813" indent="-214313" latinLnBrk="0"/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통하여 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전송받을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수 있는 전입생의 자료는 기본학적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성적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건강기록부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출결내역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PAPS,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학부모서비스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신청내역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정정대장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개별화 교육계획 등이며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및 학교스포츠클럽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 자료의 경우 교육정보시스템을 활용하여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관리한 경우 전송 가능함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0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F23C27-708E-286A-FCD7-FFCB5446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7A1BA361-860E-8E23-D510-A05671FF2962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xmlns="" id="{7BDFE16E-8A46-DFCC-FE74-3D7D57201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xmlns="" id="{43DCB846-17E1-8041-644B-957DDFD31C80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3DB0ED80-18E0-BC54-0CC4-ACAF8B56D04A}"/>
              </a:ext>
            </a:extLst>
          </p:cNvPr>
          <p:cNvGrpSpPr/>
          <p:nvPr/>
        </p:nvGrpSpPr>
        <p:grpSpPr>
          <a:xfrm>
            <a:off x="522288" y="518880"/>
            <a:ext cx="4704975" cy="677108"/>
            <a:chOff x="522288" y="518880"/>
            <a:chExt cx="4704975" cy="67710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2769865A-2BC7-7CDB-F4C5-56BF255CA30C}"/>
                </a:ext>
              </a:extLst>
            </p:cNvPr>
            <p:cNvSpPr txBox="1"/>
            <p:nvPr/>
          </p:nvSpPr>
          <p:spPr>
            <a:xfrm>
              <a:off x="1923473" y="518880"/>
              <a:ext cx="330379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인적</a:t>
              </a:r>
              <a:r>
                <a:rPr lang="en-US" altLang="ko-KR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학적사항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A80C6376-293A-26AD-3E58-6DD7DC76CCF7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xmlns="" id="{E1566360-F042-3CEC-F98B-38BCD76730B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0E375812-356D-3B64-8B24-547E22402FB1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7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0BC78639-CC95-68A3-1B15-A80B350A8AAA}"/>
              </a:ext>
            </a:extLst>
          </p:cNvPr>
          <p:cNvGrpSpPr/>
          <p:nvPr/>
        </p:nvGrpSpPr>
        <p:grpSpPr>
          <a:xfrm>
            <a:off x="522288" y="1454050"/>
            <a:ext cx="3235238" cy="450951"/>
            <a:chOff x="522288" y="1454050"/>
            <a:chExt cx="3235238" cy="4509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B90398C-5AEE-5CED-915B-09CF66468A0C}"/>
                </a:ext>
              </a:extLst>
            </p:cNvPr>
            <p:cNvSpPr txBox="1"/>
            <p:nvPr/>
          </p:nvSpPr>
          <p:spPr>
            <a:xfrm>
              <a:off x="1340198" y="1564200"/>
              <a:ext cx="2417328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검정고시 관련 입력 방법 안내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FDE1D2C1-BE74-8976-1640-FC2526A1935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748874CA-95EC-2BFE-1D5A-A07484E95E0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44C317DF-3B8E-B634-D00F-CF162FE7F508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E75C613F-C684-FCB4-5BD4-4454F8F9A21F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8FF6E235-5BC6-A49C-87FA-96C39A39B80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xmlns="" id="{FBB0C656-AF9F-85EE-39F2-6C9264B72BB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xmlns="" id="{84097583-230E-DE39-5164-6A3259E3784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xmlns="" id="{8E4D57BA-5C92-E30C-155E-A6CD1304A0F8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xmlns="" id="{DB57B7F3-77E2-F91C-76A5-213B1B1F8AF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xmlns="" id="{DE5407E9-14D7-D64F-21FD-765CA3C61B4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EE03D3C-ECA0-E135-2CEC-04A7B0DB335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2DF81EDF-3201-2118-B187-EEC2ADC9FB8C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p.47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1409632-0AC4-36EC-A2B4-7053EDDBC426}"/>
              </a:ext>
            </a:extLst>
          </p:cNvPr>
          <p:cNvSpPr txBox="1"/>
          <p:nvPr/>
        </p:nvSpPr>
        <p:spPr>
          <a:xfrm>
            <a:off x="2181029" y="2514460"/>
            <a:ext cx="7931658" cy="241604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검정고시 합격자의 학적사항 입력 방법은 다음과 같다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23900" indent="-292100" latinLnBrk="0">
              <a:spcAft>
                <a:spcPts val="6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초등학교 졸업학력 검정고시 합격 후 중학교에 입학한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학적사항에 검정고시 합격 연월일과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초등학교 졸업학력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검정고시 합격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39775" indent="-307975" latinLnBrk="0">
              <a:spcAft>
                <a:spcPts val="6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 졸업학력 검정고시 합격 후 면제 처리하는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학적사항에는 학적변동일과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면제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입력하고 특기사항에는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학적변동일과 사유를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5D32F05F-97E5-5CD6-2684-11FB851A57E8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xmlns="" id="{363670D1-2E97-BE26-6919-49BFD872ECBA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53" name="자유형 31">
              <a:extLst>
                <a:ext uri="{FF2B5EF4-FFF2-40B4-BE49-F238E27FC236}">
                  <a16:creationId xmlns:a16="http://schemas.microsoft.com/office/drawing/2014/main" xmlns="" id="{9ABA53BF-D1C2-055B-D4C1-7CCACC529EA7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CB118573-2CB1-3802-12AA-2F892E3DF287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151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C8D576-384B-5278-0288-C44F912C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1716C7F-9B51-7226-2591-80B80170A514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A1892C6-0D4C-FF37-3C34-474840227BF3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xmlns="" id="{B04375A6-2565-CC83-2D42-2BA415A56D0C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0B4DC26E-903E-AC9B-8AE9-CC7D6513A49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xmlns="" id="{1A06F5A1-058B-644E-2B7A-845D0638BF7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35BBB47D-123F-1583-57E1-0232D535F35A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09C923F2-4172-CDBC-75AF-5EEE32D91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F500ABB5-2357-3E66-5AC5-A0DE5FDF9CFF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4A9E15-234E-15E6-EB1F-4BFB26E2FE1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E6E00EFB-5C94-4300-9173-542230735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BC01536B-3F00-B5F2-0E4E-F74F6BF41D4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84F3FFA0-702F-BEE8-55C1-06ADC9C9DAA3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B4C2C8C8-AC60-0F19-E449-6A24C21452B6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6723B291-E220-CCDA-975C-B0A1EF33E16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xmlns="" id="{AE044DEA-1F1B-BD42-4BAB-34B31A02AF58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C399B318-00D0-93EE-DC56-C9CFBB3503D9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384A7E0-77AD-643D-3122-097B48D94D9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64179C4-EBD5-B558-AEA1-2EB5763CA00B}"/>
              </a:ext>
            </a:extLst>
          </p:cNvPr>
          <p:cNvGrpSpPr/>
          <p:nvPr/>
        </p:nvGrpSpPr>
        <p:grpSpPr>
          <a:xfrm>
            <a:off x="522288" y="1454050"/>
            <a:ext cx="6093393" cy="450951"/>
            <a:chOff x="522288" y="1454050"/>
            <a:chExt cx="6093393" cy="4509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840F2600-5AAA-CDDA-1A96-BD2C340525D8}"/>
                </a:ext>
              </a:extLst>
            </p:cNvPr>
            <p:cNvSpPr txBox="1"/>
            <p:nvPr/>
          </p:nvSpPr>
          <p:spPr>
            <a:xfrm>
              <a:off x="1340198" y="1564200"/>
              <a:ext cx="527548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국가대표 및 전국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소년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체육대회에 참가하는 경우 처리 방법 안내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xmlns="" id="{4B9FAC02-6B41-5B2D-0BE8-13AF7B85306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39EDBAFF-67AC-1996-C9EF-59F87644BB4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xmlns="" id="{932DEF86-1E0A-8A54-C1E3-EA45C8270C0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8EF93458-41D3-C4B4-FE74-1C266147372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3DA5C9F-40B1-6F87-5DA0-FA7EF3287218}"/>
              </a:ext>
            </a:extLst>
          </p:cNvPr>
          <p:cNvSpPr txBox="1"/>
          <p:nvPr/>
        </p:nvSpPr>
        <p:spPr>
          <a:xfrm>
            <a:off x="2120359" y="2278922"/>
            <a:ext cx="7918834" cy="46166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46050" indent="-146050" latinLnBrk="0">
              <a:spcAft>
                <a:spcPts val="5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6)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학교장은 학생선수*가 ①국가대표 자격으로 국제대회 및 국가대표 훈련에 참가하거나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②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소년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체육대회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지역 예선 포함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참가하는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관련 공문을 근거로 학업성적관리위원회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심의를 거쳐 출석인정 결석으로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처리한다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 일수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초등학교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35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50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초과하여 허용하는 때에는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학생선수의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학습권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교육적 목적 등을 종합적으로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고려해야 한다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5E118D8-1394-B487-385D-DA1DD52A0C6C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xmlns="" id="{D1EB31E5-E4DB-D873-DAA1-FF6CB47C9029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xmlns="" id="{5C694839-C6D0-B999-0F41-E50B872F300B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xmlns="" id="{0C5232A7-C8BD-3262-6DC9-8EA536C49488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xmlns="" id="{53260EFA-E753-C9B6-09F3-C249A16BE93B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xmlns="" id="{C88CECAD-0695-22C1-2B32-C73EDACA2F17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8A657750-4A55-D8A0-B2E9-387126EADA47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5A60E37D-CF30-BA07-1DD0-7422720C6279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p.51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CD8663D-85D0-94B2-7B1C-37501332916E}"/>
              </a:ext>
            </a:extLst>
          </p:cNvPr>
          <p:cNvSpPr txBox="1"/>
          <p:nvPr/>
        </p:nvSpPr>
        <p:spPr>
          <a:xfrm>
            <a:off x="2109110" y="4378539"/>
            <a:ext cx="8104783" cy="23185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57175" indent="-257175" latinLnBrk="0">
              <a:spcAft>
                <a:spcPts val="8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학교장의 허가를 받아 학생선수가 대회 및 훈련 참가를 위해 결석한 경우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학생선수의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학습권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보장과 정상적인 학교생활 참여를 위해 초등학교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35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50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범위 내에서 출석인정 결석으로 처리한다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266700" indent="-266700" latinLnBrk="0">
              <a:spcAft>
                <a:spcPts val="8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학생선수가 ①국가대표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꿈나무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청소년대표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국가대표후보 포함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국제대회 및 국가대표 훈련에 참가하는 경우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②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전국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체육대회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지역 예선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포함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참가하는 경우에는 소속 학교 학업성적관리위원회의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심의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학생선수의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학습권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교육적 목적 등을 종합적으로 고려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거쳐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초등학교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20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35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50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일에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포함하지 않고 예외 처리한다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03A0E795-38C6-A74C-E442-083E89CD3F2F}"/>
              </a:ext>
            </a:extLst>
          </p:cNvPr>
          <p:cNvGrpSpPr/>
          <p:nvPr/>
        </p:nvGrpSpPr>
        <p:grpSpPr>
          <a:xfrm>
            <a:off x="2181029" y="2795272"/>
            <a:ext cx="7778940" cy="887093"/>
            <a:chOff x="2181029" y="2831520"/>
            <a:chExt cx="7778940" cy="88709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5A2232DD-0AA2-49FB-4DD9-4A54BB53D219}"/>
                </a:ext>
              </a:extLst>
            </p:cNvPr>
            <p:cNvSpPr txBox="1"/>
            <p:nvPr/>
          </p:nvSpPr>
          <p:spPr>
            <a:xfrm>
              <a:off x="2303429" y="3098636"/>
              <a:ext cx="7566174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1)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8 ‘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 </a:t>
              </a:r>
              <a:r>
                <a:rPr lang="ko-KR" altLang="en-US" sz="900" b="1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나목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3)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 관련하여 학교장의 허가를 받아 학생선수가 대회 및 훈련 참가를 위해 결석한 경우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학생선수의 </a:t>
              </a:r>
              <a:r>
                <a:rPr lang="ko-KR" altLang="en-US" sz="900" b="1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학습권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보장과 정상적인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/>
              </a:r>
              <a:b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학교생활 참여를 위해 초등학교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중학교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35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고등학교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50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 범위 내에서 출석인정 결석으로 처리한다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다만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학생선수가 ①국가대표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꿈나무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</a:t>
              </a:r>
              <a:b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청소년대표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국가대표후보 포함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로서 국제대회 및 국가대표 훈련에 참가하는 경우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②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전국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소년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체육대회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지역 예선 포함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에 참가하는 경우에는 소속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/>
              </a:r>
              <a:b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 학업성적관리위원회의 심의를 거쳐 초등학교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중학교 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35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고등학교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50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일을 </a:t>
              </a:r>
              <a:r>
                <a:rPr lang="ko-KR" altLang="en-US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초과하여 허용 가능하다</a:t>
              </a:r>
              <a:r>
                <a:rPr lang="en-US" altLang="ko-KR" sz="9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  <a:endParaRPr lang="ko-KR" altLang="en-US" sz="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xmlns="" id="{E478FDC2-EA07-1DD3-06F7-938787680002}"/>
                </a:ext>
              </a:extLst>
            </p:cNvPr>
            <p:cNvSpPr/>
            <p:nvPr/>
          </p:nvSpPr>
          <p:spPr>
            <a:xfrm>
              <a:off x="2181029" y="2942834"/>
              <a:ext cx="7778940" cy="775779"/>
            </a:xfrm>
            <a:prstGeom prst="roundRect">
              <a:avLst>
                <a:gd name="adj" fmla="val 16981"/>
              </a:avLst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198763C0-066D-4769-9375-D960EB2E5997}"/>
                </a:ext>
              </a:extLst>
            </p:cNvPr>
            <p:cNvGrpSpPr/>
            <p:nvPr/>
          </p:nvGrpSpPr>
          <p:grpSpPr>
            <a:xfrm>
              <a:off x="2369602" y="2831520"/>
              <a:ext cx="815758" cy="210926"/>
              <a:chOff x="2192106" y="2212509"/>
              <a:chExt cx="661309" cy="170992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xmlns="" id="{7544B8B7-123F-9200-1747-70F8990A1079}"/>
                  </a:ext>
                </a:extLst>
              </p:cNvPr>
              <p:cNvSpPr/>
              <p:nvPr/>
            </p:nvSpPr>
            <p:spPr>
              <a:xfrm>
                <a:off x="2192106" y="2212509"/>
                <a:ext cx="661309" cy="17099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2CD2F118-80D8-47F5-6BEA-E8DEBA815D75}"/>
                  </a:ext>
                </a:extLst>
              </p:cNvPr>
              <p:cNvSpPr txBox="1"/>
              <p:nvPr/>
            </p:nvSpPr>
            <p:spPr>
              <a:xfrm>
                <a:off x="2313540" y="2235631"/>
                <a:ext cx="418440" cy="1247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기재 요령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3896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D2418A-8108-86CB-345F-07C2FB0DC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3446E4C-B29C-62B3-4A60-7048B702612F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D868AE7F-A68C-BA3A-2B4E-C9E4FA21768D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xmlns="" id="{9CE83683-25A0-3E7D-B023-E35BE151F54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93D12FB2-9E69-5446-3AF3-A12470191892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xmlns="" id="{BB1ABE6C-0103-BB9E-5B82-2B9E1595BE59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BDB2374-2E43-6340-31F6-94E1EE5A513E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E96B7AFE-8AA4-4B66-BEC9-4D2C7911C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F52DFC16-D9E4-7B27-D3CC-43660540A1F3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9344103E-DAB7-0183-2F02-11A88F8744C8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150C5FD6-D46B-45A0-C76E-C47453123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94B14E59-4184-9BF1-0115-026D1A93ADF3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29AFABF1-B802-47E2-60BD-C950D79FA4EA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C7E9F3E0-AFFE-0006-0BC1-F99015F101FA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71EB3400-1FD1-F399-26A3-D83FC121D159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xmlns="" id="{8553C56F-79D4-76D4-C275-B407FF7A3B00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136E2C2E-F52A-696D-BEAF-DD51CCF866BD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D50653A-79C6-794D-06D3-A93C13DF82D4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9E86743C-5E3C-0710-DD58-857D6B4D3397}"/>
              </a:ext>
            </a:extLst>
          </p:cNvPr>
          <p:cNvGrpSpPr/>
          <p:nvPr/>
        </p:nvGrpSpPr>
        <p:grpSpPr>
          <a:xfrm>
            <a:off x="522288" y="1454050"/>
            <a:ext cx="6771463" cy="450951"/>
            <a:chOff x="522288" y="1454050"/>
            <a:chExt cx="6771463" cy="4509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5F7FAE07-547D-C24E-499C-59C2852ACB8D}"/>
                </a:ext>
              </a:extLst>
            </p:cNvPr>
            <p:cNvSpPr txBox="1"/>
            <p:nvPr/>
          </p:nvSpPr>
          <p:spPr>
            <a:xfrm>
              <a:off x="1340198" y="1564200"/>
              <a:ext cx="595355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나이스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학부모 서비스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를 통해 제출한 결석 신고서 및 증빙서류 처리 안내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xmlns="" id="{679ABC52-886B-FD6D-A8DA-640D93FE41B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6E1407BB-B4B4-D2A7-3321-B09C7F1C0F3B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xmlns="" id="{F8B607AC-20C2-0FE1-3FD9-9943D1D3E18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C30F384E-BD24-1940-FB07-2255802B0C1B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7093EAC-0891-D1C5-CFB0-F4B05A0AC365}"/>
              </a:ext>
            </a:extLst>
          </p:cNvPr>
          <p:cNvSpPr txBox="1"/>
          <p:nvPr/>
        </p:nvSpPr>
        <p:spPr>
          <a:xfrm>
            <a:off x="2120359" y="2431322"/>
            <a:ext cx="7736092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12738" indent="-312738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17)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별표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 ‘2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결석 신고서를 제출하는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결석한 날로부터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라고 하는 것은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시작한 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로부터 기한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(5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또는 부득이한 경우 학교장이 정한 기한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내를 의미한다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5B6B656-5A72-57DB-C6EF-4B0493AE7D27}"/>
              </a:ext>
            </a:extLst>
          </p:cNvPr>
          <p:cNvSpPr txBox="1"/>
          <p:nvPr/>
        </p:nvSpPr>
        <p:spPr>
          <a:xfrm>
            <a:off x="2181029" y="4366114"/>
            <a:ext cx="7909216" cy="239809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180000" latinLnBrk="0">
              <a:spcAft>
                <a:spcPts val="7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 신고서를 제출하는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결석한 날로부터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하는 것은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결석을 시작한 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로부터 기한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(5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또는 부득이한 경우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정한 기한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내를 의미한다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95300" indent="-300038" latinLnBrk="0">
              <a:spcAft>
                <a:spcPts val="7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학부모 서비스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통해 제출한 결석 신고서 및 증빙서류는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「전자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정부법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」 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호에 따른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전자화문서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로서 별도의 출력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보관이나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원본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제출이 불필요하며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증빙자료로서 학부모 의견서나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담임교사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확인서를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활용할 경우 별도로 작성하여 첨부하지 않고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학부모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서비스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신청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및 접수 시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해당란에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작성하는 것으로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갈음할 수 있음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A9A8D9A1-7E42-E580-9EA0-4F17CB25C516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xmlns="" id="{E00F0457-3567-8368-81F8-FA9EA5611782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xmlns="" id="{11130470-21E4-7F55-F935-EFA0100D6778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3537A1D0-E003-71CC-0AB6-6B01048E0B9C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xmlns="" id="{3CF30120-92D4-74E1-94A6-FAFE668DED11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xmlns="" id="{9F3757B5-C2C7-CE3A-CF14-D0B1B26D8FA5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DC582320-797D-5B4F-64C0-0C6021FD9273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6E4334BD-2230-3C3C-79E3-0B2732A92749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87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0A117F-25C7-8F95-467A-2D4C84D3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A0FD6612-AF3E-73A7-8ACB-117246C40D7B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49930FEB-9FA4-E32B-EE70-0212CFE1BA6F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3EEB9173-E131-CDF5-5802-0BCCB60CE35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3E925310-5E42-5525-1A6A-92625E8B60A6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BC451F-BFC3-B99C-E0F7-41D0A08ABCDB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A0FD262A-009F-B2E8-656D-46466D9E95AC}"/>
              </a:ext>
            </a:extLst>
          </p:cNvPr>
          <p:cNvGrpSpPr/>
          <p:nvPr/>
        </p:nvGrpSpPr>
        <p:grpSpPr>
          <a:xfrm>
            <a:off x="522288" y="1454050"/>
            <a:ext cx="5001748" cy="450951"/>
            <a:chOff x="522288" y="1454050"/>
            <a:chExt cx="5001748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01B79DAB-5709-7D7B-474B-9D2B68D906A3}"/>
                </a:ext>
              </a:extLst>
            </p:cNvPr>
            <p:cNvSpPr txBox="1"/>
            <p:nvPr/>
          </p:nvSpPr>
          <p:spPr>
            <a:xfrm>
              <a:off x="1340198" y="1564200"/>
              <a:ext cx="4183838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가습기살균제 건강 피해 학생의 질병결석 사례 안내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33F42F99-0B3E-8A1E-B7F5-8A986CD5194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806E5441-E2CE-DEAE-0493-E7BAC48C2B8D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B4AEB249-9593-E83F-1626-0B1867EFF15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D08FB062-7E0C-24D0-C5F0-56799E2461E8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DCC91FEB-4947-2D6D-96A9-32F7ED1BAEAB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58487A4A-5522-9D6D-BA31-D536D2C14C7C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xmlns="" id="{6419B7EA-34AD-D781-55CD-068D0633EB43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0352F416-F129-1E86-0A96-7133FDE539FB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129ED81A-EFEB-FC34-7755-B726A617F3D2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ED905707-798D-2815-0B91-7EE161B98D51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CFD9DA46-BB83-124C-0D0F-FEC244C84173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1F581380-98F2-EF38-79B4-FAB79D34E550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p.55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F0806B8E-E61D-748F-A1E6-43CD13F3FF69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CC9D85FB-877C-9F57-4690-EF1CB97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5B7B718C-67EC-55DC-5C00-BF308211B770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BE6D436-F5C2-A32E-A932-F52643979E09}"/>
              </a:ext>
            </a:extLst>
          </p:cNvPr>
          <p:cNvSpPr txBox="1"/>
          <p:nvPr/>
        </p:nvSpPr>
        <p:spPr>
          <a:xfrm>
            <a:off x="2137014" y="5778039"/>
            <a:ext cx="7994496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180000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가습기살균제 건강 피해 학생이 호흡곤란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편두통 등 기저질환으로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가정에서 요양하거나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정신건강 모니터링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마음건강 프로그램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참여한 경우에도 질병결석으로 처리한다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9A30DDF-23FE-D587-DB81-4AF343047BF0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16F63EEC-F775-C773-D0E3-73E85AD8B913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7" name="자유형 31">
              <a:extLst>
                <a:ext uri="{FF2B5EF4-FFF2-40B4-BE49-F238E27FC236}">
                  <a16:creationId xmlns:a16="http://schemas.microsoft.com/office/drawing/2014/main" xmlns="" id="{F73E7FD1-27F9-5FAC-853F-0170CEA29AB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197EA5E-245C-F475-4F65-180ACCD6EAE9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F51D4124-BEC7-A0C6-B14C-4B97E1A09D47}"/>
              </a:ext>
            </a:extLst>
          </p:cNvPr>
          <p:cNvGrpSpPr/>
          <p:nvPr/>
        </p:nvGrpSpPr>
        <p:grpSpPr>
          <a:xfrm>
            <a:off x="2137014" y="2414134"/>
            <a:ext cx="7778940" cy="3195555"/>
            <a:chOff x="2137014" y="2414134"/>
            <a:chExt cx="7778940" cy="319555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8D9A897-AF88-31F5-CA88-556457FAC38F}"/>
                </a:ext>
              </a:extLst>
            </p:cNvPr>
            <p:cNvSpPr txBox="1"/>
            <p:nvPr/>
          </p:nvSpPr>
          <p:spPr>
            <a:xfrm>
              <a:off x="2484188" y="3446435"/>
              <a:ext cx="7115731" cy="201593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3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2. 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결석</a:t>
              </a:r>
            </a:p>
            <a:p>
              <a:pPr indent="257175" latinLnBrk="0">
                <a:spcAft>
                  <a:spcPts val="3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다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 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질병으로 인한 결석</a:t>
              </a:r>
            </a:p>
            <a:p>
              <a:pPr marL="895350" indent="-266700" latinLnBrk="0">
                <a:spcAft>
                  <a:spcPts val="3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6) 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기후에너지환경부로부터 가습기살균제 건강피해자 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/>
              </a:r>
              <a:b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증명서를 발급받은 학생이 의사의 진단서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소견서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를 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/>
              </a:r>
              <a:b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첨부한 결석 신고서를 결석한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날로부터 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5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 이내에 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/>
              </a:r>
              <a:b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제출하여 학교장의 승인을</a:t>
              </a:r>
              <a:r>
                <a:rPr lang="en-US" altLang="ko-KR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받은 경우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98648867-BE3B-66DF-AB5E-72A0A9492F5E}"/>
                </a:ext>
              </a:extLst>
            </p:cNvPr>
            <p:cNvSpPr/>
            <p:nvPr/>
          </p:nvSpPr>
          <p:spPr>
            <a:xfrm>
              <a:off x="2137014" y="2606599"/>
              <a:ext cx="7778940" cy="3003090"/>
            </a:xfrm>
            <a:prstGeom prst="roundRect">
              <a:avLst>
                <a:gd name="adj" fmla="val 5492"/>
              </a:avLst>
            </a:prstGeom>
            <a:noFill/>
            <a:ln w="12700">
              <a:solidFill>
                <a:srgbClr val="23A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xmlns="" id="{8B7697AB-819A-ADD8-F94E-DEC5BF38A48D}"/>
                </a:ext>
              </a:extLst>
            </p:cNvPr>
            <p:cNvGrpSpPr/>
            <p:nvPr/>
          </p:nvGrpSpPr>
          <p:grpSpPr>
            <a:xfrm>
              <a:off x="2284803" y="2414134"/>
              <a:ext cx="1434441" cy="398940"/>
              <a:chOff x="2284803" y="2383312"/>
              <a:chExt cx="1434441" cy="398940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xmlns="" id="{A458F7ED-F6AB-EAFB-5373-F33B4DA9D7CB}"/>
                  </a:ext>
                </a:extLst>
              </p:cNvPr>
              <p:cNvSpPr/>
              <p:nvPr/>
            </p:nvSpPr>
            <p:spPr>
              <a:xfrm>
                <a:off x="2284803" y="2383312"/>
                <a:ext cx="1434441" cy="398940"/>
              </a:xfrm>
              <a:prstGeom prst="roundRect">
                <a:avLst>
                  <a:gd name="adj" fmla="val 50000"/>
                </a:avLst>
              </a:prstGeom>
              <a:solidFill>
                <a:srgbClr val="23AD2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960D9661-4C4D-7959-CB0F-F294D8D279CD}"/>
                  </a:ext>
                </a:extLst>
              </p:cNvPr>
              <p:cNvSpPr txBox="1"/>
              <p:nvPr/>
            </p:nvSpPr>
            <p:spPr>
              <a:xfrm>
                <a:off x="2469826" y="2428893"/>
                <a:ext cx="1064394" cy="3077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관련 훈령</a:t>
                </a:r>
                <a:endParaRPr lang="en-US" altLang="ko-KR" sz="2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xmlns="" id="{113AA13C-F990-C1B8-3C4C-724D7BE8F602}"/>
                </a:ext>
              </a:extLst>
            </p:cNvPr>
            <p:cNvGrpSpPr/>
            <p:nvPr/>
          </p:nvGrpSpPr>
          <p:grpSpPr>
            <a:xfrm>
              <a:off x="2284803" y="2921172"/>
              <a:ext cx="2692177" cy="418337"/>
              <a:chOff x="2378002" y="2836553"/>
              <a:chExt cx="2692177" cy="418337"/>
            </a:xfrm>
          </p:grpSpPr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xmlns="" id="{9792EB05-B7DA-4F57-CD10-B9421D0702C2}"/>
                  </a:ext>
                </a:extLst>
              </p:cNvPr>
              <p:cNvSpPr/>
              <p:nvPr/>
            </p:nvSpPr>
            <p:spPr>
              <a:xfrm>
                <a:off x="2378002" y="2836553"/>
                <a:ext cx="2692177" cy="418337"/>
              </a:xfrm>
              <a:prstGeom prst="roundRect">
                <a:avLst>
                  <a:gd name="adj" fmla="val 50000"/>
                </a:avLst>
              </a:prstGeom>
              <a:solidFill>
                <a:srgbClr val="23AD26">
                  <a:alpha val="2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6B558395-214B-AC69-5565-451BA7820D31}"/>
                  </a:ext>
                </a:extLst>
              </p:cNvPr>
              <p:cNvSpPr txBox="1"/>
              <p:nvPr/>
            </p:nvSpPr>
            <p:spPr>
              <a:xfrm>
                <a:off x="2513023" y="2891833"/>
                <a:ext cx="2422137" cy="3077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 </a:t>
                </a:r>
                <a:r>
                  <a:rPr lang="en-US" altLang="ko-KR" sz="2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8(</a:t>
                </a:r>
                <a:r>
                  <a:rPr lang="ko-KR" altLang="en-US" sz="2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출결상황 관리</a:t>
                </a:r>
                <a:r>
                  <a:rPr lang="en-US" altLang="ko-KR" sz="2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79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18E5C0-55CF-164C-47D1-243855F4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3AB6C9D-5399-66C3-8C47-D127BAE9A161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그래픽 2362">
            <a:extLst>
              <a:ext uri="{FF2B5EF4-FFF2-40B4-BE49-F238E27FC236}">
                <a16:creationId xmlns:a16="http://schemas.microsoft.com/office/drawing/2014/main" xmlns="" id="{A5F25B75-24EC-EFC8-C0A4-B5C121495928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784B6A51-81A6-AE1C-3A02-65750913892E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776A8433-12DF-84E5-E074-84CA2F66C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xmlns="" id="{D1C2BEFA-B514-74FC-D806-ED8F8E0BB40F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09912533-9005-8598-25CF-C7505119048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397F1066-F74F-7A4A-6C84-1513B9057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F749522E-12AC-F1EE-F77C-E71BB32A4AB1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B191DB73-7522-69AF-EE92-00F98FCC4BBF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3AD26CCB-8E21-3E54-1D4E-57F14047AA0F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CFD73098-858D-6036-A5CD-5EDA4D7B4377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xmlns="" id="{78F14E18-B3F7-74F6-68F7-9BB2C70C6DC2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A7B618AD-8729-A4FD-9AF6-B9E8AA84411E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7D40C29-57FF-15DC-F99F-C0C367C1987D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6E14AF83-679B-4368-8144-A75F027D28D7}"/>
              </a:ext>
            </a:extLst>
          </p:cNvPr>
          <p:cNvGrpSpPr/>
          <p:nvPr/>
        </p:nvGrpSpPr>
        <p:grpSpPr>
          <a:xfrm>
            <a:off x="522288" y="1454050"/>
            <a:ext cx="4094448" cy="450951"/>
            <a:chOff x="522288" y="1454050"/>
            <a:chExt cx="4094448" cy="4509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F04BEA4B-F127-BA50-1685-D16640C8F89F}"/>
                </a:ext>
              </a:extLst>
            </p:cNvPr>
            <p:cNvSpPr txBox="1"/>
            <p:nvPr/>
          </p:nvSpPr>
          <p:spPr>
            <a:xfrm>
              <a:off x="1340198" y="1564200"/>
              <a:ext cx="3276538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 특기사항</a:t>
              </a:r>
              <a:r>
                <a:rPr lang="en-US" altLang="ko-KR" sz="1500" b="1" spc="-50" dirty="0" smtClean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500" b="1" spc="-50" dirty="0" smtClean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장기결석</a:t>
              </a:r>
              <a:r>
                <a:rPr lang="en-US" altLang="ko-KR" sz="1500" b="1" spc="-50" dirty="0" smtClean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입력 범위 완화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11E706E3-ED6B-D977-922D-2C928F881049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5D21D728-97CB-7067-CD64-15EDD02E47EB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ED2EFCD0-7AB2-84F8-8DC5-8619A29938D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C5FEED93-FF14-A872-8C85-202BCFBEBA9D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0B8A7219-BC12-AC05-1CF8-5AB07F3BEB5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xmlns="" id="{B7C26034-79A0-FF72-FA51-7A0D94A41B3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xmlns="" id="{1E523A64-7DDE-2ED1-0C6E-EA358C5B71AB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xmlns="" id="{C2AF3F57-8769-469F-E10B-57F5C5E057A0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xmlns="" id="{05800364-957B-A9C8-E607-13E0F884147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xmlns="" id="{D67B5817-4356-8338-D5FC-4FF29976B365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3865277-E493-6F27-2329-33CAC816AB0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CB8B5F4-BD84-741F-3F79-104FCA16882B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p.59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B27860C9-8B1E-E415-801C-B399201C5004}"/>
              </a:ext>
            </a:extLst>
          </p:cNvPr>
          <p:cNvSpPr txBox="1"/>
          <p:nvPr/>
        </p:nvSpPr>
        <p:spPr>
          <a:xfrm>
            <a:off x="2129658" y="2410773"/>
            <a:ext cx="7789312" cy="116698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7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특기사항에 입력하는 내용은 다음과 같다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4763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 종류별로 사유를 입력함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4763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기타결석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1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일이라도 사유를 입력함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4763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단기결석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횟수가 많을 경우 이를 누계하여 주된 사유를 입력할 수 있음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4763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않으나 횟수가 많은 지각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결과의 경우 사유를 입력할 수 있음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2D104E8-9CBD-CF05-767B-82FD4B3CB2FC}"/>
              </a:ext>
            </a:extLst>
          </p:cNvPr>
          <p:cNvSpPr txBox="1"/>
          <p:nvPr/>
        </p:nvSpPr>
        <p:spPr>
          <a:xfrm>
            <a:off x="2150207" y="4335018"/>
            <a:ext cx="7920438" cy="246734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7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특기사항에 입력하는 내용은 다음과 같다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49300" indent="-317500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기타결석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일이라도 사유를 입력함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49300" indent="-317500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질병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미인정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출결상황에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대한 이해를 높이는 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 경우 사유를 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49300" indent="-317500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않으나 횟수가 많은 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결과의 경우 사유를 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49300" indent="-317500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사유를 입력하지 않음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FF3A19E0-7A72-536D-C518-0B73A94FBBD3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6" name="자유형 31">
              <a:extLst>
                <a:ext uri="{FF2B5EF4-FFF2-40B4-BE49-F238E27FC236}">
                  <a16:creationId xmlns:a16="http://schemas.microsoft.com/office/drawing/2014/main" xmlns="" id="{73C948A8-190E-092D-71C2-7204F4B36DD1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251E8162-37ED-3E8D-2575-1884AA7F101E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23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B89604-95CE-5369-A40A-A3C27F55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B70AA1-3345-3472-4261-3A319B02326B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" name="그래픽 2362">
            <a:extLst>
              <a:ext uri="{FF2B5EF4-FFF2-40B4-BE49-F238E27FC236}">
                <a16:creationId xmlns:a16="http://schemas.microsoft.com/office/drawing/2014/main" xmlns="" id="{9DF6BCE6-902F-482D-DF15-3FA21DD754D4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0CABAE87-CD54-968A-21E7-982C39058700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F2326927-1104-B5B5-7306-06E86A265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xmlns="" id="{82C1713F-8694-A0E4-CC9E-C1A9E5885879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FB4D5711-6BD9-8A94-A8BC-2986728A03D5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F5A68EF8-184E-9F51-4486-2DA464F97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xmlns="" id="{D9C799CA-920C-2937-2523-E8ABD85823D5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A8B1B70C-8D64-7E18-6678-88731E6752BB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B6A2122-DD72-61C0-C613-0800AA806CCF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4A78CD6D-2D77-7C8F-1397-9338083456A1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xmlns="" id="{CAC9D06C-FAF7-E6C8-CB62-D7D5CB429D29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2B77AD10-F19D-218B-5E55-5AD0EA7C2DA0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031FBE1-9520-983C-F1BF-06F0EE9261E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3B170A55-9C22-D4FA-31B9-F77B20DC6E8A}"/>
              </a:ext>
            </a:extLst>
          </p:cNvPr>
          <p:cNvGrpSpPr/>
          <p:nvPr/>
        </p:nvGrpSpPr>
        <p:grpSpPr>
          <a:xfrm>
            <a:off x="522288" y="1454050"/>
            <a:ext cx="3722551" cy="450951"/>
            <a:chOff x="522288" y="1454050"/>
            <a:chExt cx="3722551" cy="45095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B21340B9-0F8A-1CB7-8A37-5CE825C5A9E3}"/>
                </a:ext>
              </a:extLst>
            </p:cNvPr>
            <p:cNvSpPr txBox="1"/>
            <p:nvPr/>
          </p:nvSpPr>
          <p:spPr>
            <a:xfrm>
              <a:off x="1340198" y="1564200"/>
              <a:ext cx="290464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 특기사항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개근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입력 범위 완화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B8C79E27-29B7-B1A3-71CF-1000834B81AF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E0E94FD3-5AEE-E011-94FF-2A3DECC7F7D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C6651ED1-3D69-D593-3589-3E5318A59B69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FD0F58AA-A636-0C8A-488D-7EEE7C8601D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449E5557-4846-FA1E-EE6C-9DA384EC35B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xmlns="" id="{5DC7ADC0-9164-8BC5-CE87-72993EF4FA11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xmlns="" id="{F78CF58F-C61F-C086-B53E-3EF865E277F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687A8051-F35C-8055-CEC1-9F3D06E285A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xmlns="" id="{81105924-031A-8066-2452-9C8AAC0908DD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xmlns="" id="{40174D8A-DFC7-67BC-3C89-C8496E9E3A9E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3DF9D348-6C0A-09F3-2AE2-ADBD31ABD8E8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06386721-83A8-9971-CCBA-8EA90D570116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p.60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331BEAB-6D8C-874E-E6F5-195677A2CA8F}"/>
              </a:ext>
            </a:extLst>
          </p:cNvPr>
          <p:cNvSpPr txBox="1"/>
          <p:nvPr/>
        </p:nvSpPr>
        <p:spPr>
          <a:xfrm>
            <a:off x="2120359" y="2301097"/>
            <a:ext cx="7809830" cy="138499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42888" indent="-242888" latinLnBrk="0"/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결석은 출석으로 처리하며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 결석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결과도 없는 경우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출결상황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0525" indent="-158750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수업일수가 다른 중도 입학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편입학생은 당해 학년의 전과정을 거치지 않았기 때문에 출결상황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않음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0525" indent="-158750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전입학인 경우 전출교와 전입교의 출결을 합하고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재입학의 경우는 재입학 이전과 재입학 이후의 출결을 합하여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입력여부를 결정함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0525" indent="-158750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특수교육대상자 중 순회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가정 및 보호시설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교육학생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건강장애학생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병원학교와 원격수업 수강학생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해당 학년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동안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결과가 없어도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입력하지 않고 공란으로 둠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1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1A6A5D9-58B1-0F3F-6305-AC4E93B681C2}"/>
              </a:ext>
            </a:extLst>
          </p:cNvPr>
          <p:cNvSpPr txBox="1"/>
          <p:nvPr/>
        </p:nvSpPr>
        <p:spPr>
          <a:xfrm>
            <a:off x="2181029" y="4426344"/>
            <a:ext cx="7441140" cy="201593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2750" indent="-41275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결석은 출석으로 처리하며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결과도 없는 경우 출결상황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00088" indent="-282575" latinLnBrk="0">
              <a:spcAft>
                <a:spcPts val="6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회의 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결과도 없는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교육정보시스템에서 학교생활기록부 마감 시 출결상황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입력함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2217624C-FDC6-221D-8BBA-C8E9CE6571E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6" name="자유형 31">
              <a:extLst>
                <a:ext uri="{FF2B5EF4-FFF2-40B4-BE49-F238E27FC236}">
                  <a16:creationId xmlns:a16="http://schemas.microsoft.com/office/drawing/2014/main" xmlns="" id="{36F31627-1E7D-96A7-ACAD-1CB0D5141A6B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6B9FB95E-84CE-15EC-A960-C3C06B1CB6E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961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BA7848-27B4-0A84-9085-C27BBAC4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29FC17C-643D-D34A-18C1-0E45DBF6A5F3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그래픽 2362">
            <a:extLst>
              <a:ext uri="{FF2B5EF4-FFF2-40B4-BE49-F238E27FC236}">
                <a16:creationId xmlns:a16="http://schemas.microsoft.com/office/drawing/2014/main" xmlns="" id="{D9C57FDC-F7CD-5B43-BC8E-22922B9F1668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06DC3D5F-1E3E-9C1A-9E37-3C5A1C7D31CE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6B2A74DD-0BC7-3AD0-223E-6B988C06E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xmlns="" id="{0474BBFB-BC63-A917-F1A3-1ABCC7D7C20A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5151918-E55A-E164-134D-402C8B96A21E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C29F9315-80B6-FFBC-97AD-FBCFBB6E7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A5BBB3D6-8B1B-3081-9461-1705833340D6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828A7B0C-5BEE-37FF-2844-F2784A77A2BC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DD18560-B341-5465-23AD-22B36531F25A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수상경력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FFBE8ED4-0662-91BB-0C10-FFD235538D5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xmlns="" id="{38F93F87-7DAD-26B8-A610-2809121346E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41F0454-44FF-DED5-91CA-73031DA17207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BE6EC40-9CEE-573A-F082-BEB838973E8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D9671D8A-E519-7B34-1345-8FF896498FB4}"/>
              </a:ext>
            </a:extLst>
          </p:cNvPr>
          <p:cNvGrpSpPr/>
          <p:nvPr/>
        </p:nvGrpSpPr>
        <p:grpSpPr>
          <a:xfrm>
            <a:off x="522288" y="1454050"/>
            <a:ext cx="3235238" cy="450951"/>
            <a:chOff x="522288" y="1454050"/>
            <a:chExt cx="3235238" cy="4509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E0C2645-4B91-6FB6-F02A-7A15D6FD7AC9}"/>
                </a:ext>
              </a:extLst>
            </p:cNvPr>
            <p:cNvSpPr txBox="1"/>
            <p:nvPr/>
          </p:nvSpPr>
          <p:spPr>
            <a:xfrm>
              <a:off x="1340198" y="1564200"/>
              <a:ext cx="2417328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수상경력 입력 가능 기준 완화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D045C935-642E-9EB6-AB08-68CE7F76C075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2671867D-DA20-6E54-1837-85F140586AB8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B939A4C8-3D41-4A9E-F57B-4139C299DAA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E89FE961-8662-DFDB-66C7-A98E26B6892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DBC0C010-D79A-3073-97C8-76D614EAE19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xmlns="" id="{7539952C-642E-95B8-7684-CE5B3A3CBAE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600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xmlns="" id="{041D7075-CDF2-4FE6-AE9F-96E7925FE79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xmlns="" id="{767D1586-31A9-A938-12D4-0B76D815EBB2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60059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xmlns="" id="{FE216334-8090-5194-4479-209ED5F04FC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600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xmlns="" id="{1D792D5E-11AE-0CCA-1D1D-BF4953420522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FE77AE49-625B-4C52-246C-B6A5695A69ED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참고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AB4B2AC-34A3-5E46-3DC4-6F3C1445CEBA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p.66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B04F0AE-4839-319D-C6DF-56A43724E92E}"/>
              </a:ext>
            </a:extLst>
          </p:cNvPr>
          <p:cNvSpPr txBox="1"/>
          <p:nvPr/>
        </p:nvSpPr>
        <p:spPr>
          <a:xfrm>
            <a:off x="2120359" y="2312528"/>
            <a:ext cx="7931980" cy="135678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07963" indent="-207963" latinLnBrk="0">
              <a:spcAft>
                <a:spcPts val="500"/>
              </a:spcAf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학교교육계획서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연간 대회 및 수상내용 등의 실시계획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수상비율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시행학기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담당부서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공개방식 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기재한다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04813" indent="-187325" latinLnBrk="0">
              <a:spcAft>
                <a:spcPts val="500"/>
              </a:spcAf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학교교육계획서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따라 실시한 교내상의 경우에 한하여 수상경력에 입력할 수 있음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교육목표 달성을 위하여 불가피한 경우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초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시작 후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30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시상계획을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변경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수정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하여 학교장의 결재 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변경계획을 공개한 경우의 수상실적 내용만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A09D10CD-8DE7-0B00-1A8F-932D1D890145}"/>
              </a:ext>
            </a:extLst>
          </p:cNvPr>
          <p:cNvSpPr txBox="1"/>
          <p:nvPr/>
        </p:nvSpPr>
        <p:spPr>
          <a:xfrm>
            <a:off x="2181029" y="4375544"/>
            <a:ext cx="7721666" cy="236475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07975" indent="-307975" latinLnBrk="0">
              <a:spcAft>
                <a:spcPts val="8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연간 대회 및 수상내용 등의 실시계획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수상비율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시행학기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담당부서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공개방식 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기재한다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06425" indent="-292100" latinLnBrk="0">
              <a:spcAft>
                <a:spcPts val="8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따라 실시한 교내상만 수상경력에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교육목표 달성을 위하여 불가피한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초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시작 후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30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시상 계획을 변경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수정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하여 학교장 결재 및 변경 계획을 공개한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수상실적을 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20C5165A-2E7D-C9BB-858A-085CBB2EF6F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8" name="자유형 31">
              <a:extLst>
                <a:ext uri="{FF2B5EF4-FFF2-40B4-BE49-F238E27FC236}">
                  <a16:creationId xmlns:a16="http://schemas.microsoft.com/office/drawing/2014/main" xmlns="" id="{C2F97928-312F-6930-A3FE-EDA9AC64DD12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56E583B7-4559-8010-B929-B785251C571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136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ADC462-7C4F-347F-AFFB-D32B836A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5A11FB1E-9AF8-E05F-9865-18BF028A49FC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73C78466-5AC0-2306-3D38-4710040BCBC9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9DCBF557-497B-50A1-873E-D470078A449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C1479652-C2BB-FBD0-1AF4-DBF10EE7F07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E44B60-3E0A-98F5-C894-483EF16F9CB0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0D638FDF-EA22-1B7D-C2B7-23FD3138CD14}"/>
              </a:ext>
            </a:extLst>
          </p:cNvPr>
          <p:cNvGrpSpPr/>
          <p:nvPr/>
        </p:nvGrpSpPr>
        <p:grpSpPr>
          <a:xfrm>
            <a:off x="522288" y="1454050"/>
            <a:ext cx="4633057" cy="450951"/>
            <a:chOff x="522288" y="1454050"/>
            <a:chExt cx="4633057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A765B55C-6261-5275-F32B-F8230081A4C3}"/>
                </a:ext>
              </a:extLst>
            </p:cNvPr>
            <p:cNvSpPr txBox="1"/>
            <p:nvPr/>
          </p:nvSpPr>
          <p:spPr>
            <a:xfrm>
              <a:off x="1340198" y="1564200"/>
              <a:ext cx="381514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영역별 이수시간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endParaRPr lang="ko-KR" altLang="en-US" sz="15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57FCCF34-699E-570D-E20A-C923CBEBADA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D206F4B8-B33B-EEAD-BCB6-477F4EF71F01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94C7F411-9018-73F1-AC1B-51A751B086B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9CF9F00E-A050-4B50-E4C3-DDF1864EF34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73FC97D-AA2D-70AA-980E-737E656E604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C8E0C646-97D8-8F4A-9AC7-419EF0D448CF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E3A963D7-9683-9087-9828-BC6C2980227B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A7541EF5-0147-DD0C-9CB4-C2B1AE5D0E67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B5381505-70A7-8545-CCF7-1106501F3E3A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E5795086-1376-778E-5D0B-48D53E2F820D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62ABE3CB-0B85-DE4A-88C1-8399CA87CCDE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4E6A4A48-8202-5162-BFCC-D1170D68AE79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E595DF7-317E-008A-4499-E7585A7655D2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98D66382-E639-B758-9002-ECF138A1FDAD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p.73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596EEF7-C645-18BA-0FD3-7591219FDA1E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그래픽 2362">
            <a:extLst>
              <a:ext uri="{FF2B5EF4-FFF2-40B4-BE49-F238E27FC236}">
                <a16:creationId xmlns:a16="http://schemas.microsoft.com/office/drawing/2014/main" xmlns="" id="{19570514-9B0A-14EF-9B14-9A20F191D99A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C998BA98-9754-5249-2B3C-14F2DE8F49A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42CC6CF6-44DC-6152-A239-6FFCA964A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2F3A8E53-C9A7-52D4-B35A-5445639AB6E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EE4DF13B-6E01-2E8D-A070-3E31FF2B5F10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xmlns="" id="{A998B983-9DF1-5C71-590B-05070C80D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7B3A9455-4834-4630-CE4D-D77451B6860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5B5831F-348B-B293-285E-4B571E3A4E54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E237406-ADE6-ECB2-2F36-B5F44E65D1BE}"/>
              </a:ext>
            </a:extLst>
          </p:cNvPr>
          <p:cNvSpPr txBox="1"/>
          <p:nvPr/>
        </p:nvSpPr>
        <p:spPr>
          <a:xfrm>
            <a:off x="2181029" y="2431322"/>
            <a:ext cx="7587013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27013" indent="-227013" latinLnBrk="0">
              <a:spcAft>
                <a:spcPts val="7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② 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항의 자율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진로활동은 영역별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이수시간 및 특기사항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개별적 특성이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드러나는 사항 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입력하고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봉사활동은 실적을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ACB09CBB-7FB3-A148-EF11-2E5728441528}"/>
              </a:ext>
            </a:extLst>
          </p:cNvPr>
          <p:cNvSpPr txBox="1"/>
          <p:nvPr/>
        </p:nvSpPr>
        <p:spPr>
          <a:xfrm>
            <a:off x="2181029" y="4355566"/>
            <a:ext cx="6873998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42900" indent="-342900" latinLnBrk="0">
              <a:spcAft>
                <a:spcPts val="10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② 중학교의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자율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진로활동의 영역별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입력하고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고등학교는 영역별 이수시간 및 특기사항을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6C6DFA6A-A16A-DB73-EE05-21152389C4D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5" name="자유형 31">
              <a:extLst>
                <a:ext uri="{FF2B5EF4-FFF2-40B4-BE49-F238E27FC236}">
                  <a16:creationId xmlns:a16="http://schemas.microsoft.com/office/drawing/2014/main" xmlns="" id="{50A7E6C7-5BB8-FDC1-2C36-8A7CAB60B3EE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F0A0F4F-D2A0-6C92-7BE9-A30F0400F59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7188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349125-2988-BCC5-728A-994F822C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02774F3D-22B5-7184-B49B-0155BAD516D2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F11B773E-60F8-1162-3C50-E91B795B8DB1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05F39BFA-C8AC-C0D4-6029-0AD723A1E663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7E0652A5-165A-AD01-CE15-F02E092BDCC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10E46070-B3F6-D27D-BE60-152AC190D3B2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59187719-9AB4-3D76-441D-4BEC19817534}"/>
              </a:ext>
            </a:extLst>
          </p:cNvPr>
          <p:cNvGrpSpPr/>
          <p:nvPr/>
        </p:nvGrpSpPr>
        <p:grpSpPr>
          <a:xfrm>
            <a:off x="522288" y="1454050"/>
            <a:ext cx="3560649" cy="450951"/>
            <a:chOff x="522288" y="1454050"/>
            <a:chExt cx="3560649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82BD91B8-4C6E-C224-2A8A-AC5F3E5D4231}"/>
                </a:ext>
              </a:extLst>
            </p:cNvPr>
            <p:cNvSpPr txBox="1"/>
            <p:nvPr/>
          </p:nvSpPr>
          <p:spPr>
            <a:xfrm>
              <a:off x="1340198" y="1564200"/>
              <a:ext cx="274273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 활동 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endParaRPr lang="ko-KR" altLang="en-US" sz="15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32B0DAE6-70C5-8574-6B18-5CEEF87A6A8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E9937E3B-939C-9D4A-0567-11755A47621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43F873DC-C4D7-9CDC-EA43-C97F48701E1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39CD2E6F-0D70-2346-6107-9F73E6A65AB0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4E18D001-8A0F-D22F-CA5C-D4A8DD9AF6E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04CBE1A4-4558-3529-4ECA-472FBC8BF5C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783467B0-FF82-C64F-62BD-A78CB3982582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7CA829A8-1CA7-4375-39F9-B15FF8AFEF65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637D3823-D74F-C44C-30D2-F9CB712C6674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877999E8-B247-AF44-1004-EBA2641E50B0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6266B73C-6538-7891-C841-8DD855D9A1F5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A76E76C4-D881-BC3B-4EAD-D85B326D29DF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6E3B90BF-3440-7F71-BC02-4D36FA7C9944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B3A69DD8-F264-7CCD-3566-E467B907D8C7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p.74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BED6130-2B74-5093-EF3D-926D2B450FA8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그래픽 2362">
            <a:extLst>
              <a:ext uri="{FF2B5EF4-FFF2-40B4-BE49-F238E27FC236}">
                <a16:creationId xmlns:a16="http://schemas.microsoft.com/office/drawing/2014/main" xmlns="" id="{7DF961B8-7D56-7F31-AE3C-BAC9775379F4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8F9B059F-90FD-0AF8-C278-D1139AF178EA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64760806-6275-B404-8030-5469D4725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172F94BE-C50E-F20F-32D5-6B10F52F5F42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6DC659A9-58CC-998B-C8BC-3763DFC2AC2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xmlns="" id="{7CF8CC5F-D796-4058-D129-93328AD6D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3D4EA528-286F-7BE6-10AF-0862BA3D8CB1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08CB3B6-9368-40D0-C2E4-3B5C994DCB6C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D2B80FC8-1F79-4E43-6627-8FBD2367EB6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5" name="자유형 31">
              <a:extLst>
                <a:ext uri="{FF2B5EF4-FFF2-40B4-BE49-F238E27FC236}">
                  <a16:creationId xmlns:a16="http://schemas.microsoft.com/office/drawing/2014/main" xmlns="" id="{016D4B91-8705-CC3F-E5BE-A13AA69D760D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A9E23B3-AD67-31DD-2CB3-2DB114030B3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A9D7D25-D5E6-360C-6EEA-5D4BA5212CE7}"/>
              </a:ext>
            </a:extLst>
          </p:cNvPr>
          <p:cNvSpPr txBox="1"/>
          <p:nvPr/>
        </p:nvSpPr>
        <p:spPr>
          <a:xfrm>
            <a:off x="2086067" y="4257980"/>
            <a:ext cx="8043869" cy="260840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09575" indent="-409575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⑧ 「학교체육 진흥법」 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조에 따른 학교스포츠클럽 활동 내용은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영역에 다음 각호의 사항을 입력한다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경우 활동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내용은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 승인한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기간에 수행한 것으로 한정한다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52438" indent="-65088" latinLnBrk="0"/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</a:t>
            </a:r>
            <a:endParaRPr lang="ko-KR" altLang="en-US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52438" indent="-65088" latinLnBrk="0"/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&lt;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</a:p>
          <a:p>
            <a:pPr marL="452438" indent="-65088" latinLnBrk="0">
              <a:spcAft>
                <a:spcPts val="3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</a:p>
          <a:p>
            <a:pPr marL="279400" indent="-279400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⑨ 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항에도 불구하고 정규교육과정에 포함되지 않은 학교스포츠클럽활동은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특기사항을 입력하지 않는다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17600" indent="-417600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⑩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  <a:endParaRPr lang="ko-KR" altLang="en-US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72025748-AAAE-D954-6AEF-04065B2633F1}"/>
              </a:ext>
            </a:extLst>
          </p:cNvPr>
          <p:cNvSpPr txBox="1"/>
          <p:nvPr/>
        </p:nvSpPr>
        <p:spPr>
          <a:xfrm>
            <a:off x="2089536" y="2335943"/>
            <a:ext cx="7790594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⑧ 「학교체육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진흥법」제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조에 따른 학교스포츠클럽 활동 내용은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 다음 각호의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사항을 입력 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경우 활동 내용은 학교장이 인정한 기간 동안 수행한 것으로 한정한다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25400" latinLnBrk="0"/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6225" indent="-25400" latinLnBrk="0"/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활동시간</a:t>
            </a:r>
          </a:p>
          <a:p>
            <a:pPr marL="276225" indent="-25400" latinLnBrk="0"/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개별적 특성이 드러나는 특기사항</a:t>
            </a:r>
          </a:p>
          <a:p>
            <a:pPr marL="277200" indent="-277200" latinLnBrk="0"/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⑨ 제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항에도 불구하고 정규교육과정에 포함되지 않은 학교스포츠클럽활동은 특기사항을 입력하지 않는다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7200" indent="-277200" latinLnBrk="0"/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⑩ 제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항의 활동시간은 동아리활동 이수시간에 합산한다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11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138CEF-7607-3B62-68AF-9BC9CE9B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9A4FD1C-21D1-2BCD-32B7-DE380918D428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그래픽 2362">
            <a:extLst>
              <a:ext uri="{FF2B5EF4-FFF2-40B4-BE49-F238E27FC236}">
                <a16:creationId xmlns:a16="http://schemas.microsoft.com/office/drawing/2014/main" xmlns="" id="{5A4C947F-908A-C830-1C0E-4527976C0D32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5E8B2761-BE72-129A-11FE-85CF29221D38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E69E07F8-28B5-0080-CC96-E55E1D3E0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xmlns="" id="{D08FECA9-8981-269F-4A0E-79A0D0FEDA29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9DAE1B5-AC52-84DC-F71C-90CB08CA0D0E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26D78409-9E8F-A33B-E6E5-3E581082F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9FBAD0DC-29CE-F05D-6795-BD360151C239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76E9C609-C074-F1E6-C818-33D7840087DE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B5AC94B-6E86-041C-44E0-E07FF1E14F67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77F68EF0-FB86-816B-B59F-1757015B7CFF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xmlns="" id="{E172CB79-164B-4D2E-E40A-7CB6CE6CDE8C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A4EE26AF-F632-F81B-3D9B-9006AB3F2743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E97BD06-E62D-5F9F-D9DF-2580DF1B67B0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2495852B-6A7F-817B-614B-DCD5373B0190}"/>
              </a:ext>
            </a:extLst>
          </p:cNvPr>
          <p:cNvGrpSpPr/>
          <p:nvPr/>
        </p:nvGrpSpPr>
        <p:grpSpPr>
          <a:xfrm>
            <a:off x="522288" y="1454050"/>
            <a:ext cx="4633057" cy="450951"/>
            <a:chOff x="522288" y="1454050"/>
            <a:chExt cx="4633057" cy="4509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9B9A90D7-8A10-B2FB-4BE6-26A6EC8BE6C5}"/>
                </a:ext>
              </a:extLst>
            </p:cNvPr>
            <p:cNvSpPr txBox="1"/>
            <p:nvPr/>
          </p:nvSpPr>
          <p:spPr>
            <a:xfrm>
              <a:off x="1340198" y="1564200"/>
              <a:ext cx="381514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10D55CD1-7E2B-D0C0-B8B9-2AD081E8F26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0BE28C89-0AE0-9AF4-1B82-41EEB5136A17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9A257C4E-1F9C-701D-C1CD-B15DBF3CC028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947069D3-3A2F-2B63-2957-55652BFCE976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9760982E-58D1-C6D8-2246-A5B89BE21E1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xmlns="" id="{32280BEA-2272-50F7-8221-69A95BBA551C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xmlns="" id="{3867E2D4-4355-00C7-B081-7C0714284E70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xmlns="" id="{68F4A04A-1FFE-C106-EAB1-D02C91E226B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xmlns="" id="{C0193582-9022-73DC-816C-88B05E264FB3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xmlns="" id="{1D6197C8-504D-8DE6-1AE5-C15BB5B2A459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A92DB2A-3689-B9F6-808A-E257F71C79CC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F5AF400A-7788-4134-39A2-1FC90777B27B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29FA9C4-D3BE-DA3C-0AED-2803D62F8586}"/>
              </a:ext>
            </a:extLst>
          </p:cNvPr>
          <p:cNvSpPr txBox="1"/>
          <p:nvPr/>
        </p:nvSpPr>
        <p:spPr>
          <a:xfrm>
            <a:off x="2181029" y="2431322"/>
            <a:ext cx="5487080" cy="4821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창의적 체험활동상황</a:t>
            </a:r>
          </a:p>
          <a:p>
            <a:pPr marL="276225" indent="-85725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체험활동상황의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영역별 활동 내용은 누가하여 기록한다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7F6EF91-C35A-BCFA-9678-4ED359676EAE}"/>
              </a:ext>
            </a:extLst>
          </p:cNvPr>
          <p:cNvSpPr txBox="1"/>
          <p:nvPr/>
        </p:nvSpPr>
        <p:spPr>
          <a:xfrm>
            <a:off x="2181029" y="4324744"/>
            <a:ext cx="7015062" cy="10464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창의적 체험활동상황</a:t>
            </a:r>
          </a:p>
          <a:p>
            <a:pPr marL="703263" indent="-41275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체험활동상황의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영역별 특기사항 입력을 위해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누가기록을 활용할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6964A90-A1AD-61F2-A5B9-00F6E8CA356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3" name="자유형 31">
              <a:extLst>
                <a:ext uri="{FF2B5EF4-FFF2-40B4-BE49-F238E27FC236}">
                  <a16:creationId xmlns:a16="http://schemas.microsoft.com/office/drawing/2014/main" xmlns="" id="{B8B1AF8F-49B3-3BD1-21A2-70CD91DFF41F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DFCBD068-9611-79DF-60F3-69D2945CD0D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980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F1E4F1-AAB8-85FD-A878-AEA55DB2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0AE96F7-B08F-1216-5CCD-9C9D8AAF958B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1D8DEF93-FC4F-8CDA-509E-9982B45BFD7A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7B5DDD1A-F5DA-6D51-A4E6-34767058BE3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484B0F95-B327-95CB-6C1C-34DEA4C69DBC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3773E803-67A1-F044-D241-BD73F48081CD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BE239B00-53BB-EF3D-6A1D-3AEE3C7E93E3}"/>
              </a:ext>
            </a:extLst>
          </p:cNvPr>
          <p:cNvGrpSpPr/>
          <p:nvPr/>
        </p:nvGrpSpPr>
        <p:grpSpPr>
          <a:xfrm>
            <a:off x="522288" y="1454050"/>
            <a:ext cx="4633057" cy="450951"/>
            <a:chOff x="522288" y="1454050"/>
            <a:chExt cx="4633057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C89E35EA-5047-72EE-527C-7A1B262517B7}"/>
                </a:ext>
              </a:extLst>
            </p:cNvPr>
            <p:cNvSpPr txBox="1"/>
            <p:nvPr/>
          </p:nvSpPr>
          <p:spPr>
            <a:xfrm>
              <a:off x="1340198" y="1564200"/>
              <a:ext cx="381514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영역별 이수시간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endParaRPr lang="ko-KR" altLang="en-US" sz="15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B44BC4BE-2C1E-8804-B2A8-CD2E2DBB96F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F128354B-6EBF-35AB-F3B4-D2921ED0DDD2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474CAD4B-7687-259F-2CB3-181FE60602D1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8CFE71CA-582E-7A7D-970A-3F953D639F6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D0024F54-5FAD-7B01-34BC-6241C4BF538E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BAD767FE-0424-D4F6-6D6C-64330F105781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xmlns="" id="{FBBC56A8-2768-0DB1-4204-8B32A65D038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5E1FE330-CA51-036A-4295-84B823389111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F733D541-20F5-1D41-F5B0-BAA86524922D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AAE585E3-D56B-CD1D-8643-20F86D110ED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09C12E2-717A-04CE-7FCA-C43DDE25EE5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8A52C1D1-AA66-98B5-C412-FD3D29FDABBF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p.75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512E2AD7-F8B0-3122-AA12-3E0D771E3B70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ACC832EB-2362-65A0-7270-F18FF4D49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A463E040-E010-6047-0BEC-5EA41629D39C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FC7A9F5-26CC-98C5-C247-033C61AC52CE}"/>
              </a:ext>
            </a:extLst>
          </p:cNvPr>
          <p:cNvGrpSpPr/>
          <p:nvPr/>
        </p:nvGrpSpPr>
        <p:grpSpPr>
          <a:xfrm>
            <a:off x="520774" y="2193391"/>
            <a:ext cx="1186222" cy="3035304"/>
            <a:chOff x="520774" y="8205451"/>
            <a:chExt cx="1186222" cy="30353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D0CB377C-F619-3EF9-1CC1-17DB04BF211C}"/>
                </a:ext>
              </a:extLst>
            </p:cNvPr>
            <p:cNvSpPr txBox="1"/>
            <p:nvPr/>
          </p:nvSpPr>
          <p:spPr>
            <a:xfrm>
              <a:off x="520774" y="10117335"/>
              <a:ext cx="1186222" cy="615553"/>
            </a:xfrm>
            <a:prstGeom prst="rect">
              <a:avLst/>
            </a:prstGeom>
            <a:noFill/>
          </p:spPr>
          <p:txBody>
            <a:bodyPr wrap="none" lIns="0" tIns="0" rIns="0" bIns="0" rtlCol="0" anchor="b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US" altLang="ko-KR" sz="40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2026</a:t>
              </a:r>
              <a:endParaRPr lang="ko-KR" altLang="en-US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9B185332-8697-FD9F-2817-2478D4ED4E8C}"/>
                </a:ext>
              </a:extLst>
            </p:cNvPr>
            <p:cNvGrpSpPr/>
            <p:nvPr/>
          </p:nvGrpSpPr>
          <p:grpSpPr>
            <a:xfrm>
              <a:off x="608728" y="10836524"/>
              <a:ext cx="965431" cy="404231"/>
              <a:chOff x="7748588" y="3400790"/>
              <a:chExt cx="965431" cy="404231"/>
            </a:xfrm>
          </p:grpSpPr>
          <p:sp>
            <p:nvSpPr>
              <p:cNvPr id="29" name="자유형 31">
                <a:extLst>
                  <a:ext uri="{FF2B5EF4-FFF2-40B4-BE49-F238E27FC236}">
                    <a16:creationId xmlns:a16="http://schemas.microsoft.com/office/drawing/2014/main" xmlns="" id="{9D9F66C1-5867-19AE-74B2-068D83A75849}"/>
                  </a:ext>
                </a:extLst>
              </p:cNvPr>
              <p:cNvSpPr/>
              <p:nvPr/>
            </p:nvSpPr>
            <p:spPr>
              <a:xfrm rot="10800000" flipV="1">
                <a:off x="7748588" y="3400790"/>
                <a:ext cx="965431" cy="404231"/>
              </a:xfrm>
              <a:prstGeom prst="roundRect">
                <a:avLst>
                  <a:gd name="adj" fmla="val 50000"/>
                </a:avLst>
              </a:prstGeom>
              <a:solidFill>
                <a:srgbClr val="23AD2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944CEC45-E1BC-1D76-4684-900785BA2FA1}"/>
                  </a:ext>
                </a:extLst>
              </p:cNvPr>
              <p:cNvSpPr txBox="1"/>
              <p:nvPr/>
            </p:nvSpPr>
            <p:spPr>
              <a:xfrm>
                <a:off x="8000470" y="3464407"/>
                <a:ext cx="461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latinLnBrk="0">
                  <a:spcBef>
                    <a:spcPct val="0"/>
                  </a:spcBef>
                  <a:defRPr/>
                </a:pPr>
                <a:r>
                  <a:rPr lang="ko-KR" altLang="en-US" sz="1800" b="1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삭제</a:t>
                </a:r>
              </a:p>
            </p:txBody>
          </p:sp>
        </p:grpSp>
        <p:sp>
          <p:nvSpPr>
            <p:cNvPr id="27" name="그래픽 2362">
              <a:extLst>
                <a:ext uri="{FF2B5EF4-FFF2-40B4-BE49-F238E27FC236}">
                  <a16:creationId xmlns:a16="http://schemas.microsoft.com/office/drawing/2014/main" xmlns="" id="{B84C350B-7501-A145-8BF3-9555D057C5E6}"/>
                </a:ext>
              </a:extLst>
            </p:cNvPr>
            <p:cNvSpPr/>
            <p:nvPr/>
          </p:nvSpPr>
          <p:spPr>
            <a:xfrm rot="5400000" flipV="1">
              <a:off x="401882" y="9072078"/>
              <a:ext cx="1379124" cy="644292"/>
            </a:xfrm>
            <a:custGeom>
              <a:avLst/>
              <a:gdLst>
                <a:gd name="connsiteX0" fmla="*/ 471297 w 471296"/>
                <a:gd name="connsiteY0" fmla="*/ 133255 h 266414"/>
                <a:gd name="connsiteX1" fmla="*/ 304324 w 471296"/>
                <a:gd name="connsiteY1" fmla="*/ 0 h 266414"/>
                <a:gd name="connsiteX2" fmla="*/ 344805 w 471296"/>
                <a:gd name="connsiteY2" fmla="*/ 85630 h 266414"/>
                <a:gd name="connsiteX3" fmla="*/ 0 w 471296"/>
                <a:gd name="connsiteY3" fmla="*/ 133255 h 266414"/>
                <a:gd name="connsiteX4" fmla="*/ 344805 w 471296"/>
                <a:gd name="connsiteY4" fmla="*/ 180785 h 266414"/>
                <a:gd name="connsiteX5" fmla="*/ 304324 w 471296"/>
                <a:gd name="connsiteY5" fmla="*/ 266414 h 266414"/>
                <a:gd name="connsiteX6" fmla="*/ 471297 w 471296"/>
                <a:gd name="connsiteY6" fmla="*/ 133255 h 26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1296" h="266414">
                  <a:moveTo>
                    <a:pt x="471297" y="133255"/>
                  </a:moveTo>
                  <a:lnTo>
                    <a:pt x="304324" y="0"/>
                  </a:lnTo>
                  <a:lnTo>
                    <a:pt x="344805" y="85630"/>
                  </a:lnTo>
                  <a:lnTo>
                    <a:pt x="0" y="133255"/>
                  </a:lnTo>
                  <a:lnTo>
                    <a:pt x="344805" y="180785"/>
                  </a:lnTo>
                  <a:lnTo>
                    <a:pt x="304324" y="266414"/>
                  </a:lnTo>
                  <a:lnTo>
                    <a:pt x="471297" y="133255"/>
                  </a:lnTo>
                  <a:close/>
                </a:path>
              </a:pathLst>
            </a:custGeom>
            <a:gradFill>
              <a:gsLst>
                <a:gs pos="23000">
                  <a:schemeClr val="bg1">
                    <a:lumMod val="65000"/>
                  </a:schemeClr>
                </a:gs>
                <a:gs pos="88000">
                  <a:srgbClr val="23AD26"/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0E498CEE-785D-EE69-C254-57747DEBB8E8}"/>
                </a:ext>
              </a:extLst>
            </p:cNvPr>
            <p:cNvSpPr txBox="1"/>
            <p:nvPr/>
          </p:nvSpPr>
          <p:spPr>
            <a:xfrm>
              <a:off x="690693" y="8205451"/>
              <a:ext cx="801501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b" anchorCtr="0">
              <a:spAutoFit/>
            </a:bodyPr>
            <a:lstStyle/>
            <a:p>
              <a:pPr latinLnBrk="0">
                <a:spcBef>
                  <a:spcPct val="0"/>
                </a:spcBef>
                <a:defRPr/>
              </a:pPr>
              <a:r>
                <a:rPr lang="en-US" altLang="ko-KR" sz="2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2025</a:t>
              </a:r>
              <a:endParaRPr lang="ko-KR" altLang="en-US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E6D77DB-A8FA-19B3-F5CF-F6D3FB990514}"/>
              </a:ext>
            </a:extLst>
          </p:cNvPr>
          <p:cNvSpPr txBox="1"/>
          <p:nvPr/>
        </p:nvSpPr>
        <p:spPr>
          <a:xfrm>
            <a:off x="2171730" y="2432266"/>
            <a:ext cx="7162217" cy="71045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➋ 시간</a:t>
            </a:r>
          </a:p>
          <a:p>
            <a:pPr marL="466725" indent="-276225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체험활동의 영역별 이수시간은 정규교육과정 내에서 실시한 학년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학급단위의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활동시간을 기준으로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본인이 실제로 참여하여 이수한 시간을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98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1798AD-A5DC-28F8-2206-6BCBFE8C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D542D8DE-AEDA-0BE5-210B-90F657C20CBE}"/>
              </a:ext>
            </a:extLst>
          </p:cNvPr>
          <p:cNvGrpSpPr/>
          <p:nvPr/>
        </p:nvGrpSpPr>
        <p:grpSpPr>
          <a:xfrm>
            <a:off x="522288" y="1454050"/>
            <a:ext cx="4447109" cy="450951"/>
            <a:chOff x="522288" y="1454050"/>
            <a:chExt cx="4447109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8646EF98-93ED-C226-B858-EA30A58342E3}"/>
                </a:ext>
              </a:extLst>
            </p:cNvPr>
            <p:cNvSpPr txBox="1"/>
            <p:nvPr/>
          </p:nvSpPr>
          <p:spPr>
            <a:xfrm>
              <a:off x="1340198" y="1564200"/>
              <a:ext cx="362919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8239AEE7-213A-4744-AA1A-DB2553A4A68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9DDBA5ED-5749-6712-A507-066972152677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933AB71E-0A25-696C-2178-6BD0E4731C7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200BE18C-7B10-D685-36C4-A79427E5723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0FA54B5C-658D-2277-90D3-0086BEF0F5C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29D63EB5-47D2-5E40-E2E7-D0F98B424BD2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3496F0D1-1B1A-1073-B308-23A77B8085D0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78274B7E-3AD5-F20D-C50F-DBD9A57AEE5A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1C2FC977-434B-73B2-F430-9421530ACB71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BC184FE3-E6A7-C34A-3F95-E2FD619245EF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D3E1E517-5744-BEC3-783B-86F775E94666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B93068B3-78E4-D92A-45D0-16DB76841849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2E00062-0517-7353-8623-44D58CEA09EA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3D97F1F4-F575-910C-98A2-078D65A6553F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p.86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9E6D1A6-D3FC-4750-EE5B-EB13571FDEEF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그래픽 2362">
            <a:extLst>
              <a:ext uri="{FF2B5EF4-FFF2-40B4-BE49-F238E27FC236}">
                <a16:creationId xmlns:a16="http://schemas.microsoft.com/office/drawing/2014/main" xmlns="" id="{538576C1-8489-43F9-512F-9C1BBDE7C9A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B973E563-CD02-5837-E9DB-350E84A86C78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013BEC95-A99B-3A5A-7E15-C683E7A42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A004013B-3497-D3B4-D747-55172C72070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9D448AA7-3F62-EB6C-CDD1-E84952B47CA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xmlns="" id="{2BA74E2F-F36E-F89C-CA60-2AD5E8489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D5ADEE3D-A535-E17C-2BF5-DDF085E16D59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BF50AC6-3D0F-463A-AC9A-5BE35828622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9027DC83-9C47-8484-8BA7-9522FE8FCAC6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5" name="자유형 31">
              <a:extLst>
                <a:ext uri="{FF2B5EF4-FFF2-40B4-BE49-F238E27FC236}">
                  <a16:creationId xmlns:a16="http://schemas.microsoft.com/office/drawing/2014/main" xmlns="" id="{F9BD1CF3-7B44-A888-0F30-01BED3C5EEFD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C9DB5FFE-9D40-4AA7-772A-0D74047D6B40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23A74641-4114-E1A7-900C-A067BD786D82}"/>
              </a:ext>
            </a:extLst>
          </p:cNvPr>
          <p:cNvGrpSpPr/>
          <p:nvPr/>
        </p:nvGrpSpPr>
        <p:grpSpPr>
          <a:xfrm>
            <a:off x="522288" y="518880"/>
            <a:ext cx="6205385" cy="677108"/>
            <a:chOff x="522288" y="-1203263"/>
            <a:chExt cx="6205385" cy="67710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F1904B41-9B22-1DC4-4E65-6396567EBEC7}"/>
                </a:ext>
              </a:extLst>
            </p:cNvPr>
            <p:cNvSpPr txBox="1"/>
            <p:nvPr/>
          </p:nvSpPr>
          <p:spPr>
            <a:xfrm>
              <a:off x="2402771" y="-1203263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xmlns="" id="{71AB5C6B-3CB9-41FD-7C86-F6567556EF5C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822682E2-B675-C248-D896-A7756B624F43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13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06DE997E-67DA-1B3F-E809-928F67D0ADC3}"/>
              </a:ext>
            </a:extLst>
          </p:cNvPr>
          <p:cNvSpPr txBox="1"/>
          <p:nvPr/>
        </p:nvSpPr>
        <p:spPr>
          <a:xfrm>
            <a:off x="2120359" y="4383482"/>
            <a:ext cx="7681911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38138" indent="-338138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③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따라 일상생활 활동상황을 누가기록 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 서식 또는 자체 개발한 서식 등을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활용하되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2FDC91D-6FF1-9816-7EC3-18C895112B84}"/>
              </a:ext>
            </a:extLst>
          </p:cNvPr>
          <p:cNvSpPr txBox="1"/>
          <p:nvPr/>
        </p:nvSpPr>
        <p:spPr>
          <a:xfrm>
            <a:off x="2120359" y="2431322"/>
            <a:ext cx="7896392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28600" indent="-2286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③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따른 영역별 누가기록은 공정성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객관성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타당도 등이 확보되도록 서식을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개발하여 활용하되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 관리한다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62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9658FC-8FDD-F0A6-16BB-CA6F6D422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E5C78844-0638-01E6-07EF-214738E8BAC7}"/>
              </a:ext>
            </a:extLst>
          </p:cNvPr>
          <p:cNvGrpSpPr/>
          <p:nvPr/>
        </p:nvGrpSpPr>
        <p:grpSpPr>
          <a:xfrm>
            <a:off x="522288" y="1454050"/>
            <a:ext cx="4447109" cy="450951"/>
            <a:chOff x="522288" y="1454050"/>
            <a:chExt cx="4447109" cy="4509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D3BC9BC5-BF8D-6207-C876-8B0681B28BB3}"/>
                </a:ext>
              </a:extLst>
            </p:cNvPr>
            <p:cNvSpPr txBox="1"/>
            <p:nvPr/>
          </p:nvSpPr>
          <p:spPr>
            <a:xfrm>
              <a:off x="1340198" y="1564200"/>
              <a:ext cx="362919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E8E781EC-5FF5-CD3C-A2E0-E2922E65E46B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5" name="사각형: 둥근 위쪽 모서리 4">
                <a:extLst>
                  <a:ext uri="{FF2B5EF4-FFF2-40B4-BE49-F238E27FC236}">
                    <a16:creationId xmlns:a16="http://schemas.microsoft.com/office/drawing/2014/main" xmlns="" id="{437E07DE-2C7B-75BE-E672-EF4A6632735B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사각형: 둥근 위쪽 모서리 5">
                <a:extLst>
                  <a:ext uri="{FF2B5EF4-FFF2-40B4-BE49-F238E27FC236}">
                    <a16:creationId xmlns:a16="http://schemas.microsoft.com/office/drawing/2014/main" xmlns="" id="{2F641B7C-791C-3173-55DF-0B866823F7B6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F93EE83A-9E6C-E36B-09E1-F00E15BF59C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6CC4E17-2216-1425-F270-0552F46BC490}"/>
              </a:ext>
            </a:extLst>
          </p:cNvPr>
          <p:cNvGrpSpPr/>
          <p:nvPr/>
        </p:nvGrpSpPr>
        <p:grpSpPr>
          <a:xfrm>
            <a:off x="522288" y="518880"/>
            <a:ext cx="6205385" cy="677108"/>
            <a:chOff x="522288" y="-1203263"/>
            <a:chExt cx="6205385" cy="6771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AC926510-6475-43E3-CB58-5B1880EB9EE8}"/>
                </a:ext>
              </a:extLst>
            </p:cNvPr>
            <p:cNvSpPr txBox="1"/>
            <p:nvPr/>
          </p:nvSpPr>
          <p:spPr>
            <a:xfrm>
              <a:off x="2402771" y="-1203263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xmlns="" id="{25A0B3F8-2503-88C7-F70D-E5606A714678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32A9BADF-2475-6D79-DAB9-84D22BCC6ACB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13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4FA7A97E-DFB0-4855-C99A-9431B501F90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xmlns="" id="{D9D06700-67B4-B7BE-E0A1-7CCC62F0B7F6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A04AFA58-1B82-0001-4A84-28D073D12C1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7C59DFD4-6F4C-9D67-00F4-E759222F424D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xmlns="" id="{61B5951C-0E1F-57E7-2108-D493DCD52AE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BCBFB10F-A51A-5162-A80B-26A7C8546D4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5D743FD6-1EA0-5BC8-5AC1-C908B7C50798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7D9D2C03-9F1A-B075-9CA8-2E1A614898C5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p.87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414EDC7-8C23-333E-2EAD-9A1A2C40FF8C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그래픽 2362">
            <a:extLst>
              <a:ext uri="{FF2B5EF4-FFF2-40B4-BE49-F238E27FC236}">
                <a16:creationId xmlns:a16="http://schemas.microsoft.com/office/drawing/2014/main" xmlns="" id="{01C1CC6C-092A-BF3D-7EC9-E567A8637E85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B7A4BD6F-20B3-CA06-93A6-D0E886D9C36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xmlns="" id="{5E8EB862-7451-E064-7822-D4BA8A0F8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xmlns="" id="{7974938B-4C0E-7E5C-1C00-6EC9C9D6864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4778C3C4-BD87-9C71-38B0-1AB2D08CFA43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98C5CFBE-D657-36D8-37E7-ECC162FAC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FCF30782-6B3E-C7B5-1996-076897537FA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5BA8D213-DE38-E500-64D2-6E2A6FE7642A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51615725-EC05-649F-FFF6-518A6D4F1C3D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0" name="자유형 31">
              <a:extLst>
                <a:ext uri="{FF2B5EF4-FFF2-40B4-BE49-F238E27FC236}">
                  <a16:creationId xmlns:a16="http://schemas.microsoft.com/office/drawing/2014/main" xmlns="" id="{AC195C90-B263-AFA5-6BA0-07A5F270BB4D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2FBC391F-9210-8021-9E75-9514ACE119E8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B1B546AB-040E-1AC4-5CF3-84F331A41E1F}"/>
              </a:ext>
            </a:extLst>
          </p:cNvPr>
          <p:cNvSpPr txBox="1"/>
          <p:nvPr/>
        </p:nvSpPr>
        <p:spPr>
          <a:xfrm>
            <a:off x="2120359" y="4383482"/>
            <a:ext cx="7637988" cy="10464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38138" indent="-338138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일상생활 활동상황</a:t>
            </a:r>
          </a:p>
          <a:p>
            <a:pPr marL="727075" indent="-427038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활동상황의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영역별 특기사항 입력을 위해 필요한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누가기록을 활용할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77C02716-BFB8-AEB1-8995-671C3EF686F0}"/>
              </a:ext>
            </a:extLst>
          </p:cNvPr>
          <p:cNvSpPr txBox="1"/>
          <p:nvPr/>
        </p:nvSpPr>
        <p:spPr>
          <a:xfrm>
            <a:off x="2120359" y="2431322"/>
            <a:ext cx="5326779" cy="4821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3363" indent="-233363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일상생활 활동상황</a:t>
            </a:r>
          </a:p>
          <a:p>
            <a:pPr marL="233363" indent="-23813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활동상황의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영역별 활동 내용은 누가하여 기록한다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5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AD0733-E866-8DE1-86DA-D8021FB0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6D462E64-0098-8DA8-4D74-441B30479418}"/>
              </a:ext>
            </a:extLst>
          </p:cNvPr>
          <p:cNvGrpSpPr/>
          <p:nvPr/>
        </p:nvGrpSpPr>
        <p:grpSpPr>
          <a:xfrm>
            <a:off x="522288" y="565047"/>
            <a:ext cx="7524656" cy="584775"/>
            <a:chOff x="522288" y="565047"/>
            <a:chExt cx="7524656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4BB983E5-951D-4968-CA14-7AFD85E9F4FE}"/>
                </a:ext>
              </a:extLst>
            </p:cNvPr>
            <p:cNvSpPr txBox="1"/>
            <p:nvPr/>
          </p:nvSpPr>
          <p:spPr>
            <a:xfrm>
              <a:off x="1923473" y="565047"/>
              <a:ext cx="6123471" cy="58477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8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8DA2E765-D3FA-1B7C-9152-6B059C3D3797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A966C09F-4CC2-122A-1724-1DA129668DEA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AC8EC8F7-480E-44D2-F672-7611F390A2B6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AF9C5AA3-0C76-7141-F274-4F427B8E2286}"/>
              </a:ext>
            </a:extLst>
          </p:cNvPr>
          <p:cNvGrpSpPr/>
          <p:nvPr/>
        </p:nvGrpSpPr>
        <p:grpSpPr>
          <a:xfrm>
            <a:off x="522288" y="1454050"/>
            <a:ext cx="4072006" cy="450951"/>
            <a:chOff x="522288" y="1454050"/>
            <a:chExt cx="4072006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B544B36A-50AD-0236-12AC-FAB4AE59521B}"/>
                </a:ext>
              </a:extLst>
            </p:cNvPr>
            <p:cNvSpPr txBox="1"/>
            <p:nvPr/>
          </p:nvSpPr>
          <p:spPr>
            <a:xfrm>
              <a:off x="1340198" y="1564200"/>
              <a:ext cx="325409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평가로 인한 학생의 부담 완화 조치 안내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BB1CCC69-B631-FBB3-93E1-99B28082C24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13E4DEB4-3D92-8244-345D-D2F93051BCEF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28F27D98-C4FC-3763-51CD-04FAF828025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4B3395A7-69F7-063B-A462-578968EBC994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10791203-0C52-FFD6-A0C9-3359EC3D910B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E01E78A9-C79F-9EC7-DD53-C0D618F081C8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C01C1EE2-05D8-43A2-EE44-4C784123BCF8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297687D9-85EB-EFCE-10CF-8632EDDCF0E9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8C1FC6AD-5E6B-346A-B6A3-D1C96810BFCA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1080AE01-C410-F6A5-0F76-4842D88C3225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8F42EF07-2F2B-CEB4-80F7-19850DC4DE41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4680634A-7218-C87E-A822-EC95FF1DE365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A2DEF6B-DAAB-6C37-BB9B-082A01870D4C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758B7C5-5D8C-EF70-4749-078DF6F880C8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4099A0A-F9B9-2109-3D2A-3F034A549F43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그래픽 2362">
            <a:extLst>
              <a:ext uri="{FF2B5EF4-FFF2-40B4-BE49-F238E27FC236}">
                <a16:creationId xmlns:a16="http://schemas.microsoft.com/office/drawing/2014/main" xmlns="" id="{5475D0E5-2EBD-DE77-AEAE-9CD4BD9BA3A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5DB3ED29-C2C5-8709-A7F3-BDBD2B8B3D4B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27EFCAA2-49F6-29EC-4C7C-AE0D5B182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1E2C88C4-6233-053B-7B28-184D6BD4057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607F860D-B32A-B591-45E2-B8F157FB0FE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xmlns="" id="{94E09E93-9AAA-3063-80E6-8856A1CD9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75D494A3-75B8-9D05-C762-2E7A06D15844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E0E4685-D534-E923-6D83-1B4CC98B2A8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32385E36-C5F6-3339-9E03-37F14452DB0A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3" name="자유형 31">
              <a:extLst>
                <a:ext uri="{FF2B5EF4-FFF2-40B4-BE49-F238E27FC236}">
                  <a16:creationId xmlns:a16="http://schemas.microsoft.com/office/drawing/2014/main" xmlns="" id="{4A6971A6-A112-93F6-05FE-E078C6E4C264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CCA6A84B-B0BF-DB98-FF15-333448555118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0C50458C-06AE-E450-F8E9-E8A2D4CF1E3D}"/>
              </a:ext>
            </a:extLst>
          </p:cNvPr>
          <p:cNvSpPr txBox="1"/>
          <p:nvPr/>
        </p:nvSpPr>
        <p:spPr>
          <a:xfrm>
            <a:off x="2120359" y="2431322"/>
            <a:ext cx="7694094" cy="69762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400"/>
              </a:spcAf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목표 및 방침</a:t>
            </a:r>
          </a:p>
          <a:p>
            <a:pPr marL="466725" indent="-271463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및 학교는 교과학습의 평가 및 관리의 객관성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공정성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신뢰도를 제고하기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위하여 노력하여야 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DC7C4091-A1E1-34F8-1EF0-2335C362D5B2}"/>
              </a:ext>
            </a:extLst>
          </p:cNvPr>
          <p:cNvSpPr txBox="1"/>
          <p:nvPr/>
        </p:nvSpPr>
        <p:spPr>
          <a:xfrm>
            <a:off x="2120359" y="4383482"/>
            <a:ext cx="7620676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00050" indent="-40005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및 학교는 교과학습의 평가 및 관리의 객관성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공정성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신뢰도를 제고하기 위하여 노력하여야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아울러 평가로 인한 학생의 부담이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과중되지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않도록 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유형별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 비율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운영 시기 등을 적절하게 조정하여야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4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EC0B1A-9BC5-76DE-38EE-33CDC0B3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E1D9F234-04C8-645C-CCE8-4049299103D2}"/>
              </a:ext>
            </a:extLst>
          </p:cNvPr>
          <p:cNvGrpSpPr/>
          <p:nvPr/>
        </p:nvGrpSpPr>
        <p:grpSpPr>
          <a:xfrm>
            <a:off x="522288" y="565047"/>
            <a:ext cx="7524656" cy="584775"/>
            <a:chOff x="522288" y="565047"/>
            <a:chExt cx="7524656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DDADE1B4-3896-F6A7-7D46-DB4FF6D733BA}"/>
                </a:ext>
              </a:extLst>
            </p:cNvPr>
            <p:cNvSpPr txBox="1"/>
            <p:nvPr/>
          </p:nvSpPr>
          <p:spPr>
            <a:xfrm>
              <a:off x="1923473" y="565047"/>
              <a:ext cx="6123471" cy="58477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8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57AB0A98-3819-5C5A-09E2-C484E019F4F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4BA93A03-9C00-CF01-2DF5-3E96AABF3BA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ADEBF6D-A173-1C3D-78C8-37C189C6F473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32CAFA66-DC3B-36BD-9453-D22FCC87867C}"/>
              </a:ext>
            </a:extLst>
          </p:cNvPr>
          <p:cNvGrpSpPr/>
          <p:nvPr/>
        </p:nvGrpSpPr>
        <p:grpSpPr>
          <a:xfrm>
            <a:off x="522288" y="1454050"/>
            <a:ext cx="4072006" cy="450951"/>
            <a:chOff x="522288" y="1454050"/>
            <a:chExt cx="4072006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658DE29D-C51D-AF09-E4D7-12AEE7379F70}"/>
                </a:ext>
              </a:extLst>
            </p:cNvPr>
            <p:cNvSpPr txBox="1"/>
            <p:nvPr/>
          </p:nvSpPr>
          <p:spPr>
            <a:xfrm>
              <a:off x="1340198" y="1564200"/>
              <a:ext cx="325409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평가로 인한 학생의 부담 완화 조치 안내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360D5DC3-2276-62EF-82DE-49CD56B8E52B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8A925FC2-BC27-0FEE-58E7-E5A16922479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78D6CAF7-6FA7-0110-09C1-88FD52FE53DC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9187BA3B-BC06-F44F-6B56-5C5D0FE2D1D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2E15DCD5-A47B-CE0D-E1D2-8FD9408A64E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AEB5EBFA-EC41-36FA-F9D3-A8B668C25E3E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xmlns="" id="{1DE38265-B983-C557-0417-895246EF86C1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32F6B126-8CCA-0C43-6A97-0897D7128471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912FD4DD-C025-0B3E-2A9D-97572883DE2F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26FD5846-9FB2-DAF0-4F79-4730FA3224AC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AE21B6DE-00F9-CBC2-D2D9-9546E3AA5C6D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094E1580-A93F-D5D0-18ED-96AE957AFC74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p.90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3E7B7BCF-248A-51F0-E17D-8A275FB5BB8B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FF9D5C04-C13C-8250-8EB5-B3B2AAA59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AC1AE38E-302B-1B9A-F062-D2D34008F272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6D2093C-C065-3D76-A4F4-EA8E6D5D1A13}"/>
              </a:ext>
            </a:extLst>
          </p:cNvPr>
          <p:cNvSpPr txBox="1"/>
          <p:nvPr/>
        </p:nvSpPr>
        <p:spPr>
          <a:xfrm>
            <a:off x="2181029" y="2514460"/>
            <a:ext cx="7790274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학교는 교과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별 특성과 학생 평가 부담을 고려하여 교과 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 간 협의를 통해 평가 유형별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수행평가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논술형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적정 시행 비율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횟수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시기 등을 정한다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2F770DD-1A80-CA21-ED33-3CBFE7962F53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06C8F17D-3C0D-63C8-C170-0B6FFA0B19B1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7" name="자유형 31">
              <a:extLst>
                <a:ext uri="{FF2B5EF4-FFF2-40B4-BE49-F238E27FC236}">
                  <a16:creationId xmlns:a16="http://schemas.microsoft.com/office/drawing/2014/main" xmlns="" id="{583D34D2-E24F-CB94-EEBF-77E83473F98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374269B-7CDF-0087-CD16-B587CE7C811E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491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2A7E6A-F4A3-3747-0691-E723B856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35365F45-8853-8B51-A8C2-9FAB320B2568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xmlns="" id="{AB051C80-FD82-8140-CC1C-A50097C61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xmlns="" id="{1A4723B7-6A8D-839B-236E-5F6576DFCEEC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9791F11B-AD17-D52D-3FD5-955FCED33CA5}"/>
              </a:ext>
            </a:extLst>
          </p:cNvPr>
          <p:cNvSpPr txBox="1"/>
          <p:nvPr/>
        </p:nvSpPr>
        <p:spPr>
          <a:xfrm>
            <a:off x="2120359" y="2514460"/>
            <a:ext cx="7876836" cy="17953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24000" indent="-324000" latinLnBrk="0">
              <a:spcAft>
                <a:spcPts val="7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중학교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고등학교 평가 방법</a:t>
            </a:r>
          </a:p>
          <a:p>
            <a:pPr marL="323850" indent="-23813" latinLnBrk="0">
              <a:spcAft>
                <a:spcPts val="7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평가운영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35050" indent="-311150" latinLnBrk="0">
              <a:spcAft>
                <a:spcPts val="7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수행평가에서 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(AI)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도구를 활용하는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공정성 및 신뢰성이 훼손되지 않도록 주의하고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시행 전 학생 유의사항을 충분히 안내한다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5E2DC9EF-E09A-3DCC-AE24-43854C95B05A}"/>
              </a:ext>
            </a:extLst>
          </p:cNvPr>
          <p:cNvGrpSpPr/>
          <p:nvPr/>
        </p:nvGrpSpPr>
        <p:grpSpPr>
          <a:xfrm>
            <a:off x="522288" y="565047"/>
            <a:ext cx="7524656" cy="584775"/>
            <a:chOff x="522288" y="565047"/>
            <a:chExt cx="7524656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6C01E5FB-1B97-DFA0-3CA3-F88D3FB34409}"/>
                </a:ext>
              </a:extLst>
            </p:cNvPr>
            <p:cNvSpPr txBox="1"/>
            <p:nvPr/>
          </p:nvSpPr>
          <p:spPr>
            <a:xfrm>
              <a:off x="1923473" y="565047"/>
              <a:ext cx="6123471" cy="58477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8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1DFDCCCA-936C-5298-DD13-7A5E26C39A12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C07BCB39-D4CB-78A0-6314-34E2CB5670EB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1CD72F2-009F-69F9-2A78-FC36D3D6C749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988A233E-AF56-576F-4B82-D71E5E553C99}"/>
              </a:ext>
            </a:extLst>
          </p:cNvPr>
          <p:cNvGrpSpPr/>
          <p:nvPr/>
        </p:nvGrpSpPr>
        <p:grpSpPr>
          <a:xfrm>
            <a:off x="522288" y="1454050"/>
            <a:ext cx="4430374" cy="450951"/>
            <a:chOff x="522288" y="1454050"/>
            <a:chExt cx="4430374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6BBA9788-54B1-5D2B-DA98-32DBB2564C43}"/>
                </a:ext>
              </a:extLst>
            </p:cNvPr>
            <p:cNvSpPr txBox="1"/>
            <p:nvPr/>
          </p:nvSpPr>
          <p:spPr>
            <a:xfrm>
              <a:off x="1340198" y="1564200"/>
              <a:ext cx="361246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수행평가에서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AI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도구 활용 시 유의사항 안내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C9CDC726-F5F7-3C3C-8E72-58085E1A4387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E4A667FA-FBD2-AFE5-C56B-20064A002AFC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C3CB9E6D-3A49-65E7-53E9-F7781C49CD16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22FAF090-3C06-C3F6-D01A-8E967FAFC18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D8722F7E-EF5C-94DF-1DF9-52C45AE1773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D33346BA-EA26-50CE-B450-94DD0C5A8BC8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237B4D88-7D4F-F195-F713-B1DE591DD412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A5119F41-75B3-0B29-9CE4-E45B363B43B6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9907A684-F46E-8DD1-DEB8-AB018D8F8F3B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47578E4F-B401-1E10-55F9-A58F6EBE4CCF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D031DF72-CE7E-9DD9-4ACB-4E97A5B52882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F6EA0943-E4F7-8245-8DE2-F299DBFF62D6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7A9ACBA-A4C2-AF1F-E268-6FF7B7651CBF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CFD6CF97-64B1-9B6E-BF8D-3E67BB06E17C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p.93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749EE2ED-7C00-57CF-DE9F-4399DADDA942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287C1C16-9BFE-009A-91E4-3BF1F406AFA8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9" name="자유형 31">
              <a:extLst>
                <a:ext uri="{FF2B5EF4-FFF2-40B4-BE49-F238E27FC236}">
                  <a16:creationId xmlns:a16="http://schemas.microsoft.com/office/drawing/2014/main" xmlns="" id="{311679D9-2C17-8C53-6CC8-72CCC135CBFB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ECA450A9-5254-660F-EC75-E429F0A8DF67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8163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C2AE3F-9161-56E6-6080-5E03DC10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F4181186-DCE2-79E2-3147-30128ACA551C}"/>
              </a:ext>
            </a:extLst>
          </p:cNvPr>
          <p:cNvGrpSpPr/>
          <p:nvPr/>
        </p:nvGrpSpPr>
        <p:grpSpPr>
          <a:xfrm>
            <a:off x="522288" y="565047"/>
            <a:ext cx="7524656" cy="584775"/>
            <a:chOff x="522288" y="565047"/>
            <a:chExt cx="7524656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E3EE97E8-C0EC-B3B8-4A8F-804BA55DA6BB}"/>
                </a:ext>
              </a:extLst>
            </p:cNvPr>
            <p:cNvSpPr txBox="1"/>
            <p:nvPr/>
          </p:nvSpPr>
          <p:spPr>
            <a:xfrm>
              <a:off x="1923473" y="565047"/>
              <a:ext cx="6123471" cy="58477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8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4EF950D8-200C-0500-5630-90A49B4E7AF6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860AEB6B-580C-BD69-B113-03CD921328D9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3161784-5256-2EF3-F3A0-B63D34831645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5CEAB869-CB77-F427-6846-7DF646786258}"/>
              </a:ext>
            </a:extLst>
          </p:cNvPr>
          <p:cNvGrpSpPr/>
          <p:nvPr/>
        </p:nvGrpSpPr>
        <p:grpSpPr>
          <a:xfrm>
            <a:off x="522288" y="1454050"/>
            <a:ext cx="4430374" cy="450951"/>
            <a:chOff x="522288" y="1454050"/>
            <a:chExt cx="4430374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BEDF00DD-6769-58ED-D9AA-ACFE2D58B6F0}"/>
                </a:ext>
              </a:extLst>
            </p:cNvPr>
            <p:cNvSpPr txBox="1"/>
            <p:nvPr/>
          </p:nvSpPr>
          <p:spPr>
            <a:xfrm>
              <a:off x="1340198" y="1564200"/>
              <a:ext cx="361246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수행평가에서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AI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도구 활용 시 유의사항 안내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F9521F77-CD74-C595-551B-10658F5FD196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5F13C99F-ECDB-126C-08C8-84C0FA900EE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E5D4A289-7C4C-6773-38BC-FFD5C5B6A5D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D163FD2-7218-EF65-A7B4-52EEB0F161E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C936C0B4-C2AA-2E39-0472-19922AC0FBD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BC80AB0C-DC12-EC5E-1647-4EC2BE811281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xmlns="" id="{D1DA9350-C5A2-25C2-E70C-3F48887B6BCE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C01DDE87-A26C-81A1-3976-76550A10B9F3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9510C52F-9630-5B44-2D58-CD1107505C06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AAFCF7DD-29BE-4C7E-1505-5B916F41AA1E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D5D37103-3102-6F31-18F2-AC99B74496A0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B70C0548-A369-5E77-E258-9C75CAF0C43B}"/>
                </a:ext>
              </a:extLst>
            </p:cNvPr>
            <p:cNvSpPr txBox="1"/>
            <p:nvPr/>
          </p:nvSpPr>
          <p:spPr>
            <a:xfrm>
              <a:off x="9025028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p.93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A0ECC495-BBB5-1E3B-ECD0-24854F68A1D2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60A41A52-3589-4C17-1752-515A24833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BD95D4C7-F3D8-676C-E6E6-2F69E22ABB33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83419B9-5B59-9B01-E962-76508B2A8623}"/>
              </a:ext>
            </a:extLst>
          </p:cNvPr>
          <p:cNvSpPr txBox="1"/>
          <p:nvPr/>
        </p:nvSpPr>
        <p:spPr>
          <a:xfrm>
            <a:off x="2181029" y="2514460"/>
            <a:ext cx="7801131" cy="28418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(AI)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는 맞춤형 피드백 제공 등을 위해 수업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평가에서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보조적으로 활용할 수 있으나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공정성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신뢰성을 훼손하지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않도록 유의해야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교사가 직접 학생의 활동을 관찰할 수 있는 평가를 통해 학생의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독자적 사고에 따른 결과물이 평가에 반영될 수 있도록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해야한다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실제 평가 상황에서 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(AI)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활용이 금지되는 행위를 명확히 설정하고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관련 유의사항을 학생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학부모에게 사전 안내해야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6B16A22-2FF9-6082-25CF-331370B7CF98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C8AA9F68-2933-EFD3-5FB7-658E22522026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7" name="자유형 31">
              <a:extLst>
                <a:ext uri="{FF2B5EF4-FFF2-40B4-BE49-F238E27FC236}">
                  <a16:creationId xmlns:a16="http://schemas.microsoft.com/office/drawing/2014/main" xmlns="" id="{957D5054-B530-023B-6185-00D8006FD98E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D3483F59-2BB7-468E-F6A4-E9400FFC100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831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7A3EF-BA4B-8FA4-D986-A335C24D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EA188B37-8A07-D0C0-AC8C-7BC6DE1A1218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xmlns="" id="{FDF99006-8DC0-B19A-60C1-CC670EA73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xmlns="" id="{13B93D53-8795-FEBC-EE0E-C042AFA7854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22D61E4-DA8C-4EDD-D6B9-EDC634EC667C}"/>
              </a:ext>
            </a:extLst>
          </p:cNvPr>
          <p:cNvSpPr txBox="1"/>
          <p:nvPr/>
        </p:nvSpPr>
        <p:spPr>
          <a:xfrm>
            <a:off x="2120359" y="4383482"/>
            <a:ext cx="7141379" cy="167994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95300" indent="-495300" latinLnBrk="0">
              <a:spcAft>
                <a:spcPts val="5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독서활동에 특기할 만한 사항이 있는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대상으로 읽은 책을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저자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형식으로만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81050" indent="-276225" latinLnBrk="0">
              <a:spcAft>
                <a:spcPts val="5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도서명과 저자명에 쓰인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대학명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상호명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기관명 등은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F94C78D9-4075-AC67-3B82-2302669F0B31}"/>
              </a:ext>
            </a:extLst>
          </p:cNvPr>
          <p:cNvGrpSpPr/>
          <p:nvPr/>
        </p:nvGrpSpPr>
        <p:grpSpPr>
          <a:xfrm>
            <a:off x="522288" y="1454050"/>
            <a:ext cx="5606080" cy="450951"/>
            <a:chOff x="522288" y="1454050"/>
            <a:chExt cx="5606080" cy="4509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2012A2EB-A639-2A59-4179-1083784C7E88}"/>
                </a:ext>
              </a:extLst>
            </p:cNvPr>
            <p:cNvSpPr txBox="1"/>
            <p:nvPr/>
          </p:nvSpPr>
          <p:spPr>
            <a:xfrm>
              <a:off x="1340198" y="1564200"/>
              <a:ext cx="4788170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 금지사항이 포함된 도서명과 저자명 입력 방법 명료화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F72970D9-620A-F9F9-DBA4-9002D257FC1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5" name="사각형: 둥근 위쪽 모서리 4">
                <a:extLst>
                  <a:ext uri="{FF2B5EF4-FFF2-40B4-BE49-F238E27FC236}">
                    <a16:creationId xmlns:a16="http://schemas.microsoft.com/office/drawing/2014/main" xmlns="" id="{8B33CC22-BA65-E23D-EF6F-79843311522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사각형: 둥근 위쪽 모서리 5">
                <a:extLst>
                  <a:ext uri="{FF2B5EF4-FFF2-40B4-BE49-F238E27FC236}">
                    <a16:creationId xmlns:a16="http://schemas.microsoft.com/office/drawing/2014/main" xmlns="" id="{B44195AA-4421-EB92-F7E7-B4E3F42FD78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CF7F84BE-F6DA-50C9-5A82-144458FC640E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DBA54979-1901-7A2E-2BB3-67822AB85144}"/>
              </a:ext>
            </a:extLst>
          </p:cNvPr>
          <p:cNvGrpSpPr/>
          <p:nvPr/>
        </p:nvGrpSpPr>
        <p:grpSpPr>
          <a:xfrm>
            <a:off x="522288" y="518880"/>
            <a:ext cx="5035193" cy="677108"/>
            <a:chOff x="522288" y="-1203263"/>
            <a:chExt cx="5035193" cy="6771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54B2037D-D40C-7AD5-EEF0-21164EC3CB8F}"/>
                </a:ext>
              </a:extLst>
            </p:cNvPr>
            <p:cNvSpPr txBox="1"/>
            <p:nvPr/>
          </p:nvSpPr>
          <p:spPr>
            <a:xfrm>
              <a:off x="2402771" y="-1203263"/>
              <a:ext cx="315471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독서활동상황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xmlns="" id="{0BE5E32D-46A3-39FD-5213-7389F62BFE8D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4802C0CA-D6BC-CA32-D787-C1B681DB1022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84EE7A39-302D-F6A1-5E3F-B7369677AF26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xmlns="" id="{E4B2E352-9657-C44C-A245-39916804F6D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xmlns="" id="{428C3CB5-064A-C96D-A2DF-97F2E6BD859F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D9AB9B96-9FDD-EB2E-34AC-92A7774CA99E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xmlns="" id="{BC94D206-E36C-8552-A57D-A868AFF4EAD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8F3D32F1-47CC-A232-B2A0-B9B8F8724555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7FC3B2F-5AD2-5AC6-100C-E43C82D6869D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02D50A8-56D1-B928-47B4-EE5D3139FB73}"/>
                </a:ext>
              </a:extLst>
            </p:cNvPr>
            <p:cNvSpPr txBox="1"/>
            <p:nvPr/>
          </p:nvSpPr>
          <p:spPr>
            <a:xfrm>
              <a:off x="8896250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p.114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E14CD2C-159B-1388-0FD8-5BA01F756927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그래픽 2362">
            <a:extLst>
              <a:ext uri="{FF2B5EF4-FFF2-40B4-BE49-F238E27FC236}">
                <a16:creationId xmlns:a16="http://schemas.microsoft.com/office/drawing/2014/main" xmlns="" id="{57E68C5E-91F6-9D35-E61E-B8372F52FB83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9ACA96E2-E890-D846-43FC-CA8642822D4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52FAE0CD-1209-C91C-2FC7-A149AEB41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xmlns="" id="{8EB12F9E-CC6C-4194-B83A-693CD3093E98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6A39F61-5830-29CC-61B2-FEED8670632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DF922F5C-2B72-EAC9-ECDE-402FF86A3AC2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0" name="자유형 31">
              <a:extLst>
                <a:ext uri="{FF2B5EF4-FFF2-40B4-BE49-F238E27FC236}">
                  <a16:creationId xmlns:a16="http://schemas.microsoft.com/office/drawing/2014/main" xmlns="" id="{74B470D9-454C-B5AC-4DA0-D0D012375E2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5FEEE47-2632-34CF-ACD1-4D11B0CE881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64DA0851-44A3-F2B8-575D-31D82028BA2E}"/>
              </a:ext>
            </a:extLst>
          </p:cNvPr>
          <p:cNvSpPr txBox="1"/>
          <p:nvPr/>
        </p:nvSpPr>
        <p:spPr>
          <a:xfrm>
            <a:off x="2120359" y="2431322"/>
            <a:ext cx="7628691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04800" indent="-304800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또는 영역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교과담당교사가 입력하는 경우 해당과목명이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학급담임교사가 입력하는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자동으로 입력된다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91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A0DA11-7426-C791-32E8-908D25A8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A4064B78-CD32-46DA-C45C-3382B1A91E3A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xmlns="" id="{76437261-E66B-7F41-F9E8-F39A9B35E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xmlns="" id="{D921CCB7-0C5E-1241-9E9C-8CDC64235FBA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8ED4323-7F22-1A1A-BC6A-2A80C3EC4471}"/>
              </a:ext>
            </a:extLst>
          </p:cNvPr>
          <p:cNvSpPr txBox="1"/>
          <p:nvPr/>
        </p:nvSpPr>
        <p:spPr>
          <a:xfrm>
            <a:off x="2120359" y="4383482"/>
            <a:ext cx="7372211" cy="174406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27038" indent="-644525" latinLnBrk="0">
              <a:spcAft>
                <a:spcPts val="5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동일한 책을 반복하여 읽고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동일하지 않은 독서 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27038" indent="-644525" latinLnBrk="0">
              <a:spcAft>
                <a:spcPts val="5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증빙자료를 제출한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 영역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상관없이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중복하여 입력할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717550" indent="-285750" latinLnBrk="0">
              <a:spcAft>
                <a:spcPts val="5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원서와 한국어 번역본을 읽고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동일하지 않은 증빙자료를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제출한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경우에도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각각 입력할 수 있음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48513D66-FC5F-FEDE-2C5B-81EF4969E5BD}"/>
              </a:ext>
            </a:extLst>
          </p:cNvPr>
          <p:cNvGrpSpPr/>
          <p:nvPr/>
        </p:nvGrpSpPr>
        <p:grpSpPr>
          <a:xfrm>
            <a:off x="522288" y="1454050"/>
            <a:ext cx="4629851" cy="450951"/>
            <a:chOff x="522288" y="1454050"/>
            <a:chExt cx="4629851" cy="450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DF2ACC8-7077-57B1-F24A-9BEDAE005F51}"/>
                </a:ext>
              </a:extLst>
            </p:cNvPr>
            <p:cNvSpPr txBox="1"/>
            <p:nvPr/>
          </p:nvSpPr>
          <p:spPr>
            <a:xfrm>
              <a:off x="1340198" y="1564200"/>
              <a:ext cx="381194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동일한 도서를 중복하여 입력 가능한 사례 안내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xmlns="" id="{DDEE8283-1169-BE56-5C7F-A715F478413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xmlns="" id="{30D8C10A-8670-3A91-148D-930DCF274FEC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4C7E3E7B-8F8D-D86F-BC95-2B992421693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E66951CC-7E82-778D-DF5E-CF52402E6A4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46F7E2AC-FABF-A8D5-A0B0-9E2F05D58804}"/>
              </a:ext>
            </a:extLst>
          </p:cNvPr>
          <p:cNvGrpSpPr/>
          <p:nvPr/>
        </p:nvGrpSpPr>
        <p:grpSpPr>
          <a:xfrm>
            <a:off x="522288" y="518880"/>
            <a:ext cx="5035193" cy="677108"/>
            <a:chOff x="522288" y="-1203263"/>
            <a:chExt cx="5035193" cy="67710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3EE74564-43D9-791D-7C0B-1B252FADF910}"/>
                </a:ext>
              </a:extLst>
            </p:cNvPr>
            <p:cNvSpPr txBox="1"/>
            <p:nvPr/>
          </p:nvSpPr>
          <p:spPr>
            <a:xfrm>
              <a:off x="2402771" y="-1203263"/>
              <a:ext cx="315471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독서활동상황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xmlns="" id="{57322B69-3F79-D442-35C6-A6CC4EA3A463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B2C32981-B897-D80E-5414-C0CD0774DEEC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9157F023-F4AB-9E73-9F4C-2504BA17C24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F800DB0A-A467-27AC-C2CC-BF3A99DE878B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D7DFBE5B-292C-66E8-ED23-63218A551996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xmlns="" id="{75DB55A5-0A70-067D-6EC3-2EE53453802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xmlns="" id="{ABA913CE-59CC-AC9A-2C18-A6AAB871E62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xmlns="" id="{AC70ED6D-F5C7-48F6-3464-EF3764D103A5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800C7E30-47BC-15DF-36C7-19886FB092AD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80242C41-8981-E639-4A49-D2759F3FD872}"/>
                </a:ext>
              </a:extLst>
            </p:cNvPr>
            <p:cNvSpPr txBox="1"/>
            <p:nvPr/>
          </p:nvSpPr>
          <p:spPr>
            <a:xfrm>
              <a:off x="8896250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p.114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50D13F7-7576-FED8-05FB-04AA26BD1315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그래픽 2362">
            <a:extLst>
              <a:ext uri="{FF2B5EF4-FFF2-40B4-BE49-F238E27FC236}">
                <a16:creationId xmlns:a16="http://schemas.microsoft.com/office/drawing/2014/main" xmlns="" id="{F0ADF8D0-E276-B2DB-789C-E1D040A9410D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615697B6-8998-4F28-6AAD-E225E9B6ED2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xmlns="" id="{12E8AD67-9889-9227-0741-F465DFB3A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xmlns="" id="{4E58AF31-9148-9293-21DA-4379FC3D0DE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756A9EBD-788A-4D09-46F2-A6EC75B6AF25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xmlns="" id="{9B900CEB-5F8F-919E-753B-214236535D18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1" name="자유형 31">
              <a:extLst>
                <a:ext uri="{FF2B5EF4-FFF2-40B4-BE49-F238E27FC236}">
                  <a16:creationId xmlns:a16="http://schemas.microsoft.com/office/drawing/2014/main" xmlns="" id="{62C82DFA-3204-E6A1-2443-F86A22F5E73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912E8383-847D-FB3A-C97F-1719572CEAB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501F2C9-D094-266D-1D4B-14A7FDE3812F}"/>
              </a:ext>
            </a:extLst>
          </p:cNvPr>
          <p:cNvSpPr txBox="1"/>
          <p:nvPr/>
        </p:nvSpPr>
        <p:spPr>
          <a:xfrm>
            <a:off x="2120359" y="2431322"/>
            <a:ext cx="6254917" cy="4821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08000" indent="-108000" latinLnBrk="0">
              <a:spcAft>
                <a:spcPts val="4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◦"/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전체 학년 동안 동일한 책을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중복하여 입력하지 않도록 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08000" indent="-108000" latinLnBrk="0">
              <a:spcAft>
                <a:spcPts val="4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◦"/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원서와 한국어 번역본을 모두 읽은 경우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중복하여 입력하지 않음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476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AC8E66-5138-431D-42DB-7D9B7A67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4AEE84B2-2E9B-3D02-36C6-34BBE39FBAA6}"/>
              </a:ext>
            </a:extLst>
          </p:cNvPr>
          <p:cNvGrpSpPr/>
          <p:nvPr/>
        </p:nvGrpSpPr>
        <p:grpSpPr>
          <a:xfrm>
            <a:off x="522288" y="518880"/>
            <a:ext cx="6370494" cy="677108"/>
            <a:chOff x="522288" y="518880"/>
            <a:chExt cx="6370494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0EAA526C-FF84-7CE5-46E3-A4024C6A0387}"/>
                </a:ext>
              </a:extLst>
            </p:cNvPr>
            <p:cNvSpPr txBox="1"/>
            <p:nvPr/>
          </p:nvSpPr>
          <p:spPr>
            <a:xfrm>
              <a:off x="1923473" y="518880"/>
              <a:ext cx="4969309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4284244E-9834-AE10-2CF6-2838711A85FF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AB789998-6D1F-2A79-1FD8-B58348EFF16B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7136244D-A886-D4B5-3734-ABE626E24CDE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A4CDC5FE-3ED5-319D-21AC-95A0CB5B13A4}"/>
              </a:ext>
            </a:extLst>
          </p:cNvPr>
          <p:cNvGrpSpPr/>
          <p:nvPr/>
        </p:nvGrpSpPr>
        <p:grpSpPr>
          <a:xfrm>
            <a:off x="522288" y="1454050"/>
            <a:ext cx="4679545" cy="450951"/>
            <a:chOff x="522288" y="1454050"/>
            <a:chExt cx="4679545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3D7F0E9-244C-07EA-1D54-ED84B2EACBE0}"/>
                </a:ext>
              </a:extLst>
            </p:cNvPr>
            <p:cNvSpPr txBox="1"/>
            <p:nvPr/>
          </p:nvSpPr>
          <p:spPr>
            <a:xfrm>
              <a:off x="1340198" y="1564200"/>
              <a:ext cx="386163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5217DA33-837B-7F89-EEA2-8250C8BFEC58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C64A7E3C-8235-97C6-5F31-46335E17FBD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928A4A23-65E0-C63A-44DF-320FB13E7FE5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BFD9820E-395B-753A-CE1F-36A97F269D1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4D0F4809-978B-EB1D-18CB-F1D74E04813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E8906C5A-4DD2-20B1-8680-C23A44D6AF01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xmlns="" id="{3A767C6C-2B11-EDE3-BD78-F11136A6D367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xmlns="" id="{9DE0C444-91A6-252E-AFAC-6B9CD92E6C72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02BEB073-B9BD-4CE7-AC49-2BA40823151A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A2266EE0-B5FD-541E-0FED-E92716BECDB2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4C1C18D8-1CBC-5A37-425C-E6318E8D0185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93F460FD-A82F-FA46-46DD-7170F4A44CF6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AB7BC6E-1D7C-0E70-72E8-0CEAF750557A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286DE169-7CD5-4CFC-6128-6CB05B7B7F57}"/>
                </a:ext>
              </a:extLst>
            </p:cNvPr>
            <p:cNvSpPr txBox="1"/>
            <p:nvPr/>
          </p:nvSpPr>
          <p:spPr>
            <a:xfrm>
              <a:off x="7422769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p.115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39DD501-C5AB-0E83-47BD-0CBA8018313B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07531ADF-3370-6357-D881-94A03B149522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5" name="자유형 31">
              <a:extLst>
                <a:ext uri="{FF2B5EF4-FFF2-40B4-BE49-F238E27FC236}">
                  <a16:creationId xmlns:a16="http://schemas.microsoft.com/office/drawing/2014/main" xmlns="" id="{D2F4F327-8BE0-F545-ECFB-8C47988D03B2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7D50D25-FC43-5A65-564A-C23657D6DB9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7" name="그래픽 2362">
            <a:extLst>
              <a:ext uri="{FF2B5EF4-FFF2-40B4-BE49-F238E27FC236}">
                <a16:creationId xmlns:a16="http://schemas.microsoft.com/office/drawing/2014/main" xmlns="" id="{94B8205B-6C7F-D45C-317F-B213381088E5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B7188AE8-8058-13FA-67EF-68D2750FA7CC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xmlns="" id="{B17FC379-76D7-AA6D-A40F-AC7D45CAF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03DF700D-25DD-75E7-734E-D09654971A1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B3692E49-798E-E706-CE52-904ECD251117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xmlns="" id="{665CFD4A-C1A8-174C-5E14-9A5731DB7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xmlns="" id="{08E9EA58-0015-ADF4-930F-FB8F1D802DC2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2CAE16BC-2728-5D18-F501-9D0427B82BA5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3444009-AD44-8EB2-61AA-DAA08E3DDEBA}"/>
              </a:ext>
            </a:extLst>
          </p:cNvPr>
          <p:cNvSpPr txBox="1"/>
          <p:nvPr/>
        </p:nvSpPr>
        <p:spPr>
          <a:xfrm>
            <a:off x="2120359" y="2431322"/>
            <a:ext cx="7728078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1775" indent="-231775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① 행동특성 및 종합의견은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수시로 관찰하여 누가 기록된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행동특성을 바탕으로 총체적으로 학생을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이해할 수 있는 종합의견을 담임교사가 문장으로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36B1270-1508-C2B8-EACD-9B6872F3FFF4}"/>
              </a:ext>
            </a:extLst>
          </p:cNvPr>
          <p:cNvSpPr txBox="1"/>
          <p:nvPr/>
        </p:nvSpPr>
        <p:spPr>
          <a:xfrm>
            <a:off x="2181029" y="4426344"/>
            <a:ext cx="7412607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①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동안 지속적으로 관찰한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행동특성을 바탕으로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학생을 총체적으로 이해할 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있는 종합의견을 학급 담임교사가 문장으로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7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4EEE368-C933-C294-CDB0-FEF5CEFB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A036AF65-3A00-AD39-53AD-0E31E8698953}"/>
              </a:ext>
            </a:extLst>
          </p:cNvPr>
          <p:cNvGrpSpPr/>
          <p:nvPr/>
        </p:nvGrpSpPr>
        <p:grpSpPr>
          <a:xfrm>
            <a:off x="522288" y="518880"/>
            <a:ext cx="6370494" cy="677108"/>
            <a:chOff x="522288" y="518880"/>
            <a:chExt cx="6370494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E03525FE-DE74-5D12-234A-567A56549549}"/>
                </a:ext>
              </a:extLst>
            </p:cNvPr>
            <p:cNvSpPr txBox="1"/>
            <p:nvPr/>
          </p:nvSpPr>
          <p:spPr>
            <a:xfrm>
              <a:off x="1923473" y="518880"/>
              <a:ext cx="4969309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CF99904C-BA05-3AB5-A9C3-F9BCF88BB9C6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xmlns="" id="{D203D4E5-8B75-C181-4709-32597752B3A4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F6C17CC-4AD6-1310-64F5-AB7219791917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A44E5B7B-B8CC-9A61-DFDB-428C04A7ABBB}"/>
              </a:ext>
            </a:extLst>
          </p:cNvPr>
          <p:cNvGrpSpPr/>
          <p:nvPr/>
        </p:nvGrpSpPr>
        <p:grpSpPr>
          <a:xfrm>
            <a:off x="522288" y="1454050"/>
            <a:ext cx="4679545" cy="450951"/>
            <a:chOff x="522288" y="1454050"/>
            <a:chExt cx="4679545" cy="4509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0CA9A657-3D68-D0B1-B068-A3304B698103}"/>
                </a:ext>
              </a:extLst>
            </p:cNvPr>
            <p:cNvSpPr txBox="1"/>
            <p:nvPr/>
          </p:nvSpPr>
          <p:spPr>
            <a:xfrm>
              <a:off x="1340198" y="1564200"/>
              <a:ext cx="386163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누가기록 자율성 확대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8B71F023-3A1C-785F-F0A4-8C22D91F5894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0" name="사각형: 둥근 위쪽 모서리 9">
                <a:extLst>
                  <a:ext uri="{FF2B5EF4-FFF2-40B4-BE49-F238E27FC236}">
                    <a16:creationId xmlns:a16="http://schemas.microsoft.com/office/drawing/2014/main" xmlns="" id="{255EAD34-7E27-AB3D-1057-4C85DA153C27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xmlns="" id="{7F007F7C-49B0-84CE-4172-53FE1E6703B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14288249-36F3-7D14-FEB0-67925F527484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A41AEF3-EEC5-9A0C-3B87-F983485CDE8D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64CF4B3E-4CF2-F280-FA27-1AEF0DFCAAC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15" name="자유형 31">
              <a:extLst>
                <a:ext uri="{FF2B5EF4-FFF2-40B4-BE49-F238E27FC236}">
                  <a16:creationId xmlns:a16="http://schemas.microsoft.com/office/drawing/2014/main" xmlns="" id="{2FD90821-1609-0BB7-712A-CD80A3462D28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75C8D62-0CDC-85B6-B289-4B2AC393A3F9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17" name="그래픽 2362">
            <a:extLst>
              <a:ext uri="{FF2B5EF4-FFF2-40B4-BE49-F238E27FC236}">
                <a16:creationId xmlns:a16="http://schemas.microsoft.com/office/drawing/2014/main" xmlns="" id="{B60E94B5-7852-C37C-DE89-9B6B71C9F52F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0F75841A-23FD-1CEC-FF40-EDA79488CA0E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xmlns="" id="{9B2205F9-602D-1C70-71C3-526CA66AC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xmlns="" id="{1E63B050-33D0-D041-C703-87B7B604BC6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D5570946-0DFC-578B-608F-F106DB909A1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411298FC-5F78-B352-E0F1-85DB0E9A2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D6060AA7-E83E-AE91-5D1C-8D12A202755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ACB9FFF-DF5B-055F-2521-888E9070BB6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E0799EE-C2C8-54F1-B986-08C65D40624C}"/>
              </a:ext>
            </a:extLst>
          </p:cNvPr>
          <p:cNvSpPr txBox="1"/>
          <p:nvPr/>
        </p:nvSpPr>
        <p:spPr>
          <a:xfrm>
            <a:off x="2120359" y="2431322"/>
            <a:ext cx="7492436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69875" indent="-269875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교육활동 전반에서 지속적으로 관찰된 학생의 행동특성에 관한 누가 기록을 참고하여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 정도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발전 가능성 등을 구체적으로 작성한다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부정적인 행동특성을 입력하는 경우에는 변화 가능성을 함께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628A35-DA2E-8DE3-59AF-2BA109E97AD7}"/>
              </a:ext>
            </a:extLst>
          </p:cNvPr>
          <p:cNvSpPr txBox="1"/>
          <p:nvPr/>
        </p:nvSpPr>
        <p:spPr>
          <a:xfrm>
            <a:off x="2181029" y="4395522"/>
            <a:ext cx="7936788" cy="236475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180000" latinLnBrk="0">
              <a:spcAft>
                <a:spcPts val="8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학습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 및 인성 등 학교 교육활동 전반에서 지속적으로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관찰된 학생의 행동특성을 바탕으로 입력하고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 정도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발전 가능성 등을 고려하여 학생의 성장을 지원하는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교육적 관점에서 작성한다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481013" indent="-287338" latinLnBrk="0">
              <a:spcAft>
                <a:spcPts val="8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행동특성과 관련한 누가기록 여부 및 방법은 학교장이 정하되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부정적인 행동특성을 입력하는 경우에는 학생의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행동특성이 구체적으로 드러나도록 누가 기록할 것을 권장함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67586A04-DAE7-D317-681B-2C2E0D70F3D2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456024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xmlns="" id="{1FC122F8-BFDA-6106-677C-B2D843867FF4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xmlns="" id="{CA1E671E-744A-ED61-B340-0F342F83ED07}"/>
                </a:ext>
              </a:extLst>
            </p:cNvPr>
            <p:cNvSpPr/>
            <p:nvPr/>
          </p:nvSpPr>
          <p:spPr>
            <a:xfrm>
              <a:off x="8644975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xmlns="" id="{CF52AF4B-BED9-788F-143A-4B746FE18990}"/>
                </a:ext>
              </a:extLst>
            </p:cNvPr>
            <p:cNvSpPr/>
            <p:nvPr/>
          </p:nvSpPr>
          <p:spPr>
            <a:xfrm>
              <a:off x="8456024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xmlns="" id="{BB1271D9-6EF1-5660-E5B7-599A2C9B4FA3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xmlns="" id="{EC218C24-BC04-B33D-94C4-B562BFF1E07B}"/>
                </a:ext>
              </a:extLst>
            </p:cNvPr>
            <p:cNvSpPr/>
            <p:nvPr/>
          </p:nvSpPr>
          <p:spPr>
            <a:xfrm>
              <a:off x="8723555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9F2EEB6D-9EB9-ED71-08A6-A0E969E1871E}"/>
                </a:ext>
              </a:extLst>
            </p:cNvPr>
            <p:cNvSpPr txBox="1"/>
            <p:nvPr/>
          </p:nvSpPr>
          <p:spPr>
            <a:xfrm>
              <a:off x="9134031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2E47B921-BFA8-589B-24D0-6D1820AC7449}"/>
                </a:ext>
              </a:extLst>
            </p:cNvPr>
            <p:cNvSpPr txBox="1"/>
            <p:nvPr/>
          </p:nvSpPr>
          <p:spPr>
            <a:xfrm>
              <a:off x="8982004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4333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9DA5CA-112C-7C64-91A4-B7A0217F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9F4D1450-2C5B-1241-77CD-793C6156CC04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xmlns="" id="{87CFE5A0-85D1-ABD1-4129-31EA68A21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xmlns="" id="{BD6CD5E4-807C-54E2-C29C-850D3B582EC8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336B1BA5-F3A9-A10B-7F43-33F8D9087785}"/>
              </a:ext>
            </a:extLst>
          </p:cNvPr>
          <p:cNvGrpSpPr/>
          <p:nvPr/>
        </p:nvGrpSpPr>
        <p:grpSpPr>
          <a:xfrm>
            <a:off x="522288" y="518880"/>
            <a:ext cx="6370494" cy="677108"/>
            <a:chOff x="522288" y="518880"/>
            <a:chExt cx="6370494" cy="67710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77E9B299-C885-4761-64CD-17D6D68AE605}"/>
                </a:ext>
              </a:extLst>
            </p:cNvPr>
            <p:cNvSpPr txBox="1"/>
            <p:nvPr/>
          </p:nvSpPr>
          <p:spPr>
            <a:xfrm>
              <a:off x="1923473" y="518880"/>
              <a:ext cx="4969309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xmlns="" id="{616253E0-5255-92C4-8916-26FD51F3004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xmlns="" id="{E022397A-2F99-7E53-C8C4-A765C9CF050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85936457-7DF6-D5D4-5A9B-DA8F31B7C35F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0BCBDF3D-D4E7-2177-4BEB-3D8587DB20A9}"/>
              </a:ext>
            </a:extLst>
          </p:cNvPr>
          <p:cNvGrpSpPr/>
          <p:nvPr/>
        </p:nvGrpSpPr>
        <p:grpSpPr>
          <a:xfrm>
            <a:off x="522288" y="1454050"/>
            <a:ext cx="5144415" cy="450951"/>
            <a:chOff x="522288" y="1454050"/>
            <a:chExt cx="5144415" cy="45095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7B60E185-326F-2843-0768-EBA73962BC1B}"/>
                </a:ext>
              </a:extLst>
            </p:cNvPr>
            <p:cNvSpPr txBox="1"/>
            <p:nvPr/>
          </p:nvSpPr>
          <p:spPr>
            <a:xfrm>
              <a:off x="1340198" y="1564200"/>
              <a:ext cx="432650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에 입력할 수 없는 내용 명료화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7415FB6E-4510-639F-EAE1-AFEE3560CED5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xmlns="" id="{B0D472D6-3415-B8C0-421E-D8D550792A5F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사각형: 둥근 위쪽 모서리 13">
                <a:extLst>
                  <a:ext uri="{FF2B5EF4-FFF2-40B4-BE49-F238E27FC236}">
                    <a16:creationId xmlns:a16="http://schemas.microsoft.com/office/drawing/2014/main" xmlns="" id="{7D9E2A01-6DB7-6132-0054-39DDCCD95C98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B129649B-1BE6-4E65-93A0-B82863DF86C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E2E72F44-8127-0C4E-B061-288625048E6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xmlns="" id="{0A04C0D1-08C1-B109-22DB-6F037EA2C39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xmlns="" id="{D45FB95E-DC04-48DC-8213-AF30389C7D5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xmlns="" id="{1342ED09-A063-E04C-2FA3-4BB20D076929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xmlns="" id="{DA08974E-4530-6844-330D-14A38B202959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xmlns="" id="{A93A728E-D9B2-FB50-5C0F-A19A291A3279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CE6621B0-28F7-DDB5-80BC-6CCAF19E03D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45AA9675-198C-0B35-D6BC-9CAC6B37B6C3}"/>
                </a:ext>
              </a:extLst>
            </p:cNvPr>
            <p:cNvSpPr txBox="1"/>
            <p:nvPr/>
          </p:nvSpPr>
          <p:spPr>
            <a:xfrm>
              <a:off x="8896250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p.116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354A26B-DAEB-A3E5-1885-E7F54698594F}"/>
              </a:ext>
            </a:extLst>
          </p:cNvPr>
          <p:cNvSpPr txBox="1"/>
          <p:nvPr/>
        </p:nvSpPr>
        <p:spPr>
          <a:xfrm>
            <a:off x="2181029" y="2514460"/>
            <a:ext cx="7051610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다른 항목에 입력할 수 없는 내용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방과후학교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활동 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/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종합의견에도 입력할 수 없다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17600" indent="-417600" latinLnBrk="0">
              <a:spcAft>
                <a:spcPts val="6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  ※ &lt;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참고함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B61A2A0-307D-8325-8CC8-B87AB34F362C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B0A7279-8068-BF29-6431-A4E5CDBDE917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7" name="자유형 31">
              <a:extLst>
                <a:ext uri="{FF2B5EF4-FFF2-40B4-BE49-F238E27FC236}">
                  <a16:creationId xmlns:a16="http://schemas.microsoft.com/office/drawing/2014/main" xmlns="" id="{F9651043-A2DF-7E85-ED00-984C2978972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FABE86C-B494-C858-C81C-E04A534BD840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997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21AB60-1ED3-86B4-D7E7-25131E48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849C83A-21E6-AA1C-189B-F8BF3270BF4E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23AD26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23AD26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그래픽 2362">
            <a:extLst>
              <a:ext uri="{FF2B5EF4-FFF2-40B4-BE49-F238E27FC236}">
                <a16:creationId xmlns:a16="http://schemas.microsoft.com/office/drawing/2014/main" xmlns="" id="{F89F7405-2851-DD18-0AD9-E98B0F97A6A5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23AD26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4C53757E-78EE-088A-42D2-0B5A2AE9E18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363536F6-0C7D-2B4A-DD90-847A2B900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xmlns="" id="{05E6FEB2-6F35-BA7C-0A58-F33B1E9D7453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DEF3D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294C2A40-1D52-F3FC-4384-D12C233621F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5E0D2C25-04A8-FCEA-5F49-4539A65DA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xmlns="" id="{795DA28E-C0A7-352B-F7E1-6BF830A30340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5411F828-4268-A02F-C5D7-0568D5D647C0}"/>
              </a:ext>
            </a:extLst>
          </p:cNvPr>
          <p:cNvGrpSpPr/>
          <p:nvPr/>
        </p:nvGrpSpPr>
        <p:grpSpPr>
          <a:xfrm>
            <a:off x="522288" y="364991"/>
            <a:ext cx="6833762" cy="984885"/>
            <a:chOff x="522288" y="364991"/>
            <a:chExt cx="6833762" cy="9848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74C516D2-C57D-8EAB-0A86-1013221FC32E}"/>
                </a:ext>
              </a:extLst>
            </p:cNvPr>
            <p:cNvSpPr txBox="1"/>
            <p:nvPr/>
          </p:nvSpPr>
          <p:spPr>
            <a:xfrm>
              <a:off x="1923473" y="364991"/>
              <a:ext cx="5432577" cy="98488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학교생활기록부</a:t>
              </a: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영역별 입력 가능</a:t>
              </a:r>
              <a:endParaRPr lang="en-US" altLang="ko-KR" sz="3200" b="1" spc="-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5000"/>
                    </a:prstClr>
                  </a:outerShdw>
                </a:effectLst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최대 글자수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0C9CA14E-0528-F494-86DD-141C25A230B1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xmlns="" id="{EA4A5619-EDCA-3E26-B060-3BA5C2CA0A6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003002B1-37E3-C124-9FF6-8D4E7301626F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참고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23AD26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7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23AD26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5458F46-794E-AD6D-5638-E756D24022E6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EF7D69D0-189D-0178-775C-B7BBA541EF1A}"/>
              </a:ext>
            </a:extLst>
          </p:cNvPr>
          <p:cNvGrpSpPr/>
          <p:nvPr/>
        </p:nvGrpSpPr>
        <p:grpSpPr>
          <a:xfrm>
            <a:off x="522288" y="1454050"/>
            <a:ext cx="3514161" cy="450951"/>
            <a:chOff x="522288" y="1454050"/>
            <a:chExt cx="3514161" cy="4509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4C34568-CDCB-6D58-E221-A3002825B73B}"/>
                </a:ext>
              </a:extLst>
            </p:cNvPr>
            <p:cNvSpPr txBox="1"/>
            <p:nvPr/>
          </p:nvSpPr>
          <p:spPr>
            <a:xfrm>
              <a:off x="1340198" y="1564200"/>
              <a:ext cx="269625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일부 영역 최대 입력 글자 수 축소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B676B4D0-C3B1-1621-0485-767371ABEF4B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xmlns="" id="{F8A81409-9E33-014A-5157-DF725AC6C8D8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23AD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xmlns="" id="{2A3FAD31-79C3-4913-4AFA-B0385019345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8DBDF7CE-AFD7-767F-2EFD-8A568B8D114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xmlns="" id="{0E9B4238-BE6F-E0C9-26DA-4368A5020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250074"/>
              </p:ext>
            </p:extLst>
          </p:nvPr>
        </p:nvGraphicFramePr>
        <p:xfrm>
          <a:off x="2120359" y="2303683"/>
          <a:ext cx="7803743" cy="1342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19">
                  <a:extLst>
                    <a:ext uri="{9D8B030D-6E8A-4147-A177-3AD203B41FA5}">
                      <a16:colId xmlns:a16="http://schemas.microsoft.com/office/drawing/2014/main" xmlns="" val="3530319265"/>
                    </a:ext>
                  </a:extLst>
                </a:gridCol>
                <a:gridCol w="2759664">
                  <a:extLst>
                    <a:ext uri="{9D8B030D-6E8A-4147-A177-3AD203B41FA5}">
                      <a16:colId xmlns:a16="http://schemas.microsoft.com/office/drawing/2014/main" xmlns="" val="2675405602"/>
                    </a:ext>
                  </a:extLst>
                </a:gridCol>
                <a:gridCol w="3532760">
                  <a:extLst>
                    <a:ext uri="{9D8B030D-6E8A-4147-A177-3AD203B41FA5}">
                      <a16:colId xmlns:a16="http://schemas.microsoft.com/office/drawing/2014/main" xmlns="" val="1487154684"/>
                    </a:ext>
                  </a:extLst>
                </a:gridCol>
              </a:tblGrid>
              <a:tr h="2216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세부항목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최대 글자수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한글 기준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7177248"/>
                  </a:ext>
                </a:extLst>
              </a:tr>
              <a:tr h="3735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창의적 체험활동상황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진로활동 특기사항</a:t>
                      </a:r>
                      <a:endParaRPr lang="en-US" altLang="ko-KR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700</a:t>
                      </a:r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520166"/>
                  </a:ext>
                </a:extLst>
              </a:tr>
              <a:tr h="3735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봉사활동실적 활동내용</a:t>
                      </a:r>
                      <a:endParaRPr lang="en-US" altLang="ko-KR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966837"/>
                  </a:ext>
                </a:extLst>
              </a:tr>
              <a:tr h="373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  <a:endParaRPr lang="en-US" altLang="ko-KR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23AD26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430992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xmlns="" id="{DA863692-2C05-DE93-7052-110C5152C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73888"/>
              </p:ext>
            </p:extLst>
          </p:nvPr>
        </p:nvGraphicFramePr>
        <p:xfrm>
          <a:off x="2120358" y="4253992"/>
          <a:ext cx="7803742" cy="258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881">
                  <a:extLst>
                    <a:ext uri="{9D8B030D-6E8A-4147-A177-3AD203B41FA5}">
                      <a16:colId xmlns:a16="http://schemas.microsoft.com/office/drawing/2014/main" xmlns="" val="3530319265"/>
                    </a:ext>
                  </a:extLst>
                </a:gridCol>
                <a:gridCol w="2668863">
                  <a:extLst>
                    <a:ext uri="{9D8B030D-6E8A-4147-A177-3AD203B41FA5}">
                      <a16:colId xmlns:a16="http://schemas.microsoft.com/office/drawing/2014/main" xmlns="" val="2675405602"/>
                    </a:ext>
                  </a:extLst>
                </a:gridCol>
                <a:gridCol w="2711998">
                  <a:extLst>
                    <a:ext uri="{9D8B030D-6E8A-4147-A177-3AD203B41FA5}">
                      <a16:colId xmlns:a16="http://schemas.microsoft.com/office/drawing/2014/main" xmlns="" val="1487154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91D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6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세부항목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91D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1D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6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최대 글자수 </a:t>
                      </a:r>
                      <a:r>
                        <a:rPr lang="en-US" altLang="ko-KR" sz="16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6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한글 기준</a:t>
                      </a:r>
                      <a:r>
                        <a:rPr lang="en-US" altLang="ko-KR" sz="16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6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91D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7177248"/>
                  </a:ext>
                </a:extLst>
              </a:tr>
              <a:tr h="756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ko-KR" altLang="en-US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창의적 체험활동상황</a:t>
                      </a:r>
                      <a:endParaRPr lang="en-US" altLang="ko-KR" sz="14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진로활동 특기사항</a:t>
                      </a:r>
                      <a:endParaRPr lang="en-US" altLang="ko-KR" sz="14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  <a:endParaRPr lang="en-US" altLang="ko-KR" sz="14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520166"/>
                  </a:ext>
                </a:extLst>
              </a:tr>
              <a:tr h="75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봉사활동실적 활동내용</a:t>
                      </a:r>
                      <a:endParaRPr lang="en-US" altLang="ko-KR" sz="14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실적별 </a:t>
                      </a:r>
                      <a:r>
                        <a:rPr lang="en-US" altLang="ko-KR" sz="1400" b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</a:t>
                      </a:r>
                      <a:r>
                        <a:rPr lang="ko-KR" altLang="en-US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966837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lang="ko-KR" altLang="en-US" sz="14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AD2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  <a:endParaRPr lang="en-US" altLang="ko-KR" sz="14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en-US" altLang="ko-KR" sz="14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ko-KR" altLang="en-US" sz="14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A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4309929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E5C86970-11A5-9D4D-0861-789580F91E62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8" name="자유형 31">
              <a:extLst>
                <a:ext uri="{FF2B5EF4-FFF2-40B4-BE49-F238E27FC236}">
                  <a16:creationId xmlns:a16="http://schemas.microsoft.com/office/drawing/2014/main" xmlns="" id="{A3E7A221-FFC1-BB91-98A4-1305B7F04ACF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23AD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8F7C6FF2-C2EE-1840-879B-F101539B9419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DEDCD3B7-8A7D-CB30-DF54-A9E55AAF5C8F}"/>
              </a:ext>
            </a:extLst>
          </p:cNvPr>
          <p:cNvGrpSpPr/>
          <p:nvPr/>
        </p:nvGrpSpPr>
        <p:grpSpPr>
          <a:xfrm>
            <a:off x="8456024" y="749652"/>
            <a:ext cx="1715089" cy="446336"/>
            <a:chOff x="8370270" y="749652"/>
            <a:chExt cx="1715089" cy="446336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xmlns="" id="{BCC21D91-A27D-05D6-7191-E30C347CDDC0}"/>
                </a:ext>
              </a:extLst>
            </p:cNvPr>
            <p:cNvSpPr/>
            <p:nvPr/>
          </p:nvSpPr>
          <p:spPr>
            <a:xfrm>
              <a:off x="8370270" y="749652"/>
              <a:ext cx="1715089" cy="446336"/>
            </a:xfrm>
            <a:prstGeom prst="roundRect">
              <a:avLst>
                <a:gd name="adj" fmla="val 30007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B810C5FA-7C43-6267-77B3-DDFC0A6399E3}"/>
                </a:ext>
              </a:extLst>
            </p:cNvPr>
            <p:cNvSpPr txBox="1"/>
            <p:nvPr/>
          </p:nvSpPr>
          <p:spPr>
            <a:xfrm>
              <a:off x="8889579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p.162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498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9950b-9af0-49e2-8dae-9d93b5b20172">
      <Terms xmlns="http://schemas.microsoft.com/office/infopath/2007/PartnerControls"/>
    </lcf76f155ced4ddcb4097134ff3c332f>
    <TaxCatchAll xmlns="a7eb6601-72a9-4fc6-8ec6-2b64904e3f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AFE568587A0BA40B61E4C1A864C004F" ma:contentTypeVersion="12" ma:contentTypeDescription="새 문서를 만듭니다." ma:contentTypeScope="" ma:versionID="0c6a758f8c55c9471df868aba3b37020">
  <xsd:schema xmlns:xsd="http://www.w3.org/2001/XMLSchema" xmlns:xs="http://www.w3.org/2001/XMLSchema" xmlns:p="http://schemas.microsoft.com/office/2006/metadata/properties" xmlns:ns2="7c19950b-9af0-49e2-8dae-9d93b5b20172" xmlns:ns3="a7eb6601-72a9-4fc6-8ec6-2b64904e3f86" targetNamespace="http://schemas.microsoft.com/office/2006/metadata/properties" ma:root="true" ma:fieldsID="421cbdddad4ef3b2e7d978e3ba21712f" ns2:_="" ns3:_="">
    <xsd:import namespace="7c19950b-9af0-49e2-8dae-9d93b5b20172"/>
    <xsd:import namespace="a7eb6601-72a9-4fc6-8ec6-2b64904e3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9950b-9af0-49e2-8dae-9d93b5b201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65228936-ac40-43e2-a2cf-fe6ebecb6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b6601-72a9-4fc6-8ec6-2b64904e3f8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41d2abd-d289-40ce-9375-e0224f3fdc6d}" ma:internalName="TaxCatchAll" ma:showField="CatchAllData" ma:web="a7eb6601-72a9-4fc6-8ec6-2b64904e3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8E1846-26A8-485D-8E15-EA50A46CAD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7A1B86-DC06-47FB-A8E3-6A1129AF7752}">
  <ds:schemaRefs>
    <ds:schemaRef ds:uri="http://schemas.microsoft.com/office/2006/metadata/properties"/>
    <ds:schemaRef ds:uri="http://schemas.microsoft.com/office/infopath/2007/PartnerControls"/>
    <ds:schemaRef ds:uri="7c19950b-9af0-49e2-8dae-9d93b5b20172"/>
    <ds:schemaRef ds:uri="a7eb6601-72a9-4fc6-8ec6-2b64904e3f86"/>
  </ds:schemaRefs>
</ds:datastoreItem>
</file>

<file path=customXml/itemProps3.xml><?xml version="1.0" encoding="utf-8"?>
<ds:datastoreItem xmlns:ds="http://schemas.openxmlformats.org/officeDocument/2006/customXml" ds:itemID="{94B2FEB3-148B-4D1A-A3AD-7757C77D95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19950b-9af0-49e2-8dae-9d93b5b20172"/>
    <ds:schemaRef ds:uri="a7eb6601-72a9-4fc6-8ec6-2b64904e3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1376</Words>
  <Application>Microsoft Office PowerPoint</Application>
  <PresentationFormat>사용자 지정</PresentationFormat>
  <Paragraphs>373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맑은 고딕</vt:lpstr>
      <vt:lpstr>스터닝 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susoft</dc:creator>
  <cp:lastModifiedBy>USER</cp:lastModifiedBy>
  <cp:revision>311</cp:revision>
  <dcterms:created xsi:type="dcterms:W3CDTF">2014-04-15T00:30:20Z</dcterms:created>
  <dcterms:modified xsi:type="dcterms:W3CDTF">2026-02-23T01:23:05Z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0x010100EAFE568587A0BA40B61E4C1A864C004F</vt:lpwstr>
  </property>
  <property fmtid="{D5CDD505-2E9C-101B-9397-08002B2CF9AE}" pid="3" name="MediaServiceImageTags">
    <vt:lpwstr/>
  </property>
</Properties>
</file>