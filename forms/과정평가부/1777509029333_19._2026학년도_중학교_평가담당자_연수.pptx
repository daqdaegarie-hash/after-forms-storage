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56"/>
  </p:notesMasterIdLst>
  <p:handoutMasterIdLst>
    <p:handoutMasterId r:id="rId57"/>
  </p:handoutMasterIdLst>
  <p:sldIdLst>
    <p:sldId id="256" r:id="rId2"/>
    <p:sldId id="555" r:id="rId3"/>
    <p:sldId id="264" r:id="rId4"/>
    <p:sldId id="596" r:id="rId5"/>
    <p:sldId id="278" r:id="rId6"/>
    <p:sldId id="597" r:id="rId7"/>
    <p:sldId id="598" r:id="rId8"/>
    <p:sldId id="599" r:id="rId9"/>
    <p:sldId id="600" r:id="rId10"/>
    <p:sldId id="601" r:id="rId11"/>
    <p:sldId id="602" r:id="rId12"/>
    <p:sldId id="603" r:id="rId13"/>
    <p:sldId id="604" r:id="rId14"/>
    <p:sldId id="605" r:id="rId15"/>
    <p:sldId id="607" r:id="rId16"/>
    <p:sldId id="608" r:id="rId17"/>
    <p:sldId id="609" r:id="rId18"/>
    <p:sldId id="610" r:id="rId19"/>
    <p:sldId id="633" r:id="rId20"/>
    <p:sldId id="634" r:id="rId21"/>
    <p:sldId id="635" r:id="rId22"/>
    <p:sldId id="636" r:id="rId23"/>
    <p:sldId id="638" r:id="rId24"/>
    <p:sldId id="637" r:id="rId25"/>
    <p:sldId id="639" r:id="rId26"/>
    <p:sldId id="640" r:id="rId27"/>
    <p:sldId id="641" r:id="rId28"/>
    <p:sldId id="642" r:id="rId29"/>
    <p:sldId id="643" r:id="rId30"/>
    <p:sldId id="644" r:id="rId31"/>
    <p:sldId id="645" r:id="rId32"/>
    <p:sldId id="646" r:id="rId33"/>
    <p:sldId id="647" r:id="rId34"/>
    <p:sldId id="660" r:id="rId35"/>
    <p:sldId id="648" r:id="rId36"/>
    <p:sldId id="649" r:id="rId37"/>
    <p:sldId id="650" r:id="rId38"/>
    <p:sldId id="651" r:id="rId39"/>
    <p:sldId id="652" r:id="rId40"/>
    <p:sldId id="653" r:id="rId41"/>
    <p:sldId id="654" r:id="rId42"/>
    <p:sldId id="655" r:id="rId43"/>
    <p:sldId id="661" r:id="rId44"/>
    <p:sldId id="656" r:id="rId45"/>
    <p:sldId id="657" r:id="rId46"/>
    <p:sldId id="570" r:id="rId47"/>
    <p:sldId id="631" r:id="rId48"/>
    <p:sldId id="571" r:id="rId49"/>
    <p:sldId id="659" r:id="rId50"/>
    <p:sldId id="658" r:id="rId51"/>
    <p:sldId id="624" r:id="rId52"/>
    <p:sldId id="632" r:id="rId53"/>
    <p:sldId id="629" r:id="rId54"/>
    <p:sldId id="272" r:id="rId55"/>
  </p:sldIdLst>
  <p:sldSz cx="18288000" cy="10287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57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3" autoAdjust="0"/>
    <p:restoredTop sz="94660"/>
  </p:normalViewPr>
  <p:slideViewPr>
    <p:cSldViewPr>
      <p:cViewPr>
        <p:scale>
          <a:sx n="57" d="100"/>
          <a:sy n="57" d="100"/>
        </p:scale>
        <p:origin x="234" y="-102"/>
      </p:cViewPr>
      <p:guideLst>
        <p:guide orient="horz" pos="3239"/>
        <p:guide pos="575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2" d="100"/>
        <a:sy n="62" d="100"/>
      </p:scale>
      <p:origin x="0" y="-425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18830" cy="495028"/>
          </a:xfrm>
          <a:prstGeom prst="rect">
            <a:avLst/>
          </a:prstGeom>
        </p:spPr>
        <p:txBody>
          <a:bodyPr vert="horz" lIns="53115" tIns="26557" rIns="53115" bIns="26557"/>
          <a:lstStyle>
            <a:lvl1pPr algn="l">
              <a:defRPr sz="7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894" y="2"/>
            <a:ext cx="2918830" cy="495028"/>
          </a:xfrm>
          <a:prstGeom prst="rect">
            <a:avLst/>
          </a:prstGeom>
        </p:spPr>
        <p:txBody>
          <a:bodyPr vert="horz" lIns="53115" tIns="26557" rIns="53115" bIns="26557"/>
          <a:lstStyle>
            <a:lvl1pPr algn="r">
              <a:defRPr sz="700"/>
            </a:lvl1pPr>
          </a:lstStyle>
          <a:p>
            <a:pPr lvl="0">
              <a:defRPr/>
            </a:pPr>
            <a:fld id="{8081EF61-5771-4A12-9810-39DBF34BD038}" type="datetime1">
              <a:rPr lang="ko-KR" altLang="en-US"/>
              <a:pPr lvl="0">
                <a:defRPr/>
              </a:pPr>
              <a:t>2026-03-12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372143"/>
            <a:ext cx="2918830" cy="494172"/>
          </a:xfrm>
          <a:prstGeom prst="rect">
            <a:avLst/>
          </a:prstGeom>
        </p:spPr>
        <p:txBody>
          <a:bodyPr vert="horz" lIns="53115" tIns="26557" rIns="53115" bIns="26557" anchor="b"/>
          <a:lstStyle>
            <a:lvl1pPr algn="l">
              <a:defRPr sz="7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894" y="9372143"/>
            <a:ext cx="2918830" cy="494172"/>
          </a:xfrm>
          <a:prstGeom prst="rect">
            <a:avLst/>
          </a:prstGeom>
        </p:spPr>
        <p:txBody>
          <a:bodyPr vert="horz" lIns="53115" tIns="26557" rIns="53115" bIns="26557" anchor="b"/>
          <a:lstStyle>
            <a:lvl1pPr algn="r">
              <a:defRPr sz="700"/>
            </a:lvl1pPr>
          </a:lstStyle>
          <a:p>
            <a:pPr lvl="0">
              <a:defRPr/>
            </a:pPr>
            <a:fld id="{EDFE7A82-2F41-49FE-87FB-A84813C90FD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9565" cy="493868"/>
          </a:xfrm>
          <a:prstGeom prst="rect">
            <a:avLst/>
          </a:prstGeom>
        </p:spPr>
        <p:txBody>
          <a:bodyPr vert="horz" lIns="90763" tIns="45382" rIns="90763" bIns="45382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626" y="1"/>
            <a:ext cx="2919565" cy="493868"/>
          </a:xfrm>
          <a:prstGeom prst="rect">
            <a:avLst/>
          </a:prstGeom>
        </p:spPr>
        <p:txBody>
          <a:bodyPr vert="horz" lIns="90763" tIns="45382" rIns="90763" bIns="45382"/>
          <a:lstStyle>
            <a:lvl1pPr algn="r">
              <a:defRPr sz="1200"/>
            </a:lvl1pPr>
          </a:lstStyle>
          <a:p>
            <a:pPr lvl="0">
              <a:defRPr/>
            </a:pPr>
            <a:fld id="{82CC0CAB-F18D-4293-8AB1-E23BFC412331}" type="datetime1">
              <a:rPr lang="ko-KR" altLang="en-US"/>
              <a:pPr lvl="0">
                <a:defRPr/>
              </a:pPr>
              <a:t>2026-03-12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07988" y="1231900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3" tIns="45382" rIns="90763" bIns="45382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263" y="4747761"/>
            <a:ext cx="5389240" cy="3884674"/>
          </a:xfrm>
          <a:prstGeom prst="rect">
            <a:avLst/>
          </a:prstGeom>
        </p:spPr>
        <p:txBody>
          <a:bodyPr vert="horz" lIns="90763" tIns="45382" rIns="90763" bIns="45382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2446"/>
            <a:ext cx="2919565" cy="493868"/>
          </a:xfrm>
          <a:prstGeom prst="rect">
            <a:avLst/>
          </a:prstGeom>
        </p:spPr>
        <p:txBody>
          <a:bodyPr vert="horz" lIns="90763" tIns="45382" rIns="90763" bIns="45382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626" y="9372446"/>
            <a:ext cx="2919565" cy="493868"/>
          </a:xfrm>
          <a:prstGeom prst="rect">
            <a:avLst/>
          </a:prstGeom>
        </p:spPr>
        <p:txBody>
          <a:bodyPr vert="horz" lIns="90763" tIns="45382" rIns="90763" bIns="45382" anchor="b"/>
          <a:lstStyle>
            <a:lvl1pPr algn="r">
              <a:defRPr sz="1200"/>
            </a:lvl1pPr>
          </a:lstStyle>
          <a:p>
            <a:pPr lvl="0">
              <a:defRPr/>
            </a:pPr>
            <a:fld id="{AE78DF3E-49C4-478B-93B8-795500D86C9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1900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1900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1900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1900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1900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1900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1900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1900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1900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1900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1900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1900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1900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1900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37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38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39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41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42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43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44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45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1900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E78DF3E-49C4-478B-93B8-795500D86C95}" type="slidenum">
              <a:rPr lang="en-US" altLang="en-US"/>
              <a:pPr lvl="0">
                <a:defRPr/>
              </a:pPr>
              <a:t>53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ncic.re.kr/" TargetMode="Externa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0445" y="189141"/>
            <a:ext cx="17104828" cy="9664227"/>
            <a:chOff x="590444" y="189141"/>
            <a:chExt cx="17104828" cy="9664227"/>
          </a:xfrm>
          <a:noFill/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grpFill/>
          </p:spPr>
        </p:pic>
      </p:grpSp>
      <p:grpSp>
        <p:nvGrpSpPr>
          <p:cNvPr id="1003" name="그룹 1003"/>
          <p:cNvGrpSpPr/>
          <p:nvPr/>
        </p:nvGrpSpPr>
        <p:grpSpPr>
          <a:xfrm>
            <a:off x="2971800" y="2534554"/>
            <a:ext cx="11905082" cy="2478892"/>
            <a:chOff x="5370052" y="1997983"/>
            <a:chExt cx="7545611" cy="1049721"/>
          </a:xfrm>
          <a:noFill/>
        </p:grpSpPr>
        <p:pic>
          <p:nvPicPr>
            <p:cNvPr id="9" name="Object 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370052" y="1997983"/>
              <a:ext cx="7545611" cy="1049721"/>
            </a:xfrm>
            <a:prstGeom prst="rect">
              <a:avLst/>
            </a:prstGeom>
            <a:grpFill/>
          </p:spPr>
        </p:pic>
      </p:grpSp>
      <p:pic>
        <p:nvPicPr>
          <p:cNvPr id="19" name="Object 1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31410" y="800101"/>
            <a:ext cx="4855869" cy="1047625"/>
          </a:xfrm>
          <a:prstGeom prst="rect">
            <a:avLst/>
          </a:prstGeom>
          <a:grpFill/>
        </p:spPr>
      </p:pic>
      <p:sp>
        <p:nvSpPr>
          <p:cNvPr id="2" name="TextBox 1"/>
          <p:cNvSpPr txBox="1"/>
          <p:nvPr/>
        </p:nvSpPr>
        <p:spPr>
          <a:xfrm>
            <a:off x="1051288" y="927681"/>
            <a:ext cx="4587512" cy="823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800" b="1">
                <a:latin typeface="+mj-ea"/>
                <a:ea typeface="+mj-ea"/>
              </a:rPr>
              <a:t>경상남도교육청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6"/>
          <a:srcRect l="5250" t="11820" r="1580" b="8950"/>
          <a:stretch>
            <a:fillRect/>
          </a:stretch>
        </p:blipFill>
        <p:spPr>
          <a:xfrm>
            <a:off x="9982201" y="5222434"/>
            <a:ext cx="6934201" cy="37310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30119" y="2666062"/>
            <a:ext cx="11905081" cy="2096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6600" b="1">
                <a:latin typeface="+mj-ea"/>
                <a:ea typeface="+mj-ea"/>
              </a:rPr>
              <a:t>2026</a:t>
            </a:r>
            <a:r>
              <a:rPr lang="ko-KR" altLang="en-US" sz="6600" b="1">
                <a:latin typeface="+mj-ea"/>
                <a:ea typeface="+mj-ea"/>
              </a:rPr>
              <a:t>학년도 </a:t>
            </a:r>
            <a:r>
              <a:rPr lang="en-US" altLang="ko-KR" sz="6600" b="1">
                <a:latin typeface="+mj-ea"/>
                <a:ea typeface="+mj-ea"/>
              </a:rPr>
              <a:t>1</a:t>
            </a:r>
            <a:r>
              <a:rPr lang="ko-KR" altLang="en-US" sz="6600" b="1">
                <a:latin typeface="+mj-ea"/>
                <a:ea typeface="+mj-ea"/>
              </a:rPr>
              <a:t>학기</a:t>
            </a:r>
          </a:p>
          <a:p>
            <a:pPr algn="ctr">
              <a:defRPr/>
            </a:pPr>
            <a:r>
              <a:rPr lang="ko-KR" altLang="en-US" sz="6600" b="1">
                <a:latin typeface="+mj-ea"/>
                <a:ea typeface="+mj-ea"/>
              </a:rPr>
              <a:t>중학교 평가담당자 연수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0784" y="8818639"/>
            <a:ext cx="5735216" cy="637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3600" b="1">
                <a:latin typeface="+mj-ea"/>
                <a:ea typeface="+mj-ea"/>
              </a:rPr>
              <a:t>마산서중 전정희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5506751" y="840692"/>
            <a:ext cx="1657572" cy="9262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hp="http://schemas.haansoft.com/office/presentation/8.0" xmlns:dsp="http://schemas.microsoft.com/office/drawing/2008/diagram" xmlns:dgm="http://schemas.openxmlformats.org/drawingml/2006/diagram" xmlns:c="http://schemas.openxmlformats.org/drawingml/2006/chart" xmlns="" Requires="hp">
      <p:transition xmlns:mc="http://schemas.openxmlformats.org/markup-compatibility/2006" xmlns:hp="http://schemas.haansoft.com/office/presentation/8.0" spd="med" mc:Ignorable="hp" hp:hslDur="1600">
        <hp:hncExtTransition type="gallery" attr="SubType=right"/>
      </p:transition>
    </mc:Choice>
    <mc:Choice Requires="p14">
      <p:transition spd="slow" p14:dur="1600">
        <p14:gallery dir="l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mc:Ignorable="hp" hp:hslDur="16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0444" y="24440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grpSp>
        <p:nvGrpSpPr>
          <p:cNvPr id="12" name="그룹 1003"/>
          <p:cNvGrpSpPr/>
          <p:nvPr/>
        </p:nvGrpSpPr>
        <p:grpSpPr>
          <a:xfrm>
            <a:off x="533399" y="1181100"/>
            <a:ext cx="5486400" cy="1905000"/>
            <a:chOff x="221619" y="1585885"/>
            <a:chExt cx="9331569" cy="1820749"/>
          </a:xfrm>
        </p:grpSpPr>
        <p:pic>
          <p:nvPicPr>
            <p:cNvPr id="13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19" y="1585885"/>
              <a:ext cx="9331569" cy="1820749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/>
        </p:nvSpPr>
        <p:spPr>
          <a:xfrm>
            <a:off x="643431" y="1493103"/>
            <a:ext cx="5147769" cy="819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800" b="1">
                <a:latin typeface="나눔손글씨 붓"/>
                <a:ea typeface="나눔손글씨 붓"/>
              </a:rPr>
              <a:t>1</a:t>
            </a:r>
            <a:r>
              <a:rPr lang="ko-KR" altLang="en-US" sz="4800" b="1">
                <a:latin typeface="나눔손글씨 붓"/>
                <a:ea typeface="나눔손글씨 붓"/>
              </a:rPr>
              <a:t>순위로 해야할 일</a:t>
            </a:r>
          </a:p>
        </p:txBody>
      </p:sp>
      <p:sp>
        <p:nvSpPr>
          <p:cNvPr id="16" name="Rectangle 21"/>
          <p:cNvSpPr/>
          <p:nvPr/>
        </p:nvSpPr>
        <p:spPr>
          <a:xfrm>
            <a:off x="677316" y="3086100"/>
            <a:ext cx="16933368" cy="609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sz="3600" b="1">
                <a:solidFill>
                  <a:schemeClr val="tx1"/>
                </a:solidFill>
              </a:rPr>
              <a:t>  1.</a:t>
            </a:r>
            <a:r>
              <a:rPr lang="ko-KR" altLang="en-US" sz="3600" b="1">
                <a:solidFill>
                  <a:schemeClr val="tx1"/>
                </a:solidFill>
              </a:rPr>
              <a:t>  </a:t>
            </a:r>
            <a:r>
              <a:rPr lang="en-US" altLang="ko-KR" sz="3600" b="1">
                <a:solidFill>
                  <a:schemeClr val="tx1"/>
                </a:solidFill>
              </a:rPr>
              <a:t>(3</a:t>
            </a:r>
            <a:r>
              <a:rPr lang="ko-KR" altLang="en-US" sz="3600" b="1">
                <a:solidFill>
                  <a:schemeClr val="tx1"/>
                </a:solidFill>
              </a:rPr>
              <a:t>월 첫주</a:t>
            </a:r>
            <a:r>
              <a:rPr lang="en-US" altLang="ko-KR" sz="3600" b="1">
                <a:solidFill>
                  <a:schemeClr val="tx1"/>
                </a:solidFill>
              </a:rPr>
              <a:t>)2026</a:t>
            </a:r>
            <a:r>
              <a:rPr lang="ko-KR" altLang="en-US" sz="3600" b="1">
                <a:solidFill>
                  <a:schemeClr val="tx1"/>
                </a:solidFill>
              </a:rPr>
              <a:t>학년도 </a:t>
            </a:r>
            <a:r>
              <a:rPr lang="ko-KR" altLang="en-US" sz="3600" b="1">
                <a:solidFill>
                  <a:srgbClr val="FF0000"/>
                </a:solidFill>
              </a:rPr>
              <a:t>학업성적관리위원회 및 교과</a:t>
            </a:r>
            <a:r>
              <a:rPr lang="en-US" altLang="ko-KR" sz="3600" b="1">
                <a:solidFill>
                  <a:srgbClr val="FF0000"/>
                </a:solidFill>
              </a:rPr>
              <a:t>(</a:t>
            </a:r>
            <a:r>
              <a:rPr lang="ko-KR" altLang="en-US" sz="3600" b="1">
                <a:solidFill>
                  <a:srgbClr val="FF0000"/>
                </a:solidFill>
              </a:rPr>
              <a:t>학년</a:t>
            </a:r>
            <a:r>
              <a:rPr lang="en-US" altLang="ko-KR" sz="3600" b="1">
                <a:solidFill>
                  <a:srgbClr val="FF0000"/>
                </a:solidFill>
              </a:rPr>
              <a:t>)</a:t>
            </a:r>
            <a:r>
              <a:rPr lang="ko-KR" altLang="en-US" sz="3600" b="1">
                <a:solidFill>
                  <a:srgbClr val="FF0000"/>
                </a:solidFill>
              </a:rPr>
              <a:t>협의회</a:t>
            </a:r>
            <a:r>
              <a:rPr lang="ko-KR" altLang="en-US" sz="3600" b="1">
                <a:solidFill>
                  <a:schemeClr val="tx1"/>
                </a:solidFill>
              </a:rPr>
              <a:t> 구성 후 내부결재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1">
                <a:solidFill>
                  <a:schemeClr val="tx1"/>
                </a:solidFill>
              </a:rPr>
              <a:t>       </a:t>
            </a:r>
            <a:r>
              <a:rPr lang="en-US" altLang="ko-KR" sz="3600" b="1">
                <a:solidFill>
                  <a:schemeClr val="tx1"/>
                </a:solidFill>
              </a:rPr>
              <a:t>-</a:t>
            </a:r>
            <a:r>
              <a:rPr lang="ko-KR" altLang="en-US" sz="3600" b="1">
                <a:solidFill>
                  <a:schemeClr val="tx1"/>
                </a:solidFill>
              </a:rPr>
              <a:t> 위원장</a:t>
            </a:r>
            <a:r>
              <a:rPr lang="en-US" altLang="ko-KR" sz="3600" b="1">
                <a:solidFill>
                  <a:schemeClr val="tx1"/>
                </a:solidFill>
              </a:rPr>
              <a:t>:</a:t>
            </a:r>
            <a:r>
              <a:rPr lang="ko-KR" altLang="en-US" sz="3600" b="1">
                <a:solidFill>
                  <a:schemeClr val="tx1"/>
                </a:solidFill>
              </a:rPr>
              <a:t> 학교장</a:t>
            </a:r>
            <a:r>
              <a:rPr lang="en-US" altLang="ko-KR" sz="3600" b="1">
                <a:solidFill>
                  <a:schemeClr val="tx1"/>
                </a:solidFill>
              </a:rPr>
              <a:t>,</a:t>
            </a:r>
            <a:r>
              <a:rPr lang="ko-KR" altLang="en-US" sz="3600" b="1">
                <a:solidFill>
                  <a:schemeClr val="tx1"/>
                </a:solidFill>
              </a:rPr>
              <a:t> 부위원장</a:t>
            </a:r>
            <a:r>
              <a:rPr lang="en-US" altLang="ko-KR" sz="3600" b="1">
                <a:solidFill>
                  <a:schemeClr val="tx1"/>
                </a:solidFill>
              </a:rPr>
              <a:t>:</a:t>
            </a:r>
            <a:r>
              <a:rPr lang="ko-KR" altLang="en-US" sz="3600" b="1">
                <a:solidFill>
                  <a:schemeClr val="tx1"/>
                </a:solidFill>
              </a:rPr>
              <a:t>학교장이 정한 자</a:t>
            </a:r>
            <a:r>
              <a:rPr lang="en-US" altLang="ko-KR" sz="3600">
                <a:solidFill>
                  <a:schemeClr val="tx1"/>
                </a:solidFill>
              </a:rPr>
              <a:t>(</a:t>
            </a:r>
            <a:r>
              <a:rPr sz="3600" i="0" u="none" strike="noStrike">
                <a:solidFill>
                  <a:schemeClr val="tx1"/>
                </a:solidFill>
              </a:rPr>
              <a:t>위원장 보좌 및 유고 시 대행</a:t>
            </a:r>
            <a:r>
              <a:rPr lang="en-US" altLang="ko-KR" sz="3600" i="0" u="none" strike="noStrike">
                <a:solidFill>
                  <a:schemeClr val="tx1"/>
                </a:solidFill>
              </a:rPr>
              <a:t>)</a:t>
            </a:r>
            <a:r>
              <a:rPr lang="en-US" altLang="ko-KR" sz="3600" b="1">
                <a:solidFill>
                  <a:schemeClr val="tx1"/>
                </a:solidFill>
              </a:rPr>
              <a:t>,</a:t>
            </a:r>
            <a:r>
              <a:rPr lang="ko-KR" altLang="en-US" sz="3600" b="1">
                <a:solidFill>
                  <a:schemeClr val="tx1"/>
                </a:solidFill>
              </a:rPr>
              <a:t> 위원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3600" b="1">
                <a:solidFill>
                  <a:schemeClr val="tx1"/>
                </a:solidFill>
              </a:rPr>
              <a:t>  </a:t>
            </a:r>
            <a:r>
              <a:rPr lang="en-US" altLang="ko-KR" sz="3600" b="1">
                <a:solidFill>
                  <a:schemeClr val="tx1"/>
                </a:solidFill>
              </a:rPr>
              <a:t>2.</a:t>
            </a:r>
            <a:r>
              <a:rPr lang="ko-KR" altLang="en-US" sz="3600" b="1">
                <a:solidFill>
                  <a:schemeClr val="tx1"/>
                </a:solidFill>
              </a:rPr>
              <a:t>  </a:t>
            </a:r>
            <a:r>
              <a:rPr lang="en-US" altLang="ko-KR" sz="3600" b="1">
                <a:solidFill>
                  <a:schemeClr val="tx1"/>
                </a:solidFill>
              </a:rPr>
              <a:t>2026</a:t>
            </a:r>
            <a:r>
              <a:rPr lang="ko-KR" altLang="en-US" sz="3600" b="1">
                <a:solidFill>
                  <a:schemeClr val="tx1"/>
                </a:solidFill>
              </a:rPr>
              <a:t>학년도 </a:t>
            </a:r>
            <a:r>
              <a:rPr lang="ko-KR" altLang="en-US" sz="3600" b="1">
                <a:solidFill>
                  <a:srgbClr val="FF0000"/>
                </a:solidFill>
              </a:rPr>
              <a:t>학교 학업성적관리 규정 </a:t>
            </a:r>
            <a:r>
              <a:rPr lang="ko-KR" altLang="en-US" sz="3600" b="1">
                <a:solidFill>
                  <a:schemeClr val="tx1"/>
                </a:solidFill>
              </a:rPr>
              <a:t>개정 후 공지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3600" b="1">
                <a:solidFill>
                  <a:schemeClr val="tx1"/>
                </a:solidFill>
              </a:rPr>
              <a:t>         </a:t>
            </a:r>
            <a:r>
              <a:rPr lang="en-US" altLang="ko-KR" sz="3600" b="1">
                <a:solidFill>
                  <a:schemeClr val="tx1"/>
                </a:solidFill>
              </a:rPr>
              <a:t>-</a:t>
            </a:r>
            <a:r>
              <a:rPr lang="ko-KR" altLang="en-US" sz="3600" b="1">
                <a:solidFill>
                  <a:schemeClr val="tx1"/>
                </a:solidFill>
              </a:rPr>
              <a:t> 학교 누리집 탑재</a:t>
            </a:r>
            <a:r>
              <a:rPr lang="en-US" altLang="ko-KR" sz="3600" b="1">
                <a:solidFill>
                  <a:schemeClr val="tx1"/>
                </a:solidFill>
              </a:rPr>
              <a:t>,</a:t>
            </a:r>
            <a:r>
              <a:rPr lang="ko-KR" altLang="en-US" sz="3600" b="1">
                <a:solidFill>
                  <a:schemeClr val="tx1"/>
                </a:solidFill>
              </a:rPr>
              <a:t> 가정통신문 발송</a:t>
            </a:r>
            <a:r>
              <a:rPr lang="en-US" altLang="ko-KR" sz="3600" b="1">
                <a:solidFill>
                  <a:schemeClr val="tx1"/>
                </a:solidFill>
              </a:rPr>
              <a:t>(3</a:t>
            </a:r>
            <a:r>
              <a:rPr lang="ko-KR" altLang="en-US" sz="3600" b="1">
                <a:solidFill>
                  <a:schemeClr val="tx1"/>
                </a:solidFill>
              </a:rPr>
              <a:t>월 중순</a:t>
            </a:r>
            <a:r>
              <a:rPr lang="en-US" altLang="ko-KR" sz="3600" b="1">
                <a:solidFill>
                  <a:schemeClr val="tx1"/>
                </a:solidFill>
              </a:rPr>
              <a:t>),</a:t>
            </a:r>
            <a:r>
              <a:rPr lang="ko-KR" altLang="en-US" sz="3600" b="1">
                <a:solidFill>
                  <a:schemeClr val="tx1"/>
                </a:solidFill>
              </a:rPr>
              <a:t> 정보공시</a:t>
            </a:r>
            <a:r>
              <a:rPr lang="en-US" altLang="ko-KR" sz="3600" b="1">
                <a:solidFill>
                  <a:schemeClr val="tx1"/>
                </a:solidFill>
              </a:rPr>
              <a:t>(4</a:t>
            </a:r>
            <a:r>
              <a:rPr lang="ko-KR" altLang="en-US" sz="3600" b="1">
                <a:solidFill>
                  <a:schemeClr val="tx1"/>
                </a:solidFill>
              </a:rPr>
              <a:t>월 초</a:t>
            </a:r>
            <a:r>
              <a:rPr lang="en-US" altLang="ko-KR" sz="3600" b="1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3600" b="1">
                <a:solidFill>
                  <a:schemeClr val="tx1"/>
                </a:solidFill>
              </a:rPr>
              <a:t>  3.</a:t>
            </a:r>
            <a:r>
              <a:rPr lang="ko-KR" altLang="en-US" sz="3600" b="1">
                <a:solidFill>
                  <a:schemeClr val="tx1"/>
                </a:solidFill>
              </a:rPr>
              <a:t>  </a:t>
            </a:r>
            <a:r>
              <a:rPr lang="en-US" altLang="ko-KR" sz="3600" b="1">
                <a:solidFill>
                  <a:schemeClr val="tx1"/>
                </a:solidFill>
              </a:rPr>
              <a:t>2026</a:t>
            </a:r>
            <a:r>
              <a:rPr lang="ko-KR" altLang="en-US" sz="3600" b="1">
                <a:solidFill>
                  <a:schemeClr val="tx1"/>
                </a:solidFill>
              </a:rPr>
              <a:t>학년도 </a:t>
            </a:r>
            <a:r>
              <a:rPr lang="en-US" altLang="ko-KR" sz="3600" b="1">
                <a:solidFill>
                  <a:schemeClr val="tx1"/>
                </a:solidFill>
              </a:rPr>
              <a:t>1</a:t>
            </a:r>
            <a:r>
              <a:rPr lang="ko-KR" altLang="en-US" sz="3600" b="1">
                <a:solidFill>
                  <a:schemeClr val="tx1"/>
                </a:solidFill>
              </a:rPr>
              <a:t>학기 교수학습 및 </a:t>
            </a:r>
            <a:r>
              <a:rPr lang="ko-KR" altLang="en-US" sz="3600" b="1">
                <a:solidFill>
                  <a:srgbClr val="FF0000"/>
                </a:solidFill>
              </a:rPr>
              <a:t>평가계획</a:t>
            </a:r>
            <a:r>
              <a:rPr lang="ko-KR" altLang="en-US" sz="3600" b="1">
                <a:solidFill>
                  <a:schemeClr val="tx1"/>
                </a:solidFill>
              </a:rPr>
              <a:t> 수립 후 공지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3600" b="1">
                <a:solidFill>
                  <a:schemeClr val="tx1"/>
                </a:solidFill>
              </a:rPr>
              <a:t>         </a:t>
            </a:r>
            <a:r>
              <a:rPr lang="en-US" altLang="ko-KR" sz="3600" b="1">
                <a:solidFill>
                  <a:schemeClr val="tx1"/>
                </a:solidFill>
              </a:rPr>
              <a:t>-</a:t>
            </a:r>
            <a:r>
              <a:rPr lang="ko-KR" altLang="en-US" sz="3600" b="1">
                <a:solidFill>
                  <a:schemeClr val="tx1"/>
                </a:solidFill>
              </a:rPr>
              <a:t> 학교 누리집 탑재</a:t>
            </a:r>
            <a:r>
              <a:rPr lang="en-US" altLang="ko-KR" sz="3600" b="1">
                <a:solidFill>
                  <a:schemeClr val="tx1"/>
                </a:solidFill>
              </a:rPr>
              <a:t>,</a:t>
            </a:r>
            <a:r>
              <a:rPr lang="ko-KR" altLang="en-US" sz="3600" b="1">
                <a:solidFill>
                  <a:schemeClr val="tx1"/>
                </a:solidFill>
              </a:rPr>
              <a:t> 가정통신문 발송</a:t>
            </a:r>
            <a:r>
              <a:rPr lang="en-US" altLang="ko-KR" sz="3600" b="1">
                <a:solidFill>
                  <a:schemeClr val="tx1"/>
                </a:solidFill>
              </a:rPr>
              <a:t>(3</a:t>
            </a:r>
            <a:r>
              <a:rPr lang="ko-KR" altLang="en-US" sz="3600" b="1">
                <a:solidFill>
                  <a:schemeClr val="tx1"/>
                </a:solidFill>
              </a:rPr>
              <a:t>월 말</a:t>
            </a:r>
            <a:r>
              <a:rPr lang="en-US" altLang="ko-KR" sz="3600" b="1">
                <a:solidFill>
                  <a:schemeClr val="tx1"/>
                </a:solidFill>
              </a:rPr>
              <a:t>),</a:t>
            </a:r>
            <a:r>
              <a:rPr lang="ko-KR" altLang="en-US" sz="3600" b="1">
                <a:solidFill>
                  <a:schemeClr val="tx1"/>
                </a:solidFill>
              </a:rPr>
              <a:t> 정보공시</a:t>
            </a:r>
            <a:r>
              <a:rPr lang="en-US" altLang="ko-KR" sz="3600" b="1">
                <a:solidFill>
                  <a:schemeClr val="tx1"/>
                </a:solidFill>
              </a:rPr>
              <a:t>(4</a:t>
            </a:r>
            <a:r>
              <a:rPr lang="ko-KR" altLang="en-US" sz="3600" b="1">
                <a:solidFill>
                  <a:schemeClr val="tx1"/>
                </a:solidFill>
              </a:rPr>
              <a:t>월 초</a:t>
            </a:r>
            <a:r>
              <a:rPr lang="en-US" altLang="ko-KR" sz="3600" b="1">
                <a:solidFill>
                  <a:schemeClr val="tx1"/>
                </a:solidFill>
              </a:rPr>
              <a:t>)</a:t>
            </a:r>
          </a:p>
          <a:p>
            <a:pPr marL="368300" indent="-17780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3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※</a:t>
            </a:r>
            <a:r>
              <a:rPr lang="ko-KR" altLang="en-US" sz="33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 </a:t>
            </a:r>
            <a:r>
              <a:rPr sz="3300" b="1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부정행위 유형 처리 방안</a:t>
            </a:r>
            <a:r>
              <a:rPr sz="33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 등을 학기 초</a:t>
            </a:r>
            <a:r>
              <a:rPr lang="EN-US" sz="33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(</a:t>
            </a:r>
            <a:r>
              <a:rPr sz="33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연 </a:t>
            </a:r>
            <a:r>
              <a:rPr lang="EN-US" sz="33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2</a:t>
            </a:r>
            <a:r>
              <a:rPr sz="33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회</a:t>
            </a:r>
            <a:r>
              <a:rPr lang="EN-US" sz="33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) </a:t>
            </a:r>
            <a:r>
              <a:rPr sz="33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학생 및 학부모 등 보호자에게 반드시 안내</a:t>
            </a:r>
            <a:endParaRPr lang="EN-US" sz="3300" b="1" i="0" u="none" strike="noStrike" spc="-10">
              <a:solidFill>
                <a:srgbClr val="000000"/>
              </a:solidFill>
              <a:latin typeface="KoPub바탕체 Light"/>
              <a:ea typeface="KoPub바탕체 Ligh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78970" y="4573628"/>
            <a:ext cx="6646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1" lang="en-US" altLang="ko-KR" sz="3600">
                <a:latin typeface="HY견고딕"/>
                <a:ea typeface="HY견고딕"/>
              </a:rPr>
              <a:t>   </a:t>
            </a:r>
            <a:endParaRPr kumimoji="1" lang="en-US" altLang="ko-KR" sz="3600" b="1">
              <a:latin typeface="HY견고딕"/>
              <a:ea typeface="HY견고딕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4572000" y="4635341"/>
            <a:ext cx="9144000" cy="553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8300" indent="-17780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0445" y="189141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grpSp>
        <p:nvGrpSpPr>
          <p:cNvPr id="4" name="그룹 1003"/>
          <p:cNvGrpSpPr/>
          <p:nvPr/>
        </p:nvGrpSpPr>
        <p:grpSpPr>
          <a:xfrm>
            <a:off x="228600" y="1485900"/>
            <a:ext cx="8531720" cy="19050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2879273" y="1716318"/>
            <a:ext cx="323037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1" lang="en-US" altLang="ko-KR" sz="6000" b="1">
                <a:solidFill>
                  <a:schemeClr val="bg1"/>
                </a:solidFill>
                <a:latin typeface="Bell MT"/>
              </a:rPr>
              <a:t>Contents</a:t>
            </a:r>
            <a:endParaRPr kumimoji="1" lang="ko-KR" altLang="en-US" sz="6000" b="1">
              <a:solidFill>
                <a:schemeClr val="bg1"/>
              </a:solidFill>
              <a:latin typeface="Bell M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57400" y="3389087"/>
            <a:ext cx="13792200" cy="3381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4800" b="1" spc="-487">
                <a:latin typeface="Times New Roman"/>
                <a:ea typeface="+mj-ea"/>
                <a:cs typeface="Times New Roman"/>
              </a:rPr>
              <a:t>I .   2026</a:t>
            </a:r>
            <a:r>
              <a:rPr lang="ko-KR" altLang="en-US" sz="4800" b="1" spc="-487">
                <a:latin typeface="Times New Roman"/>
                <a:ea typeface="+mj-ea"/>
                <a:cs typeface="Times New Roman"/>
              </a:rPr>
              <a:t>학년도 </a:t>
            </a:r>
            <a:r>
              <a:rPr lang="ko-KR" altLang="en-US" sz="4800" b="1">
                <a:latin typeface="Times New Roman"/>
                <a:ea typeface="+mj-ea"/>
                <a:cs typeface="Times New Roman"/>
              </a:rPr>
              <a:t>학업성적관리 시행지침 주요 변경사항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4800" b="1">
                <a:latin typeface="Times New Roman"/>
                <a:ea typeface="+mj-ea"/>
                <a:cs typeface="Times New Roman"/>
              </a:rPr>
              <a:t>II. </a:t>
            </a:r>
            <a:r>
              <a:rPr lang="ko-KR" altLang="en-US" sz="4800" b="1"/>
              <a:t>나이스 처리 방법</a:t>
            </a:r>
            <a:r>
              <a:rPr lang="en-US" altLang="ko-KR" sz="4800" b="1"/>
              <a:t>-</a:t>
            </a:r>
            <a:r>
              <a:rPr lang="ko-KR" altLang="en-US" sz="3600" b="1"/>
              <a:t>단계별 업무 내용 포함</a:t>
            </a:r>
            <a:endParaRPr lang="ko-KR" altLang="en-US" sz="4800" b="1"/>
          </a:p>
          <a:p>
            <a:pPr>
              <a:lnSpc>
                <a:spcPct val="150000"/>
              </a:lnSpc>
              <a:defRPr/>
            </a:pPr>
            <a:r>
              <a:rPr lang="en-US" altLang="ko-KR" sz="4800" b="1"/>
              <a:t>III. </a:t>
            </a:r>
            <a:r>
              <a:rPr lang="ko-KR" altLang="en-US" sz="4800" b="1"/>
              <a:t>업무 처리 시 주의해야 할 점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097000" y="6057901"/>
            <a:ext cx="2684432" cy="27845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0445" y="189141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grpSp>
        <p:nvGrpSpPr>
          <p:cNvPr id="4" name="그룹 1003"/>
          <p:cNvGrpSpPr/>
          <p:nvPr/>
        </p:nvGrpSpPr>
        <p:grpSpPr>
          <a:xfrm>
            <a:off x="228600" y="1485900"/>
            <a:ext cx="8531720" cy="19050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2879273" y="1716318"/>
            <a:ext cx="323037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1" lang="en-US" altLang="ko-KR" sz="6000" b="1">
                <a:solidFill>
                  <a:schemeClr val="bg1"/>
                </a:solidFill>
                <a:latin typeface="Bell MT"/>
              </a:rPr>
              <a:t>Contents</a:t>
            </a:r>
            <a:endParaRPr kumimoji="1" lang="ko-KR" altLang="en-US" sz="6000" b="1">
              <a:solidFill>
                <a:schemeClr val="bg1"/>
              </a:solidFill>
              <a:latin typeface="Bell M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09798" y="3389087"/>
            <a:ext cx="13639803" cy="1181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4800" b="1" spc="-487">
                <a:latin typeface="Times New Roman"/>
                <a:ea typeface="+mj-ea"/>
                <a:cs typeface="Times New Roman"/>
              </a:rPr>
              <a:t>I .   2026</a:t>
            </a:r>
            <a:r>
              <a:rPr lang="ko-KR" altLang="en-US" sz="4800" b="1" spc="-487">
                <a:latin typeface="Times New Roman"/>
                <a:ea typeface="+mj-ea"/>
                <a:cs typeface="Times New Roman"/>
              </a:rPr>
              <a:t>학년도 </a:t>
            </a:r>
            <a:r>
              <a:rPr lang="ko-KR" altLang="en-US" sz="4800" b="1">
                <a:latin typeface="Times New Roman"/>
                <a:ea typeface="+mj-ea"/>
                <a:cs typeface="Times New Roman"/>
              </a:rPr>
              <a:t>학업성적관리 시행지침 주요 변경사항</a:t>
            </a:r>
            <a:endParaRPr lang="ko-KR" altLang="en-US" sz="4800" b="1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097000" y="6057901"/>
            <a:ext cx="2684432" cy="27845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0444" y="24440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grpSp>
        <p:nvGrpSpPr>
          <p:cNvPr id="4" name="그룹 1003"/>
          <p:cNvGrpSpPr/>
          <p:nvPr/>
        </p:nvGrpSpPr>
        <p:grpSpPr>
          <a:xfrm>
            <a:off x="228600" y="952499"/>
            <a:ext cx="11125200" cy="19050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533400" y="1340703"/>
            <a:ext cx="10896600" cy="819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800" b="1">
                <a:latin typeface="+mj-ea"/>
                <a:ea typeface="+mj-ea"/>
              </a:rPr>
              <a:t>학교 학업성적관리규정의 법률적 체계</a:t>
            </a:r>
          </a:p>
        </p:txBody>
      </p:sp>
      <p:pic>
        <p:nvPicPr>
          <p:cNvPr id="1004" name="그림 100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600200" y="2781299"/>
            <a:ext cx="15392400" cy="64872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1586" y="311386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sp>
        <p:nvSpPr>
          <p:cNvPr id="10" name="TextBox 88"/>
          <p:cNvSpPr txBox="1"/>
          <p:nvPr/>
        </p:nvSpPr>
        <p:spPr>
          <a:xfrm>
            <a:off x="14782800" y="2282397"/>
            <a:ext cx="2719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6232" indent="-326232">
              <a:defRPr/>
            </a:pP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제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10</a:t>
            </a: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조 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p. 5</a:t>
            </a:r>
            <a:endParaRPr lang="ko-KR" altLang="en-US" sz="3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pSp>
        <p:nvGrpSpPr>
          <p:cNvPr id="2" name="Group 29"/>
          <p:cNvGrpSpPr/>
          <p:nvPr/>
        </p:nvGrpSpPr>
        <p:grpSpPr>
          <a:xfrm flipH="1">
            <a:off x="761999" y="1105443"/>
            <a:ext cx="5867400" cy="1142457"/>
            <a:chOff x="1822736" y="2564904"/>
            <a:chExt cx="3384376" cy="1415810"/>
          </a:xfrm>
        </p:grpSpPr>
        <p:sp>
          <p:nvSpPr>
            <p:cNvPr id="5" name="Rounded Rectangle 9"/>
            <p:cNvSpPr/>
            <p:nvPr/>
          </p:nvSpPr>
          <p:spPr>
            <a:xfrm flipH="1">
              <a:off x="1822737" y="2575647"/>
              <a:ext cx="1538088" cy="1405067"/>
            </a:xfrm>
            <a:custGeom>
              <a:avLst/>
              <a:gdLst/>
              <a:ahLst/>
              <a:cxnLst/>
              <a:rect l="l" t="t" r="r" b="b"/>
              <a:pathLst>
                <a:path w="1572775" h="1405065">
                  <a:moveTo>
                    <a:pt x="1473249" y="0"/>
                  </a:moveTo>
                  <a:cubicBezTo>
                    <a:pt x="1531558" y="20642"/>
                    <a:pt x="1572775" y="76505"/>
                    <a:pt x="1572775" y="141994"/>
                  </a:cubicBezTo>
                  <a:lnTo>
                    <a:pt x="1572775" y="1252328"/>
                  </a:lnTo>
                  <a:cubicBezTo>
                    <a:pt x="1572775" y="1336682"/>
                    <a:pt x="1504392" y="1405065"/>
                    <a:pt x="1420038" y="1405065"/>
                  </a:cubicBezTo>
                  <a:lnTo>
                    <a:pt x="0" y="1405065"/>
                  </a:lnTo>
                  <a:cubicBezTo>
                    <a:pt x="768941" y="1317621"/>
                    <a:pt x="1379064" y="735374"/>
                    <a:pt x="1473249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050"/>
            </a:p>
          </p:txBody>
        </p:sp>
        <p:sp>
          <p:nvSpPr>
            <p:cNvPr id="4" name="Rounded Rectangle 31"/>
            <p:cNvSpPr/>
            <p:nvPr/>
          </p:nvSpPr>
          <p:spPr>
            <a:xfrm>
              <a:off x="1822736" y="2564904"/>
              <a:ext cx="3384376" cy="1415807"/>
            </a:xfrm>
            <a:prstGeom prst="roundRect">
              <a:avLst>
                <a:gd name="adj" fmla="val 10788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FFFF00"/>
                  </a:solidFill>
                </a:rPr>
                <a:t> </a:t>
              </a:r>
              <a:endParaRPr lang="en-US" sz="4800" b="1">
                <a:solidFill>
                  <a:srgbClr val="FFFF00"/>
                </a:solidFill>
              </a:endParaRPr>
            </a:p>
          </p:txBody>
        </p:sp>
      </p:grpSp>
      <p:grpSp>
        <p:nvGrpSpPr>
          <p:cNvPr id="1012" name="그룹 1011"/>
          <p:cNvGrpSpPr/>
          <p:nvPr/>
        </p:nvGrpSpPr>
        <p:grpSpPr>
          <a:xfrm>
            <a:off x="9906000" y="0"/>
            <a:ext cx="8382000" cy="647700"/>
            <a:chOff x="9906000" y="0"/>
            <a:chExt cx="8382000" cy="647700"/>
          </a:xfrm>
        </p:grpSpPr>
        <p:sp>
          <p:nvSpPr>
            <p:cNvPr id="1004" name="직사각형 1003"/>
            <p:cNvSpPr/>
            <p:nvPr/>
          </p:nvSpPr>
          <p:spPr>
            <a:xfrm>
              <a:off x="9906000" y="0"/>
              <a:ext cx="8381999" cy="6477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05" name="TextBox 13"/>
            <p:cNvSpPr txBox="1"/>
            <p:nvPr/>
          </p:nvSpPr>
          <p:spPr>
            <a:xfrm>
              <a:off x="10134600" y="0"/>
              <a:ext cx="8153400" cy="512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2800" b="1">
                  <a:latin typeface="+mj-ea"/>
                  <a:ea typeface="+mj-ea"/>
                </a:rPr>
                <a:t>2026</a:t>
              </a:r>
              <a:r>
                <a:rPr lang="ko-KR" altLang="en-US" sz="2800" b="1">
                  <a:latin typeface="+mj-ea"/>
                  <a:ea typeface="+mj-ea"/>
                </a:rPr>
                <a:t>학년도 학업성적관리 시행지침 주요 변경사항</a:t>
              </a:r>
              <a:endParaRPr lang="en-US" altLang="ko-KR" sz="2100" b="1">
                <a:latin typeface="+mj-ea"/>
                <a:ea typeface="+mj-ea"/>
              </a:endParaRPr>
            </a:p>
          </p:txBody>
        </p:sp>
      </p:grpSp>
      <p:sp>
        <p:nvSpPr>
          <p:cNvPr id="1006" name="TextBox 1005"/>
          <p:cNvSpPr txBox="1"/>
          <p:nvPr/>
        </p:nvSpPr>
        <p:spPr>
          <a:xfrm>
            <a:off x="1371600" y="3086100"/>
            <a:ext cx="7239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7" name="TextBox 1006"/>
          <p:cNvSpPr txBox="1"/>
          <p:nvPr/>
        </p:nvSpPr>
        <p:spPr>
          <a:xfrm>
            <a:off x="1828800" y="2781300"/>
            <a:ext cx="25908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8" name="TextBox 1007"/>
          <p:cNvSpPr txBox="1"/>
          <p:nvPr/>
        </p:nvSpPr>
        <p:spPr>
          <a:xfrm>
            <a:off x="1219200" y="2705100"/>
            <a:ext cx="15621000" cy="4503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0" i="0" u="none" strike="noStrike" spc="-10"/>
              <a:t>교과학습의 평가는 </a:t>
            </a:r>
            <a:r>
              <a:rPr sz="3600" b="1" i="0" u="none" strike="noStrike" spc="-10">
                <a:solidFill>
                  <a:srgbClr val="FF0000"/>
                </a:solidFill>
              </a:rPr>
              <a:t>정기시험</a:t>
            </a:r>
            <a:r>
              <a:rPr sz="3600" b="0" i="0" u="none" strike="noStrike" spc="-10"/>
              <a:t>과수행평가</a:t>
            </a:r>
            <a:r>
              <a:rPr sz="3600" b="0" i="0" u="none" strike="noStrike" spc="-10">
                <a:solidFill>
                  <a:srgbClr val="0000FF"/>
                </a:solidFill>
              </a:rPr>
              <a:t>를 활용하여</a:t>
            </a:r>
            <a:r>
              <a:rPr sz="3600" b="0" i="0" u="none" strike="noStrike" spc="-10"/>
              <a:t>실시한다</a:t>
            </a:r>
            <a:r>
              <a:rPr lang="EN-US" sz="3600" b="0" i="0" u="none" strike="noStrike" spc="-10"/>
              <a:t>. </a:t>
            </a:r>
            <a:r>
              <a:rPr sz="3600" b="0" i="0" u="none" strike="noStrike" spc="-10"/>
              <a:t>다만</a:t>
            </a:r>
            <a:r>
              <a:rPr lang="EN-US" sz="3600" b="0" i="0" u="none" strike="noStrike" spc="-10"/>
              <a:t>, </a:t>
            </a:r>
            <a:r>
              <a:rPr sz="3600" b="0" i="0" u="none" strike="noStrike" spc="-10"/>
              <a:t>학교별 </a:t>
            </a:r>
            <a:r>
              <a:rPr lang="EN-US" sz="3600" b="0" i="0" u="none" strike="noStrike" spc="-10"/>
              <a:t>‘</a:t>
            </a:r>
            <a:r>
              <a:rPr sz="3600" b="0" i="0" u="none" strike="noStrike" spc="-10"/>
              <a:t>학업성적관리규정</a:t>
            </a:r>
            <a:r>
              <a:rPr lang="EN-US" sz="3600" b="0" i="0" u="none" strike="noStrike" spc="-10"/>
              <a:t>’</a:t>
            </a:r>
            <a:r>
              <a:rPr sz="3600" b="0" i="0" u="none" strike="noStrike" spc="-10"/>
              <a:t>으로 정하여 교과</a:t>
            </a:r>
            <a:r>
              <a:rPr lang="EN-US" sz="3600" b="0" i="0" u="none" strike="noStrike" spc="-10"/>
              <a:t>(</a:t>
            </a:r>
            <a:r>
              <a:rPr sz="3600" b="0" i="0" u="none" strike="noStrike" spc="-10"/>
              <a:t>목</a:t>
            </a:r>
            <a:r>
              <a:rPr lang="EN-US" sz="3600" b="0" i="0" u="none" strike="noStrike" spc="-10"/>
              <a:t>)</a:t>
            </a:r>
            <a:r>
              <a:rPr sz="3600" b="0" i="0" u="none" strike="noStrike" spc="-10"/>
              <a:t>의 특성상 수업활동과 연계한 수행평가만으로 평가할 수 있으며</a:t>
            </a:r>
            <a:r>
              <a:rPr lang="EN-US" sz="3600" b="0" i="0" u="none" strike="noStrike" spc="-10"/>
              <a:t>, </a:t>
            </a:r>
            <a:r>
              <a:rPr sz="3600" b="0" i="0" u="none" strike="noStrike" spc="-10"/>
              <a:t>감염병의 전국적 유행 등 국가 재난에 준하는 상황에서는 </a:t>
            </a:r>
            <a:r>
              <a:rPr sz="3600" b="1" i="0" u="none" strike="noStrike" spc="-10">
                <a:solidFill>
                  <a:srgbClr val="FF0000"/>
                </a:solidFill>
              </a:rPr>
              <a:t>정기시험</a:t>
            </a:r>
            <a:r>
              <a:rPr sz="3600" b="0" i="0" u="none" strike="noStrike" spc="-10"/>
              <a:t>또는 수행</a:t>
            </a:r>
            <a:r>
              <a:rPr sz="3600" b="0" i="0" u="none" strike="noStrike" spc="-20"/>
              <a:t>평가만으로 평가하거나 별도의 지침에 따라 </a:t>
            </a:r>
            <a:r>
              <a:rPr sz="3600" b="1" i="0" u="none" strike="noStrike" spc="-10">
                <a:solidFill>
                  <a:srgbClr val="FF0000"/>
                </a:solidFill>
              </a:rPr>
              <a:t>정기시험</a:t>
            </a:r>
            <a:r>
              <a:rPr sz="3600" b="0" i="0" u="none" strike="noStrike" spc="-10"/>
              <a:t> </a:t>
            </a:r>
            <a:r>
              <a:rPr sz="3600" b="0" i="0" u="none" strike="noStrike" spc="-20"/>
              <a:t>및 수행평가를 실시하지 않을 수 있다</a:t>
            </a:r>
            <a:r>
              <a:rPr lang="EN-US" sz="3600" b="0" i="0" u="none" strike="noStrike" spc="-10"/>
              <a:t>.</a:t>
            </a:r>
            <a:r>
              <a:rPr lang="ko-KR" altLang="en-US" sz="3600"/>
              <a:t> 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1371600" y="1181099"/>
            <a:ext cx="5638800" cy="1845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1">
                <a:solidFill>
                  <a:srgbClr val="42C7F1"/>
                </a:solidFill>
              </a:rPr>
              <a:t>제</a:t>
            </a:r>
            <a:r>
              <a:rPr lang="en-US" altLang="ko-KR" sz="3600" b="1">
                <a:solidFill>
                  <a:srgbClr val="42C7F1"/>
                </a:solidFill>
              </a:rPr>
              <a:t>2</a:t>
            </a:r>
            <a:r>
              <a:rPr lang="ko-KR" altLang="en-US" sz="3600" b="1">
                <a:solidFill>
                  <a:srgbClr val="42C7F1"/>
                </a:solidFill>
              </a:rPr>
              <a:t>조</a:t>
            </a:r>
            <a:r>
              <a:rPr lang="en-US" altLang="ko-KR" sz="3600" b="1">
                <a:solidFill>
                  <a:srgbClr val="42C7F1"/>
                </a:solidFill>
              </a:rPr>
              <a:t>(</a:t>
            </a:r>
            <a:r>
              <a:rPr lang="ko-KR" altLang="en-US" sz="3600" b="1">
                <a:solidFill>
                  <a:srgbClr val="42C7F1"/>
                </a:solidFill>
              </a:rPr>
              <a:t>기본방침</a:t>
            </a:r>
            <a:r>
              <a:rPr lang="en-US" altLang="ko-KR" sz="3600" b="1">
                <a:solidFill>
                  <a:srgbClr val="42C7F1"/>
                </a:solidFill>
              </a:rPr>
              <a:t>)</a:t>
            </a:r>
            <a:r>
              <a:rPr lang="ko-KR" altLang="en-US" sz="3600" b="1">
                <a:solidFill>
                  <a:srgbClr val="42C7F1"/>
                </a:solidFill>
              </a:rPr>
              <a:t> 제</a:t>
            </a:r>
            <a:r>
              <a:rPr lang="en-US" altLang="ko-KR" sz="3600" b="1" i="0" u="none" strike="noStrike" spc="-10">
                <a:solidFill>
                  <a:srgbClr val="42C7F1"/>
                </a:solidFill>
              </a:rPr>
              <a:t>4</a:t>
            </a:r>
            <a:r>
              <a:rPr lang="ko-KR" altLang="en-US" sz="3600" b="1" i="0" u="none" strike="noStrike" spc="-10">
                <a:solidFill>
                  <a:srgbClr val="42C7F1"/>
                </a:solidFill>
              </a:rPr>
              <a:t>항</a:t>
            </a:r>
          </a:p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3600" b="1">
              <a:solidFill>
                <a:srgbClr val="42C7F1"/>
              </a:solidFill>
            </a:endParaRPr>
          </a:p>
        </p:txBody>
      </p:sp>
      <p:sp>
        <p:nvSpPr>
          <p:cNvPr id="1010" name="직사각형 1009"/>
          <p:cNvSpPr/>
          <p:nvPr/>
        </p:nvSpPr>
        <p:spPr>
          <a:xfrm>
            <a:off x="5791200" y="7581900"/>
            <a:ext cx="6248400" cy="10668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4000" b="1"/>
              <a:t>지필평가  ➜ </a:t>
            </a:r>
            <a:r>
              <a:rPr lang="ko-KR" altLang="en-US" sz="4000" b="1">
                <a:solidFill>
                  <a:srgbClr val="42C7F1"/>
                </a:solidFill>
              </a:rPr>
              <a:t>정기시험</a:t>
            </a:r>
          </a:p>
        </p:txBody>
      </p:sp>
      <p:sp>
        <p:nvSpPr>
          <p:cNvPr id="1013" name="TextBox 1012"/>
          <p:cNvSpPr txBox="1"/>
          <p:nvPr/>
        </p:nvSpPr>
        <p:spPr>
          <a:xfrm>
            <a:off x="16840200" y="9563100"/>
            <a:ext cx="838199" cy="413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1/11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1586" y="311386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sp>
        <p:nvSpPr>
          <p:cNvPr id="10" name="TextBox 88"/>
          <p:cNvSpPr txBox="1"/>
          <p:nvPr/>
        </p:nvSpPr>
        <p:spPr>
          <a:xfrm>
            <a:off x="14782800" y="2282397"/>
            <a:ext cx="2719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6232" indent="-326232">
              <a:defRPr/>
            </a:pP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제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10</a:t>
            </a: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조 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p. 5</a:t>
            </a:r>
            <a:endParaRPr lang="ko-KR" altLang="en-US" sz="3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pSp>
        <p:nvGrpSpPr>
          <p:cNvPr id="2" name="Group 29"/>
          <p:cNvGrpSpPr/>
          <p:nvPr/>
        </p:nvGrpSpPr>
        <p:grpSpPr>
          <a:xfrm flipH="1">
            <a:off x="761999" y="1105443"/>
            <a:ext cx="5867400" cy="1142457"/>
            <a:chOff x="1822736" y="2564904"/>
            <a:chExt cx="3384376" cy="1415810"/>
          </a:xfrm>
        </p:grpSpPr>
        <p:sp>
          <p:nvSpPr>
            <p:cNvPr id="5" name="Rounded Rectangle 9"/>
            <p:cNvSpPr/>
            <p:nvPr/>
          </p:nvSpPr>
          <p:spPr>
            <a:xfrm flipH="1">
              <a:off x="1822737" y="2575647"/>
              <a:ext cx="1538088" cy="1405067"/>
            </a:xfrm>
            <a:custGeom>
              <a:avLst/>
              <a:gdLst/>
              <a:ahLst/>
              <a:cxnLst/>
              <a:rect l="l" t="t" r="r" b="b"/>
              <a:pathLst>
                <a:path w="1572775" h="1405065">
                  <a:moveTo>
                    <a:pt x="1473249" y="0"/>
                  </a:moveTo>
                  <a:cubicBezTo>
                    <a:pt x="1531558" y="20642"/>
                    <a:pt x="1572775" y="76505"/>
                    <a:pt x="1572775" y="141994"/>
                  </a:cubicBezTo>
                  <a:lnTo>
                    <a:pt x="1572775" y="1252328"/>
                  </a:lnTo>
                  <a:cubicBezTo>
                    <a:pt x="1572775" y="1336682"/>
                    <a:pt x="1504392" y="1405065"/>
                    <a:pt x="1420038" y="1405065"/>
                  </a:cubicBezTo>
                  <a:lnTo>
                    <a:pt x="0" y="1405065"/>
                  </a:lnTo>
                  <a:cubicBezTo>
                    <a:pt x="768941" y="1317621"/>
                    <a:pt x="1379064" y="735374"/>
                    <a:pt x="1473249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050"/>
            </a:p>
          </p:txBody>
        </p:sp>
        <p:sp>
          <p:nvSpPr>
            <p:cNvPr id="4" name="Rounded Rectangle 31"/>
            <p:cNvSpPr/>
            <p:nvPr/>
          </p:nvSpPr>
          <p:spPr>
            <a:xfrm>
              <a:off x="1822736" y="2564904"/>
              <a:ext cx="3384376" cy="1415807"/>
            </a:xfrm>
            <a:prstGeom prst="roundRect">
              <a:avLst>
                <a:gd name="adj" fmla="val 10788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FFFF00"/>
                  </a:solidFill>
                </a:rPr>
                <a:t> </a:t>
              </a:r>
              <a:endParaRPr lang="en-US" sz="4800" b="1">
                <a:solidFill>
                  <a:srgbClr val="FFFF00"/>
                </a:solidFill>
              </a:endParaRPr>
            </a:p>
          </p:txBody>
        </p:sp>
      </p:grpSp>
      <p:sp>
        <p:nvSpPr>
          <p:cNvPr id="1006" name="TextBox 1005"/>
          <p:cNvSpPr txBox="1"/>
          <p:nvPr/>
        </p:nvSpPr>
        <p:spPr>
          <a:xfrm>
            <a:off x="1371600" y="3086100"/>
            <a:ext cx="7239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7" name="TextBox 1006"/>
          <p:cNvSpPr txBox="1"/>
          <p:nvPr/>
        </p:nvSpPr>
        <p:spPr>
          <a:xfrm>
            <a:off x="1828800" y="2781300"/>
            <a:ext cx="25908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9" name="TextBox 1008"/>
          <p:cNvSpPr txBox="1"/>
          <p:nvPr/>
        </p:nvSpPr>
        <p:spPr>
          <a:xfrm>
            <a:off x="1371600" y="1181099"/>
            <a:ext cx="5638800" cy="1845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1">
                <a:solidFill>
                  <a:srgbClr val="42C7F1"/>
                </a:solidFill>
              </a:rPr>
              <a:t>제</a:t>
            </a:r>
            <a:r>
              <a:rPr lang="en-US" altLang="ko-KR" sz="3600" b="1">
                <a:solidFill>
                  <a:srgbClr val="42C7F1"/>
                </a:solidFill>
              </a:rPr>
              <a:t>2</a:t>
            </a:r>
            <a:r>
              <a:rPr lang="ko-KR" altLang="en-US" sz="3600" b="1">
                <a:solidFill>
                  <a:srgbClr val="42C7F1"/>
                </a:solidFill>
              </a:rPr>
              <a:t>조</a:t>
            </a:r>
            <a:r>
              <a:rPr lang="en-US" altLang="ko-KR" sz="3600" b="1">
                <a:solidFill>
                  <a:srgbClr val="42C7F1"/>
                </a:solidFill>
              </a:rPr>
              <a:t>(</a:t>
            </a:r>
            <a:r>
              <a:rPr lang="ko-KR" altLang="en-US" sz="3600" b="1">
                <a:solidFill>
                  <a:srgbClr val="42C7F1"/>
                </a:solidFill>
              </a:rPr>
              <a:t>기본방침</a:t>
            </a:r>
            <a:r>
              <a:rPr lang="en-US" altLang="ko-KR" sz="3600" b="1">
                <a:solidFill>
                  <a:srgbClr val="42C7F1"/>
                </a:solidFill>
              </a:rPr>
              <a:t>)</a:t>
            </a:r>
            <a:r>
              <a:rPr lang="ko-KR" altLang="en-US" sz="3600" b="1">
                <a:solidFill>
                  <a:srgbClr val="42C7F1"/>
                </a:solidFill>
              </a:rPr>
              <a:t> 제</a:t>
            </a:r>
            <a:r>
              <a:rPr lang="en-US" altLang="ko-KR" sz="3600" b="1" i="0" u="none" strike="noStrike" spc="-10">
                <a:solidFill>
                  <a:srgbClr val="42C7F1"/>
                </a:solidFill>
              </a:rPr>
              <a:t>4</a:t>
            </a:r>
            <a:r>
              <a:rPr lang="ko-KR" altLang="en-US" sz="3600" b="1" i="0" u="none" strike="noStrike" spc="-10">
                <a:solidFill>
                  <a:srgbClr val="42C7F1"/>
                </a:solidFill>
              </a:rPr>
              <a:t>항</a:t>
            </a:r>
          </a:p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3600" b="1">
              <a:solidFill>
                <a:srgbClr val="42C7F1"/>
              </a:solidFill>
            </a:endParaRPr>
          </a:p>
        </p:txBody>
      </p:sp>
      <p:sp>
        <p:nvSpPr>
          <p:cNvPr id="1010" name="직사각형 1009"/>
          <p:cNvSpPr/>
          <p:nvPr/>
        </p:nvSpPr>
        <p:spPr>
          <a:xfrm>
            <a:off x="1295399" y="5676900"/>
            <a:ext cx="7848600" cy="10668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 b="1"/>
              <a:t>1</a:t>
            </a:r>
            <a:r>
              <a:rPr lang="ko-KR" altLang="en-US" sz="4000" b="1"/>
              <a:t>차</a:t>
            </a:r>
            <a:r>
              <a:rPr lang="en-US" altLang="ko-KR" sz="4000" b="1"/>
              <a:t>/1</a:t>
            </a:r>
            <a:r>
              <a:rPr lang="ko-KR" altLang="en-US" sz="4000" b="1"/>
              <a:t>회</a:t>
            </a:r>
            <a:r>
              <a:rPr lang="en-US" altLang="ko-KR" sz="4000" b="1"/>
              <a:t>/</a:t>
            </a:r>
            <a:r>
              <a:rPr lang="ko-KR" altLang="en-US" sz="4000" b="1"/>
              <a:t>중간고사 ➜ </a:t>
            </a:r>
            <a:r>
              <a:rPr lang="en-US" altLang="ko-KR" sz="4000" b="1">
                <a:solidFill>
                  <a:srgbClr val="42C7F1"/>
                </a:solidFill>
              </a:rPr>
              <a:t>1</a:t>
            </a:r>
            <a:r>
              <a:rPr lang="ko-KR" altLang="en-US" sz="4000" b="1">
                <a:solidFill>
                  <a:srgbClr val="42C7F1"/>
                </a:solidFill>
              </a:rPr>
              <a:t>차 시험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1066800" y="2476500"/>
            <a:ext cx="16383000" cy="2226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2600" indent="-4826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0" i="0" u="none" strike="noStrike" spc="-20">
                <a:solidFill>
                  <a:srgbClr val="000000"/>
                </a:solidFill>
                <a:latin typeface="KoPub돋움체 Light"/>
                <a:ea typeface="KoPub돋움체 Light"/>
              </a:rPr>
              <a:t>주석</a:t>
            </a:r>
            <a:r>
              <a:rPr lang="en-US" altLang="ko-KR" sz="3600" b="0" i="0" u="none" strike="noStrike" spc="-20">
                <a:solidFill>
                  <a:srgbClr val="000000"/>
                </a:solidFill>
                <a:latin typeface="KoPub돋움체 Light"/>
                <a:ea typeface="KoPub돋움체 Light"/>
              </a:rPr>
              <a:t>1</a:t>
            </a:r>
            <a:r>
              <a:rPr lang="EN-US" sz="3600" b="0" i="0" u="none" strike="noStrike" spc="-20">
                <a:solidFill>
                  <a:srgbClr val="000000"/>
                </a:solidFill>
                <a:latin typeface="KoPub돋움체 Light"/>
                <a:ea typeface="KoPub돋움체 Light"/>
              </a:rPr>
              <a:t>)</a:t>
            </a:r>
            <a:r>
              <a:rPr lang="ko-KR" altLang="en-US" sz="3600" b="0" i="0" u="none" strike="noStrike" spc="-20">
                <a:solidFill>
                  <a:srgbClr val="000000"/>
                </a:solidFill>
                <a:latin typeface="KoPub돋움체 Light"/>
                <a:ea typeface="KoPub돋움체 Light"/>
              </a:rPr>
              <a:t> </a:t>
            </a:r>
            <a:r>
              <a:rPr sz="3600" b="0" i="0" u="none" strike="noStrike" spc="-20">
                <a:solidFill>
                  <a:srgbClr val="FF0000"/>
                </a:solidFill>
                <a:latin typeface="KoPub돋움체 Light"/>
                <a:ea typeface="KoPub돋움체 Light"/>
              </a:rPr>
              <a:t>정기시험</a:t>
            </a:r>
            <a:r>
              <a:rPr lang="EN-US" sz="3600" b="0" i="0" u="none" strike="noStrike" spc="-50">
                <a:solidFill>
                  <a:srgbClr val="000000"/>
                </a:solidFill>
                <a:latin typeface="KoPub돋움체 Light"/>
                <a:ea typeface="KoPub돋움체 Light"/>
              </a:rPr>
              <a:t>: 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교육부 훈령 제</a:t>
            </a:r>
            <a:r>
              <a:rPr lang="en-US" altLang="ko-KR" sz="3600" b="0" i="0" u="none">
                <a:solidFill>
                  <a:srgbClr val="FF0000"/>
                </a:solidFill>
                <a:latin typeface="KoPub돋움체 Light"/>
                <a:ea typeface="KoPub돋움체 Light"/>
              </a:rPr>
              <a:t>555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호</a:t>
            </a:r>
            <a:r>
              <a:rPr 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(</a:t>
            </a:r>
            <a:r>
              <a:rPr lang="EN-US" sz="3600" b="0" i="0" u="none" strike="noStrike">
                <a:solidFill>
                  <a:srgbClr val="FF0000"/>
                </a:solidFill>
                <a:latin typeface="KoPub돋움체 Light"/>
                <a:ea typeface="KoPub돋움체 Light"/>
              </a:rPr>
              <a:t>202</a:t>
            </a:r>
            <a:r>
              <a:rPr lang="en-US" altLang="ko-KR" sz="3600" b="0" i="0" u="none" strike="noStrike">
                <a:solidFill>
                  <a:srgbClr val="FF0000"/>
                </a:solidFill>
                <a:latin typeface="KoPub돋움체 Light"/>
                <a:ea typeface="KoPub돋움체 Light"/>
              </a:rPr>
              <a:t>6</a:t>
            </a:r>
            <a:r>
              <a:rPr lang="EN-US" sz="3600" b="0" i="0" u="none" strike="noStrike">
                <a:solidFill>
                  <a:srgbClr val="FF0000"/>
                </a:solidFill>
                <a:latin typeface="KoPub돋움체 Light"/>
                <a:ea typeface="KoPub돋움체 Light"/>
              </a:rPr>
              <a:t>.2.</a:t>
            </a:r>
            <a:r>
              <a:rPr lang="en-US" altLang="ko-KR" sz="3600" b="0" i="0" u="none" strike="noStrike">
                <a:solidFill>
                  <a:srgbClr val="FF0000"/>
                </a:solidFill>
                <a:latin typeface="KoPub돋움체 Light"/>
                <a:ea typeface="KoPub돋움체 Light"/>
              </a:rPr>
              <a:t>12.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일부개정</a:t>
            </a:r>
            <a:r>
              <a:rPr 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)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에 따라 </a:t>
            </a:r>
            <a:r>
              <a:rPr lang="EN-US" sz="3600" b="0" i="0" u="none" strike="noStrike">
                <a:solidFill>
                  <a:srgbClr val="FF0000"/>
                </a:solidFill>
                <a:latin typeface="KoPub돋움체 Light"/>
                <a:ea typeface="KoPub돋움체 Light"/>
              </a:rPr>
              <a:t>1</a:t>
            </a:r>
            <a:r>
              <a:rPr sz="3600" b="0" i="0" u="none" strike="noStrike">
                <a:solidFill>
                  <a:srgbClr val="FF0000"/>
                </a:solidFill>
                <a:latin typeface="KoPub돋움체 Light"/>
                <a:ea typeface="KoPub돋움체 Light"/>
              </a:rPr>
              <a:t>차 시험</a:t>
            </a:r>
            <a:r>
              <a:rPr lang="EN-US" sz="3600" b="0" i="0" u="none" strike="noStrike">
                <a:solidFill>
                  <a:srgbClr val="FF0000"/>
                </a:solidFill>
                <a:latin typeface="KoPub돋움체 Light"/>
                <a:ea typeface="KoPub돋움체 Light"/>
              </a:rPr>
              <a:t>, 2</a:t>
            </a:r>
            <a:r>
              <a:rPr sz="3600" b="0" i="0" u="none" strike="noStrike">
                <a:solidFill>
                  <a:srgbClr val="FF0000"/>
                </a:solidFill>
                <a:latin typeface="KoPub돋움체 Light"/>
                <a:ea typeface="KoPub돋움체 Light"/>
              </a:rPr>
              <a:t>차 </a:t>
            </a:r>
          </a:p>
          <a:p>
            <a:pPr marL="482600" indent="-4826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0" i="0" u="none" strike="noStrike">
                <a:solidFill>
                  <a:srgbClr val="FF0000"/>
                </a:solidFill>
                <a:latin typeface="KoPub돋움체 Light"/>
                <a:ea typeface="KoPub돋움체 Light"/>
              </a:rPr>
              <a:t>      </a:t>
            </a:r>
            <a:r>
              <a:rPr sz="3600" b="0" i="0" u="none" strike="noStrike">
                <a:solidFill>
                  <a:srgbClr val="FF0000"/>
                </a:solidFill>
                <a:latin typeface="KoPub돋움체 Light"/>
                <a:ea typeface="KoPub돋움체 Light"/>
              </a:rPr>
              <a:t>시험 등과</a:t>
            </a:r>
            <a:r>
              <a:rPr lang="ko-KR" altLang="en-US" sz="3600" b="0" i="0" u="none" strike="noStrike">
                <a:solidFill>
                  <a:srgbClr val="FF0000"/>
                </a:solidFill>
                <a:latin typeface="KoPub돋움체 Light"/>
                <a:ea typeface="KoPub돋움체 Light"/>
              </a:rPr>
              <a:t> 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같은 </a:t>
            </a:r>
            <a:r>
              <a:rPr 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‘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일제식 </a:t>
            </a:r>
            <a:r>
              <a:rPr sz="3600" b="0" i="0" u="none" strike="noStrike" spc="-20">
                <a:solidFill>
                  <a:srgbClr val="FF0000"/>
                </a:solidFill>
                <a:latin typeface="KoPub돋움체 Light"/>
                <a:ea typeface="KoPub돋움체 Light"/>
              </a:rPr>
              <a:t>정기시험</a:t>
            </a:r>
            <a:r>
              <a:rPr 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’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을 의미하며</a:t>
            </a:r>
            <a:r>
              <a:rPr 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, ‘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문항정보표</a:t>
            </a:r>
            <a:r>
              <a:rPr 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’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의 구성에</a:t>
            </a:r>
            <a:r>
              <a:rPr lang="ko-KR" alt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 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따라 </a:t>
            </a:r>
            <a:r>
              <a:rPr 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‘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선택형</a:t>
            </a:r>
            <a:r>
              <a:rPr 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’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과 </a:t>
            </a:r>
            <a:r>
              <a:rPr 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‘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서답형</a:t>
            </a:r>
            <a:r>
              <a:rPr 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’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으로 구분함</a:t>
            </a:r>
            <a:r>
              <a:rPr 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. ‘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서답형</a:t>
            </a:r>
            <a:r>
              <a:rPr 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’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은 단답형</a:t>
            </a:r>
            <a:r>
              <a:rPr 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, 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완성형</a:t>
            </a:r>
            <a:r>
              <a:rPr 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,</a:t>
            </a:r>
            <a:r>
              <a:rPr lang="ko-KR" alt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 </a:t>
            </a:r>
            <a:r>
              <a:rPr sz="3600" b="0" i="0" u="none" strike="noStrike">
                <a:solidFill>
                  <a:srgbClr val="FF0000"/>
                </a:solidFill>
                <a:latin typeface="KoPub돋움체 Light"/>
                <a:ea typeface="KoPub돋움체 Light"/>
              </a:rPr>
              <a:t>서</a:t>
            </a:r>
            <a:r>
              <a:rPr lang="EN-US" sz="3600" b="0" i="0" u="none" strike="noStrike">
                <a:solidFill>
                  <a:srgbClr val="FF0000"/>
                </a:solidFill>
                <a:latin typeface="KoPub돋움체 Light"/>
                <a:ea typeface="KoPub돋움체 Light"/>
              </a:rPr>
              <a:t>·</a:t>
            </a:r>
            <a:r>
              <a:rPr sz="3600" b="0" i="0" u="none" strike="noStrike">
                <a:solidFill>
                  <a:srgbClr val="FF0000"/>
                </a:solidFill>
                <a:latin typeface="KoPub돋움체 Light"/>
                <a:ea typeface="KoPub돋움체 Light"/>
              </a:rPr>
              <a:t>논술형</a:t>
            </a:r>
            <a:r>
              <a:rPr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이 있음</a:t>
            </a:r>
            <a:r>
              <a:rPr lang="EN-US" sz="3600" b="0" i="0" u="none" strike="noStrike">
                <a:solidFill>
                  <a:srgbClr val="000000"/>
                </a:solidFill>
                <a:latin typeface="KoPub돋움체 Light"/>
                <a:ea typeface="KoPub돋움체 Light"/>
              </a:rPr>
              <a:t>.</a:t>
            </a:r>
          </a:p>
        </p:txBody>
      </p:sp>
      <p:sp>
        <p:nvSpPr>
          <p:cNvPr id="1012" name="직사각형 1011"/>
          <p:cNvSpPr/>
          <p:nvPr/>
        </p:nvSpPr>
        <p:spPr>
          <a:xfrm>
            <a:off x="9601201" y="5676900"/>
            <a:ext cx="7848600" cy="10668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 b="1"/>
              <a:t>2</a:t>
            </a:r>
            <a:r>
              <a:rPr lang="ko-KR" altLang="en-US" sz="4000" b="1"/>
              <a:t>차</a:t>
            </a:r>
            <a:r>
              <a:rPr lang="en-US" altLang="ko-KR" sz="4000" b="1"/>
              <a:t>/2</a:t>
            </a:r>
            <a:r>
              <a:rPr lang="ko-KR" altLang="en-US" sz="4000" b="1"/>
              <a:t>회</a:t>
            </a:r>
            <a:r>
              <a:rPr lang="en-US" altLang="ko-KR" sz="4000" b="1"/>
              <a:t>/</a:t>
            </a:r>
            <a:r>
              <a:rPr lang="ko-KR" altLang="en-US" sz="4000" b="1"/>
              <a:t>기말고사 ➜ </a:t>
            </a:r>
            <a:r>
              <a:rPr lang="en-US" altLang="ko-KR" sz="4000" b="1">
                <a:solidFill>
                  <a:srgbClr val="42C7F1"/>
                </a:solidFill>
              </a:rPr>
              <a:t>2</a:t>
            </a:r>
            <a:r>
              <a:rPr lang="ko-KR" altLang="en-US" sz="4000" b="1">
                <a:solidFill>
                  <a:srgbClr val="42C7F1"/>
                </a:solidFill>
              </a:rPr>
              <a:t>차 시험</a:t>
            </a:r>
          </a:p>
        </p:txBody>
      </p:sp>
      <p:sp>
        <p:nvSpPr>
          <p:cNvPr id="1013" name="직사각형 1012"/>
          <p:cNvSpPr/>
          <p:nvPr/>
        </p:nvSpPr>
        <p:spPr>
          <a:xfrm>
            <a:off x="2209800" y="7277100"/>
            <a:ext cx="12573000" cy="10668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4000" b="1"/>
              <a:t>서술형</a:t>
            </a:r>
            <a:r>
              <a:rPr lang="en-US" altLang="ko-KR" sz="4000" b="1"/>
              <a:t>/</a:t>
            </a:r>
            <a:r>
              <a:rPr lang="ko-KR" altLang="en-US" sz="4000" b="1"/>
              <a:t>서술형</a:t>
            </a:r>
            <a:r>
              <a:rPr lang="en-US" altLang="ko-KR" sz="4000" b="1"/>
              <a:t>(</a:t>
            </a:r>
            <a:r>
              <a:rPr lang="ko-KR" altLang="en-US" sz="4000" b="1"/>
              <a:t>논술형 포함</a:t>
            </a:r>
            <a:r>
              <a:rPr lang="en-US" altLang="ko-KR" sz="4000" b="1"/>
              <a:t>)/</a:t>
            </a:r>
            <a:r>
              <a:rPr lang="ko-KR" altLang="en-US" sz="4000" b="1"/>
              <a:t>서</a:t>
            </a:r>
            <a:r>
              <a:rPr lang="en-US" altLang="ko-KR" sz="4000" b="1"/>
              <a:t>·</a:t>
            </a:r>
            <a:r>
              <a:rPr lang="ko-KR" altLang="en-US" sz="4000" b="1"/>
              <a:t>논술형➜ </a:t>
            </a:r>
            <a:r>
              <a:rPr lang="ko-KR" altLang="en-US" sz="4000" b="1">
                <a:solidFill>
                  <a:srgbClr val="42C7F1"/>
                </a:solidFill>
              </a:rPr>
              <a:t>서</a:t>
            </a:r>
            <a:r>
              <a:rPr lang="en-US" altLang="ko-KR" sz="4000" b="1">
                <a:solidFill>
                  <a:srgbClr val="42C7F1"/>
                </a:solidFill>
              </a:rPr>
              <a:t>·</a:t>
            </a:r>
            <a:r>
              <a:rPr lang="ko-KR" altLang="en-US" sz="4000" b="1">
                <a:solidFill>
                  <a:srgbClr val="42C7F1"/>
                </a:solidFill>
              </a:rPr>
              <a:t>논술형 </a:t>
            </a:r>
            <a:r>
              <a:rPr lang="en-US" altLang="ko-KR" sz="4000" b="1">
                <a:solidFill>
                  <a:srgbClr val="42C7F1"/>
                </a:solidFill>
              </a:rPr>
              <a:t>(</a:t>
            </a:r>
            <a:r>
              <a:rPr lang="ko-KR" altLang="en-US" sz="4000" b="1">
                <a:solidFill>
                  <a:srgbClr val="42C7F1"/>
                </a:solidFill>
              </a:rPr>
              <a:t>평가</a:t>
            </a:r>
            <a:r>
              <a:rPr lang="en-US" altLang="ko-KR" sz="4000" b="1">
                <a:solidFill>
                  <a:srgbClr val="42C7F1"/>
                </a:solidFill>
              </a:rPr>
              <a:t>)</a:t>
            </a:r>
          </a:p>
        </p:txBody>
      </p:sp>
      <p:grpSp>
        <p:nvGrpSpPr>
          <p:cNvPr id="1015" name="그룹 1014"/>
          <p:cNvGrpSpPr/>
          <p:nvPr/>
        </p:nvGrpSpPr>
        <p:grpSpPr>
          <a:xfrm>
            <a:off x="9906000" y="0"/>
            <a:ext cx="8382000" cy="647700"/>
            <a:chOff x="9906000" y="0"/>
            <a:chExt cx="8382000" cy="647700"/>
          </a:xfrm>
        </p:grpSpPr>
        <p:sp>
          <p:nvSpPr>
            <p:cNvPr id="1016" name="직사각형 1015"/>
            <p:cNvSpPr/>
            <p:nvPr/>
          </p:nvSpPr>
          <p:spPr>
            <a:xfrm>
              <a:off x="9906000" y="0"/>
              <a:ext cx="8381999" cy="6477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17" name="TextBox 13"/>
            <p:cNvSpPr txBox="1"/>
            <p:nvPr/>
          </p:nvSpPr>
          <p:spPr>
            <a:xfrm>
              <a:off x="10134600" y="0"/>
              <a:ext cx="8153400" cy="512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2800" b="1">
                  <a:latin typeface="+mj-ea"/>
                  <a:ea typeface="+mj-ea"/>
                </a:rPr>
                <a:t>2026</a:t>
              </a:r>
              <a:r>
                <a:rPr lang="ko-KR" altLang="en-US" sz="2800" b="1">
                  <a:latin typeface="+mj-ea"/>
                  <a:ea typeface="+mj-ea"/>
                </a:rPr>
                <a:t>학년도 학업성적관리 시행지침 주요 변경사항</a:t>
              </a:r>
            </a:p>
          </p:txBody>
        </p:sp>
      </p:grpSp>
      <p:sp>
        <p:nvSpPr>
          <p:cNvPr id="1018" name="TextBox 1017"/>
          <p:cNvSpPr txBox="1"/>
          <p:nvPr/>
        </p:nvSpPr>
        <p:spPr>
          <a:xfrm>
            <a:off x="16840200" y="9563100"/>
            <a:ext cx="838199" cy="413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2/11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1586" y="311386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sp>
        <p:nvSpPr>
          <p:cNvPr id="10" name="TextBox 88"/>
          <p:cNvSpPr txBox="1"/>
          <p:nvPr/>
        </p:nvSpPr>
        <p:spPr>
          <a:xfrm>
            <a:off x="14782800" y="2282397"/>
            <a:ext cx="2719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6232" indent="-326232">
              <a:defRPr/>
            </a:pP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제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10</a:t>
            </a: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조 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p. 5</a:t>
            </a:r>
            <a:endParaRPr lang="ko-KR" altLang="en-US" sz="3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pSp>
        <p:nvGrpSpPr>
          <p:cNvPr id="2" name="Group 29"/>
          <p:cNvGrpSpPr/>
          <p:nvPr/>
        </p:nvGrpSpPr>
        <p:grpSpPr>
          <a:xfrm flipH="1">
            <a:off x="761999" y="1105443"/>
            <a:ext cx="10287000" cy="1142457"/>
            <a:chOff x="1822736" y="2564904"/>
            <a:chExt cx="3384376" cy="1415810"/>
          </a:xfrm>
        </p:grpSpPr>
        <p:sp>
          <p:nvSpPr>
            <p:cNvPr id="5" name="Rounded Rectangle 9"/>
            <p:cNvSpPr/>
            <p:nvPr/>
          </p:nvSpPr>
          <p:spPr>
            <a:xfrm flipH="1">
              <a:off x="1822737" y="2575647"/>
              <a:ext cx="1538088" cy="1405067"/>
            </a:xfrm>
            <a:custGeom>
              <a:avLst/>
              <a:gdLst/>
              <a:ahLst/>
              <a:cxnLst/>
              <a:rect l="l" t="t" r="r" b="b"/>
              <a:pathLst>
                <a:path w="1572775" h="1405065">
                  <a:moveTo>
                    <a:pt x="1473249" y="0"/>
                  </a:moveTo>
                  <a:cubicBezTo>
                    <a:pt x="1531558" y="20642"/>
                    <a:pt x="1572775" y="76505"/>
                    <a:pt x="1572775" y="141994"/>
                  </a:cubicBezTo>
                  <a:lnTo>
                    <a:pt x="1572775" y="1252328"/>
                  </a:lnTo>
                  <a:cubicBezTo>
                    <a:pt x="1572775" y="1336682"/>
                    <a:pt x="1504392" y="1405065"/>
                    <a:pt x="1420038" y="1405065"/>
                  </a:cubicBezTo>
                  <a:lnTo>
                    <a:pt x="0" y="1405065"/>
                  </a:lnTo>
                  <a:cubicBezTo>
                    <a:pt x="768941" y="1317621"/>
                    <a:pt x="1379064" y="735374"/>
                    <a:pt x="1473249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050"/>
            </a:p>
          </p:txBody>
        </p:sp>
        <p:sp>
          <p:nvSpPr>
            <p:cNvPr id="4" name="Rounded Rectangle 31"/>
            <p:cNvSpPr/>
            <p:nvPr/>
          </p:nvSpPr>
          <p:spPr>
            <a:xfrm>
              <a:off x="1822736" y="2564904"/>
              <a:ext cx="3384376" cy="1415807"/>
            </a:xfrm>
            <a:prstGeom prst="roundRect">
              <a:avLst>
                <a:gd name="adj" fmla="val 10788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FFFF00"/>
                  </a:solidFill>
                </a:rPr>
                <a:t> </a:t>
              </a:r>
              <a:endParaRPr lang="en-US" sz="4800" b="1">
                <a:solidFill>
                  <a:srgbClr val="FFFF00"/>
                </a:solidFill>
              </a:endParaRPr>
            </a:p>
          </p:txBody>
        </p:sp>
      </p:grpSp>
      <p:sp>
        <p:nvSpPr>
          <p:cNvPr id="1006" name="TextBox 1005"/>
          <p:cNvSpPr txBox="1"/>
          <p:nvPr/>
        </p:nvSpPr>
        <p:spPr>
          <a:xfrm>
            <a:off x="1371600" y="3086100"/>
            <a:ext cx="7239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7" name="TextBox 1006"/>
          <p:cNvSpPr txBox="1"/>
          <p:nvPr/>
        </p:nvSpPr>
        <p:spPr>
          <a:xfrm>
            <a:off x="1828800" y="2781300"/>
            <a:ext cx="25908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9" name="TextBox 1008"/>
          <p:cNvSpPr txBox="1"/>
          <p:nvPr/>
        </p:nvSpPr>
        <p:spPr>
          <a:xfrm>
            <a:off x="990599" y="1211579"/>
            <a:ext cx="10363200" cy="986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95300" indent="-2413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1">
                <a:solidFill>
                  <a:srgbClr val="42C7F1"/>
                </a:solidFill>
              </a:rPr>
              <a:t>제</a:t>
            </a:r>
            <a:r>
              <a:rPr lang="en-US" altLang="ko-KR" sz="3600" b="1">
                <a:solidFill>
                  <a:srgbClr val="42C7F1"/>
                </a:solidFill>
              </a:rPr>
              <a:t>6</a:t>
            </a:r>
            <a:r>
              <a:rPr lang="ko-KR" altLang="en-US" sz="3600" b="1">
                <a:solidFill>
                  <a:srgbClr val="42C7F1"/>
                </a:solidFill>
              </a:rPr>
              <a:t>조</a:t>
            </a:r>
            <a:r>
              <a:rPr lang="en-US" altLang="ko-KR" sz="3600" b="1">
                <a:solidFill>
                  <a:srgbClr val="42C7F1"/>
                </a:solidFill>
              </a:rPr>
              <a:t>(</a:t>
            </a:r>
            <a:r>
              <a:rPr sz="3600" b="1" i="0" u="none" strike="noStrike" spc="-10">
                <a:solidFill>
                  <a:srgbClr val="42C7F1"/>
                </a:solidFill>
                <a:latin typeface="KoPub돋움체 Bold"/>
                <a:ea typeface="KoPub돋움체 Bold"/>
              </a:rPr>
              <a:t>학업성적관리위원회의 심의 내용</a:t>
            </a:r>
            <a:r>
              <a:rPr lang="en-US" altLang="ko-KR" sz="3600" b="1">
                <a:solidFill>
                  <a:srgbClr val="42C7F1"/>
                </a:solidFill>
              </a:rPr>
              <a:t>)</a:t>
            </a:r>
            <a:r>
              <a:rPr lang="ko-KR" altLang="en-US" sz="3600" b="1">
                <a:solidFill>
                  <a:srgbClr val="42C7F1"/>
                </a:solidFill>
              </a:rPr>
              <a:t> 제</a:t>
            </a:r>
            <a:r>
              <a:rPr lang="en-US" altLang="ko-KR" sz="3600" b="1" i="0" u="none" strike="noStrike" spc="-10">
                <a:solidFill>
                  <a:srgbClr val="42C7F1"/>
                </a:solidFill>
              </a:rPr>
              <a:t>8</a:t>
            </a:r>
            <a:r>
              <a:rPr lang="ko-KR" altLang="en-US" sz="3600" b="1" i="0" u="none" strike="noStrike" spc="-10">
                <a:solidFill>
                  <a:srgbClr val="42C7F1"/>
                </a:solidFill>
              </a:rPr>
              <a:t>항</a:t>
            </a:r>
            <a:endParaRPr lang="ko-KR" altLang="en-US" sz="3600" b="1">
              <a:solidFill>
                <a:srgbClr val="42C7F1"/>
              </a:solidFill>
            </a:endParaRPr>
          </a:p>
        </p:txBody>
      </p:sp>
      <p:sp>
        <p:nvSpPr>
          <p:cNvPr id="1011" name="TextBox 1010"/>
          <p:cNvSpPr txBox="1"/>
          <p:nvPr/>
        </p:nvSpPr>
        <p:spPr>
          <a:xfrm>
            <a:off x="914400" y="2387441"/>
            <a:ext cx="16764000" cy="992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1524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특수교육 </a:t>
            </a:r>
            <a:r>
              <a:rPr sz="3600" b="1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기본 교육과정</a:t>
            </a:r>
            <a:r>
              <a:rPr sz="36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의 일상생활 활동상황 평가 기준 및 방법에 관한 사항</a:t>
            </a:r>
            <a:endParaRPr lang="ko-KR" altLang="en-US" sz="3600"/>
          </a:p>
        </p:txBody>
      </p:sp>
      <p:sp>
        <p:nvSpPr>
          <p:cNvPr id="1012" name="TextBox 1011"/>
          <p:cNvSpPr txBox="1"/>
          <p:nvPr/>
        </p:nvSpPr>
        <p:spPr>
          <a:xfrm>
            <a:off x="1295400" y="5143500"/>
            <a:ext cx="15392400" cy="2665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1524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제</a:t>
            </a:r>
            <a:r>
              <a:rPr lang="en-US" altLang="ko-KR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2</a:t>
            </a:r>
            <a:r>
              <a:rPr lang="ko-KR" alt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항제</a:t>
            </a:r>
            <a:r>
              <a:rPr lang="en-US" altLang="ko-KR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2</a:t>
            </a:r>
            <a:r>
              <a:rPr lang="ko-KR" alt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조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성취기준 및 </a:t>
            </a:r>
            <a:r>
              <a:rPr sz="3600" b="0" i="0" u="none" strike="noStrike" spc="-10">
                <a:solidFill>
                  <a:srgbClr val="0000FF"/>
                </a:solidFill>
                <a:latin typeface="KoPub바탕체 Light"/>
                <a:ea typeface="KoPub바탕체 Light"/>
              </a:rPr>
              <a:t>성취수준</a:t>
            </a:r>
            <a:r>
              <a:rPr lang="EN-US" sz="3600" b="0" i="0" u="none" strike="noStrike" spc="-10">
                <a:solidFill>
                  <a:srgbClr val="0000FF"/>
                </a:solidFill>
                <a:latin typeface="KoPub바탕체 Light"/>
                <a:ea typeface="KoPub바탕체 Light"/>
              </a:rPr>
              <a:t>(</a:t>
            </a:r>
            <a:r>
              <a:rPr sz="3600" b="0" i="0" u="none" strike="noStrike" spc="-10">
                <a:solidFill>
                  <a:srgbClr val="0000FF"/>
                </a:solidFill>
                <a:latin typeface="KoPub바탕체 Light"/>
                <a:ea typeface="KoPub바탕체 Light"/>
              </a:rPr>
              <a:t>평가기준</a:t>
            </a:r>
            <a:r>
              <a:rPr lang="EN-US" sz="3600" b="0" i="0" u="none" strike="noStrike" spc="-10">
                <a:solidFill>
                  <a:srgbClr val="0000FF"/>
                </a:solidFill>
                <a:latin typeface="KoPub바탕체 Light"/>
                <a:ea typeface="KoPub바탕체 Light"/>
              </a:rPr>
              <a:t>)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설정</a:t>
            </a:r>
          </a:p>
          <a:p>
            <a:pPr marL="609600" indent="-177800" algn="just">
              <a:lnSpc>
                <a:spcPct val="150000"/>
              </a:lnSpc>
              <a:spcBef>
                <a:spcPts val="200"/>
              </a:spcBef>
              <a:spcAft>
                <a:spcPts val="300"/>
              </a:spcAft>
              <a:defRPr/>
            </a:pPr>
            <a:r>
              <a:rPr sz="3600" b="0" i="0" u="none" strike="noStrike" spc="-20">
                <a:solidFill>
                  <a:srgbClr val="000000"/>
                </a:solidFill>
                <a:latin typeface="KoPub돋움체 Light"/>
                <a:ea typeface="KoPub돋움체 Light"/>
              </a:rPr>
              <a:t>※단</a:t>
            </a:r>
            <a:r>
              <a:rPr lang="EN-US" sz="3600" b="0" i="0" u="none" strike="noStrike" spc="-20">
                <a:solidFill>
                  <a:srgbClr val="000000"/>
                </a:solidFill>
                <a:latin typeface="KoPub돋움체 Light"/>
                <a:ea typeface="KoPub돋움체 Light"/>
              </a:rPr>
              <a:t>, </a:t>
            </a:r>
            <a:r>
              <a:rPr sz="3600" b="0" i="0" u="none" strike="noStrike" spc="-20">
                <a:solidFill>
                  <a:srgbClr val="000000"/>
                </a:solidFill>
                <a:latin typeface="KoPub돋움체 Light"/>
                <a:ea typeface="KoPub돋움체 Light"/>
              </a:rPr>
              <a:t>학교 학업성적관리위원회 심의 내용에 따라 필요시 교과협의록을 </a:t>
            </a:r>
            <a:r>
              <a:rPr sz="3600" b="0" i="0" u="none" strike="noStrike" spc="-20">
                <a:solidFill>
                  <a:srgbClr val="0000FF"/>
                </a:solidFill>
                <a:latin typeface="KoPub돋움체 Light"/>
                <a:ea typeface="KoPub돋움체 Light"/>
              </a:rPr>
              <a:t>작성</a:t>
            </a:r>
            <a:r>
              <a:rPr lang="EN-US" sz="3600" b="0" i="0" u="none" strike="noStrike" spc="-20">
                <a:solidFill>
                  <a:srgbClr val="0000FF"/>
                </a:solidFill>
                <a:latin typeface="KoPub돋움체 Light"/>
                <a:ea typeface="KoPub돋움체 Light"/>
              </a:rPr>
              <a:t>·</a:t>
            </a:r>
            <a:r>
              <a:rPr sz="3600" b="0" i="0" u="none" strike="noStrike" spc="-20">
                <a:solidFill>
                  <a:srgbClr val="000000"/>
                </a:solidFill>
                <a:latin typeface="KoPub돋움체 Light"/>
                <a:ea typeface="KoPub돋움체 Light"/>
              </a:rPr>
              <a:t>보관한다</a:t>
            </a:r>
            <a:r>
              <a:rPr lang="EN-US" sz="3600" b="0" i="0" u="none" strike="noStrike" spc="-20">
                <a:solidFill>
                  <a:srgbClr val="000000"/>
                </a:solidFill>
                <a:latin typeface="KoPub돋움체 Light"/>
                <a:ea typeface="KoPub돋움체 Light"/>
              </a:rPr>
              <a:t>.</a:t>
            </a:r>
            <a:endParaRPr lang="ko-KR" altLang="en-US" sz="3600"/>
          </a:p>
        </p:txBody>
      </p:sp>
      <p:grpSp>
        <p:nvGrpSpPr>
          <p:cNvPr id="1013" name="Group 29"/>
          <p:cNvGrpSpPr/>
          <p:nvPr/>
        </p:nvGrpSpPr>
        <p:grpSpPr>
          <a:xfrm flipH="1">
            <a:off x="838200" y="3695700"/>
            <a:ext cx="10287000" cy="1142457"/>
            <a:chOff x="1822736" y="2564904"/>
            <a:chExt cx="3384376" cy="1415810"/>
          </a:xfrm>
        </p:grpSpPr>
        <p:sp>
          <p:nvSpPr>
            <p:cNvPr id="1014" name="Rounded Rectangle 9"/>
            <p:cNvSpPr/>
            <p:nvPr/>
          </p:nvSpPr>
          <p:spPr>
            <a:xfrm flipH="1">
              <a:off x="1822737" y="2575647"/>
              <a:ext cx="1538088" cy="1405067"/>
            </a:xfrm>
            <a:custGeom>
              <a:avLst/>
              <a:gdLst/>
              <a:ahLst/>
              <a:cxnLst/>
              <a:rect l="l" t="t" r="r" b="b"/>
              <a:pathLst>
                <a:path w="1572775" h="1405065">
                  <a:moveTo>
                    <a:pt x="1473249" y="0"/>
                  </a:moveTo>
                  <a:cubicBezTo>
                    <a:pt x="1531558" y="20642"/>
                    <a:pt x="1572775" y="76505"/>
                    <a:pt x="1572775" y="141994"/>
                  </a:cubicBezTo>
                  <a:lnTo>
                    <a:pt x="1572775" y="1252328"/>
                  </a:lnTo>
                  <a:cubicBezTo>
                    <a:pt x="1572775" y="1336682"/>
                    <a:pt x="1504392" y="1405065"/>
                    <a:pt x="1420038" y="1405065"/>
                  </a:cubicBezTo>
                  <a:lnTo>
                    <a:pt x="0" y="1405065"/>
                  </a:lnTo>
                  <a:cubicBezTo>
                    <a:pt x="768941" y="1317621"/>
                    <a:pt x="1379064" y="735374"/>
                    <a:pt x="1473249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050"/>
            </a:p>
          </p:txBody>
        </p:sp>
        <p:sp>
          <p:nvSpPr>
            <p:cNvPr id="1015" name="Rounded Rectangle 31"/>
            <p:cNvSpPr/>
            <p:nvPr/>
          </p:nvSpPr>
          <p:spPr>
            <a:xfrm>
              <a:off x="1822736" y="2564904"/>
              <a:ext cx="3384376" cy="1415807"/>
            </a:xfrm>
            <a:prstGeom prst="roundRect">
              <a:avLst>
                <a:gd name="adj" fmla="val 10788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FFFF00"/>
                  </a:solidFill>
                </a:rPr>
                <a:t> </a:t>
              </a:r>
              <a:endParaRPr lang="en-US" sz="4800" b="1">
                <a:solidFill>
                  <a:srgbClr val="FFFF00"/>
                </a:solidFill>
              </a:endParaRPr>
            </a:p>
          </p:txBody>
        </p:sp>
      </p:grpSp>
      <p:sp>
        <p:nvSpPr>
          <p:cNvPr id="1016" name="TextBox 1015"/>
          <p:cNvSpPr txBox="1"/>
          <p:nvPr/>
        </p:nvSpPr>
        <p:spPr>
          <a:xfrm>
            <a:off x="990600" y="3771900"/>
            <a:ext cx="10363200" cy="988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95300" indent="-2413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1">
                <a:solidFill>
                  <a:srgbClr val="42C7F1"/>
                </a:solidFill>
              </a:rPr>
              <a:t>제</a:t>
            </a:r>
            <a:r>
              <a:rPr lang="en-US" altLang="ko-KR" sz="3600" b="1">
                <a:solidFill>
                  <a:srgbClr val="42C7F1"/>
                </a:solidFill>
              </a:rPr>
              <a:t>8</a:t>
            </a:r>
            <a:r>
              <a:rPr lang="ko-KR" altLang="en-US" sz="3600" b="1">
                <a:solidFill>
                  <a:srgbClr val="42C7F1"/>
                </a:solidFill>
              </a:rPr>
              <a:t>조</a:t>
            </a:r>
            <a:r>
              <a:rPr lang="en-US" altLang="ko-KR" sz="3600" b="1">
                <a:solidFill>
                  <a:srgbClr val="42C7F1"/>
                </a:solidFill>
              </a:rPr>
              <a:t>(</a:t>
            </a:r>
            <a:r>
              <a:rPr lang="ko-KR" altLang="en-US" sz="3600" b="1" i="0" u="none" strike="noStrike" spc="-10">
                <a:solidFill>
                  <a:srgbClr val="42C7F1"/>
                </a:solidFill>
                <a:latin typeface="KoPub돋움체 Bold"/>
                <a:ea typeface="KoPub돋움체 Bold"/>
              </a:rPr>
              <a:t>교과</a:t>
            </a:r>
            <a:r>
              <a:rPr lang="en-US" altLang="ko-KR" sz="3600" b="1" i="0" u="none" strike="noStrike" spc="-10">
                <a:solidFill>
                  <a:srgbClr val="42C7F1"/>
                </a:solidFill>
                <a:latin typeface="KoPub돋움체 Bold"/>
                <a:ea typeface="KoPub돋움체 Bold"/>
              </a:rPr>
              <a:t>(</a:t>
            </a:r>
            <a:r>
              <a:rPr lang="ko-KR" altLang="en-US" sz="3600" b="1" i="0" u="none" strike="noStrike" spc="-10">
                <a:solidFill>
                  <a:srgbClr val="42C7F1"/>
                </a:solidFill>
                <a:latin typeface="KoPub돋움체 Bold"/>
                <a:ea typeface="KoPub돋움체 Bold"/>
              </a:rPr>
              <a:t>학년</a:t>
            </a:r>
            <a:r>
              <a:rPr lang="en-US" altLang="ko-KR" sz="3600" b="1" i="0" u="none" strike="noStrike" spc="-10">
                <a:solidFill>
                  <a:srgbClr val="42C7F1"/>
                </a:solidFill>
                <a:latin typeface="KoPub돋움체 Bold"/>
                <a:ea typeface="KoPub돋움체 Bold"/>
              </a:rPr>
              <a:t>)</a:t>
            </a:r>
            <a:r>
              <a:rPr lang="ko-KR" altLang="en-US" sz="3600" b="1" i="0" u="none" strike="noStrike" spc="-10">
                <a:solidFill>
                  <a:srgbClr val="42C7F1"/>
                </a:solidFill>
                <a:latin typeface="KoPub돋움체 Bold"/>
                <a:ea typeface="KoPub돋움체 Bold"/>
              </a:rPr>
              <a:t>협의회 구성</a:t>
            </a:r>
            <a:r>
              <a:rPr lang="en-US" altLang="ko-KR" sz="3600" b="1" i="0" u="none" strike="noStrike" spc="-10">
                <a:solidFill>
                  <a:srgbClr val="42C7F1"/>
                </a:solidFill>
                <a:latin typeface="KoPub돋움체 Bold"/>
                <a:ea typeface="KoPub돋움체 Bold"/>
              </a:rPr>
              <a:t>·</a:t>
            </a:r>
            <a:r>
              <a:rPr lang="ko-KR" altLang="en-US" sz="3600" b="1" i="0" u="none" strike="noStrike" spc="-10">
                <a:solidFill>
                  <a:srgbClr val="42C7F1"/>
                </a:solidFill>
                <a:latin typeface="KoPub돋움체 Bold"/>
                <a:ea typeface="KoPub돋움체 Bold"/>
              </a:rPr>
              <a:t>운영</a:t>
            </a:r>
            <a:r>
              <a:rPr lang="en-US" altLang="ko-KR" sz="3600" b="1">
                <a:solidFill>
                  <a:srgbClr val="42C7F1"/>
                </a:solidFill>
              </a:rPr>
              <a:t>)</a:t>
            </a:r>
            <a:r>
              <a:rPr lang="ko-KR" altLang="en-US" sz="3600" b="1">
                <a:solidFill>
                  <a:srgbClr val="42C7F1"/>
                </a:solidFill>
              </a:rPr>
              <a:t> 제</a:t>
            </a:r>
            <a:r>
              <a:rPr lang="en-US" altLang="ko-KR" sz="3600" b="1" i="0" u="none" strike="noStrike" spc="-10">
                <a:solidFill>
                  <a:srgbClr val="42C7F1"/>
                </a:solidFill>
              </a:rPr>
              <a:t>8</a:t>
            </a:r>
            <a:r>
              <a:rPr lang="ko-KR" altLang="en-US" sz="3600" b="1" i="0" u="none" strike="noStrike" spc="-10">
                <a:solidFill>
                  <a:srgbClr val="42C7F1"/>
                </a:solidFill>
              </a:rPr>
              <a:t>항</a:t>
            </a:r>
          </a:p>
        </p:txBody>
      </p:sp>
      <p:grpSp>
        <p:nvGrpSpPr>
          <p:cNvPr id="1017" name="그룹 1016"/>
          <p:cNvGrpSpPr/>
          <p:nvPr/>
        </p:nvGrpSpPr>
        <p:grpSpPr>
          <a:xfrm>
            <a:off x="9906000" y="0"/>
            <a:ext cx="8382000" cy="647700"/>
            <a:chOff x="9906000" y="0"/>
            <a:chExt cx="8382000" cy="647700"/>
          </a:xfrm>
        </p:grpSpPr>
        <p:sp>
          <p:nvSpPr>
            <p:cNvPr id="1018" name="직사각형 1017"/>
            <p:cNvSpPr/>
            <p:nvPr/>
          </p:nvSpPr>
          <p:spPr>
            <a:xfrm>
              <a:off x="9906000" y="0"/>
              <a:ext cx="8381999" cy="6477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19" name="TextBox 13"/>
            <p:cNvSpPr txBox="1"/>
            <p:nvPr/>
          </p:nvSpPr>
          <p:spPr>
            <a:xfrm>
              <a:off x="10134600" y="0"/>
              <a:ext cx="8153400" cy="512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2800" b="1">
                  <a:latin typeface="+mj-ea"/>
                  <a:ea typeface="+mj-ea"/>
                </a:rPr>
                <a:t>2026</a:t>
              </a:r>
              <a:r>
                <a:rPr lang="ko-KR" altLang="en-US" sz="2800" b="1">
                  <a:latin typeface="+mj-ea"/>
                  <a:ea typeface="+mj-ea"/>
                </a:rPr>
                <a:t>학년도 학업성적관리 시행지침 주요 변경사항</a:t>
              </a:r>
            </a:p>
          </p:txBody>
        </p:sp>
      </p:grpSp>
      <p:sp>
        <p:nvSpPr>
          <p:cNvPr id="1020" name="TextBox 1019"/>
          <p:cNvSpPr txBox="1"/>
          <p:nvPr/>
        </p:nvSpPr>
        <p:spPr>
          <a:xfrm>
            <a:off x="16840200" y="9563100"/>
            <a:ext cx="838199" cy="413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3/11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1586" y="311386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sp>
        <p:nvSpPr>
          <p:cNvPr id="10" name="TextBox 88"/>
          <p:cNvSpPr txBox="1"/>
          <p:nvPr/>
        </p:nvSpPr>
        <p:spPr>
          <a:xfrm>
            <a:off x="14782800" y="2282397"/>
            <a:ext cx="2719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6232" indent="-326232">
              <a:defRPr/>
            </a:pP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제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10</a:t>
            </a: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조 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p. 5</a:t>
            </a:r>
            <a:endParaRPr lang="ko-KR" altLang="en-US" sz="3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pSp>
        <p:nvGrpSpPr>
          <p:cNvPr id="2" name="Group 29"/>
          <p:cNvGrpSpPr/>
          <p:nvPr/>
        </p:nvGrpSpPr>
        <p:grpSpPr>
          <a:xfrm flipH="1">
            <a:off x="761998" y="1105443"/>
            <a:ext cx="6934201" cy="1142457"/>
            <a:chOff x="1822736" y="2564904"/>
            <a:chExt cx="3384376" cy="1415810"/>
          </a:xfrm>
        </p:grpSpPr>
        <p:sp>
          <p:nvSpPr>
            <p:cNvPr id="5" name="Rounded Rectangle 9"/>
            <p:cNvSpPr/>
            <p:nvPr/>
          </p:nvSpPr>
          <p:spPr>
            <a:xfrm flipH="1">
              <a:off x="1822737" y="2575647"/>
              <a:ext cx="1538088" cy="1405067"/>
            </a:xfrm>
            <a:custGeom>
              <a:avLst/>
              <a:gdLst/>
              <a:ahLst/>
              <a:cxnLst/>
              <a:rect l="l" t="t" r="r" b="b"/>
              <a:pathLst>
                <a:path w="1572775" h="1405065">
                  <a:moveTo>
                    <a:pt x="1473249" y="0"/>
                  </a:moveTo>
                  <a:cubicBezTo>
                    <a:pt x="1531558" y="20642"/>
                    <a:pt x="1572775" y="76505"/>
                    <a:pt x="1572775" y="141994"/>
                  </a:cubicBezTo>
                  <a:lnTo>
                    <a:pt x="1572775" y="1252328"/>
                  </a:lnTo>
                  <a:cubicBezTo>
                    <a:pt x="1572775" y="1336682"/>
                    <a:pt x="1504392" y="1405065"/>
                    <a:pt x="1420038" y="1405065"/>
                  </a:cubicBezTo>
                  <a:lnTo>
                    <a:pt x="0" y="1405065"/>
                  </a:lnTo>
                  <a:cubicBezTo>
                    <a:pt x="768941" y="1317621"/>
                    <a:pt x="1379064" y="735374"/>
                    <a:pt x="1473249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050"/>
            </a:p>
          </p:txBody>
        </p:sp>
        <p:sp>
          <p:nvSpPr>
            <p:cNvPr id="4" name="Rounded Rectangle 31"/>
            <p:cNvSpPr/>
            <p:nvPr/>
          </p:nvSpPr>
          <p:spPr>
            <a:xfrm>
              <a:off x="1822736" y="2564904"/>
              <a:ext cx="3384376" cy="1415807"/>
            </a:xfrm>
            <a:prstGeom prst="roundRect">
              <a:avLst>
                <a:gd name="adj" fmla="val 10788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FFFF00"/>
                  </a:solidFill>
                </a:rPr>
                <a:t> </a:t>
              </a:r>
              <a:endParaRPr lang="en-US" sz="4800" b="1">
                <a:solidFill>
                  <a:srgbClr val="FFFF00"/>
                </a:solidFill>
              </a:endParaRPr>
            </a:p>
          </p:txBody>
        </p:sp>
      </p:grpSp>
      <p:sp>
        <p:nvSpPr>
          <p:cNvPr id="1006" name="TextBox 1005"/>
          <p:cNvSpPr txBox="1"/>
          <p:nvPr/>
        </p:nvSpPr>
        <p:spPr>
          <a:xfrm>
            <a:off x="1371600" y="3086100"/>
            <a:ext cx="7239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7" name="TextBox 1006"/>
          <p:cNvSpPr txBox="1"/>
          <p:nvPr/>
        </p:nvSpPr>
        <p:spPr>
          <a:xfrm>
            <a:off x="1828800" y="2781300"/>
            <a:ext cx="25908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9" name="TextBox 1008"/>
          <p:cNvSpPr txBox="1"/>
          <p:nvPr/>
        </p:nvSpPr>
        <p:spPr>
          <a:xfrm>
            <a:off x="1371600" y="1181099"/>
            <a:ext cx="7543799" cy="1845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1">
                <a:solidFill>
                  <a:srgbClr val="42C7F1"/>
                </a:solidFill>
              </a:rPr>
              <a:t>제</a:t>
            </a:r>
            <a:r>
              <a:rPr lang="en-US" altLang="ko-KR" sz="3600" b="1">
                <a:solidFill>
                  <a:srgbClr val="42C7F1"/>
                </a:solidFill>
              </a:rPr>
              <a:t>11</a:t>
            </a:r>
            <a:r>
              <a:rPr lang="ko-KR" altLang="en-US" sz="3600" b="1">
                <a:solidFill>
                  <a:srgbClr val="42C7F1"/>
                </a:solidFill>
              </a:rPr>
              <a:t>조</a:t>
            </a:r>
            <a:r>
              <a:rPr lang="en-US" altLang="ko-KR" sz="3600" b="1">
                <a:solidFill>
                  <a:srgbClr val="42C7F1"/>
                </a:solidFill>
              </a:rPr>
              <a:t>(</a:t>
            </a:r>
            <a:r>
              <a:rPr lang="ko-KR" altLang="en-US" sz="3600" b="1">
                <a:solidFill>
                  <a:srgbClr val="42C7F1"/>
                </a:solidFill>
              </a:rPr>
              <a:t>정기시험 출제</a:t>
            </a:r>
            <a:r>
              <a:rPr lang="en-US" altLang="ko-KR" sz="3600" b="1">
                <a:solidFill>
                  <a:srgbClr val="42C7F1"/>
                </a:solidFill>
              </a:rPr>
              <a:t>)</a:t>
            </a:r>
            <a:r>
              <a:rPr lang="ko-KR" altLang="en-US" sz="3600" b="1">
                <a:solidFill>
                  <a:srgbClr val="42C7F1"/>
                </a:solidFill>
              </a:rPr>
              <a:t> 제</a:t>
            </a:r>
            <a:r>
              <a:rPr lang="en-US" altLang="ko-KR" sz="3600" b="1" i="0" u="none" strike="noStrike" spc="-10">
                <a:solidFill>
                  <a:srgbClr val="42C7F1"/>
                </a:solidFill>
              </a:rPr>
              <a:t>6</a:t>
            </a:r>
            <a:r>
              <a:rPr lang="ko-KR" altLang="en-US" sz="3600" b="1" i="0" u="none" strike="noStrike" spc="-10">
                <a:solidFill>
                  <a:srgbClr val="42C7F1"/>
                </a:solidFill>
              </a:rPr>
              <a:t>항</a:t>
            </a:r>
          </a:p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3600" b="1">
              <a:solidFill>
                <a:srgbClr val="42C7F1"/>
              </a:solidFill>
            </a:endParaRPr>
          </a:p>
        </p:txBody>
      </p:sp>
      <p:sp>
        <p:nvSpPr>
          <p:cNvPr id="1010" name="직사각형 1009"/>
          <p:cNvSpPr/>
          <p:nvPr/>
        </p:nvSpPr>
        <p:spPr>
          <a:xfrm>
            <a:off x="5715000" y="5524500"/>
            <a:ext cx="6248400" cy="10668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4000" b="1"/>
              <a:t>점수 ➜ </a:t>
            </a:r>
            <a:r>
              <a:rPr lang="ko-KR" altLang="en-US" sz="4000" b="1">
                <a:solidFill>
                  <a:srgbClr val="42C7F1"/>
                </a:solidFill>
              </a:rPr>
              <a:t>점수</a:t>
            </a:r>
            <a:r>
              <a:rPr lang="en-US" altLang="ko-KR" sz="4000" b="1">
                <a:solidFill>
                  <a:srgbClr val="42C7F1"/>
                </a:solidFill>
              </a:rPr>
              <a:t>,</a:t>
            </a:r>
            <a:r>
              <a:rPr lang="ko-KR" altLang="en-US" sz="4000" b="1">
                <a:solidFill>
                  <a:srgbClr val="42C7F1"/>
                </a:solidFill>
              </a:rPr>
              <a:t> 부분점수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1981200" y="2628900"/>
            <a:ext cx="14782800" cy="1845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⑥</a:t>
            </a:r>
            <a:r>
              <a:rPr sz="3600" b="0" i="0" u="none" strike="noStrike" spc="-10">
                <a:solidFill>
                  <a:srgbClr val="0000FF"/>
                </a:solidFill>
                <a:latin typeface="KoPub바탕체 Light"/>
                <a:ea typeface="KoPub바탕체 Light"/>
              </a:rPr>
              <a:t>서</a:t>
            </a:r>
            <a:r>
              <a:rPr lang="EN-US" sz="3600" b="0" i="0" u="none" strike="noStrike" spc="-10">
                <a:solidFill>
                  <a:srgbClr val="0000FF"/>
                </a:solidFill>
                <a:latin typeface="KoPub바탕체 Light"/>
                <a:ea typeface="KoPub바탕체 Light"/>
              </a:rPr>
              <a:t>·</a:t>
            </a:r>
            <a:r>
              <a:rPr sz="3600" b="0" i="0" u="none" strike="noStrike" spc="-10">
                <a:solidFill>
                  <a:srgbClr val="0000FF"/>
                </a:solidFill>
                <a:latin typeface="KoPub바탕체 Light"/>
                <a:ea typeface="KoPub바탕체 Light"/>
              </a:rPr>
              <a:t>논술형 평가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문항을 출제할 때는 반드시 채점기준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(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답안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, 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인정답안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, 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점수 </a:t>
            </a:r>
            <a:r>
              <a:rPr lang="EN-US" sz="36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, </a:t>
            </a:r>
            <a:r>
              <a:rPr sz="36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부분점수</a:t>
            </a:r>
            <a:r>
              <a:rPr lang="ko-KR" altLang="en-US" sz="36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 </a:t>
            </a:r>
            <a:r>
              <a:rPr sz="3600" b="0" i="0" u="none" strike="noStrike" spc="-10">
                <a:solidFill>
                  <a:srgbClr val="0000FF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latin typeface="KoPub바탕체 Light"/>
                <a:ea typeface="KoPub바탕체 Light"/>
              </a:rPr>
              <a:t>부여 방법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 등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)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을 문항정보표에 포함하여야 한다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.</a:t>
            </a:r>
          </a:p>
        </p:txBody>
      </p:sp>
      <p:grpSp>
        <p:nvGrpSpPr>
          <p:cNvPr id="1012" name="그룹 1011"/>
          <p:cNvGrpSpPr/>
          <p:nvPr/>
        </p:nvGrpSpPr>
        <p:grpSpPr>
          <a:xfrm>
            <a:off x="9906000" y="0"/>
            <a:ext cx="8382000" cy="647700"/>
            <a:chOff x="9906000" y="0"/>
            <a:chExt cx="8382000" cy="647700"/>
          </a:xfrm>
        </p:grpSpPr>
        <p:sp>
          <p:nvSpPr>
            <p:cNvPr id="1013" name="직사각형 1012"/>
            <p:cNvSpPr/>
            <p:nvPr/>
          </p:nvSpPr>
          <p:spPr>
            <a:xfrm>
              <a:off x="9906000" y="0"/>
              <a:ext cx="8381999" cy="6477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14" name="TextBox 13"/>
            <p:cNvSpPr txBox="1"/>
            <p:nvPr/>
          </p:nvSpPr>
          <p:spPr>
            <a:xfrm>
              <a:off x="10134600" y="0"/>
              <a:ext cx="8153400" cy="512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2800" b="1">
                  <a:latin typeface="+mj-ea"/>
                  <a:ea typeface="+mj-ea"/>
                </a:rPr>
                <a:t>2026</a:t>
              </a:r>
              <a:r>
                <a:rPr lang="ko-KR" altLang="en-US" sz="2800" b="1">
                  <a:latin typeface="+mj-ea"/>
                  <a:ea typeface="+mj-ea"/>
                </a:rPr>
                <a:t>학년도 학업성적관리 시행지침 주요 변경사항</a:t>
              </a:r>
            </a:p>
          </p:txBody>
        </p:sp>
      </p:grpSp>
      <p:sp>
        <p:nvSpPr>
          <p:cNvPr id="1015" name="TextBox 1014"/>
          <p:cNvSpPr txBox="1"/>
          <p:nvPr/>
        </p:nvSpPr>
        <p:spPr>
          <a:xfrm>
            <a:off x="16840200" y="9563100"/>
            <a:ext cx="838199" cy="413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4/11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92572" y="311386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sp>
        <p:nvSpPr>
          <p:cNvPr id="10" name="TextBox 88"/>
          <p:cNvSpPr txBox="1"/>
          <p:nvPr/>
        </p:nvSpPr>
        <p:spPr>
          <a:xfrm>
            <a:off x="14782800" y="2282397"/>
            <a:ext cx="2719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6232" indent="-326232">
              <a:defRPr/>
            </a:pP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제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10</a:t>
            </a: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조 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p. 5</a:t>
            </a:r>
            <a:endParaRPr lang="ko-KR" altLang="en-US" sz="3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pSp>
        <p:nvGrpSpPr>
          <p:cNvPr id="2" name="Group 29"/>
          <p:cNvGrpSpPr/>
          <p:nvPr/>
        </p:nvGrpSpPr>
        <p:grpSpPr>
          <a:xfrm flipH="1">
            <a:off x="761998" y="1105443"/>
            <a:ext cx="6934201" cy="1142457"/>
            <a:chOff x="1822736" y="2564904"/>
            <a:chExt cx="3384376" cy="1415810"/>
          </a:xfrm>
        </p:grpSpPr>
        <p:sp>
          <p:nvSpPr>
            <p:cNvPr id="5" name="Rounded Rectangle 9"/>
            <p:cNvSpPr/>
            <p:nvPr/>
          </p:nvSpPr>
          <p:spPr>
            <a:xfrm flipH="1">
              <a:off x="1822737" y="2575647"/>
              <a:ext cx="1538088" cy="1405067"/>
            </a:xfrm>
            <a:custGeom>
              <a:avLst/>
              <a:gdLst/>
              <a:ahLst/>
              <a:cxnLst/>
              <a:rect l="l" t="t" r="r" b="b"/>
              <a:pathLst>
                <a:path w="1572775" h="1405065">
                  <a:moveTo>
                    <a:pt x="1473249" y="0"/>
                  </a:moveTo>
                  <a:cubicBezTo>
                    <a:pt x="1531558" y="20642"/>
                    <a:pt x="1572775" y="76505"/>
                    <a:pt x="1572775" y="141994"/>
                  </a:cubicBezTo>
                  <a:lnTo>
                    <a:pt x="1572775" y="1252328"/>
                  </a:lnTo>
                  <a:cubicBezTo>
                    <a:pt x="1572775" y="1336682"/>
                    <a:pt x="1504392" y="1405065"/>
                    <a:pt x="1420038" y="1405065"/>
                  </a:cubicBezTo>
                  <a:lnTo>
                    <a:pt x="0" y="1405065"/>
                  </a:lnTo>
                  <a:cubicBezTo>
                    <a:pt x="768941" y="1317621"/>
                    <a:pt x="1379064" y="735374"/>
                    <a:pt x="1473249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050"/>
            </a:p>
          </p:txBody>
        </p:sp>
        <p:sp>
          <p:nvSpPr>
            <p:cNvPr id="4" name="Rounded Rectangle 31"/>
            <p:cNvSpPr/>
            <p:nvPr/>
          </p:nvSpPr>
          <p:spPr>
            <a:xfrm>
              <a:off x="1822736" y="2564904"/>
              <a:ext cx="3384376" cy="1415807"/>
            </a:xfrm>
            <a:prstGeom prst="roundRect">
              <a:avLst>
                <a:gd name="adj" fmla="val 10788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FFFF00"/>
                  </a:solidFill>
                </a:rPr>
                <a:t> </a:t>
              </a:r>
              <a:endParaRPr lang="en-US" sz="4800" b="1">
                <a:solidFill>
                  <a:srgbClr val="FFFF00"/>
                </a:solidFill>
              </a:endParaRPr>
            </a:p>
          </p:txBody>
        </p:sp>
      </p:grpSp>
      <p:sp>
        <p:nvSpPr>
          <p:cNvPr id="1006" name="TextBox 1005"/>
          <p:cNvSpPr txBox="1"/>
          <p:nvPr/>
        </p:nvSpPr>
        <p:spPr>
          <a:xfrm>
            <a:off x="1371600" y="3086100"/>
            <a:ext cx="7239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7" name="TextBox 1006"/>
          <p:cNvSpPr txBox="1"/>
          <p:nvPr/>
        </p:nvSpPr>
        <p:spPr>
          <a:xfrm>
            <a:off x="1828800" y="2781300"/>
            <a:ext cx="25908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9" name="TextBox 1008"/>
          <p:cNvSpPr txBox="1"/>
          <p:nvPr/>
        </p:nvSpPr>
        <p:spPr>
          <a:xfrm>
            <a:off x="1371600" y="1181099"/>
            <a:ext cx="7543799" cy="1845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1">
                <a:solidFill>
                  <a:srgbClr val="42C7F1"/>
                </a:solidFill>
              </a:rPr>
              <a:t>제</a:t>
            </a:r>
            <a:r>
              <a:rPr lang="en-US" altLang="ko-KR" sz="3600" b="1">
                <a:solidFill>
                  <a:srgbClr val="42C7F1"/>
                </a:solidFill>
              </a:rPr>
              <a:t>11</a:t>
            </a:r>
            <a:r>
              <a:rPr lang="ko-KR" altLang="en-US" sz="3600" b="1">
                <a:solidFill>
                  <a:srgbClr val="42C7F1"/>
                </a:solidFill>
              </a:rPr>
              <a:t>조</a:t>
            </a:r>
            <a:r>
              <a:rPr lang="en-US" altLang="ko-KR" sz="3600" b="1">
                <a:solidFill>
                  <a:srgbClr val="42C7F1"/>
                </a:solidFill>
              </a:rPr>
              <a:t>(</a:t>
            </a:r>
            <a:r>
              <a:rPr lang="ko-KR" altLang="en-US" sz="3600" b="1">
                <a:solidFill>
                  <a:srgbClr val="42C7F1"/>
                </a:solidFill>
              </a:rPr>
              <a:t>정기시험 출제</a:t>
            </a:r>
            <a:r>
              <a:rPr lang="en-US" altLang="ko-KR" sz="3600" b="1">
                <a:solidFill>
                  <a:srgbClr val="42C7F1"/>
                </a:solidFill>
              </a:rPr>
              <a:t>)</a:t>
            </a:r>
            <a:r>
              <a:rPr lang="ko-KR" altLang="en-US" sz="3600" b="1">
                <a:solidFill>
                  <a:srgbClr val="42C7F1"/>
                </a:solidFill>
              </a:rPr>
              <a:t> 제</a:t>
            </a:r>
            <a:r>
              <a:rPr lang="en-US" altLang="ko-KR" sz="3600" b="1" i="0" u="none" strike="noStrike" spc="-10">
                <a:solidFill>
                  <a:srgbClr val="42C7F1"/>
                </a:solidFill>
              </a:rPr>
              <a:t>9</a:t>
            </a:r>
            <a:r>
              <a:rPr lang="ko-KR" altLang="en-US" sz="3600" b="1" i="0" u="none" strike="noStrike" spc="-10">
                <a:solidFill>
                  <a:srgbClr val="42C7F1"/>
                </a:solidFill>
              </a:rPr>
              <a:t>항</a:t>
            </a:r>
          </a:p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3600" b="1">
              <a:solidFill>
                <a:srgbClr val="42C7F1"/>
              </a:solidFill>
            </a:endParaRPr>
          </a:p>
        </p:txBody>
      </p:sp>
      <p:sp>
        <p:nvSpPr>
          <p:cNvPr id="1010" name="직사각형 1009"/>
          <p:cNvSpPr/>
          <p:nvPr/>
        </p:nvSpPr>
        <p:spPr>
          <a:xfrm>
            <a:off x="1752600" y="5524500"/>
            <a:ext cx="13487400" cy="32004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lstStyle/>
          <a:p>
            <a:pPr algn="ctr">
              <a:spcBef>
                <a:spcPts val="0"/>
              </a:spcBef>
              <a:defRPr/>
            </a:pPr>
            <a:r>
              <a:rPr lang="ko-KR" altLang="en-US" sz="4000" b="1"/>
              <a:t>유출 시 처리기준 ➜ </a:t>
            </a:r>
            <a:r>
              <a:rPr lang="ko-KR" altLang="en-US" sz="4000" b="1">
                <a:solidFill>
                  <a:srgbClr val="42C7F1"/>
                </a:solidFill>
              </a:rPr>
              <a:t>유출 시 처리기준 </a:t>
            </a:r>
            <a:r>
              <a:rPr lang="ko-KR" altLang="en-US" sz="4000" baseline="30000">
                <a:solidFill>
                  <a:srgbClr val="FF0000"/>
                </a:solidFill>
              </a:rPr>
              <a:t>주석</a:t>
            </a:r>
            <a:r>
              <a:rPr lang="en-US" altLang="ko-KR" sz="4000" baseline="30000">
                <a:solidFill>
                  <a:srgbClr val="FF0000"/>
                </a:solidFill>
              </a:rPr>
              <a:t>)</a:t>
            </a:r>
            <a:r>
              <a:rPr lang="ko-KR" altLang="en-US" sz="4000">
                <a:solidFill>
                  <a:srgbClr val="FF0000"/>
                </a:solidFill>
              </a:rPr>
              <a:t> </a:t>
            </a:r>
          </a:p>
          <a:p>
            <a:pPr algn="ctr">
              <a:spcBef>
                <a:spcPts val="0"/>
              </a:spcBef>
              <a:defRPr/>
            </a:pPr>
            <a:endParaRPr lang="ko-KR" altLang="en-US" sz="4000" b="1">
              <a:solidFill>
                <a:srgbClr val="FF0000"/>
              </a:solidFill>
            </a:endParaRPr>
          </a:p>
          <a:p>
            <a:pPr marL="203200" indent="-1016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b="1">
                <a:solidFill>
                  <a:srgbClr val="FF0000"/>
                </a:solidFill>
              </a:rPr>
              <a:t> </a:t>
            </a:r>
            <a:r>
              <a:rPr lang="ko-KR" altLang="en-US" sz="3600" b="1">
                <a:solidFill>
                  <a:srgbClr val="0000FF"/>
                </a:solidFill>
                <a:effectLst/>
              </a:rPr>
              <a:t>주석</a:t>
            </a:r>
            <a:r>
              <a:rPr lang="en-US" altLang="ko-KR" sz="3600" b="1">
                <a:solidFill>
                  <a:srgbClr val="0000FF"/>
                </a:solidFill>
                <a:effectLst/>
              </a:rPr>
              <a:t>)</a:t>
            </a:r>
            <a:r>
              <a:rPr lang="ko-KR" altLang="en-US" sz="3600" b="1">
                <a:solidFill>
                  <a:srgbClr val="0000FF"/>
                </a:solidFill>
                <a:effectLst/>
              </a:rPr>
              <a:t> </a:t>
            </a:r>
            <a:r>
              <a:rPr sz="3600" b="1" i="0" u="none" strike="noStrike" spc="-30">
                <a:solidFill>
                  <a:srgbClr val="0000FF"/>
                </a:solidFill>
                <a:effectLst/>
                <a:latin typeface="KoPubWorld돋움체 Light"/>
                <a:ea typeface="KoPubWorld돋움체 Light"/>
              </a:rPr>
              <a:t>학생</a:t>
            </a:r>
            <a:r>
              <a:rPr lang="EN-US" sz="3600" b="1" i="0" u="none" strike="noStrike" spc="-30">
                <a:solidFill>
                  <a:srgbClr val="0000FF"/>
                </a:solidFill>
                <a:effectLst/>
                <a:latin typeface="KoPubWorld돋움체 Light"/>
                <a:ea typeface="KoPubWorld돋움체 Light"/>
              </a:rPr>
              <a:t>, </a:t>
            </a:r>
            <a:r>
              <a:rPr sz="3600" b="1" i="0" u="none" strike="noStrike" spc="-30">
                <a:solidFill>
                  <a:srgbClr val="0000FF"/>
                </a:solidFill>
                <a:effectLst/>
                <a:latin typeface="KoPubWorld돋움체 Light"/>
                <a:ea typeface="KoPubWorld돋움체 Light"/>
              </a:rPr>
              <a:t>교직원</a:t>
            </a:r>
            <a:r>
              <a:rPr lang="EN-US" sz="3600" b="1" i="0" u="none" strike="noStrike" spc="-30">
                <a:solidFill>
                  <a:srgbClr val="0000FF"/>
                </a:solidFill>
                <a:effectLst/>
                <a:latin typeface="KoPubWorld돋움체 Light"/>
                <a:ea typeface="KoPubWorld돋움체 Light"/>
              </a:rPr>
              <a:t>, </a:t>
            </a:r>
            <a:r>
              <a:rPr sz="3600" b="1" i="0" u="none" strike="noStrike" spc="-30">
                <a:solidFill>
                  <a:srgbClr val="0000FF"/>
                </a:solidFill>
                <a:effectLst/>
                <a:latin typeface="KoPubWorld돋움체 Light"/>
                <a:ea typeface="KoPubWorld돋움체 Light"/>
              </a:rPr>
              <a:t>학부모 등 보호자</a:t>
            </a:r>
            <a:r>
              <a:rPr lang="EN-US" sz="3600" b="1" i="0" u="none" strike="noStrike" spc="-30">
                <a:solidFill>
                  <a:srgbClr val="0000FF"/>
                </a:solidFill>
                <a:effectLst/>
                <a:latin typeface="KoPubWorld돋움체 Light"/>
                <a:ea typeface="KoPubWorld돋움체 Light"/>
              </a:rPr>
              <a:t>, </a:t>
            </a:r>
            <a:r>
              <a:rPr sz="3600" b="1" i="0" u="none" strike="noStrike" spc="-30">
                <a:solidFill>
                  <a:srgbClr val="0000FF"/>
                </a:solidFill>
                <a:effectLst/>
                <a:latin typeface="KoPubWorld돋움체 Light"/>
                <a:ea typeface="KoPubWorld돋움체 Light"/>
              </a:rPr>
              <a:t>외부인 등을 포함한 처리기준을 마련함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1066800" y="2345055"/>
            <a:ext cx="15011400" cy="2806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1524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‘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학업성적관리규정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’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에 </a:t>
            </a:r>
            <a:r>
              <a:rPr sz="3600" b="0" i="0" u="none" strike="sngStrike" spc="-40">
                <a:solidFill>
                  <a:srgbClr val="000000"/>
                </a:solidFill>
                <a:latin typeface="KoPub바탕체 Light"/>
                <a:ea typeface="KoPub바탕체 Light"/>
              </a:rPr>
              <a:t>지필평가</a:t>
            </a:r>
            <a:r>
              <a:rPr sz="3600" b="0" i="0" u="none" strike="noStrike" spc="-40">
                <a:solidFill>
                  <a:srgbClr val="FF0000"/>
                </a:solidFill>
                <a:latin typeface="KoPub바탕체 Light"/>
                <a:ea typeface="KoPub바탕체 Light"/>
              </a:rPr>
              <a:t>정기시험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관련 보안규정과 시험지 </a:t>
            </a:r>
            <a:r>
              <a:rPr sz="3600" b="1" i="0" u="none" strike="noStrike" spc="-10">
                <a:solidFill>
                  <a:srgbClr val="0000FF"/>
                </a:solidFill>
                <a:latin typeface="KoPub바탕체 Light"/>
                <a:ea typeface="KoPub바탕체 Light"/>
              </a:rPr>
              <a:t>유출 시처리기준</a:t>
            </a:r>
            <a:r>
              <a:rPr lang="ko-KR" altLang="en-US" sz="3600" b="1" i="0" u="none" strike="noStrike" spc="-10" baseline="30000">
                <a:solidFill>
                  <a:srgbClr val="FF0000"/>
                </a:solidFill>
                <a:latin typeface="KoPub바탕체 Light"/>
                <a:ea typeface="KoPub바탕체 Light"/>
              </a:rPr>
              <a:t>주석</a:t>
            </a:r>
            <a:r>
              <a:rPr lang="EN-US" sz="3600" b="1" i="0" u="none" strike="noStrike" spc="-10" baseline="30000">
                <a:solidFill>
                  <a:srgbClr val="FF0000"/>
                </a:solidFill>
                <a:latin typeface="KoPub바탕체 Light"/>
                <a:ea typeface="KoPub바탕체 Light"/>
              </a:rPr>
              <a:t>)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을 마련하고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, </a:t>
            </a:r>
            <a:r>
              <a:rPr sz="36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평가</a:t>
            </a:r>
            <a:r>
              <a:rPr sz="36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정기시험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문제는 출제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·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인쇄 및 </a:t>
            </a:r>
            <a:r>
              <a:rPr sz="36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평가</a:t>
            </a:r>
            <a:r>
              <a:rPr sz="36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정기시험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의 전 과정에서 보안이 유지되도록 철저히 관리한다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.</a:t>
            </a:r>
          </a:p>
        </p:txBody>
      </p:sp>
      <p:grpSp>
        <p:nvGrpSpPr>
          <p:cNvPr id="1013" name="그룹 1012"/>
          <p:cNvGrpSpPr/>
          <p:nvPr/>
        </p:nvGrpSpPr>
        <p:grpSpPr>
          <a:xfrm>
            <a:off x="9906000" y="0"/>
            <a:ext cx="8382000" cy="647700"/>
            <a:chOff x="9906000" y="0"/>
            <a:chExt cx="8382000" cy="647700"/>
          </a:xfrm>
        </p:grpSpPr>
        <p:sp>
          <p:nvSpPr>
            <p:cNvPr id="1014" name="직사각형 1013"/>
            <p:cNvSpPr/>
            <p:nvPr/>
          </p:nvSpPr>
          <p:spPr>
            <a:xfrm>
              <a:off x="9906000" y="0"/>
              <a:ext cx="8381999" cy="6477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15" name="TextBox 13"/>
            <p:cNvSpPr txBox="1"/>
            <p:nvPr/>
          </p:nvSpPr>
          <p:spPr>
            <a:xfrm>
              <a:off x="10134600" y="0"/>
              <a:ext cx="8153400" cy="512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2800" b="1">
                  <a:latin typeface="+mj-ea"/>
                  <a:ea typeface="+mj-ea"/>
                </a:rPr>
                <a:t>2026</a:t>
              </a:r>
              <a:r>
                <a:rPr lang="ko-KR" altLang="en-US" sz="2800" b="1">
                  <a:latin typeface="+mj-ea"/>
                  <a:ea typeface="+mj-ea"/>
                </a:rPr>
                <a:t>학년도 학업성적관리 시행지침 주요 변경사항</a:t>
              </a:r>
            </a:p>
          </p:txBody>
        </p:sp>
      </p:grpSp>
      <p:sp>
        <p:nvSpPr>
          <p:cNvPr id="1016" name="TextBox 1015"/>
          <p:cNvSpPr txBox="1"/>
          <p:nvPr/>
        </p:nvSpPr>
        <p:spPr>
          <a:xfrm>
            <a:off x="16840200" y="9563100"/>
            <a:ext cx="838199" cy="413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5/11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1586" y="311386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sp>
        <p:nvSpPr>
          <p:cNvPr id="10" name="TextBox 88"/>
          <p:cNvSpPr txBox="1"/>
          <p:nvPr/>
        </p:nvSpPr>
        <p:spPr>
          <a:xfrm>
            <a:off x="14782800" y="2282397"/>
            <a:ext cx="2719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6232" indent="-326232">
              <a:defRPr/>
            </a:pP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제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10</a:t>
            </a: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조 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p. 5</a:t>
            </a:r>
            <a:endParaRPr lang="ko-KR" altLang="en-US" sz="3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pSp>
        <p:nvGrpSpPr>
          <p:cNvPr id="2" name="Group 29"/>
          <p:cNvGrpSpPr/>
          <p:nvPr/>
        </p:nvGrpSpPr>
        <p:grpSpPr>
          <a:xfrm flipH="1">
            <a:off x="762000" y="266700"/>
            <a:ext cx="5867400" cy="1142457"/>
            <a:chOff x="1822736" y="2564904"/>
            <a:chExt cx="3384376" cy="1415810"/>
          </a:xfrm>
        </p:grpSpPr>
        <p:sp>
          <p:nvSpPr>
            <p:cNvPr id="5" name="Rounded Rectangle 9"/>
            <p:cNvSpPr/>
            <p:nvPr/>
          </p:nvSpPr>
          <p:spPr>
            <a:xfrm flipH="1">
              <a:off x="1822737" y="2575647"/>
              <a:ext cx="1538088" cy="1405067"/>
            </a:xfrm>
            <a:custGeom>
              <a:avLst/>
              <a:gdLst/>
              <a:ahLst/>
              <a:cxnLst/>
              <a:rect l="l" t="t" r="r" b="b"/>
              <a:pathLst>
                <a:path w="1572775" h="1405065">
                  <a:moveTo>
                    <a:pt x="1473249" y="0"/>
                  </a:moveTo>
                  <a:cubicBezTo>
                    <a:pt x="1531558" y="20642"/>
                    <a:pt x="1572775" y="76505"/>
                    <a:pt x="1572775" y="141994"/>
                  </a:cubicBezTo>
                  <a:lnTo>
                    <a:pt x="1572775" y="1252328"/>
                  </a:lnTo>
                  <a:cubicBezTo>
                    <a:pt x="1572775" y="1336682"/>
                    <a:pt x="1504392" y="1405065"/>
                    <a:pt x="1420038" y="1405065"/>
                  </a:cubicBezTo>
                  <a:lnTo>
                    <a:pt x="0" y="1405065"/>
                  </a:lnTo>
                  <a:cubicBezTo>
                    <a:pt x="768941" y="1317621"/>
                    <a:pt x="1379064" y="735374"/>
                    <a:pt x="1473249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050"/>
            </a:p>
          </p:txBody>
        </p:sp>
        <p:sp>
          <p:nvSpPr>
            <p:cNvPr id="4" name="Rounded Rectangle 31"/>
            <p:cNvSpPr/>
            <p:nvPr/>
          </p:nvSpPr>
          <p:spPr>
            <a:xfrm>
              <a:off x="1822736" y="2564904"/>
              <a:ext cx="3384376" cy="1415807"/>
            </a:xfrm>
            <a:prstGeom prst="roundRect">
              <a:avLst>
                <a:gd name="adj" fmla="val 10788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FFFF00"/>
                  </a:solidFill>
                </a:rPr>
                <a:t> </a:t>
              </a:r>
              <a:endParaRPr lang="en-US" sz="4800" b="1">
                <a:solidFill>
                  <a:srgbClr val="FFFF00"/>
                </a:solidFill>
              </a:endParaRPr>
            </a:p>
          </p:txBody>
        </p:sp>
      </p:grpSp>
      <p:sp>
        <p:nvSpPr>
          <p:cNvPr id="1006" name="TextBox 1005"/>
          <p:cNvSpPr txBox="1"/>
          <p:nvPr/>
        </p:nvSpPr>
        <p:spPr>
          <a:xfrm>
            <a:off x="1371600" y="3086100"/>
            <a:ext cx="7239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7" name="TextBox 1006"/>
          <p:cNvSpPr txBox="1"/>
          <p:nvPr/>
        </p:nvSpPr>
        <p:spPr>
          <a:xfrm>
            <a:off x="1828800" y="2781300"/>
            <a:ext cx="25908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9" name="TextBox 1008"/>
          <p:cNvSpPr txBox="1"/>
          <p:nvPr/>
        </p:nvSpPr>
        <p:spPr>
          <a:xfrm>
            <a:off x="1143000" y="249553"/>
            <a:ext cx="5638800" cy="1845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1">
                <a:solidFill>
                  <a:srgbClr val="42C7F1"/>
                </a:solidFill>
              </a:rPr>
              <a:t>제</a:t>
            </a:r>
            <a:r>
              <a:rPr lang="en-US" altLang="ko-KR" sz="3600" b="1">
                <a:solidFill>
                  <a:srgbClr val="42C7F1"/>
                </a:solidFill>
              </a:rPr>
              <a:t>12</a:t>
            </a:r>
            <a:r>
              <a:rPr lang="ko-KR" altLang="en-US" sz="3600" b="1">
                <a:solidFill>
                  <a:srgbClr val="42C7F1"/>
                </a:solidFill>
              </a:rPr>
              <a:t>조</a:t>
            </a:r>
            <a:r>
              <a:rPr lang="en-US" altLang="ko-KR" sz="3600" b="1">
                <a:solidFill>
                  <a:srgbClr val="42C7F1"/>
                </a:solidFill>
              </a:rPr>
              <a:t>(</a:t>
            </a:r>
            <a:r>
              <a:rPr lang="ko-KR" altLang="en-US" sz="3600" b="1">
                <a:solidFill>
                  <a:srgbClr val="42C7F1"/>
                </a:solidFill>
              </a:rPr>
              <a:t>수행평가</a:t>
            </a:r>
            <a:r>
              <a:rPr lang="en-US" altLang="ko-KR" sz="3600" b="1">
                <a:solidFill>
                  <a:srgbClr val="42C7F1"/>
                </a:solidFill>
              </a:rPr>
              <a:t>)</a:t>
            </a:r>
          </a:p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3600" b="1">
              <a:solidFill>
                <a:srgbClr val="42C7F1"/>
              </a:solidFill>
            </a:endParaRPr>
          </a:p>
        </p:txBody>
      </p:sp>
      <p:sp>
        <p:nvSpPr>
          <p:cNvPr id="1011" name="TextBox 1010"/>
          <p:cNvSpPr txBox="1"/>
          <p:nvPr/>
        </p:nvSpPr>
        <p:spPr>
          <a:xfrm>
            <a:off x="533400" y="1485900"/>
            <a:ext cx="16840200" cy="7322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1524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④교과담당교사는 수행평가의 영역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·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요소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·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방법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·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시기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·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횟수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·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세부 기준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(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배점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)·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반영비율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, 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기본 점수 부여 여부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, 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부분 점수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, 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장기결석</a:t>
            </a:r>
            <a:r>
              <a:rPr sz="3600" b="0" i="0" u="none" strike="noStrike" spc="-10">
                <a:solidFill>
                  <a:srgbClr val="0000FF"/>
                </a:solidFill>
                <a:latin typeface="KoPub바탕체 Light"/>
                <a:ea typeface="KoPub바탕체 Light"/>
              </a:rPr>
              <a:t>자</a:t>
            </a:r>
            <a:r>
              <a:rPr lang="EN-US" sz="3600" b="0" i="0" u="none" strike="noStrike" spc="-10">
                <a:solidFill>
                  <a:srgbClr val="0000FF"/>
                </a:solidFill>
                <a:latin typeface="KoPub바탕체 Light"/>
                <a:ea typeface="KoPub바탕체 Light"/>
              </a:rPr>
              <a:t>·</a:t>
            </a:r>
            <a:r>
              <a:rPr sz="3600" b="0" i="0" u="none" strike="noStrike" spc="-10">
                <a:solidFill>
                  <a:srgbClr val="0000FF"/>
                </a:solidFill>
                <a:latin typeface="KoPub바탕체 Light"/>
                <a:ea typeface="KoPub바탕체 Light"/>
              </a:rPr>
              <a:t>학적변동자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·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장애학생의 인정점 부여 방법</a:t>
            </a:r>
            <a:r>
              <a:rPr lang="EN-US" sz="3600" b="0" i="0" u="none" strike="noStrike" spc="-10">
                <a:solidFill>
                  <a:srgbClr val="0000FF"/>
                </a:solidFill>
                <a:latin typeface="KoPub바탕체 Light"/>
                <a:ea typeface="KoPub바탕체 Light"/>
              </a:rPr>
              <a:t>, </a:t>
            </a:r>
            <a:r>
              <a:rPr sz="3600" b="0" i="0" u="none" strike="noStrike" spc="-10">
                <a:solidFill>
                  <a:srgbClr val="0000FF"/>
                </a:solidFill>
                <a:latin typeface="KoPub바탕체 Light"/>
                <a:ea typeface="KoPub바탕체 Light"/>
              </a:rPr>
              <a:t>학생의 수행평가 결과물 보관기간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등과 성적 처리 방법 및 결과의 활용 등에 관한 수행평가 계획을 수립하여 학업성적관리위원회에 제출한 후 심의를 거쳐 학교장의 결재를 받은 후 시행한다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.</a:t>
            </a:r>
          </a:p>
          <a:p>
            <a:pPr marL="571500" indent="-1524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600" b="0" i="0" u="none" strike="noStrike" spc="-10">
              <a:solidFill>
                <a:srgbClr val="000000"/>
              </a:solidFill>
              <a:latin typeface="KoPub바탕체 Light"/>
              <a:ea typeface="KoPub바탕체 Light"/>
            </a:endParaRPr>
          </a:p>
          <a:p>
            <a:pPr marL="571500" indent="-1524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1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⑥ 수행평가에서 인공지능</a:t>
            </a:r>
            <a:r>
              <a:rPr lang="EN-US" sz="3600" b="1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(AI) </a:t>
            </a:r>
            <a:r>
              <a:rPr sz="3600" b="1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도구를 활용하는 경우</a:t>
            </a:r>
            <a:r>
              <a:rPr lang="EN-US" sz="3600" b="1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, </a:t>
            </a:r>
            <a:r>
              <a:rPr sz="3600" b="1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평가의 공정성 및 신뢰성이 훼손되지 않도록 주의하고</a:t>
            </a:r>
            <a:r>
              <a:rPr lang="EN-US" sz="3600" b="1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, </a:t>
            </a:r>
            <a:r>
              <a:rPr sz="3600" b="1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평가 시행 전 학생 유의사항을 충분히 안내한다</a:t>
            </a:r>
            <a:r>
              <a:rPr lang="EN-US" sz="3600" b="1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.</a:t>
            </a:r>
            <a:endParaRPr lang="ko-KR" altLang="en-US" sz="3600" b="1">
              <a:solidFill>
                <a:srgbClr val="FF0000"/>
              </a:solidFill>
            </a:endParaRPr>
          </a:p>
        </p:txBody>
      </p:sp>
      <p:grpSp>
        <p:nvGrpSpPr>
          <p:cNvPr id="1012" name="그룹 1011"/>
          <p:cNvGrpSpPr/>
          <p:nvPr/>
        </p:nvGrpSpPr>
        <p:grpSpPr>
          <a:xfrm>
            <a:off x="9906000" y="0"/>
            <a:ext cx="8382000" cy="647700"/>
            <a:chOff x="9906000" y="0"/>
            <a:chExt cx="8382000" cy="647700"/>
          </a:xfrm>
        </p:grpSpPr>
        <p:sp>
          <p:nvSpPr>
            <p:cNvPr id="1013" name="직사각형 1012"/>
            <p:cNvSpPr/>
            <p:nvPr/>
          </p:nvSpPr>
          <p:spPr>
            <a:xfrm>
              <a:off x="9906000" y="0"/>
              <a:ext cx="8381999" cy="6477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14" name="TextBox 13"/>
            <p:cNvSpPr txBox="1"/>
            <p:nvPr/>
          </p:nvSpPr>
          <p:spPr>
            <a:xfrm>
              <a:off x="10134600" y="0"/>
              <a:ext cx="8153400" cy="512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2800" b="1">
                  <a:latin typeface="+mj-ea"/>
                  <a:ea typeface="+mj-ea"/>
                </a:rPr>
                <a:t>2026</a:t>
              </a:r>
              <a:r>
                <a:rPr lang="ko-KR" altLang="en-US" sz="2800" b="1">
                  <a:latin typeface="+mj-ea"/>
                  <a:ea typeface="+mj-ea"/>
                </a:rPr>
                <a:t>학년도 학업성적관리 시행지침 주요 변경사항</a:t>
              </a:r>
            </a:p>
          </p:txBody>
        </p:sp>
      </p:grpSp>
      <p:sp>
        <p:nvSpPr>
          <p:cNvPr id="1015" name="TextBox 1014"/>
          <p:cNvSpPr txBox="1"/>
          <p:nvPr/>
        </p:nvSpPr>
        <p:spPr>
          <a:xfrm>
            <a:off x="16840200" y="9563100"/>
            <a:ext cx="838199" cy="413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5/11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1586" y="311386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sp>
        <p:nvSpPr>
          <p:cNvPr id="10" name="TextBox 88"/>
          <p:cNvSpPr txBox="1"/>
          <p:nvPr/>
        </p:nvSpPr>
        <p:spPr>
          <a:xfrm>
            <a:off x="14782800" y="2282397"/>
            <a:ext cx="2719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6232" indent="-326232">
              <a:defRPr/>
            </a:pP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제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10</a:t>
            </a: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조 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p. 5</a:t>
            </a:r>
            <a:endParaRPr lang="ko-KR" altLang="en-US" sz="3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pSp>
        <p:nvGrpSpPr>
          <p:cNvPr id="2" name="Group 29"/>
          <p:cNvGrpSpPr/>
          <p:nvPr/>
        </p:nvGrpSpPr>
        <p:grpSpPr>
          <a:xfrm flipH="1">
            <a:off x="762000" y="266700"/>
            <a:ext cx="5867400" cy="1142457"/>
            <a:chOff x="1822736" y="2564904"/>
            <a:chExt cx="3384376" cy="1415810"/>
          </a:xfrm>
        </p:grpSpPr>
        <p:sp>
          <p:nvSpPr>
            <p:cNvPr id="5" name="Rounded Rectangle 9"/>
            <p:cNvSpPr/>
            <p:nvPr/>
          </p:nvSpPr>
          <p:spPr>
            <a:xfrm flipH="1">
              <a:off x="1822737" y="2575647"/>
              <a:ext cx="1538088" cy="1405067"/>
            </a:xfrm>
            <a:custGeom>
              <a:avLst/>
              <a:gdLst/>
              <a:ahLst/>
              <a:cxnLst/>
              <a:rect l="l" t="t" r="r" b="b"/>
              <a:pathLst>
                <a:path w="1572775" h="1405065">
                  <a:moveTo>
                    <a:pt x="1473249" y="0"/>
                  </a:moveTo>
                  <a:cubicBezTo>
                    <a:pt x="1531558" y="20642"/>
                    <a:pt x="1572775" y="76505"/>
                    <a:pt x="1572775" y="141994"/>
                  </a:cubicBezTo>
                  <a:lnTo>
                    <a:pt x="1572775" y="1252328"/>
                  </a:lnTo>
                  <a:cubicBezTo>
                    <a:pt x="1572775" y="1336682"/>
                    <a:pt x="1504392" y="1405065"/>
                    <a:pt x="1420038" y="1405065"/>
                  </a:cubicBezTo>
                  <a:lnTo>
                    <a:pt x="0" y="1405065"/>
                  </a:lnTo>
                  <a:cubicBezTo>
                    <a:pt x="768941" y="1317621"/>
                    <a:pt x="1379064" y="735374"/>
                    <a:pt x="1473249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050"/>
            </a:p>
          </p:txBody>
        </p:sp>
        <p:sp>
          <p:nvSpPr>
            <p:cNvPr id="4" name="Rounded Rectangle 31"/>
            <p:cNvSpPr/>
            <p:nvPr/>
          </p:nvSpPr>
          <p:spPr>
            <a:xfrm>
              <a:off x="1822736" y="2564904"/>
              <a:ext cx="3384376" cy="1415807"/>
            </a:xfrm>
            <a:prstGeom prst="roundRect">
              <a:avLst>
                <a:gd name="adj" fmla="val 10788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FFFF00"/>
                  </a:solidFill>
                </a:rPr>
                <a:t> </a:t>
              </a:r>
              <a:endParaRPr lang="en-US" sz="4800" b="1">
                <a:solidFill>
                  <a:srgbClr val="FFFF00"/>
                </a:solidFill>
              </a:endParaRPr>
            </a:p>
          </p:txBody>
        </p:sp>
      </p:grpSp>
      <p:sp>
        <p:nvSpPr>
          <p:cNvPr id="1006" name="TextBox 1005"/>
          <p:cNvSpPr txBox="1"/>
          <p:nvPr/>
        </p:nvSpPr>
        <p:spPr>
          <a:xfrm>
            <a:off x="1371600" y="3086100"/>
            <a:ext cx="7239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7" name="TextBox 1006"/>
          <p:cNvSpPr txBox="1"/>
          <p:nvPr/>
        </p:nvSpPr>
        <p:spPr>
          <a:xfrm>
            <a:off x="1828800" y="2781300"/>
            <a:ext cx="25908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9" name="TextBox 1008"/>
          <p:cNvSpPr txBox="1"/>
          <p:nvPr/>
        </p:nvSpPr>
        <p:spPr>
          <a:xfrm>
            <a:off x="1143000" y="249553"/>
            <a:ext cx="5638800" cy="1845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1">
                <a:solidFill>
                  <a:srgbClr val="42C7F1"/>
                </a:solidFill>
              </a:rPr>
              <a:t>제</a:t>
            </a:r>
            <a:r>
              <a:rPr lang="en-US" altLang="ko-KR" sz="3600" b="1">
                <a:solidFill>
                  <a:srgbClr val="42C7F1"/>
                </a:solidFill>
              </a:rPr>
              <a:t>12</a:t>
            </a:r>
            <a:r>
              <a:rPr lang="ko-KR" altLang="en-US" sz="3600" b="1">
                <a:solidFill>
                  <a:srgbClr val="42C7F1"/>
                </a:solidFill>
              </a:rPr>
              <a:t>조</a:t>
            </a:r>
            <a:r>
              <a:rPr lang="en-US" altLang="ko-KR" sz="3600" b="1">
                <a:solidFill>
                  <a:srgbClr val="42C7F1"/>
                </a:solidFill>
              </a:rPr>
              <a:t>(</a:t>
            </a:r>
            <a:r>
              <a:rPr lang="ko-KR" altLang="en-US" sz="3600" b="1">
                <a:solidFill>
                  <a:srgbClr val="42C7F1"/>
                </a:solidFill>
              </a:rPr>
              <a:t>수행평가</a:t>
            </a:r>
            <a:r>
              <a:rPr lang="en-US" altLang="ko-KR" sz="3600" b="1">
                <a:solidFill>
                  <a:srgbClr val="42C7F1"/>
                </a:solidFill>
              </a:rPr>
              <a:t>)</a:t>
            </a:r>
            <a:r>
              <a:rPr lang="ko-KR" altLang="en-US" sz="3600" b="1">
                <a:solidFill>
                  <a:srgbClr val="42C7F1"/>
                </a:solidFill>
              </a:rPr>
              <a:t> 제</a:t>
            </a:r>
            <a:r>
              <a:rPr lang="en-US" altLang="ko-KR" sz="3600" b="1">
                <a:solidFill>
                  <a:srgbClr val="42C7F1"/>
                </a:solidFill>
              </a:rPr>
              <a:t>10</a:t>
            </a:r>
            <a:r>
              <a:rPr lang="ko-KR" altLang="en-US" sz="3600" b="1">
                <a:solidFill>
                  <a:srgbClr val="42C7F1"/>
                </a:solidFill>
              </a:rPr>
              <a:t>항</a:t>
            </a:r>
          </a:p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3600" b="1">
              <a:solidFill>
                <a:srgbClr val="42C7F1"/>
              </a:solidFill>
            </a:endParaRPr>
          </a:p>
        </p:txBody>
      </p:sp>
      <p:sp>
        <p:nvSpPr>
          <p:cNvPr id="1012" name="TextBox 1011"/>
          <p:cNvSpPr txBox="1"/>
          <p:nvPr/>
        </p:nvSpPr>
        <p:spPr>
          <a:xfrm>
            <a:off x="1257300" y="1409700"/>
            <a:ext cx="15773400" cy="4227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algn="just">
              <a:lnSpc>
                <a:spcPct val="159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4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수행평가는 학생의 수행과정과 결과를 평가해야 한다</a:t>
            </a:r>
            <a:r>
              <a:rPr lang="EN-US" sz="34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. </a:t>
            </a:r>
            <a:r>
              <a:rPr sz="34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모든수행평가는 </a:t>
            </a:r>
            <a:r>
              <a:rPr sz="3400" b="1" i="0" u="none" strike="noStrike" spc="-10">
                <a:solidFill>
                  <a:srgbClr val="0000FF"/>
                </a:solidFill>
                <a:latin typeface="KoPub바탕체 Light"/>
                <a:ea typeface="KoPub바탕체 Light"/>
              </a:rPr>
              <a:t>수업 중 실시하는 것을 원칙</a:t>
            </a:r>
            <a:r>
              <a:rPr sz="34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으로 하며</a:t>
            </a:r>
            <a:r>
              <a:rPr lang="EN-US" sz="34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, </a:t>
            </a:r>
            <a:r>
              <a:rPr sz="34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수업시간 외 가정 등에서 이루어지는 </a:t>
            </a:r>
            <a:r>
              <a:rPr lang="EN-US" sz="34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'</a:t>
            </a:r>
            <a:r>
              <a:rPr sz="34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과제형 수행평가</a:t>
            </a:r>
            <a:r>
              <a:rPr lang="EN-US" sz="34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'</a:t>
            </a:r>
            <a:r>
              <a:rPr sz="34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는 실시하지 않는다</a:t>
            </a:r>
            <a:r>
              <a:rPr lang="EN-US" sz="34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. </a:t>
            </a:r>
          </a:p>
          <a:p>
            <a:pPr marL="381000" indent="-177800" algn="just">
              <a:lnSpc>
                <a:spcPct val="159000"/>
              </a:lnSpc>
              <a:spcBef>
                <a:spcPts val="200"/>
              </a:spcBef>
              <a:spcAft>
                <a:spcPts val="300"/>
              </a:spcAft>
              <a:defRPr/>
            </a:pPr>
            <a:r>
              <a:rPr sz="3400" b="0" i="0" u="none" strike="noStrike" spc="-20">
                <a:solidFill>
                  <a:srgbClr val="000000"/>
                </a:solidFill>
                <a:latin typeface="KoPub돋움체 Light"/>
                <a:ea typeface="KoPub돋움체 Light"/>
              </a:rPr>
              <a:t>※</a:t>
            </a:r>
            <a:r>
              <a:rPr sz="3400" b="0" i="0" u="none" strike="noStrike" spc="-100">
                <a:solidFill>
                  <a:srgbClr val="000000"/>
                </a:solidFill>
                <a:latin typeface="KoPub돋움체 Light"/>
                <a:ea typeface="KoPub돋움체 Light"/>
              </a:rPr>
              <a:t>과제형 수행평가 금지에는 사전 준비가 필요한 암기식 수행평가 등이 포함됨을 유의하여야 함</a:t>
            </a:r>
            <a:r>
              <a:rPr lang="EN-US" sz="3400" b="0" i="0" u="none" strike="noStrike" spc="-100">
                <a:solidFill>
                  <a:srgbClr val="000000"/>
                </a:solidFill>
                <a:latin typeface="KoPub돋움체 Light"/>
                <a:ea typeface="KoPub돋움체 Light"/>
              </a:rPr>
              <a:t>.</a:t>
            </a:r>
            <a:r>
              <a:rPr lang="ko-KR" altLang="en-US" sz="3400" b="1" i="0" u="none" strike="noStrike" spc="-20" baseline="30000">
                <a:solidFill>
                  <a:srgbClr val="FF0000"/>
                </a:solidFill>
                <a:latin typeface="KoPub돋움체 Light"/>
                <a:ea typeface="KoPub돋움체 Light"/>
              </a:rPr>
              <a:t>주석</a:t>
            </a:r>
            <a:r>
              <a:rPr lang="en-US" altLang="ko-KR" sz="3400" b="1" i="0" u="none" strike="noStrike" spc="-20" baseline="30000">
                <a:solidFill>
                  <a:srgbClr val="FF0000"/>
                </a:solidFill>
                <a:latin typeface="KoPub돋움체 Light"/>
                <a:ea typeface="KoPub돋움체 Light"/>
              </a:rPr>
              <a:t>)</a:t>
            </a:r>
          </a:p>
        </p:txBody>
      </p:sp>
      <p:sp>
        <p:nvSpPr>
          <p:cNvPr id="1013" name="직사각형 1012"/>
          <p:cNvSpPr/>
          <p:nvPr/>
        </p:nvSpPr>
        <p:spPr>
          <a:xfrm>
            <a:off x="914400" y="5600700"/>
            <a:ext cx="16383000" cy="37338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lstStyle/>
          <a:p>
            <a:pPr marL="139700" indent="-1397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200" b="0" i="0" u="none" strike="noStrike" spc="-30"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</a:rPr>
              <a:t>과제형 수행평가</a:t>
            </a:r>
            <a:r>
              <a:rPr sz="3200" b="0" i="0" u="none" strike="noStrike" spc="-30"/>
              <a:t>는 학생이 수업 외 시간에 학교 밖에서 수행한 과제물의 내용을 측정 대상</a:t>
            </a:r>
            <a:r>
              <a:rPr lang="EN-US" sz="3200" b="0" i="0" u="none" strike="noStrike" spc="-30"/>
              <a:t>(</a:t>
            </a:r>
            <a:r>
              <a:rPr sz="3200" b="0" i="0" u="none" strike="noStrike" spc="-30"/>
              <a:t>채점 요소</a:t>
            </a:r>
            <a:r>
              <a:rPr lang="EN-US" sz="3200" b="0" i="0" u="none" strike="noStrike" spc="-30"/>
              <a:t>)</a:t>
            </a:r>
            <a:r>
              <a:rPr sz="3200" b="0" i="0" u="none" strike="noStrike" spc="-30"/>
              <a:t>으로 삼아 과제 이행 여부 및 수행 정도에 따라 점수를 부여하는 평가 방식임</a:t>
            </a:r>
            <a:r>
              <a:rPr lang="EN-US" sz="3200" b="0" i="0" u="none" strike="noStrike" spc="-30"/>
              <a:t>. </a:t>
            </a:r>
          </a:p>
          <a:p>
            <a:pPr marL="139700" indent="-1397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200" b="1" i="0" u="none" strike="noStrike" spc="-30"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</a:rPr>
              <a:t>암기식 수행평가</a:t>
            </a:r>
            <a:r>
              <a:rPr sz="3200" b="0" i="0" u="none" strike="noStrike" spc="-30"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</a:rPr>
              <a:t>는 생각하고 탐구하는 과정 없이 학습 내용을 단순히 기억하고 반복하여 재생산하는 능력만을 측정 대상</a:t>
            </a:r>
            <a:r>
              <a:rPr lang="EN-US" sz="3200" b="0" i="0" u="none" strike="noStrike" spc="-30"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</a:rPr>
              <a:t>(</a:t>
            </a:r>
            <a:r>
              <a:rPr sz="3200" b="0" i="0" u="none" strike="noStrike" spc="-30"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</a:rPr>
              <a:t>채점 요소</a:t>
            </a:r>
            <a:r>
              <a:rPr lang="EN-US" sz="3200" b="0" i="0" u="none" strike="noStrike" spc="-30"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</a:rPr>
              <a:t>)</a:t>
            </a:r>
            <a:r>
              <a:rPr sz="3200" b="0" i="0" u="none" strike="noStrike" spc="-30"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</a:rPr>
              <a:t>으로 삼아</a:t>
            </a:r>
            <a:r>
              <a:rPr lang="EN-US" sz="3200" b="0" i="0" u="none" strike="noStrike" spc="-30"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</a:rPr>
              <a:t>, </a:t>
            </a:r>
            <a:r>
              <a:rPr sz="3200" b="0" i="0" u="none" strike="noStrike" spc="-30"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</a:rPr>
              <a:t>암기한 내용을 그대로 재현하는 정도에 따라 점수를 부여하는 평가 방식임</a:t>
            </a:r>
            <a:r>
              <a:rPr lang="EN-US" sz="3200" b="0" i="0" u="none" strike="noStrike" spc="-30"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</a:rPr>
              <a:t>.</a:t>
            </a:r>
            <a:endParaRPr sz="3200" b="1" i="0" u="none" strike="noStrike" spc="-30">
              <a:solidFill>
                <a:srgbClr val="0000FF"/>
              </a:solidFill>
              <a:effectLst>
                <a:outerShdw blurRad="76200" dist="76200" dir="2700000" algn="ctr" rotWithShape="0">
                  <a:srgbClr val="000000">
                    <a:alpha val="50000"/>
                  </a:srgbClr>
                </a:outerShdw>
              </a:effectLst>
              <a:latin typeface="KoPubWorld돋움체 Light"/>
              <a:ea typeface="KoPubWorld돋움체 Light"/>
            </a:endParaRPr>
          </a:p>
        </p:txBody>
      </p:sp>
      <p:grpSp>
        <p:nvGrpSpPr>
          <p:cNvPr id="1014" name="그룹 1013"/>
          <p:cNvGrpSpPr/>
          <p:nvPr/>
        </p:nvGrpSpPr>
        <p:grpSpPr>
          <a:xfrm>
            <a:off x="9906000" y="0"/>
            <a:ext cx="8382000" cy="647700"/>
            <a:chOff x="9906000" y="0"/>
            <a:chExt cx="8382000" cy="647700"/>
          </a:xfrm>
        </p:grpSpPr>
        <p:sp>
          <p:nvSpPr>
            <p:cNvPr id="1015" name="직사각형 1014"/>
            <p:cNvSpPr/>
            <p:nvPr/>
          </p:nvSpPr>
          <p:spPr>
            <a:xfrm>
              <a:off x="9906000" y="0"/>
              <a:ext cx="8381999" cy="6477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16" name="TextBox 13"/>
            <p:cNvSpPr txBox="1"/>
            <p:nvPr/>
          </p:nvSpPr>
          <p:spPr>
            <a:xfrm>
              <a:off x="10134600" y="0"/>
              <a:ext cx="8153400" cy="512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2800" b="1">
                  <a:latin typeface="+mj-ea"/>
                  <a:ea typeface="+mj-ea"/>
                </a:rPr>
                <a:t>2026</a:t>
              </a:r>
              <a:r>
                <a:rPr lang="ko-KR" altLang="en-US" sz="2800" b="1">
                  <a:latin typeface="+mj-ea"/>
                  <a:ea typeface="+mj-ea"/>
                </a:rPr>
                <a:t>학년도 학업성적관리 시행지침 주요 변경사항</a:t>
              </a:r>
            </a:p>
          </p:txBody>
        </p:sp>
      </p:grpSp>
      <p:sp>
        <p:nvSpPr>
          <p:cNvPr id="1017" name="TextBox 1016"/>
          <p:cNvSpPr txBox="1"/>
          <p:nvPr/>
        </p:nvSpPr>
        <p:spPr>
          <a:xfrm>
            <a:off x="16840200" y="9563100"/>
            <a:ext cx="838199" cy="413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6/11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1586" y="311386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sp>
        <p:nvSpPr>
          <p:cNvPr id="10" name="TextBox 88"/>
          <p:cNvSpPr txBox="1"/>
          <p:nvPr/>
        </p:nvSpPr>
        <p:spPr>
          <a:xfrm>
            <a:off x="14782800" y="2282397"/>
            <a:ext cx="2719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6232" indent="-326232">
              <a:defRPr/>
            </a:pP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제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10</a:t>
            </a: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조 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p. 5</a:t>
            </a:r>
            <a:endParaRPr lang="ko-KR" altLang="en-US" sz="3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pSp>
        <p:nvGrpSpPr>
          <p:cNvPr id="2" name="Group 29"/>
          <p:cNvGrpSpPr/>
          <p:nvPr/>
        </p:nvGrpSpPr>
        <p:grpSpPr>
          <a:xfrm flipH="1">
            <a:off x="761999" y="1105443"/>
            <a:ext cx="9144001" cy="1142457"/>
            <a:chOff x="1822736" y="2564904"/>
            <a:chExt cx="3384376" cy="1415810"/>
          </a:xfrm>
        </p:grpSpPr>
        <p:sp>
          <p:nvSpPr>
            <p:cNvPr id="5" name="Rounded Rectangle 9"/>
            <p:cNvSpPr/>
            <p:nvPr/>
          </p:nvSpPr>
          <p:spPr>
            <a:xfrm flipH="1">
              <a:off x="1822737" y="2575647"/>
              <a:ext cx="1538088" cy="1405067"/>
            </a:xfrm>
            <a:custGeom>
              <a:avLst/>
              <a:gdLst/>
              <a:ahLst/>
              <a:cxnLst/>
              <a:rect l="l" t="t" r="r" b="b"/>
              <a:pathLst>
                <a:path w="1572775" h="1405065">
                  <a:moveTo>
                    <a:pt x="1473249" y="0"/>
                  </a:moveTo>
                  <a:cubicBezTo>
                    <a:pt x="1531558" y="20642"/>
                    <a:pt x="1572775" y="76505"/>
                    <a:pt x="1572775" y="141994"/>
                  </a:cubicBezTo>
                  <a:lnTo>
                    <a:pt x="1572775" y="1252328"/>
                  </a:lnTo>
                  <a:cubicBezTo>
                    <a:pt x="1572775" y="1336682"/>
                    <a:pt x="1504392" y="1405065"/>
                    <a:pt x="1420038" y="1405065"/>
                  </a:cubicBezTo>
                  <a:lnTo>
                    <a:pt x="0" y="1405065"/>
                  </a:lnTo>
                  <a:cubicBezTo>
                    <a:pt x="768941" y="1317621"/>
                    <a:pt x="1379064" y="735374"/>
                    <a:pt x="1473249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050"/>
            </a:p>
          </p:txBody>
        </p:sp>
        <p:sp>
          <p:nvSpPr>
            <p:cNvPr id="4" name="Rounded Rectangle 31"/>
            <p:cNvSpPr/>
            <p:nvPr/>
          </p:nvSpPr>
          <p:spPr>
            <a:xfrm>
              <a:off x="1822736" y="2564904"/>
              <a:ext cx="3384376" cy="1415807"/>
            </a:xfrm>
            <a:prstGeom prst="roundRect">
              <a:avLst>
                <a:gd name="adj" fmla="val 10788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FFFF00"/>
                  </a:solidFill>
                </a:rPr>
                <a:t> </a:t>
              </a:r>
              <a:endParaRPr lang="en-US" sz="4800" b="1">
                <a:solidFill>
                  <a:srgbClr val="FFFF00"/>
                </a:solidFill>
              </a:endParaRPr>
            </a:p>
          </p:txBody>
        </p:sp>
      </p:grpSp>
      <p:sp>
        <p:nvSpPr>
          <p:cNvPr id="1006" name="TextBox 1005"/>
          <p:cNvSpPr txBox="1"/>
          <p:nvPr/>
        </p:nvSpPr>
        <p:spPr>
          <a:xfrm>
            <a:off x="1371600" y="3086100"/>
            <a:ext cx="7239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7" name="TextBox 1006"/>
          <p:cNvSpPr txBox="1"/>
          <p:nvPr/>
        </p:nvSpPr>
        <p:spPr>
          <a:xfrm>
            <a:off x="1828800" y="2781300"/>
            <a:ext cx="25908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9" name="TextBox 1008"/>
          <p:cNvSpPr txBox="1"/>
          <p:nvPr/>
        </p:nvSpPr>
        <p:spPr>
          <a:xfrm>
            <a:off x="1371600" y="1181099"/>
            <a:ext cx="7924800" cy="1845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1">
                <a:solidFill>
                  <a:srgbClr val="42C7F1"/>
                </a:solidFill>
              </a:rPr>
              <a:t>제</a:t>
            </a:r>
            <a:r>
              <a:rPr lang="en-US" altLang="ko-KR" sz="3600" b="1">
                <a:solidFill>
                  <a:srgbClr val="42C7F1"/>
                </a:solidFill>
              </a:rPr>
              <a:t>18</a:t>
            </a:r>
            <a:r>
              <a:rPr lang="ko-KR" altLang="en-US" sz="3600" b="1">
                <a:solidFill>
                  <a:srgbClr val="42C7F1"/>
                </a:solidFill>
              </a:rPr>
              <a:t>조</a:t>
            </a:r>
            <a:r>
              <a:rPr lang="en-US" altLang="ko-KR" sz="3600" b="1">
                <a:solidFill>
                  <a:srgbClr val="42C7F1"/>
                </a:solidFill>
              </a:rPr>
              <a:t>(</a:t>
            </a:r>
            <a:r>
              <a:rPr lang="ko-KR" altLang="en-US" sz="3600" b="1">
                <a:solidFill>
                  <a:srgbClr val="42C7F1"/>
                </a:solidFill>
              </a:rPr>
              <a:t>답안지 회수 및 정답 공개</a:t>
            </a:r>
            <a:r>
              <a:rPr lang="en-US" altLang="ko-KR" sz="3600" b="1">
                <a:solidFill>
                  <a:srgbClr val="42C7F1"/>
                </a:solidFill>
              </a:rPr>
              <a:t>)</a:t>
            </a:r>
            <a:r>
              <a:rPr lang="ko-KR" altLang="en-US" sz="3600" b="1">
                <a:solidFill>
                  <a:srgbClr val="42C7F1"/>
                </a:solidFill>
              </a:rPr>
              <a:t> 제</a:t>
            </a:r>
            <a:r>
              <a:rPr lang="en-US" altLang="ko-KR" sz="3600" b="1" i="0" u="none" strike="noStrike" spc="-10">
                <a:solidFill>
                  <a:srgbClr val="42C7F1"/>
                </a:solidFill>
              </a:rPr>
              <a:t>1</a:t>
            </a:r>
            <a:r>
              <a:rPr lang="ko-KR" altLang="en-US" sz="3600" b="1" i="0" u="none" strike="noStrike" spc="-10">
                <a:solidFill>
                  <a:srgbClr val="42C7F1"/>
                </a:solidFill>
              </a:rPr>
              <a:t>항</a:t>
            </a:r>
          </a:p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3600" b="1">
              <a:solidFill>
                <a:srgbClr val="42C7F1"/>
              </a:solidFill>
            </a:endParaRPr>
          </a:p>
        </p:txBody>
      </p:sp>
      <p:sp>
        <p:nvSpPr>
          <p:cNvPr id="1010" name="직사각형 1009"/>
          <p:cNvSpPr/>
          <p:nvPr/>
        </p:nvSpPr>
        <p:spPr>
          <a:xfrm>
            <a:off x="4419600" y="6210300"/>
            <a:ext cx="9296400" cy="10668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4000">
                <a:solidFill>
                  <a:srgbClr val="42C7F1"/>
                </a:solidFill>
              </a:rPr>
              <a:t>        </a:t>
            </a:r>
            <a:r>
              <a:rPr lang="en-US" altLang="ko-KR" sz="4000">
                <a:solidFill>
                  <a:srgbClr val="42C7F1"/>
                </a:solidFill>
              </a:rPr>
              <a:t>-</a:t>
            </a:r>
            <a:r>
              <a:rPr lang="ko-KR" altLang="en-US" sz="4000">
                <a:solidFill>
                  <a:srgbClr val="42C7F1"/>
                </a:solidFill>
              </a:rPr>
              <a:t>            </a:t>
            </a:r>
            <a:r>
              <a:rPr lang="ko-KR" altLang="en-US" sz="4000"/>
              <a:t>➜       </a:t>
            </a:r>
            <a:r>
              <a:rPr lang="ko-KR" altLang="en-US" sz="4000">
                <a:solidFill>
                  <a:srgbClr val="42C7F1"/>
                </a:solidFill>
              </a:rPr>
              <a:t>정기시험실에서 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1524000" y="2515552"/>
            <a:ext cx="15240000" cy="2797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95300" indent="-2413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0" i="0" u="none" strike="noStrike" spc="-10">
                <a:solidFill>
                  <a:schemeClr val="dk1"/>
                </a:solidFill>
                <a:latin typeface="KoPub바탕체 Light"/>
                <a:ea typeface="KoPub바탕체 Light"/>
              </a:rPr>
              <a:t>감독교사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는 답안지의 매수를 </a:t>
            </a:r>
            <a:r>
              <a:rPr sz="36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정기시험실에서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확인하고 표지에 필요한 사항을 기록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, 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서명 혹은 날인한 후 평가 </a:t>
            </a:r>
            <a:r>
              <a:rPr sz="3600" b="0" i="0" u="none" strike="noStrike" spc="-10">
                <a:solidFill>
                  <a:schemeClr val="dk1"/>
                </a:solidFill>
                <a:latin typeface="KoPub바탕체 Light"/>
                <a:ea typeface="KoPub바탕체 Light"/>
              </a:rPr>
              <a:t>담당교사또는 교과 담당교사에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게 인계한다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. </a:t>
            </a:r>
            <a:r>
              <a:rPr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폐기 답안지는 회수한다</a:t>
            </a:r>
            <a:r>
              <a:rPr lang="EN-US" sz="3600" b="0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. </a:t>
            </a:r>
            <a:endParaRPr lang="ko-KR" altLang="en-US" sz="3600"/>
          </a:p>
        </p:txBody>
      </p:sp>
      <p:grpSp>
        <p:nvGrpSpPr>
          <p:cNvPr id="1012" name="그룹 1011"/>
          <p:cNvGrpSpPr/>
          <p:nvPr/>
        </p:nvGrpSpPr>
        <p:grpSpPr>
          <a:xfrm>
            <a:off x="9906000" y="0"/>
            <a:ext cx="8382000" cy="647700"/>
            <a:chOff x="9906000" y="0"/>
            <a:chExt cx="8382000" cy="647700"/>
          </a:xfrm>
        </p:grpSpPr>
        <p:sp>
          <p:nvSpPr>
            <p:cNvPr id="1013" name="직사각형 1012"/>
            <p:cNvSpPr/>
            <p:nvPr/>
          </p:nvSpPr>
          <p:spPr>
            <a:xfrm>
              <a:off x="9906000" y="0"/>
              <a:ext cx="8381999" cy="6477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14" name="TextBox 13"/>
            <p:cNvSpPr txBox="1"/>
            <p:nvPr/>
          </p:nvSpPr>
          <p:spPr>
            <a:xfrm>
              <a:off x="10134600" y="0"/>
              <a:ext cx="8153400" cy="512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2800" b="1">
                  <a:latin typeface="+mj-ea"/>
                  <a:ea typeface="+mj-ea"/>
                </a:rPr>
                <a:t>2026</a:t>
              </a:r>
              <a:r>
                <a:rPr lang="ko-KR" altLang="en-US" sz="2800" b="1">
                  <a:latin typeface="+mj-ea"/>
                  <a:ea typeface="+mj-ea"/>
                </a:rPr>
                <a:t>학년도 학업성적관리 시행지침 주요 변경사항</a:t>
              </a:r>
            </a:p>
          </p:txBody>
        </p:sp>
      </p:grpSp>
      <p:sp>
        <p:nvSpPr>
          <p:cNvPr id="1015" name="TextBox 1014"/>
          <p:cNvSpPr txBox="1"/>
          <p:nvPr/>
        </p:nvSpPr>
        <p:spPr>
          <a:xfrm>
            <a:off x="16840200" y="9563100"/>
            <a:ext cx="838199" cy="413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7/11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1586" y="311386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sp>
        <p:nvSpPr>
          <p:cNvPr id="10" name="TextBox 88"/>
          <p:cNvSpPr txBox="1"/>
          <p:nvPr/>
        </p:nvSpPr>
        <p:spPr>
          <a:xfrm>
            <a:off x="14782800" y="2282397"/>
            <a:ext cx="2719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6232" indent="-326232">
              <a:defRPr/>
            </a:pP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제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10</a:t>
            </a: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조 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p. 5</a:t>
            </a:r>
            <a:endParaRPr lang="ko-KR" altLang="en-US" sz="3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pSp>
        <p:nvGrpSpPr>
          <p:cNvPr id="2" name="Group 29"/>
          <p:cNvGrpSpPr/>
          <p:nvPr/>
        </p:nvGrpSpPr>
        <p:grpSpPr>
          <a:xfrm flipH="1">
            <a:off x="761997" y="1105443"/>
            <a:ext cx="16535401" cy="1142457"/>
            <a:chOff x="1822736" y="2564904"/>
            <a:chExt cx="3384376" cy="1415810"/>
          </a:xfrm>
        </p:grpSpPr>
        <p:sp>
          <p:nvSpPr>
            <p:cNvPr id="5" name="Rounded Rectangle 9"/>
            <p:cNvSpPr/>
            <p:nvPr/>
          </p:nvSpPr>
          <p:spPr>
            <a:xfrm flipH="1">
              <a:off x="1822737" y="2575647"/>
              <a:ext cx="1538088" cy="1405067"/>
            </a:xfrm>
            <a:custGeom>
              <a:avLst/>
              <a:gdLst/>
              <a:ahLst/>
              <a:cxnLst/>
              <a:rect l="l" t="t" r="r" b="b"/>
              <a:pathLst>
                <a:path w="1572775" h="1405065">
                  <a:moveTo>
                    <a:pt x="1473249" y="0"/>
                  </a:moveTo>
                  <a:cubicBezTo>
                    <a:pt x="1531558" y="20642"/>
                    <a:pt x="1572775" y="76505"/>
                    <a:pt x="1572775" y="141994"/>
                  </a:cubicBezTo>
                  <a:lnTo>
                    <a:pt x="1572775" y="1252328"/>
                  </a:lnTo>
                  <a:cubicBezTo>
                    <a:pt x="1572775" y="1336682"/>
                    <a:pt x="1504392" y="1405065"/>
                    <a:pt x="1420038" y="1405065"/>
                  </a:cubicBezTo>
                  <a:lnTo>
                    <a:pt x="0" y="1405065"/>
                  </a:lnTo>
                  <a:cubicBezTo>
                    <a:pt x="768941" y="1317621"/>
                    <a:pt x="1379064" y="735374"/>
                    <a:pt x="1473249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050"/>
            </a:p>
          </p:txBody>
        </p:sp>
        <p:sp>
          <p:nvSpPr>
            <p:cNvPr id="4" name="Rounded Rectangle 31"/>
            <p:cNvSpPr/>
            <p:nvPr/>
          </p:nvSpPr>
          <p:spPr>
            <a:xfrm>
              <a:off x="1822736" y="2564904"/>
              <a:ext cx="3384376" cy="1415807"/>
            </a:xfrm>
            <a:prstGeom prst="roundRect">
              <a:avLst>
                <a:gd name="adj" fmla="val 10788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FFFF00"/>
                  </a:solidFill>
                </a:rPr>
                <a:t> </a:t>
              </a:r>
              <a:endParaRPr lang="en-US" sz="4800" b="1">
                <a:solidFill>
                  <a:srgbClr val="FFFF00"/>
                </a:solidFill>
              </a:endParaRPr>
            </a:p>
          </p:txBody>
        </p:sp>
      </p:grpSp>
      <p:sp>
        <p:nvSpPr>
          <p:cNvPr id="1006" name="TextBox 1005"/>
          <p:cNvSpPr txBox="1"/>
          <p:nvPr/>
        </p:nvSpPr>
        <p:spPr>
          <a:xfrm>
            <a:off x="1371600" y="3086100"/>
            <a:ext cx="7239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7" name="TextBox 1006"/>
          <p:cNvSpPr txBox="1"/>
          <p:nvPr/>
        </p:nvSpPr>
        <p:spPr>
          <a:xfrm>
            <a:off x="1828800" y="2781300"/>
            <a:ext cx="25908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9" name="TextBox 1008"/>
          <p:cNvSpPr txBox="1"/>
          <p:nvPr/>
        </p:nvSpPr>
        <p:spPr>
          <a:xfrm>
            <a:off x="990600" y="1163953"/>
            <a:ext cx="16230600" cy="98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1524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1">
                <a:solidFill>
                  <a:srgbClr val="42C7F1"/>
                </a:solidFill>
              </a:rPr>
              <a:t>제</a:t>
            </a:r>
            <a:r>
              <a:rPr lang="en-US" altLang="ko-KR" sz="3600" b="1">
                <a:solidFill>
                  <a:srgbClr val="42C7F1"/>
                </a:solidFill>
              </a:rPr>
              <a:t>20</a:t>
            </a:r>
            <a:r>
              <a:rPr lang="ko-KR" altLang="en-US" sz="3600" b="1">
                <a:solidFill>
                  <a:srgbClr val="42C7F1"/>
                </a:solidFill>
              </a:rPr>
              <a:t>조</a:t>
            </a:r>
            <a:r>
              <a:rPr lang="en-US" altLang="ko-KR" sz="3600" b="1">
                <a:solidFill>
                  <a:srgbClr val="42C7F1"/>
                </a:solidFill>
              </a:rPr>
              <a:t>(</a:t>
            </a:r>
            <a:r>
              <a:rPr lang="ko-KR" altLang="en-US" sz="3600" b="1">
                <a:solidFill>
                  <a:srgbClr val="42C7F1"/>
                </a:solidFill>
              </a:rPr>
              <a:t>인정점 부여</a:t>
            </a:r>
            <a:r>
              <a:rPr lang="en-US" altLang="ko-KR" sz="3600" b="1">
                <a:solidFill>
                  <a:srgbClr val="42C7F1"/>
                </a:solidFill>
              </a:rPr>
              <a:t>)</a:t>
            </a:r>
            <a:r>
              <a:rPr lang="ko-KR" altLang="en-US" sz="3600" b="1">
                <a:solidFill>
                  <a:srgbClr val="42C7F1"/>
                </a:solidFill>
              </a:rPr>
              <a:t> 제</a:t>
            </a:r>
            <a:r>
              <a:rPr lang="en-US" altLang="ko-KR" sz="3600" b="1" i="0" u="none" strike="noStrike" spc="-10">
                <a:solidFill>
                  <a:srgbClr val="42C7F1"/>
                </a:solidFill>
              </a:rPr>
              <a:t>3</a:t>
            </a:r>
            <a:r>
              <a:rPr lang="ko-KR" altLang="en-US" sz="3600" b="1" i="0" u="none" strike="noStrike" spc="-10">
                <a:solidFill>
                  <a:srgbClr val="42C7F1"/>
                </a:solidFill>
              </a:rPr>
              <a:t>항 </a:t>
            </a:r>
            <a:r>
              <a:rPr sz="2800" b="1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다음 각 호의 하나에 해당하는 경우에는 </a:t>
            </a:r>
            <a:r>
              <a:rPr lang="EN-US" sz="2800" b="1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‘100% </a:t>
            </a:r>
            <a:r>
              <a:rPr sz="2800" b="1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인정점</a:t>
            </a:r>
            <a:r>
              <a:rPr lang="EN-US" sz="2800" b="1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’</a:t>
            </a:r>
            <a:r>
              <a:rPr sz="2800" b="1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을 부여한다</a:t>
            </a:r>
            <a:r>
              <a:rPr lang="EN-US" sz="2800" b="1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. </a:t>
            </a:r>
            <a:endParaRPr lang="ko-KR" altLang="en-US" sz="3600" b="1">
              <a:solidFill>
                <a:srgbClr val="0000FF"/>
              </a:solidFill>
            </a:endParaRPr>
          </a:p>
        </p:txBody>
      </p:sp>
      <p:sp>
        <p:nvSpPr>
          <p:cNvPr id="1011" name="TextBox 1010"/>
          <p:cNvSpPr txBox="1"/>
          <p:nvPr/>
        </p:nvSpPr>
        <p:spPr>
          <a:xfrm>
            <a:off x="7543800" y="1485900"/>
            <a:ext cx="9144000" cy="546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1524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1012" name="TextBox 1011"/>
          <p:cNvSpPr txBox="1"/>
          <p:nvPr/>
        </p:nvSpPr>
        <p:spPr>
          <a:xfrm>
            <a:off x="838200" y="2324100"/>
            <a:ext cx="16611600" cy="2493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9. </a:t>
            </a:r>
            <a:r>
              <a:rPr sz="24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｢가정폭력방지 및 피해자보호 등에 관한 법률 시행령｣ 제</a:t>
            </a:r>
            <a:r>
              <a:rPr lang="EN-US" sz="24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2</a:t>
            </a:r>
            <a:r>
              <a:rPr sz="24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조</a:t>
            </a:r>
            <a:r>
              <a:rPr lang="EN-US" sz="24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(</a:t>
            </a:r>
            <a:r>
              <a:rPr sz="24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임시 보호의 기간 등</a:t>
            </a:r>
            <a:r>
              <a:rPr lang="EN-US" sz="24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)</a:t>
            </a:r>
            <a:r>
              <a:rPr sz="24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제</a:t>
            </a:r>
            <a:r>
              <a:rPr lang="EN-US" sz="24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2</a:t>
            </a:r>
            <a:r>
              <a:rPr sz="24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항 및 제</a:t>
            </a:r>
            <a:r>
              <a:rPr lang="EN-US" sz="24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3</a:t>
            </a:r>
            <a:r>
              <a:rPr sz="24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항에 따른 가정폭력피해학생에 대한 임시보호 기간 중의 결시</a:t>
            </a:r>
          </a:p>
          <a:p>
            <a:pPr marL="228600" indent="-2286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10. </a:t>
            </a:r>
            <a:r>
              <a:rPr sz="24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｢가정폭력방지 및 피해자보호 등에 관한 법률｣ 상의 가정폭력 피해자 보호시설 또는 ｢아동복지법｣ </a:t>
            </a:r>
            <a:r>
              <a:rPr sz="2400" b="0" i="0" u="none" strike="noStrike" spc="10">
                <a:solidFill>
                  <a:srgbClr val="FF0000"/>
                </a:solidFill>
                <a:latin typeface="KoPub바탕체 Light"/>
                <a:ea typeface="KoPub바탕체 Light"/>
              </a:rPr>
              <a:t>및 ｢아동학대 범죄의 처벌 등에 관한 특례법｣에 따라 지방자치단체가 가정폭력 또는 아동학대 예방을</a:t>
            </a:r>
            <a:r>
              <a:rPr sz="24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위해 학생을 보호하는 경우 보호기간 중 결시</a:t>
            </a:r>
            <a:endParaRPr lang="ko-KR" altLang="en-US" sz="2400"/>
          </a:p>
        </p:txBody>
      </p:sp>
      <p:sp>
        <p:nvSpPr>
          <p:cNvPr id="1013" name="TextBox 1012"/>
          <p:cNvSpPr txBox="1"/>
          <p:nvPr/>
        </p:nvSpPr>
        <p:spPr>
          <a:xfrm>
            <a:off x="762000" y="4973953"/>
            <a:ext cx="16764000" cy="4892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8.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「학교폭력예방 및 대책에 관한 법률」 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16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조제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2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항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, 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같은법 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17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조제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8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항에 따라 </a:t>
            </a:r>
            <a:r>
              <a:rPr sz="1900" b="0" i="0" u="none" strike="sngStrike" spc="-20">
                <a:solidFill>
                  <a:srgbClr val="000000"/>
                </a:solidFill>
                <a:latin typeface="KoPub바탕체 Light"/>
                <a:ea typeface="KoPub바탕체 Light"/>
              </a:rPr>
              <a:t>피</a:t>
            </a:r>
            <a:r>
              <a:rPr lang="EN-US" sz="1900" b="0" i="0" u="none" strike="sngStrike" spc="-20">
                <a:solidFill>
                  <a:srgbClr val="000000"/>
                </a:solidFill>
                <a:latin typeface="KoPub바탕체 Light"/>
                <a:ea typeface="KoPub바탕체 Light"/>
              </a:rPr>
              <a:t>·</a:t>
            </a:r>
            <a:r>
              <a:rPr sz="1900" b="0" i="0" u="none" strike="sngStrike" spc="-20">
                <a:solidFill>
                  <a:srgbClr val="000000"/>
                </a:solidFill>
                <a:latin typeface="KoPub바탕체 Light"/>
                <a:ea typeface="KoPub바탕체 Light"/>
              </a:rPr>
              <a:t>가해학생이 학교폭력대책심의위원회에 의견진술 절차 등의 사유로 심의위원회에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참석하는 경우의 결시</a:t>
            </a:r>
          </a:p>
          <a:p>
            <a:pPr marL="152400" indent="-1524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9.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｢학교폭력예방 및 대책에 관한 법률｣ 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17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조제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1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항제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4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호와 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5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호에 따른 사회봉사와 학내외 전문가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, 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교육감이 정한 기관에 의한 특별교육 이수 또는 심리치료로 인한 결시</a:t>
            </a:r>
          </a:p>
          <a:p>
            <a:pPr marL="228600" indent="-2286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11.</a:t>
            </a:r>
            <a:r>
              <a:rPr sz="1900" b="0" i="0" u="none" strike="sngStrike" spc="-90">
                <a:solidFill>
                  <a:srgbClr val="000000"/>
                </a:solidFill>
                <a:latin typeface="KoPub바탕체 Light"/>
                <a:ea typeface="KoPub바탕체 Light"/>
              </a:rPr>
              <a:t>시</a:t>
            </a:r>
            <a:r>
              <a:rPr lang="EN-US" sz="1900" b="0" i="0" u="none" strike="sngStrike" spc="-90">
                <a:solidFill>
                  <a:srgbClr val="000000"/>
                </a:solidFill>
                <a:latin typeface="KoPub바탕체 Light"/>
                <a:ea typeface="KoPub바탕체 Light"/>
              </a:rPr>
              <a:t>·</a:t>
            </a:r>
            <a:r>
              <a:rPr sz="1900" b="0" i="0" u="none" strike="sngStrike" spc="-90">
                <a:solidFill>
                  <a:srgbClr val="000000"/>
                </a:solidFill>
                <a:latin typeface="KoPub바탕체 Light"/>
                <a:ea typeface="KoPub바탕체 Light"/>
              </a:rPr>
              <a:t>도경찰청 「소년업무규칙」</a:t>
            </a:r>
            <a:r>
              <a:rPr sz="1900" b="0" i="0" u="none" strike="sngStrike" spc="-70">
                <a:solidFill>
                  <a:srgbClr val="000000"/>
                </a:solidFill>
                <a:latin typeface="KoPub바탕체 Light"/>
                <a:ea typeface="KoPub바탕체 Light"/>
              </a:rPr>
              <a:t>에</a:t>
            </a:r>
            <a:r>
              <a:rPr sz="1900" b="0" i="0" u="none" strike="sngStrike" spc="-90">
                <a:solidFill>
                  <a:srgbClr val="000000"/>
                </a:solidFill>
                <a:latin typeface="KoPub바탕체 Light"/>
                <a:ea typeface="KoPub바탕체 Light"/>
              </a:rPr>
              <a:t>따른 경찰관서의 선도프로그램에 참여하는 경우의 결시</a:t>
            </a:r>
          </a:p>
          <a:p>
            <a:pPr marL="215900" indent="-215900" algn="just">
              <a:lnSpc>
                <a:spcPct val="16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13.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「교원의 지위향상 및 교육활동 보호를 위한 특별법｣ 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20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조제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2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항에 따른 분리 조치 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, 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불가피한 사정에 의하여 학교 외의 장소에서 학생을 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‘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분리 조치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’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하게 될 경우의 결시</a:t>
            </a:r>
          </a:p>
          <a:p>
            <a:pPr marL="228600" indent="-228600" algn="just">
              <a:lnSpc>
                <a:spcPct val="16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14.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「교원의 지위향상 및 교육활동 보호를 위한 특별법｣ 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25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조제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6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항에 따라 학생이 지역교권보호위원회에 의견진술 절차 등의 사유로 참석하는 경우의 결시</a:t>
            </a:r>
          </a:p>
          <a:p>
            <a:pPr marL="228600" indent="-228600" algn="just">
              <a:lnSpc>
                <a:spcPct val="16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15.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「교원의 지위향상 및 교육활동 보호를 위한 특별법｣ 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25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조제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2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항제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2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호와 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3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호에 따른 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‘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사회봉사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’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와 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‘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학내외 전문가에 의한 특별교육 이수 또는 심리치료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’, 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25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조 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3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항과 제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4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항에 따른 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‘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특별교육 이수 또는 심리치료</a:t>
            </a:r>
            <a:r>
              <a:rPr lang="EN-US"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’</a:t>
            </a:r>
            <a:r>
              <a:rPr sz="1900" b="0" i="0" u="none" strike="sng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로 인한 결시</a:t>
            </a:r>
            <a:endParaRPr lang="ko-KR" altLang="en-US" sz="1900"/>
          </a:p>
        </p:txBody>
      </p:sp>
      <p:grpSp>
        <p:nvGrpSpPr>
          <p:cNvPr id="1014" name="그룹 1013"/>
          <p:cNvGrpSpPr/>
          <p:nvPr/>
        </p:nvGrpSpPr>
        <p:grpSpPr>
          <a:xfrm>
            <a:off x="9906000" y="0"/>
            <a:ext cx="8382000" cy="647700"/>
            <a:chOff x="9906000" y="0"/>
            <a:chExt cx="8382000" cy="647700"/>
          </a:xfrm>
        </p:grpSpPr>
        <p:sp>
          <p:nvSpPr>
            <p:cNvPr id="1015" name="직사각형 1014"/>
            <p:cNvSpPr/>
            <p:nvPr/>
          </p:nvSpPr>
          <p:spPr>
            <a:xfrm>
              <a:off x="9906000" y="0"/>
              <a:ext cx="8381999" cy="6477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16" name="TextBox 13"/>
            <p:cNvSpPr txBox="1"/>
            <p:nvPr/>
          </p:nvSpPr>
          <p:spPr>
            <a:xfrm>
              <a:off x="10134600" y="0"/>
              <a:ext cx="8153400" cy="512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2800" b="1">
                  <a:latin typeface="+mj-ea"/>
                  <a:ea typeface="+mj-ea"/>
                </a:rPr>
                <a:t>2026</a:t>
              </a:r>
              <a:r>
                <a:rPr lang="ko-KR" altLang="en-US" sz="2800" b="1">
                  <a:latin typeface="+mj-ea"/>
                  <a:ea typeface="+mj-ea"/>
                </a:rPr>
                <a:t>학년도 학업성적관리 시행지침 주요 변경사항</a:t>
              </a:r>
            </a:p>
          </p:txBody>
        </p:sp>
      </p:grpSp>
      <p:sp>
        <p:nvSpPr>
          <p:cNvPr id="1017" name="TextBox 1016"/>
          <p:cNvSpPr txBox="1"/>
          <p:nvPr/>
        </p:nvSpPr>
        <p:spPr>
          <a:xfrm>
            <a:off x="16840200" y="9563100"/>
            <a:ext cx="838199" cy="413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8/11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1586" y="311386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sp>
        <p:nvSpPr>
          <p:cNvPr id="10" name="TextBox 88"/>
          <p:cNvSpPr txBox="1"/>
          <p:nvPr/>
        </p:nvSpPr>
        <p:spPr>
          <a:xfrm>
            <a:off x="14782800" y="2282397"/>
            <a:ext cx="2719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6232" indent="-326232">
              <a:defRPr/>
            </a:pP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제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10</a:t>
            </a: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조 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p. 5</a:t>
            </a:r>
            <a:endParaRPr lang="ko-KR" altLang="en-US" sz="3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pSp>
        <p:nvGrpSpPr>
          <p:cNvPr id="2" name="Group 29"/>
          <p:cNvGrpSpPr/>
          <p:nvPr/>
        </p:nvGrpSpPr>
        <p:grpSpPr>
          <a:xfrm flipH="1">
            <a:off x="761997" y="1105442"/>
            <a:ext cx="16535401" cy="1752057"/>
            <a:chOff x="1822736" y="2564904"/>
            <a:chExt cx="3384376" cy="1415810"/>
          </a:xfrm>
        </p:grpSpPr>
        <p:sp>
          <p:nvSpPr>
            <p:cNvPr id="5" name="Rounded Rectangle 9"/>
            <p:cNvSpPr/>
            <p:nvPr/>
          </p:nvSpPr>
          <p:spPr>
            <a:xfrm flipH="1">
              <a:off x="1822737" y="2575647"/>
              <a:ext cx="1538088" cy="1405067"/>
            </a:xfrm>
            <a:custGeom>
              <a:avLst/>
              <a:gdLst/>
              <a:ahLst/>
              <a:cxnLst/>
              <a:rect l="l" t="t" r="r" b="b"/>
              <a:pathLst>
                <a:path w="1572775" h="1405065">
                  <a:moveTo>
                    <a:pt x="1473249" y="0"/>
                  </a:moveTo>
                  <a:cubicBezTo>
                    <a:pt x="1531558" y="20642"/>
                    <a:pt x="1572775" y="76505"/>
                    <a:pt x="1572775" y="141994"/>
                  </a:cubicBezTo>
                  <a:lnTo>
                    <a:pt x="1572775" y="1252328"/>
                  </a:lnTo>
                  <a:cubicBezTo>
                    <a:pt x="1572775" y="1336682"/>
                    <a:pt x="1504392" y="1405065"/>
                    <a:pt x="1420038" y="1405065"/>
                  </a:cubicBezTo>
                  <a:lnTo>
                    <a:pt x="0" y="1405065"/>
                  </a:lnTo>
                  <a:cubicBezTo>
                    <a:pt x="768941" y="1317621"/>
                    <a:pt x="1379064" y="735374"/>
                    <a:pt x="1473249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050"/>
            </a:p>
          </p:txBody>
        </p:sp>
        <p:sp>
          <p:nvSpPr>
            <p:cNvPr id="4" name="Rounded Rectangle 31"/>
            <p:cNvSpPr/>
            <p:nvPr/>
          </p:nvSpPr>
          <p:spPr>
            <a:xfrm>
              <a:off x="1822736" y="2564904"/>
              <a:ext cx="3384376" cy="1415807"/>
            </a:xfrm>
            <a:prstGeom prst="roundRect">
              <a:avLst>
                <a:gd name="adj" fmla="val 10788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FFFF00"/>
                  </a:solidFill>
                </a:rPr>
                <a:t> </a:t>
              </a:r>
              <a:endParaRPr lang="en-US" sz="4800" b="1">
                <a:solidFill>
                  <a:srgbClr val="FFFF00"/>
                </a:solidFill>
              </a:endParaRPr>
            </a:p>
          </p:txBody>
        </p:sp>
      </p:grpSp>
      <p:sp>
        <p:nvSpPr>
          <p:cNvPr id="1006" name="TextBox 1005"/>
          <p:cNvSpPr txBox="1"/>
          <p:nvPr/>
        </p:nvSpPr>
        <p:spPr>
          <a:xfrm>
            <a:off x="1371600" y="3086100"/>
            <a:ext cx="7239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7" name="TextBox 1006"/>
          <p:cNvSpPr txBox="1"/>
          <p:nvPr/>
        </p:nvSpPr>
        <p:spPr>
          <a:xfrm>
            <a:off x="1828800" y="2781300"/>
            <a:ext cx="25908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9" name="TextBox 1008"/>
          <p:cNvSpPr txBox="1"/>
          <p:nvPr/>
        </p:nvSpPr>
        <p:spPr>
          <a:xfrm>
            <a:off x="990600" y="1163953"/>
            <a:ext cx="16230600" cy="1691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5100" indent="-1651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1">
                <a:solidFill>
                  <a:srgbClr val="42C7F1"/>
                </a:solidFill>
              </a:rPr>
              <a:t>제</a:t>
            </a:r>
            <a:r>
              <a:rPr lang="en-US" altLang="ko-KR" sz="3600" b="1">
                <a:solidFill>
                  <a:srgbClr val="42C7F1"/>
                </a:solidFill>
              </a:rPr>
              <a:t>20</a:t>
            </a:r>
            <a:r>
              <a:rPr lang="ko-KR" altLang="en-US" sz="3600" b="1">
                <a:solidFill>
                  <a:srgbClr val="42C7F1"/>
                </a:solidFill>
              </a:rPr>
              <a:t>조</a:t>
            </a:r>
            <a:r>
              <a:rPr lang="en-US" altLang="ko-KR" sz="3600" b="1">
                <a:solidFill>
                  <a:srgbClr val="42C7F1"/>
                </a:solidFill>
              </a:rPr>
              <a:t>(</a:t>
            </a:r>
            <a:r>
              <a:rPr lang="ko-KR" altLang="en-US" sz="3600" b="1">
                <a:solidFill>
                  <a:srgbClr val="42C7F1"/>
                </a:solidFill>
              </a:rPr>
              <a:t>인정점 부여</a:t>
            </a:r>
            <a:r>
              <a:rPr lang="en-US" altLang="ko-KR" sz="3600" b="1">
                <a:solidFill>
                  <a:srgbClr val="42C7F1"/>
                </a:solidFill>
              </a:rPr>
              <a:t>)</a:t>
            </a:r>
            <a:r>
              <a:rPr lang="ko-KR" altLang="en-US" sz="3600" b="1">
                <a:solidFill>
                  <a:srgbClr val="42C7F1"/>
                </a:solidFill>
              </a:rPr>
              <a:t> 제</a:t>
            </a:r>
            <a:r>
              <a:rPr lang="en-US" altLang="ko-KR" sz="3600" b="1" i="0" u="none" strike="noStrike" spc="-10">
                <a:solidFill>
                  <a:srgbClr val="42C7F1"/>
                </a:solidFill>
              </a:rPr>
              <a:t>5</a:t>
            </a:r>
            <a:r>
              <a:rPr lang="ko-KR" altLang="en-US" sz="3600" b="1" i="0" u="none" strike="noStrike" spc="-10">
                <a:solidFill>
                  <a:srgbClr val="42C7F1"/>
                </a:solidFill>
              </a:rPr>
              <a:t>항 </a:t>
            </a:r>
            <a:r>
              <a:rPr lang="EN-US" sz="2800" b="1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 </a:t>
            </a:r>
            <a:r>
              <a:rPr sz="2800" b="0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석차 산출을 위한 재적수에 포함되는 학생 성적의 해당 과목</a:t>
            </a:r>
            <a:r>
              <a:rPr lang="EN-US" sz="2800" b="0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‘</a:t>
            </a:r>
            <a:r>
              <a:rPr sz="2800" b="0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최하점</a:t>
            </a:r>
            <a:r>
              <a:rPr lang="EN-US" sz="2800" b="0" i="0" u="none" strike="noStrike" spc="-10" baseline="30000">
                <a:solidFill>
                  <a:srgbClr val="42C7F1"/>
                </a:solidFill>
                <a:latin typeface="KoPub바탕체 Light"/>
                <a:ea typeface="KoPub바탕체 Light"/>
              </a:rPr>
              <a:t>1</a:t>
            </a:r>
            <a:r>
              <a:rPr sz="2800" b="0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의 </a:t>
            </a:r>
            <a:r>
              <a:rPr lang="EN-US" sz="2800" b="0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-1’</a:t>
            </a:r>
            <a:r>
              <a:rPr sz="2800" b="0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을 부여하는 경우는 다음 </a:t>
            </a:r>
            <a:r>
              <a:rPr lang="EN-US" sz="2800" b="1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&lt;</a:t>
            </a:r>
            <a:r>
              <a:rPr sz="2800" b="1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표</a:t>
            </a:r>
            <a:r>
              <a:rPr lang="EN-US" sz="2800" b="1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&gt;</a:t>
            </a:r>
            <a:r>
              <a:rPr sz="2800" b="1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와 </a:t>
            </a:r>
            <a:r>
              <a:rPr sz="2800" b="0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같다</a:t>
            </a:r>
            <a:r>
              <a:rPr lang="EN-US" sz="2800" b="0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.</a:t>
            </a:r>
            <a:endParaRPr lang="EN-US" sz="2800" b="1" i="0" u="none" strike="noStrike" spc="-10">
              <a:solidFill>
                <a:srgbClr val="42C7F1"/>
              </a:solidFill>
              <a:latin typeface="KoPub바탕체 Light"/>
              <a:ea typeface="KoPub바탕체 Light"/>
            </a:endParaRPr>
          </a:p>
        </p:txBody>
      </p:sp>
      <p:sp>
        <p:nvSpPr>
          <p:cNvPr id="1011" name="TextBox 1010"/>
          <p:cNvSpPr txBox="1"/>
          <p:nvPr/>
        </p:nvSpPr>
        <p:spPr>
          <a:xfrm>
            <a:off x="7543800" y="1485900"/>
            <a:ext cx="9144000" cy="546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1524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1015" name="TextBox 1014"/>
          <p:cNvSpPr txBox="1"/>
          <p:nvPr/>
        </p:nvSpPr>
        <p:spPr>
          <a:xfrm>
            <a:off x="685800" y="2889885"/>
            <a:ext cx="6477000" cy="805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1270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0" u="none" strike="noStrike" spc="-20">
                <a:solidFill>
                  <a:srgbClr val="008000"/>
                </a:solidFill>
                <a:latin typeface="KoPub돋움체_Pro Medium"/>
                <a:ea typeface="KoPub돋움체_Pro Medium"/>
              </a:rPr>
              <a:t>1. </a:t>
            </a:r>
            <a:r>
              <a:rPr sz="3600" b="1" i="0" u="none" strike="noStrike" spc="-20">
                <a:solidFill>
                  <a:srgbClr val="008000"/>
                </a:solidFill>
                <a:latin typeface="KoPub돋움체_Pro Medium"/>
                <a:ea typeface="KoPub돋움체_Pro Medium"/>
              </a:rPr>
              <a:t>미인정 결석으로 인한 결시</a:t>
            </a:r>
            <a:endParaRPr lang="ko-KR" altLang="en-US" sz="3600" b="1"/>
          </a:p>
        </p:txBody>
      </p:sp>
      <p:sp>
        <p:nvSpPr>
          <p:cNvPr id="1016" name="TextBox 1015"/>
          <p:cNvSpPr txBox="1"/>
          <p:nvPr/>
        </p:nvSpPr>
        <p:spPr>
          <a:xfrm>
            <a:off x="1104900" y="3814761"/>
            <a:ext cx="16078200" cy="5736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00" indent="-25400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가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.</a:t>
            </a:r>
            <a:r>
              <a:rPr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「</a:t>
            </a:r>
            <a:r>
              <a:rPr sz="2800" b="0" i="0" u="none" strike="noStrike" spc="-80">
                <a:solidFill>
                  <a:srgbClr val="008000"/>
                </a:solidFill>
                <a:latin typeface="KoPub바탕체 Light"/>
                <a:ea typeface="KoPub바탕체 Light"/>
              </a:rPr>
              <a:t>학교폭력예방 및 대책에 관한 법률」제</a:t>
            </a:r>
            <a:r>
              <a:rPr lang="EN-US" sz="2800" b="0" i="0" u="none" strike="noStrike" spc="-80">
                <a:solidFill>
                  <a:srgbClr val="008000"/>
                </a:solidFill>
                <a:latin typeface="KoPub바탕체 Light"/>
                <a:ea typeface="KoPub바탕체 Light"/>
              </a:rPr>
              <a:t>17</a:t>
            </a:r>
            <a:r>
              <a:rPr sz="2800" b="0" i="0" u="none" strike="noStrike" spc="-80">
                <a:solidFill>
                  <a:srgbClr val="008000"/>
                </a:solidFill>
                <a:latin typeface="KoPub바탕체 Light"/>
                <a:ea typeface="KoPub바탕체 Light"/>
              </a:rPr>
              <a:t>조</a:t>
            </a:r>
            <a:r>
              <a:rPr lang="EN-US" sz="2800" b="0" i="0" u="none" strike="noStrike" spc="-80">
                <a:solidFill>
                  <a:srgbClr val="008000"/>
                </a:solidFill>
                <a:latin typeface="KoPub바탕체 Light"/>
                <a:ea typeface="KoPub바탕체 Light"/>
              </a:rPr>
              <a:t>(</a:t>
            </a:r>
            <a:r>
              <a:rPr sz="2800" b="0" i="0" u="none" strike="noStrike" spc="-80">
                <a:solidFill>
                  <a:srgbClr val="008000"/>
                </a:solidFill>
                <a:latin typeface="KoPub바탕체 Light"/>
                <a:ea typeface="KoPub바탕체 Light"/>
              </a:rPr>
              <a:t>가해학생에 대한 조치</a:t>
            </a:r>
            <a:r>
              <a:rPr lang="EN-US" sz="2800" b="0" i="0" u="none" strike="noStrike" spc="-80">
                <a:solidFill>
                  <a:srgbClr val="008000"/>
                </a:solidFill>
                <a:latin typeface="KoPub바탕체 Light"/>
                <a:ea typeface="KoPub바탕체 Light"/>
              </a:rPr>
              <a:t>)</a:t>
            </a:r>
            <a:r>
              <a:rPr sz="2800" b="0" i="0" u="none" strike="noStrike" spc="-80">
                <a:solidFill>
                  <a:srgbClr val="008000"/>
                </a:solidFill>
                <a:latin typeface="KoPub바탕체 Light"/>
                <a:ea typeface="KoPub바탕체 Light"/>
              </a:rPr>
              <a:t>제</a:t>
            </a:r>
            <a:r>
              <a:rPr lang="EN-US" sz="2800" b="0" i="0" u="none" strike="noStrike" spc="-80">
                <a:solidFill>
                  <a:srgbClr val="008000"/>
                </a:solidFill>
                <a:latin typeface="KoPub바탕체 Light"/>
                <a:ea typeface="KoPub바탕체 Light"/>
              </a:rPr>
              <a:t>1</a:t>
            </a:r>
            <a:r>
              <a:rPr sz="2800" b="0" i="0" u="none" strike="noStrike" spc="-80">
                <a:solidFill>
                  <a:srgbClr val="008000"/>
                </a:solidFill>
                <a:latin typeface="KoPub바탕체 Light"/>
                <a:ea typeface="KoPub바탕체 Light"/>
              </a:rPr>
              <a:t>항제</a:t>
            </a:r>
            <a:r>
              <a:rPr lang="EN-US" sz="2800" b="0" i="0" u="none" strike="noStrike" spc="-80">
                <a:solidFill>
                  <a:srgbClr val="008000"/>
                </a:solidFill>
                <a:latin typeface="KoPub바탕체 Light"/>
                <a:ea typeface="KoPub바탕체 Light"/>
              </a:rPr>
              <a:t>6</a:t>
            </a:r>
            <a:r>
              <a:rPr sz="2800" b="0" i="0" u="none" strike="noStrike" spc="-80">
                <a:solidFill>
                  <a:srgbClr val="008000"/>
                </a:solidFill>
                <a:latin typeface="KoPub바탕체 Light"/>
                <a:ea typeface="KoPub바탕체 Light"/>
              </a:rPr>
              <a:t>호</a:t>
            </a:r>
            <a:r>
              <a:rPr lang="EN-US" sz="2800" b="0" i="0" u="none" strike="noStrike" spc="-80">
                <a:solidFill>
                  <a:srgbClr val="008000"/>
                </a:solidFill>
                <a:latin typeface="KoPub바탕체 Light"/>
                <a:ea typeface="KoPub바탕체 Light"/>
              </a:rPr>
              <a:t>(</a:t>
            </a:r>
            <a:r>
              <a:rPr sz="2800" b="0" i="0" u="none" strike="noStrike" spc="-80">
                <a:solidFill>
                  <a:srgbClr val="008000"/>
                </a:solidFill>
                <a:latin typeface="KoPub바탕체 Light"/>
                <a:ea typeface="KoPub바탕체 Light"/>
              </a:rPr>
              <a:t>출석정지</a:t>
            </a:r>
            <a:r>
              <a:rPr lang="EN-US" sz="2800" b="0" i="0" u="none" strike="noStrike" spc="-80">
                <a:solidFill>
                  <a:srgbClr val="008000"/>
                </a:solidFill>
                <a:latin typeface="KoPub바탕체 Light"/>
                <a:ea typeface="KoPub바탕체 Light"/>
              </a:rPr>
              <a:t>)</a:t>
            </a:r>
            <a:r>
              <a:rPr sz="2800" b="0" i="0" u="none" strike="noStrike" spc="-80">
                <a:solidFill>
                  <a:srgbClr val="008000"/>
                </a:solidFill>
                <a:latin typeface="KoPub바탕체 Light"/>
                <a:ea typeface="KoPub바탕체 Light"/>
              </a:rPr>
              <a:t>에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따른 결시</a:t>
            </a:r>
          </a:p>
          <a:p>
            <a:pPr marL="635000" indent="-25400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나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.</a:t>
            </a:r>
            <a:r>
              <a:rPr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「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교원의 지위 향상 및 교육활동 보호를 위한 특별법</a:t>
            </a:r>
            <a:r>
              <a:rPr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」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제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25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조제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2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항제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4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호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(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출석정지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)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에 따른 결시</a:t>
            </a:r>
          </a:p>
          <a:p>
            <a:pPr marL="635000" indent="-25400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다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.</a:t>
            </a:r>
            <a:r>
              <a:rPr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「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초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·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중등교육법 시행령</a:t>
            </a:r>
            <a:r>
              <a:rPr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」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제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31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조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(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학생의 징계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)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제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1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항제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4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호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(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출석정지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)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에 따른 결시</a:t>
            </a:r>
          </a:p>
          <a:p>
            <a:pPr marL="635000" indent="-25400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라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.</a:t>
            </a:r>
            <a:r>
              <a:rPr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「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초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·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중등교육법 시행령</a:t>
            </a:r>
            <a:r>
              <a:rPr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」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제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31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조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(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학생의 징계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)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제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6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항에 따른 가정학습 기간으로 결시한 경우</a:t>
            </a:r>
          </a:p>
          <a:p>
            <a:pPr marL="635000" indent="-25400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마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. 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범법행위로 인한 책임 있는 사유로 결시한 경우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(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관련 기관 출석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, 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체포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, 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도피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, 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구속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(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구인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, 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구금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, 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구류 포함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), 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교도소 수감 등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)</a:t>
            </a:r>
          </a:p>
          <a:p>
            <a:pPr marL="698500" indent="-254000" algn="just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defRPr/>
            </a:pPr>
            <a:r>
              <a:rPr lang="ko-KR" altLang="en-US" sz="28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  </a:t>
            </a:r>
            <a:r>
              <a:rPr lang="ko-KR" altLang="en-US"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 </a:t>
            </a:r>
            <a:r>
              <a:rPr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※단</a:t>
            </a:r>
            <a:r>
              <a:rPr lang="EN-US"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,</a:t>
            </a:r>
            <a:r>
              <a:rPr lang="ko-KR" altLang="en-US"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 </a:t>
            </a:r>
            <a:r>
              <a:rPr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재판 결과 최종 무죄판결을 받은 경우</a:t>
            </a:r>
            <a:r>
              <a:rPr lang="EN-US"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(</a:t>
            </a:r>
            <a:r>
              <a:rPr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항소심 또는 상고심이 진행 중인 경우 제외</a:t>
            </a:r>
            <a:r>
              <a:rPr lang="EN-US"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)</a:t>
            </a:r>
            <a:r>
              <a:rPr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에</a:t>
            </a:r>
            <a:r>
              <a:rPr lang="ko-KR" altLang="en-US"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 </a:t>
            </a:r>
            <a:r>
              <a:rPr lang="EN-US"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‘</a:t>
            </a:r>
            <a:r>
              <a:rPr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출석인정결석</a:t>
            </a:r>
            <a:r>
              <a:rPr lang="EN-US"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’</a:t>
            </a:r>
            <a:r>
              <a:rPr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으로 변경하여 </a:t>
            </a:r>
            <a:r>
              <a:rPr lang="ko-KR" altLang="en-US"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   </a:t>
            </a:r>
          </a:p>
          <a:p>
            <a:pPr marL="698500" indent="-254000" algn="just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defRPr/>
            </a:pPr>
            <a:r>
              <a:rPr lang="ko-KR" altLang="en-US"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      </a:t>
            </a:r>
            <a:r>
              <a:rPr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입력함</a:t>
            </a:r>
            <a:r>
              <a:rPr lang="EN-US"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(</a:t>
            </a:r>
            <a:r>
              <a:rPr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정기시험기간 제외</a:t>
            </a:r>
            <a:r>
              <a:rPr lang="EN-US"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, </a:t>
            </a:r>
            <a:r>
              <a:rPr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성적은 미변경</a:t>
            </a:r>
            <a:r>
              <a:rPr lang="EN-US" sz="2400" b="0" i="0" u="none" strike="noStrike" spc="-40">
                <a:solidFill>
                  <a:srgbClr val="008000"/>
                </a:solidFill>
                <a:latin typeface="KoPub돋움체 Light"/>
                <a:ea typeface="KoPub돋움체 Light"/>
              </a:rPr>
              <a:t>).</a:t>
            </a:r>
          </a:p>
          <a:p>
            <a:pPr marL="698500" indent="-254000" algn="just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defRPr/>
            </a:pP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바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. 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태만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, 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가출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, 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출석 거부 등 고의로 결시한 경우</a:t>
            </a:r>
          </a:p>
          <a:p>
            <a:pPr marL="698500" indent="-254000" algn="just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defRPr/>
            </a:pP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사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. 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기타 합당하지 않는 사유로 결시한 경우</a:t>
            </a:r>
            <a:endParaRPr lang="ko-KR" altLang="en-US" sz="2800"/>
          </a:p>
        </p:txBody>
      </p:sp>
      <p:grpSp>
        <p:nvGrpSpPr>
          <p:cNvPr id="1017" name="그룹 1016"/>
          <p:cNvGrpSpPr/>
          <p:nvPr/>
        </p:nvGrpSpPr>
        <p:grpSpPr>
          <a:xfrm>
            <a:off x="9906000" y="0"/>
            <a:ext cx="8382000" cy="647700"/>
            <a:chOff x="9906000" y="0"/>
            <a:chExt cx="8382000" cy="647700"/>
          </a:xfrm>
        </p:grpSpPr>
        <p:sp>
          <p:nvSpPr>
            <p:cNvPr id="1018" name="직사각형 1017"/>
            <p:cNvSpPr/>
            <p:nvPr/>
          </p:nvSpPr>
          <p:spPr>
            <a:xfrm>
              <a:off x="9906000" y="0"/>
              <a:ext cx="8381999" cy="6477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19" name="TextBox 13"/>
            <p:cNvSpPr txBox="1"/>
            <p:nvPr/>
          </p:nvSpPr>
          <p:spPr>
            <a:xfrm>
              <a:off x="10134600" y="0"/>
              <a:ext cx="8153400" cy="512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2800" b="1">
                  <a:latin typeface="+mj-ea"/>
                  <a:ea typeface="+mj-ea"/>
                </a:rPr>
                <a:t>2026</a:t>
              </a:r>
              <a:r>
                <a:rPr lang="ko-KR" altLang="en-US" sz="2800" b="1">
                  <a:latin typeface="+mj-ea"/>
                  <a:ea typeface="+mj-ea"/>
                </a:rPr>
                <a:t>학년도 학업성적관리 시행지침 주요 변경사항</a:t>
              </a:r>
            </a:p>
          </p:txBody>
        </p:sp>
      </p:grpSp>
      <p:sp>
        <p:nvSpPr>
          <p:cNvPr id="1020" name="TextBox 1019"/>
          <p:cNvSpPr txBox="1"/>
          <p:nvPr/>
        </p:nvSpPr>
        <p:spPr>
          <a:xfrm>
            <a:off x="16840200" y="9563100"/>
            <a:ext cx="838199" cy="413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9/11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1586" y="311386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sp>
        <p:nvSpPr>
          <p:cNvPr id="10" name="TextBox 88"/>
          <p:cNvSpPr txBox="1"/>
          <p:nvPr/>
        </p:nvSpPr>
        <p:spPr>
          <a:xfrm>
            <a:off x="14782800" y="2282397"/>
            <a:ext cx="2719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6232" indent="-326232">
              <a:defRPr/>
            </a:pP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제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10</a:t>
            </a: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조 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p. 5</a:t>
            </a:r>
            <a:endParaRPr lang="ko-KR" altLang="en-US" sz="3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pSp>
        <p:nvGrpSpPr>
          <p:cNvPr id="2" name="Group 29"/>
          <p:cNvGrpSpPr/>
          <p:nvPr/>
        </p:nvGrpSpPr>
        <p:grpSpPr>
          <a:xfrm flipH="1">
            <a:off x="761997" y="1105442"/>
            <a:ext cx="16535401" cy="1752057"/>
            <a:chOff x="1822736" y="2564904"/>
            <a:chExt cx="3384376" cy="1415810"/>
          </a:xfrm>
        </p:grpSpPr>
        <p:sp>
          <p:nvSpPr>
            <p:cNvPr id="5" name="Rounded Rectangle 9"/>
            <p:cNvSpPr/>
            <p:nvPr/>
          </p:nvSpPr>
          <p:spPr>
            <a:xfrm flipH="1">
              <a:off x="1822737" y="2575647"/>
              <a:ext cx="1538088" cy="1405067"/>
            </a:xfrm>
            <a:custGeom>
              <a:avLst/>
              <a:gdLst/>
              <a:ahLst/>
              <a:cxnLst/>
              <a:rect l="l" t="t" r="r" b="b"/>
              <a:pathLst>
                <a:path w="1572775" h="1405065">
                  <a:moveTo>
                    <a:pt x="1473249" y="0"/>
                  </a:moveTo>
                  <a:cubicBezTo>
                    <a:pt x="1531558" y="20642"/>
                    <a:pt x="1572775" y="76505"/>
                    <a:pt x="1572775" y="141994"/>
                  </a:cubicBezTo>
                  <a:lnTo>
                    <a:pt x="1572775" y="1252328"/>
                  </a:lnTo>
                  <a:cubicBezTo>
                    <a:pt x="1572775" y="1336682"/>
                    <a:pt x="1504392" y="1405065"/>
                    <a:pt x="1420038" y="1405065"/>
                  </a:cubicBezTo>
                  <a:lnTo>
                    <a:pt x="0" y="1405065"/>
                  </a:lnTo>
                  <a:cubicBezTo>
                    <a:pt x="768941" y="1317621"/>
                    <a:pt x="1379064" y="735374"/>
                    <a:pt x="1473249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050"/>
            </a:p>
          </p:txBody>
        </p:sp>
        <p:sp>
          <p:nvSpPr>
            <p:cNvPr id="4" name="Rounded Rectangle 31"/>
            <p:cNvSpPr/>
            <p:nvPr/>
          </p:nvSpPr>
          <p:spPr>
            <a:xfrm>
              <a:off x="1822736" y="2564904"/>
              <a:ext cx="3384376" cy="1415807"/>
            </a:xfrm>
            <a:prstGeom prst="roundRect">
              <a:avLst>
                <a:gd name="adj" fmla="val 10788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FFFF00"/>
                  </a:solidFill>
                </a:rPr>
                <a:t> </a:t>
              </a:r>
              <a:endParaRPr lang="en-US" sz="4800" b="1">
                <a:solidFill>
                  <a:srgbClr val="FFFF00"/>
                </a:solidFill>
              </a:endParaRPr>
            </a:p>
          </p:txBody>
        </p:sp>
      </p:grpSp>
      <p:sp>
        <p:nvSpPr>
          <p:cNvPr id="1006" name="TextBox 1005"/>
          <p:cNvSpPr txBox="1"/>
          <p:nvPr/>
        </p:nvSpPr>
        <p:spPr>
          <a:xfrm>
            <a:off x="1371600" y="3086100"/>
            <a:ext cx="7239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7" name="TextBox 1006"/>
          <p:cNvSpPr txBox="1"/>
          <p:nvPr/>
        </p:nvSpPr>
        <p:spPr>
          <a:xfrm>
            <a:off x="1828800" y="2781300"/>
            <a:ext cx="25908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9" name="TextBox 1008"/>
          <p:cNvSpPr txBox="1"/>
          <p:nvPr/>
        </p:nvSpPr>
        <p:spPr>
          <a:xfrm>
            <a:off x="990600" y="1163953"/>
            <a:ext cx="16230600" cy="1691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5100" indent="-1651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1">
                <a:solidFill>
                  <a:srgbClr val="42C7F1"/>
                </a:solidFill>
              </a:rPr>
              <a:t>제</a:t>
            </a:r>
            <a:r>
              <a:rPr lang="en-US" altLang="ko-KR" sz="3600" b="1">
                <a:solidFill>
                  <a:srgbClr val="42C7F1"/>
                </a:solidFill>
              </a:rPr>
              <a:t>20</a:t>
            </a:r>
            <a:r>
              <a:rPr lang="ko-KR" altLang="en-US" sz="3600" b="1">
                <a:solidFill>
                  <a:srgbClr val="42C7F1"/>
                </a:solidFill>
              </a:rPr>
              <a:t>조</a:t>
            </a:r>
            <a:r>
              <a:rPr lang="en-US" altLang="ko-KR" sz="3600" b="1">
                <a:solidFill>
                  <a:srgbClr val="42C7F1"/>
                </a:solidFill>
              </a:rPr>
              <a:t>(</a:t>
            </a:r>
            <a:r>
              <a:rPr lang="ko-KR" altLang="en-US" sz="3600" b="1">
                <a:solidFill>
                  <a:srgbClr val="42C7F1"/>
                </a:solidFill>
              </a:rPr>
              <a:t>인정점 부여</a:t>
            </a:r>
            <a:r>
              <a:rPr lang="en-US" altLang="ko-KR" sz="3600" b="1">
                <a:solidFill>
                  <a:srgbClr val="42C7F1"/>
                </a:solidFill>
              </a:rPr>
              <a:t>)</a:t>
            </a:r>
            <a:r>
              <a:rPr lang="ko-KR" altLang="en-US" sz="3600" b="1">
                <a:solidFill>
                  <a:srgbClr val="42C7F1"/>
                </a:solidFill>
              </a:rPr>
              <a:t> 제</a:t>
            </a:r>
            <a:r>
              <a:rPr lang="en-US" altLang="ko-KR" sz="3600" b="1" i="0" u="none" strike="noStrike" spc="-10">
                <a:solidFill>
                  <a:srgbClr val="42C7F1"/>
                </a:solidFill>
              </a:rPr>
              <a:t>5</a:t>
            </a:r>
            <a:r>
              <a:rPr lang="ko-KR" altLang="en-US" sz="3600" b="1" i="0" u="none" strike="noStrike" spc="-10">
                <a:solidFill>
                  <a:srgbClr val="42C7F1"/>
                </a:solidFill>
              </a:rPr>
              <a:t>항 </a:t>
            </a:r>
            <a:r>
              <a:rPr lang="EN-US" sz="2800" b="1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 </a:t>
            </a:r>
            <a:r>
              <a:rPr sz="2800" b="0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석차 산출을 위한 재적수에 포함되는 학생 성적의 해당 과목</a:t>
            </a:r>
            <a:r>
              <a:rPr lang="EN-US" sz="2800" b="0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‘</a:t>
            </a:r>
            <a:r>
              <a:rPr sz="2800" b="0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최하점</a:t>
            </a:r>
            <a:r>
              <a:rPr lang="EN-US" sz="2800" b="0" i="0" u="none" strike="noStrike" spc="-10" baseline="30000">
                <a:solidFill>
                  <a:srgbClr val="42C7F1"/>
                </a:solidFill>
                <a:latin typeface="KoPub바탕체 Light"/>
                <a:ea typeface="KoPub바탕체 Light"/>
              </a:rPr>
              <a:t>1</a:t>
            </a:r>
            <a:r>
              <a:rPr sz="2800" b="0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의 </a:t>
            </a:r>
            <a:r>
              <a:rPr lang="EN-US" sz="2800" b="0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-1’</a:t>
            </a:r>
            <a:r>
              <a:rPr sz="2800" b="0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을 부여하는 경우는 다음 </a:t>
            </a:r>
            <a:r>
              <a:rPr lang="EN-US" sz="2800" b="1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&lt;</a:t>
            </a:r>
            <a:r>
              <a:rPr sz="2800" b="1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표</a:t>
            </a:r>
            <a:r>
              <a:rPr lang="EN-US" sz="2800" b="1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&gt;</a:t>
            </a:r>
            <a:r>
              <a:rPr sz="2800" b="1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와 </a:t>
            </a:r>
            <a:r>
              <a:rPr sz="2800" b="0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같다</a:t>
            </a:r>
            <a:r>
              <a:rPr lang="EN-US" sz="2800" b="0" i="0" u="none" strike="noStrike" spc="-10">
                <a:solidFill>
                  <a:srgbClr val="42C7F1"/>
                </a:solidFill>
                <a:latin typeface="KoPub바탕체 Light"/>
                <a:ea typeface="KoPub바탕체 Light"/>
              </a:rPr>
              <a:t>.</a:t>
            </a:r>
            <a:endParaRPr lang="EN-US" sz="2800" b="1" i="0" u="none" strike="noStrike" spc="-10">
              <a:solidFill>
                <a:srgbClr val="42C7F1"/>
              </a:solidFill>
              <a:latin typeface="KoPub바탕체 Light"/>
              <a:ea typeface="KoPub바탕체 Light"/>
            </a:endParaRPr>
          </a:p>
        </p:txBody>
      </p:sp>
      <p:sp>
        <p:nvSpPr>
          <p:cNvPr id="1011" name="TextBox 1010"/>
          <p:cNvSpPr txBox="1"/>
          <p:nvPr/>
        </p:nvSpPr>
        <p:spPr>
          <a:xfrm>
            <a:off x="7543800" y="1485900"/>
            <a:ext cx="9144000" cy="546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1524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1015" name="TextBox 1014"/>
          <p:cNvSpPr txBox="1"/>
          <p:nvPr/>
        </p:nvSpPr>
        <p:spPr>
          <a:xfrm>
            <a:off x="304800" y="2857500"/>
            <a:ext cx="6477000" cy="805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1270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600" b="1" i="0" u="none" strike="noStrike" spc="-20">
                <a:solidFill>
                  <a:srgbClr val="008000"/>
                </a:solidFill>
                <a:latin typeface="KoPub돋움체_Pro Medium"/>
                <a:ea typeface="KoPub돋움체_Pro Medium"/>
              </a:rPr>
              <a:t>2</a:t>
            </a:r>
            <a:r>
              <a:rPr lang="EN-US" sz="3600" b="1" i="0" u="none" strike="noStrike" spc="-20">
                <a:solidFill>
                  <a:srgbClr val="008000"/>
                </a:solidFill>
                <a:latin typeface="KoPub돋움체_Pro Medium"/>
                <a:ea typeface="KoPub돋움체_Pro Medium"/>
              </a:rPr>
              <a:t>. </a:t>
            </a:r>
            <a:r>
              <a:rPr sz="3600" b="1" i="0" u="none" strike="noStrike" spc="-20">
                <a:solidFill>
                  <a:srgbClr val="008000"/>
                </a:solidFill>
                <a:latin typeface="KoPub돋움체_Pro Medium"/>
                <a:ea typeface="KoPub돋움체_Pro Medium"/>
              </a:rPr>
              <a:t>인정 결석으로 인한 결시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609600" y="3695698"/>
            <a:ext cx="16687800" cy="5293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9507" indent="-640204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  </a:t>
            </a:r>
            <a:r>
              <a:rPr lang="ko-KR" altLang="en-US" sz="2800" b="1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가</a:t>
            </a:r>
            <a:r>
              <a:rPr lang="en-US" altLang="ko-KR" sz="2800" b="1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.</a:t>
            </a:r>
            <a:r>
              <a:rPr lang="ko-KR" altLang="en-US" sz="2800" b="1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 </a:t>
            </a:r>
            <a:r>
              <a:rPr sz="2800" b="1" i="0" u="none" strike="noStrike" spc="-50">
                <a:solidFill>
                  <a:srgbClr val="008000"/>
                </a:solidFill>
                <a:latin typeface="KoPub바탕체 Light"/>
                <a:ea typeface="KoPub바탕체 Light"/>
              </a:rPr>
              <a:t>정기시험</a:t>
            </a:r>
            <a:r>
              <a:rPr sz="2800" b="1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기간 중 교외체험학습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(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단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, 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감염병의 전국적 유행 등 국가 재난에</a:t>
            </a:r>
            <a:r>
              <a:rPr lang="ko-KR" altLang="en-US"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 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준하는 상황에서는 학업성적관리위원회의 심의를 거쳐 인정점 부여 기준 달리 정하여 적용할 수 있다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.)</a:t>
            </a:r>
          </a:p>
          <a:p>
            <a:pPr marL="1511300" indent="-1120931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800" b="1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나</a:t>
            </a:r>
            <a:r>
              <a:rPr lang="EN-US" sz="2800" b="1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. </a:t>
            </a:r>
            <a:r>
              <a:rPr sz="2800" b="1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학업중단숙려 참여 학생이 정기시험에 응시하지 않은 경우</a:t>
            </a:r>
          </a:p>
          <a:p>
            <a:pPr marL="1511300" indent="-1120931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다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. 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시도</a:t>
            </a:r>
            <a:r>
              <a:rPr sz="2800" b="0" i="0" u="none" strike="noStrike" spc="-100">
                <a:solidFill>
                  <a:srgbClr val="008000"/>
                </a:solidFill>
                <a:latin typeface="KoPub바탕체 Light"/>
                <a:ea typeface="KoPub바탕체 Light"/>
              </a:rPr>
              <a:t>경찰청「소년업무규칙」</a:t>
            </a:r>
            <a:r>
              <a:rPr sz="2800" b="0" i="0" u="none" strike="noStrike" spc="-80">
                <a:solidFill>
                  <a:srgbClr val="008000"/>
                </a:solidFill>
                <a:latin typeface="KoPub바탕체 Light"/>
                <a:ea typeface="KoPub바탕체 Light"/>
              </a:rPr>
              <a:t>에</a:t>
            </a:r>
            <a:r>
              <a:rPr sz="2800" b="0" i="0" u="none" strike="noStrike" spc="-100">
                <a:solidFill>
                  <a:srgbClr val="008000"/>
                </a:solidFill>
                <a:latin typeface="KoPub바탕체 Light"/>
                <a:ea typeface="KoPub바탕체 Light"/>
              </a:rPr>
              <a:t>따른 경찰관서의 선도프로그램에 참여하는 경우의</a:t>
            </a:r>
            <a:r>
              <a:rPr lang="ko-KR" altLang="en-US" sz="2800" b="0" i="0" u="none" strike="noStrike" spc="-100">
                <a:solidFill>
                  <a:srgbClr val="008000"/>
                </a:solidFill>
                <a:latin typeface="KoPub바탕체 Light"/>
                <a:ea typeface="KoPub바탕체 Light"/>
              </a:rPr>
              <a:t> </a:t>
            </a:r>
            <a:r>
              <a:rPr sz="2800" b="0" i="0" u="none" strike="noStrike" spc="-100">
                <a:solidFill>
                  <a:srgbClr val="008000"/>
                </a:solidFill>
                <a:latin typeface="KoPub바탕체 Light"/>
                <a:ea typeface="KoPub바탕체 Light"/>
              </a:rPr>
              <a:t>결시</a:t>
            </a:r>
          </a:p>
          <a:p>
            <a:pPr marL="635000" indent="-25400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라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. </a:t>
            </a:r>
            <a:r>
              <a:rPr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｢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학교폭력예방 및 대책에 관한 법률</a:t>
            </a:r>
            <a:r>
              <a:rPr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｣ 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제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17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조제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1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항제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4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호와 제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5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호에 따른 사회봉사와 학내외 전문가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, </a:t>
            </a: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교육감이 정한 기관에 의한 특별교육 이수 또는 심리치료로 인한 결시</a:t>
            </a:r>
          </a:p>
          <a:p>
            <a:pPr marL="635000" indent="-254000" algn="just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800" b="0" i="0" u="none" strike="noStrike" spc="-10">
                <a:solidFill>
                  <a:srgbClr val="008000"/>
                </a:solidFill>
                <a:latin typeface="KoPub바탕체 Light"/>
                <a:ea typeface="KoPub바탕체 Light"/>
              </a:rPr>
              <a:t>마</a:t>
            </a:r>
            <a:r>
              <a:rPr lang="EN-US" sz="2800" b="0" i="0" u="none" strike="noStrike" spc="-20">
                <a:solidFill>
                  <a:srgbClr val="008000"/>
                </a:solidFill>
                <a:latin typeface="KoPub바탕체 Light"/>
                <a:ea typeface="KoPub바탕체 Light"/>
              </a:rPr>
              <a:t>. </a:t>
            </a:r>
            <a:r>
              <a:rPr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「교원의 지위향상 및 교육활동 보호를 위한 특별법｣ 제</a:t>
            </a:r>
            <a:r>
              <a:rPr lang="EN-US"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25</a:t>
            </a:r>
            <a:r>
              <a:rPr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조제</a:t>
            </a:r>
            <a:r>
              <a:rPr lang="EN-US"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2</a:t>
            </a:r>
            <a:r>
              <a:rPr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항제</a:t>
            </a:r>
            <a:r>
              <a:rPr lang="EN-US"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2</a:t>
            </a:r>
            <a:r>
              <a:rPr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호와 제</a:t>
            </a:r>
            <a:r>
              <a:rPr lang="EN-US"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3</a:t>
            </a:r>
            <a:r>
              <a:rPr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호에 따른 </a:t>
            </a:r>
            <a:r>
              <a:rPr lang="EN-US"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‘</a:t>
            </a:r>
            <a:r>
              <a:rPr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사회봉사</a:t>
            </a:r>
            <a:r>
              <a:rPr lang="EN-US"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’</a:t>
            </a:r>
            <a:r>
              <a:rPr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와 </a:t>
            </a:r>
            <a:r>
              <a:rPr lang="EN-US"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‘</a:t>
            </a:r>
            <a:r>
              <a:rPr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학내외 전문가에 의한 특별교육 이수 또는 심리치료</a:t>
            </a:r>
            <a:r>
              <a:rPr lang="EN-US"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’, </a:t>
            </a:r>
            <a:r>
              <a:rPr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제</a:t>
            </a:r>
            <a:r>
              <a:rPr lang="EN-US"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25</a:t>
            </a:r>
            <a:r>
              <a:rPr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조제</a:t>
            </a:r>
            <a:r>
              <a:rPr lang="EN-US"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3</a:t>
            </a:r>
            <a:r>
              <a:rPr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항과 제</a:t>
            </a:r>
            <a:r>
              <a:rPr lang="EN-US"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4</a:t>
            </a:r>
            <a:r>
              <a:rPr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항에 따른 </a:t>
            </a:r>
            <a:r>
              <a:rPr lang="EN-US"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‘</a:t>
            </a:r>
            <a:r>
              <a:rPr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특별교육 이수 또는 심리치료</a:t>
            </a:r>
            <a:r>
              <a:rPr lang="EN-US"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’</a:t>
            </a:r>
            <a:r>
              <a:rPr sz="2800" b="0" i="0" u="none" strike="noStrike" spc="-60">
                <a:solidFill>
                  <a:srgbClr val="008000"/>
                </a:solidFill>
                <a:latin typeface="KoPub바탕체 Light"/>
                <a:ea typeface="KoPub바탕체 Light"/>
              </a:rPr>
              <a:t>로 인한 결시</a:t>
            </a:r>
            <a:endParaRPr lang="ko-KR" altLang="en-US" sz="2800"/>
          </a:p>
        </p:txBody>
      </p:sp>
      <p:grpSp>
        <p:nvGrpSpPr>
          <p:cNvPr id="1018" name="그룹 1017"/>
          <p:cNvGrpSpPr/>
          <p:nvPr/>
        </p:nvGrpSpPr>
        <p:grpSpPr>
          <a:xfrm>
            <a:off x="9906000" y="0"/>
            <a:ext cx="8382000" cy="647700"/>
            <a:chOff x="9906000" y="0"/>
            <a:chExt cx="8382000" cy="647700"/>
          </a:xfrm>
        </p:grpSpPr>
        <p:sp>
          <p:nvSpPr>
            <p:cNvPr id="1019" name="직사각형 1018"/>
            <p:cNvSpPr/>
            <p:nvPr/>
          </p:nvSpPr>
          <p:spPr>
            <a:xfrm>
              <a:off x="9906000" y="0"/>
              <a:ext cx="8381999" cy="6477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20" name="TextBox 13"/>
            <p:cNvSpPr txBox="1"/>
            <p:nvPr/>
          </p:nvSpPr>
          <p:spPr>
            <a:xfrm>
              <a:off x="10134600" y="0"/>
              <a:ext cx="8153400" cy="512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2800" b="1">
                  <a:latin typeface="+mj-ea"/>
                  <a:ea typeface="+mj-ea"/>
                </a:rPr>
                <a:t>2026</a:t>
              </a:r>
              <a:r>
                <a:rPr lang="ko-KR" altLang="en-US" sz="2800" b="1">
                  <a:latin typeface="+mj-ea"/>
                  <a:ea typeface="+mj-ea"/>
                </a:rPr>
                <a:t>학년도 학업성적관리 시행지침 주요 변경사항</a:t>
              </a:r>
            </a:p>
          </p:txBody>
        </p:sp>
      </p:grpSp>
      <p:sp>
        <p:nvSpPr>
          <p:cNvPr id="1021" name="TextBox 1020"/>
          <p:cNvSpPr txBox="1"/>
          <p:nvPr/>
        </p:nvSpPr>
        <p:spPr>
          <a:xfrm>
            <a:off x="16611600" y="9563100"/>
            <a:ext cx="1066800" cy="407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10/11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1586" y="311386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sp>
        <p:nvSpPr>
          <p:cNvPr id="10" name="TextBox 88"/>
          <p:cNvSpPr txBox="1"/>
          <p:nvPr/>
        </p:nvSpPr>
        <p:spPr>
          <a:xfrm>
            <a:off x="14782800" y="2282397"/>
            <a:ext cx="2719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6232" indent="-326232">
              <a:defRPr/>
            </a:pP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제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10</a:t>
            </a:r>
            <a:r>
              <a:rPr lang="ko-KR" altLang="en-US" sz="3600" b="1">
                <a:solidFill>
                  <a:schemeClr val="bg1"/>
                </a:solidFill>
                <a:latin typeface="맑은 고딕"/>
                <a:ea typeface="맑은 고딕"/>
              </a:rPr>
              <a:t>조 </a:t>
            </a:r>
            <a:r>
              <a:rPr lang="en-US" altLang="ko-KR" sz="3600" b="1">
                <a:solidFill>
                  <a:schemeClr val="bg1"/>
                </a:solidFill>
                <a:latin typeface="맑은 고딕"/>
                <a:ea typeface="맑은 고딕"/>
              </a:rPr>
              <a:t>p. 5</a:t>
            </a:r>
            <a:endParaRPr lang="ko-KR" altLang="en-US" sz="3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pSp>
        <p:nvGrpSpPr>
          <p:cNvPr id="2" name="Group 29"/>
          <p:cNvGrpSpPr/>
          <p:nvPr/>
        </p:nvGrpSpPr>
        <p:grpSpPr>
          <a:xfrm flipH="1">
            <a:off x="761998" y="1105443"/>
            <a:ext cx="6324601" cy="1142457"/>
            <a:chOff x="1822736" y="2564904"/>
            <a:chExt cx="3384376" cy="1415810"/>
          </a:xfrm>
        </p:grpSpPr>
        <p:sp>
          <p:nvSpPr>
            <p:cNvPr id="5" name="Rounded Rectangle 9"/>
            <p:cNvSpPr/>
            <p:nvPr/>
          </p:nvSpPr>
          <p:spPr>
            <a:xfrm flipH="1">
              <a:off x="1822737" y="2575647"/>
              <a:ext cx="1538088" cy="1405067"/>
            </a:xfrm>
            <a:custGeom>
              <a:avLst/>
              <a:gdLst/>
              <a:ahLst/>
              <a:cxnLst/>
              <a:rect l="l" t="t" r="r" b="b"/>
              <a:pathLst>
                <a:path w="1572775" h="1405065">
                  <a:moveTo>
                    <a:pt x="1473249" y="0"/>
                  </a:moveTo>
                  <a:cubicBezTo>
                    <a:pt x="1531558" y="20642"/>
                    <a:pt x="1572775" y="76505"/>
                    <a:pt x="1572775" y="141994"/>
                  </a:cubicBezTo>
                  <a:lnTo>
                    <a:pt x="1572775" y="1252328"/>
                  </a:lnTo>
                  <a:cubicBezTo>
                    <a:pt x="1572775" y="1336682"/>
                    <a:pt x="1504392" y="1405065"/>
                    <a:pt x="1420038" y="1405065"/>
                  </a:cubicBezTo>
                  <a:lnTo>
                    <a:pt x="0" y="1405065"/>
                  </a:lnTo>
                  <a:cubicBezTo>
                    <a:pt x="768941" y="1317621"/>
                    <a:pt x="1379064" y="735374"/>
                    <a:pt x="1473249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050"/>
            </a:p>
          </p:txBody>
        </p:sp>
        <p:sp>
          <p:nvSpPr>
            <p:cNvPr id="4" name="Rounded Rectangle 31"/>
            <p:cNvSpPr/>
            <p:nvPr/>
          </p:nvSpPr>
          <p:spPr>
            <a:xfrm>
              <a:off x="1822736" y="2564904"/>
              <a:ext cx="3384376" cy="1415807"/>
            </a:xfrm>
            <a:prstGeom prst="roundRect">
              <a:avLst>
                <a:gd name="adj" fmla="val 10788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FFFF00"/>
                  </a:solidFill>
                </a:rPr>
                <a:t> </a:t>
              </a:r>
              <a:endParaRPr lang="en-US" sz="4800" b="1">
                <a:solidFill>
                  <a:srgbClr val="FFFF00"/>
                </a:solidFill>
              </a:endParaRPr>
            </a:p>
          </p:txBody>
        </p:sp>
      </p:grpSp>
      <p:sp>
        <p:nvSpPr>
          <p:cNvPr id="1006" name="TextBox 1005"/>
          <p:cNvSpPr txBox="1"/>
          <p:nvPr/>
        </p:nvSpPr>
        <p:spPr>
          <a:xfrm>
            <a:off x="1371600" y="3086100"/>
            <a:ext cx="7239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7" name="TextBox 1006"/>
          <p:cNvSpPr txBox="1"/>
          <p:nvPr/>
        </p:nvSpPr>
        <p:spPr>
          <a:xfrm>
            <a:off x="1828800" y="2781300"/>
            <a:ext cx="25908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009" name="TextBox 1008"/>
          <p:cNvSpPr txBox="1"/>
          <p:nvPr/>
        </p:nvSpPr>
        <p:spPr>
          <a:xfrm>
            <a:off x="1371600" y="1181099"/>
            <a:ext cx="5638800" cy="1845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1">
                <a:solidFill>
                  <a:srgbClr val="42C7F1"/>
                </a:solidFill>
              </a:rPr>
              <a:t>제</a:t>
            </a:r>
            <a:r>
              <a:rPr lang="en-US" altLang="ko-KR" sz="3600" b="1">
                <a:solidFill>
                  <a:srgbClr val="42C7F1"/>
                </a:solidFill>
              </a:rPr>
              <a:t>22</a:t>
            </a:r>
            <a:r>
              <a:rPr lang="ko-KR" altLang="en-US" sz="3600" b="1">
                <a:solidFill>
                  <a:srgbClr val="42C7F1"/>
                </a:solidFill>
              </a:rPr>
              <a:t>조</a:t>
            </a:r>
            <a:r>
              <a:rPr lang="en-US" altLang="ko-KR" sz="3600" b="1">
                <a:solidFill>
                  <a:srgbClr val="42C7F1"/>
                </a:solidFill>
              </a:rPr>
              <a:t>(</a:t>
            </a:r>
            <a:r>
              <a:rPr lang="ko-KR" altLang="en-US" sz="3600" b="1">
                <a:solidFill>
                  <a:srgbClr val="42C7F1"/>
                </a:solidFill>
              </a:rPr>
              <a:t>성취도 평정</a:t>
            </a:r>
            <a:r>
              <a:rPr lang="en-US" altLang="ko-KR" sz="3600" b="1">
                <a:solidFill>
                  <a:srgbClr val="42C7F1"/>
                </a:solidFill>
              </a:rPr>
              <a:t>)</a:t>
            </a:r>
            <a:r>
              <a:rPr lang="ko-KR" altLang="en-US" sz="3600" b="1">
                <a:solidFill>
                  <a:srgbClr val="42C7F1"/>
                </a:solidFill>
              </a:rPr>
              <a:t> 제</a:t>
            </a:r>
            <a:r>
              <a:rPr lang="en-US" altLang="ko-KR" sz="3600" b="1" i="0" u="none" strike="noStrike" spc="-10">
                <a:solidFill>
                  <a:srgbClr val="42C7F1"/>
                </a:solidFill>
              </a:rPr>
              <a:t>4</a:t>
            </a:r>
            <a:r>
              <a:rPr lang="ko-KR" altLang="en-US" sz="3600" b="1" i="0" u="none" strike="noStrike" spc="-10">
                <a:solidFill>
                  <a:srgbClr val="42C7F1"/>
                </a:solidFill>
              </a:rPr>
              <a:t>항</a:t>
            </a:r>
          </a:p>
          <a:p>
            <a:pPr marL="152400" indent="-152400" algn="just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3600" b="1">
              <a:solidFill>
                <a:srgbClr val="42C7F1"/>
              </a:solidFill>
            </a:endParaRPr>
          </a:p>
        </p:txBody>
      </p:sp>
      <p:sp>
        <p:nvSpPr>
          <p:cNvPr id="1012" name="TextBox 1011"/>
          <p:cNvSpPr txBox="1"/>
          <p:nvPr/>
        </p:nvSpPr>
        <p:spPr>
          <a:xfrm>
            <a:off x="1600200" y="2655570"/>
            <a:ext cx="14782800" cy="1838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0" i="0" u="none" strike="noStrike" spc="-20">
                <a:solidFill>
                  <a:srgbClr val="FF0000"/>
                </a:solidFill>
                <a:latin typeface="KoPub바탕체 Light"/>
                <a:ea typeface="KoPub바탕체 Light"/>
              </a:rPr>
              <a:t>※ </a:t>
            </a:r>
            <a:r>
              <a:rPr lang="EN-US" sz="3600" b="0" i="0" u="none" strike="noStrike" spc="-30">
                <a:solidFill>
                  <a:srgbClr val="FF0000"/>
                </a:solidFill>
                <a:latin typeface="KoPub바탕체 Light"/>
                <a:ea typeface="KoPub바탕체 Light"/>
              </a:rPr>
              <a:t>2022 </a:t>
            </a:r>
            <a:r>
              <a:rPr sz="3600" b="0" i="0" u="none" strike="noStrike" spc="-30">
                <a:solidFill>
                  <a:srgbClr val="FF0000"/>
                </a:solidFill>
                <a:latin typeface="KoPub바탕체 Light"/>
                <a:ea typeface="KoPub바탕체 Light"/>
              </a:rPr>
              <a:t>개정 교육과정의 학교자율시간 과목의 경우 교육과정 편성에 따른 해당 교과</a:t>
            </a:r>
            <a:r>
              <a:rPr lang="EN-US" sz="3600" b="0" i="0" u="none" strike="noStrike" spc="-30">
                <a:solidFill>
                  <a:srgbClr val="FF0000"/>
                </a:solidFill>
                <a:latin typeface="KoPub바탕체 Light"/>
                <a:ea typeface="KoPub바탕체 Light"/>
              </a:rPr>
              <a:t>(</a:t>
            </a:r>
            <a:r>
              <a:rPr sz="3600" b="0" i="0" u="none" strike="noStrike" spc="-30">
                <a:solidFill>
                  <a:srgbClr val="FF0000"/>
                </a:solidFill>
                <a:latin typeface="KoPub바탕체 Light"/>
                <a:ea typeface="KoPub바탕체 Light"/>
              </a:rPr>
              <a:t>군</a:t>
            </a:r>
            <a:r>
              <a:rPr lang="EN-US" sz="3600" b="0" i="0" u="none" strike="noStrike" spc="-30">
                <a:solidFill>
                  <a:srgbClr val="FF0000"/>
                </a:solidFill>
                <a:latin typeface="KoPub바탕체 Light"/>
                <a:ea typeface="KoPub바탕체 Light"/>
              </a:rPr>
              <a:t>)</a:t>
            </a:r>
            <a:r>
              <a:rPr sz="3600" b="0" i="0" u="none" strike="noStrike" spc="-30">
                <a:solidFill>
                  <a:srgbClr val="FF0000"/>
                </a:solidFill>
                <a:latin typeface="KoPub바탕체 Light"/>
                <a:ea typeface="KoPub바탕체 Light"/>
              </a:rPr>
              <a:t>의</a:t>
            </a:r>
            <a:r>
              <a:rPr sz="3600" b="0" i="0" u="none" strike="noStrike" spc="-10">
                <a:solidFill>
                  <a:srgbClr val="FF0000"/>
                </a:solidFill>
                <a:latin typeface="KoPub바탕체 Light"/>
                <a:ea typeface="KoPub바탕체 Light"/>
              </a:rPr>
              <a:t>평가방식을 따른다</a:t>
            </a:r>
            <a:r>
              <a:rPr lang="EN-US" sz="3600" b="0" i="0" u="none" strike="noStrike" spc="-20">
                <a:solidFill>
                  <a:srgbClr val="FF0000"/>
                </a:solidFill>
                <a:latin typeface="KoPub바탕체 Light"/>
                <a:ea typeface="KoPub바탕체 Light"/>
              </a:rPr>
              <a:t>.</a:t>
            </a:r>
            <a:endParaRPr lang="ko-KR" altLang="en-US" sz="3600"/>
          </a:p>
        </p:txBody>
      </p:sp>
      <p:grpSp>
        <p:nvGrpSpPr>
          <p:cNvPr id="1013" name="그룹 1012"/>
          <p:cNvGrpSpPr/>
          <p:nvPr/>
        </p:nvGrpSpPr>
        <p:grpSpPr>
          <a:xfrm>
            <a:off x="9906000" y="0"/>
            <a:ext cx="8382000" cy="647700"/>
            <a:chOff x="9906000" y="0"/>
            <a:chExt cx="8382000" cy="647700"/>
          </a:xfrm>
        </p:grpSpPr>
        <p:sp>
          <p:nvSpPr>
            <p:cNvPr id="1014" name="직사각형 1013"/>
            <p:cNvSpPr/>
            <p:nvPr/>
          </p:nvSpPr>
          <p:spPr>
            <a:xfrm>
              <a:off x="9906000" y="0"/>
              <a:ext cx="8381999" cy="6477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15" name="TextBox 13"/>
            <p:cNvSpPr txBox="1"/>
            <p:nvPr/>
          </p:nvSpPr>
          <p:spPr>
            <a:xfrm>
              <a:off x="10134600" y="0"/>
              <a:ext cx="8153400" cy="512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2800" b="1">
                  <a:latin typeface="+mj-ea"/>
                  <a:ea typeface="+mj-ea"/>
                </a:rPr>
                <a:t>2026</a:t>
              </a:r>
              <a:r>
                <a:rPr lang="ko-KR" altLang="en-US" sz="2800" b="1">
                  <a:latin typeface="+mj-ea"/>
                  <a:ea typeface="+mj-ea"/>
                </a:rPr>
                <a:t>학년도 학업성적관리 시행지침 주요 변경사항</a:t>
              </a:r>
            </a:p>
          </p:txBody>
        </p:sp>
      </p:grpSp>
      <p:pic>
        <p:nvPicPr>
          <p:cNvPr id="1016" name="그림 6"/>
          <p:cNvPicPr>
            <a:picLocks noChangeAspect="1"/>
          </p:cNvPicPr>
          <p:nvPr/>
        </p:nvPicPr>
        <p:blipFill rotWithShape="1">
          <a:blip r:embed="rId5"/>
          <a:srcRect l="5250" t="11820" r="1580" b="8950"/>
          <a:stretch>
            <a:fillRect/>
          </a:stretch>
        </p:blipFill>
        <p:spPr>
          <a:xfrm>
            <a:off x="14249402" y="7518475"/>
            <a:ext cx="2667002" cy="1435027"/>
          </a:xfrm>
          <a:prstGeom prst="rect">
            <a:avLst/>
          </a:prstGeom>
        </p:spPr>
      </p:pic>
      <p:sp>
        <p:nvSpPr>
          <p:cNvPr id="1017" name="TextBox 1016"/>
          <p:cNvSpPr txBox="1"/>
          <p:nvPr/>
        </p:nvSpPr>
        <p:spPr>
          <a:xfrm>
            <a:off x="16611600" y="9563100"/>
            <a:ext cx="1066800" cy="407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11/11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0445" y="189141"/>
            <a:ext cx="17104828" cy="9664227"/>
            <a:chOff x="590444" y="189141"/>
            <a:chExt cx="17104828" cy="9664227"/>
          </a:xfrm>
          <a:solidFill>
            <a:srgbClr val="9D5CBB"/>
          </a:solidFill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grpFill/>
          </p:spPr>
        </p:pic>
      </p:grpSp>
      <p:grpSp>
        <p:nvGrpSpPr>
          <p:cNvPr id="4" name="그룹 1003"/>
          <p:cNvGrpSpPr/>
          <p:nvPr/>
        </p:nvGrpSpPr>
        <p:grpSpPr>
          <a:xfrm>
            <a:off x="228600" y="1485900"/>
            <a:ext cx="8531720" cy="19050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2879273" y="1716318"/>
            <a:ext cx="323037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1" lang="en-US" altLang="ko-KR" sz="6000" b="1">
                <a:solidFill>
                  <a:schemeClr val="bg1"/>
                </a:solidFill>
                <a:latin typeface="Bell MT"/>
              </a:rPr>
              <a:t>Contents</a:t>
            </a:r>
            <a:endParaRPr kumimoji="1" lang="ko-KR" altLang="en-US" sz="6000" b="1">
              <a:solidFill>
                <a:schemeClr val="bg1"/>
              </a:solidFill>
              <a:latin typeface="Bell M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3389087"/>
            <a:ext cx="14706600" cy="125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800" b="1">
                <a:latin typeface="한컴 백제 M"/>
                <a:ea typeface="한컴 백제 M"/>
                <a:cs typeface="Times New Roman"/>
              </a:rPr>
              <a:t>II. </a:t>
            </a:r>
            <a:r>
              <a:rPr lang="ko-KR" altLang="en-US" sz="4800" b="1">
                <a:latin typeface="한컴 백제 M"/>
                <a:ea typeface="한컴 백제 M"/>
              </a:rPr>
              <a:t>나이스 처리 방법 </a:t>
            </a:r>
            <a:r>
              <a:rPr lang="en-US" altLang="ko-KR" sz="4800" b="1">
                <a:latin typeface="한컴 백제 M"/>
                <a:ea typeface="한컴 백제 M"/>
              </a:rPr>
              <a:t>-</a:t>
            </a:r>
            <a:r>
              <a:rPr lang="ko-KR" altLang="en-US" sz="4800" b="1">
                <a:latin typeface="한컴 백제 M"/>
                <a:ea typeface="한컴 백제 M"/>
              </a:rPr>
              <a:t> </a:t>
            </a:r>
            <a:r>
              <a:rPr sz="4000" b="1" i="0" u="none" strike="noStrike">
                <a:latin typeface="한컴 백제 M"/>
                <a:ea typeface="한컴 백제 M"/>
              </a:rPr>
              <a:t>단계별 업무 내용</a:t>
            </a:r>
            <a:r>
              <a:rPr lang="ko-KR" altLang="en-US" sz="4000" b="1" i="0" u="none" strike="noStrike">
                <a:latin typeface="한컴 백제 M"/>
                <a:ea typeface="한컴 백제 M"/>
              </a:rPr>
              <a:t> 포함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097000" y="6057901"/>
            <a:ext cx="2684432" cy="27845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15087600" y="0"/>
            <a:ext cx="3810000" cy="664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05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 i="0" u="none" strike="noStrike">
                <a:latin typeface="한컴 백제 M"/>
                <a:ea typeface="한컴 백제 M"/>
              </a:rPr>
              <a:t>단계별 업무 내용</a:t>
            </a:r>
            <a:r>
              <a:rPr lang="ko-KR" altLang="en-US" sz="2400" b="1" i="0" u="none" strike="noStrike">
                <a:latin typeface="한컴 백제 M"/>
                <a:ea typeface="한컴 백제 M"/>
              </a:rPr>
              <a:t> 포함</a:t>
            </a:r>
            <a:endParaRPr lang="ko-KR" altLang="en-US" sz="2400">
              <a:latin typeface="한컴 백제 M"/>
              <a:ea typeface="한컴 백제 M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600200" y="1247772"/>
            <a:ext cx="16383000" cy="7789547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3</a:t>
            </a:r>
            <a:r>
              <a:rPr lang="ko-KR" altLang="en-US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월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0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1.</a:t>
            </a:r>
            <a:r>
              <a:rPr lang="ko-KR" altLang="en-US" sz="40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 </a:t>
            </a:r>
            <a:r>
              <a:rPr lang="ko-KR" altLang="en-US" sz="3600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ㅎㅇㅅㅈㄱㄹㅇㅇㅎ</a:t>
            </a:r>
            <a:r>
              <a:rPr sz="3600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 및</a:t>
            </a:r>
            <a:r>
              <a:rPr lang="ko-KR" altLang="en-US" sz="3600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 </a:t>
            </a:r>
            <a:r>
              <a:rPr lang="ko-KR" altLang="en-US" sz="3600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교과</a:t>
            </a:r>
            <a:r>
              <a:rPr lang="EN-US" sz="3600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(</a:t>
            </a:r>
            <a:r>
              <a:rPr sz="3600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학년</a:t>
            </a:r>
            <a:r>
              <a:rPr lang="EN-US" sz="3600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)</a:t>
            </a:r>
            <a:r>
              <a:rPr sz="3600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협의회</a:t>
            </a:r>
            <a:r>
              <a:rPr sz="3600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 구성</a:t>
            </a:r>
            <a:r>
              <a:rPr lang="ko-KR" altLang="en-US" sz="3600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 후 내부결재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0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2.</a:t>
            </a:r>
            <a:r>
              <a:rPr lang="ko-KR" altLang="en-US" sz="3600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 </a:t>
            </a:r>
            <a:r>
              <a:rPr lang="ko-KR" altLang="en-US" sz="3600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ㅎㅇㅅㅈㄱㄹㄱㅈ</a:t>
            </a:r>
            <a:r>
              <a:rPr sz="3600" spc="-60">
                <a:latin typeface="한컴 백제 M"/>
                <a:ea typeface="한컴 백제 M"/>
                <a:cs typeface="함초롬돋움"/>
              </a:rPr>
              <a:t> 제</a:t>
            </a:r>
            <a:r>
              <a:rPr sz="3600" spc="-60">
                <a:ea typeface="한컴 백제 M"/>
                <a:cs typeface="함초롬돋움"/>
              </a:rPr>
              <a:t>‧</a:t>
            </a:r>
            <a:r>
              <a:rPr sz="3600" spc="-60">
                <a:latin typeface="한컴 백제 M"/>
                <a:ea typeface="한컴 백제 M"/>
                <a:cs typeface="함초롬돋움"/>
              </a:rPr>
              <a:t>개정</a:t>
            </a:r>
            <a:r>
              <a:rPr lang="ko-KR" altLang="en-US" sz="3600" spc="-60">
                <a:latin typeface="한컴 백제 M"/>
                <a:ea typeface="한컴 백제 M"/>
                <a:cs typeface="함초롬돋움"/>
              </a:rPr>
              <a:t> </a:t>
            </a:r>
            <a:r>
              <a:rPr sz="3600" spc="-60">
                <a:latin typeface="한컴 백제 M"/>
                <a:ea typeface="한컴 백제 M"/>
                <a:cs typeface="함초롬돋움"/>
              </a:rPr>
              <a:t>및 </a:t>
            </a:r>
            <a:r>
              <a:rPr lang="ko-KR" altLang="en-US" sz="3600" spc="-60">
                <a:latin typeface="한컴 백제 M"/>
                <a:ea typeface="한컴 백제 M"/>
                <a:cs typeface="함초롬돋움"/>
              </a:rPr>
              <a:t>교직원 연수</a:t>
            </a:r>
            <a:r>
              <a:rPr lang="en-US" altLang="ko-KR" sz="3600" spc="-60">
                <a:latin typeface="한컴 백제 M"/>
                <a:ea typeface="한컴 백제 M"/>
                <a:cs typeface="함초롬돋움"/>
              </a:rPr>
              <a:t>,</a:t>
            </a:r>
            <a:r>
              <a:rPr lang="ko-KR" altLang="en-US" sz="3600" spc="-60">
                <a:latin typeface="한컴 백제 M"/>
                <a:ea typeface="한컴 백제 M"/>
                <a:cs typeface="함초롬돋움"/>
              </a:rPr>
              <a:t> 학생 및 학부모 등 보호자       </a:t>
            </a:r>
            <a:r>
              <a:rPr sz="3600" spc="-60">
                <a:latin typeface="한컴 백제 M"/>
                <a:ea typeface="한컴 백제 M"/>
                <a:cs typeface="함초롬돋움"/>
              </a:rPr>
              <a:t>안내</a:t>
            </a:r>
            <a:r>
              <a:rPr lang="EN-US" sz="3600" b="0" i="0" u="none" strike="noStrike" spc="-60">
                <a:latin typeface="한컴 백제 M"/>
                <a:ea typeface="한컴 백제 M"/>
                <a:cs typeface="함초롬돋움"/>
              </a:rPr>
              <a:t>(</a:t>
            </a:r>
            <a:r>
              <a:rPr sz="3600" b="0" i="0" u="none" strike="noStrike" spc="-60">
                <a:latin typeface="한컴 백제 M"/>
                <a:ea typeface="한컴 백제 M"/>
                <a:cs typeface="함초롬돋움"/>
              </a:rPr>
              <a:t>학교</a:t>
            </a:r>
            <a:r>
              <a:rPr lang="ko-KR" altLang="en-US" sz="3600" b="0" i="0" u="none" strike="noStrike" spc="-60">
                <a:latin typeface="한컴 백제 M"/>
                <a:ea typeface="한컴 백제 M"/>
                <a:cs typeface="함초롬돋움"/>
              </a:rPr>
              <a:t>누리집</a:t>
            </a:r>
            <a:r>
              <a:rPr lang="EN-US" sz="3600" b="0" i="0" u="none" strike="noStrike" spc="-60">
                <a:latin typeface="한컴 백제 M"/>
                <a:ea typeface="한컴 백제 M"/>
                <a:cs typeface="함초롬돋움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  <a:cs typeface="함초롬돋움"/>
              </a:rPr>
              <a:t>학교알리미</a:t>
            </a:r>
            <a:r>
              <a:rPr lang="EN-US" sz="3600" b="0" i="0" u="none" strike="noStrike" spc="-60">
                <a:latin typeface="한컴 백제 M"/>
                <a:ea typeface="한컴 백제 M"/>
                <a:cs typeface="함초롬돋움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  <a:cs typeface="함초롬돋움"/>
              </a:rPr>
              <a:t>가정통신문 등</a:t>
            </a:r>
            <a:r>
              <a:rPr lang="EN-US" sz="3600" b="0" i="0" u="none" strike="noStrike" spc="-60">
                <a:latin typeface="한컴 백제 M"/>
                <a:ea typeface="한컴 백제 M"/>
                <a:cs typeface="함초롬돋움"/>
              </a:rPr>
              <a:t>)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000" b="1" spc="-60">
                <a:latin typeface="한컴 백제 M"/>
                <a:ea typeface="한컴 백제 M"/>
                <a:cs typeface="함초롬돋움"/>
              </a:rPr>
              <a:t>3.</a:t>
            </a:r>
            <a:r>
              <a:rPr lang="ko-KR" altLang="en-US" sz="4000" b="1" spc="-60">
                <a:latin typeface="한컴 백제 M"/>
                <a:ea typeface="한컴 백제 M"/>
                <a:cs typeface="함초롬돋움"/>
              </a:rPr>
              <a:t> </a:t>
            </a:r>
            <a:r>
              <a:rPr sz="3600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교과별</a:t>
            </a:r>
            <a:r>
              <a:rPr lang="en-US" altLang="ko-KR" sz="3600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·</a:t>
            </a:r>
            <a:r>
              <a:rPr lang="ko-KR" altLang="en-US" sz="3600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학년별</a:t>
            </a:r>
            <a:r>
              <a:rPr sz="3600" spc="-60">
                <a:latin typeface="한컴 백제 M"/>
                <a:ea typeface="한컴 백제 M"/>
                <a:cs typeface="함초롬돋움"/>
              </a:rPr>
              <a:t> 교수학습 및 </a:t>
            </a:r>
            <a:r>
              <a:rPr lang="ko-KR" altLang="en-US" sz="3600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평가계획</a:t>
            </a:r>
            <a:r>
              <a:rPr sz="3600" spc="-60">
                <a:latin typeface="한컴 백제 M"/>
                <a:ea typeface="한컴 백제 M"/>
                <a:cs typeface="함초롬돋움"/>
              </a:rPr>
              <a:t> 수립</a:t>
            </a:r>
            <a:r>
              <a:rPr lang="ko-KR" altLang="en-US" sz="3600" spc="-60">
                <a:latin typeface="한컴 백제 M"/>
                <a:ea typeface="한컴 백제 M"/>
                <a:cs typeface="함초롬돋움"/>
              </a:rPr>
              <a:t> </a:t>
            </a:r>
            <a:r>
              <a:rPr sz="3600" spc="-60">
                <a:latin typeface="한컴 백제 M"/>
                <a:ea typeface="한컴 백제 M"/>
                <a:cs typeface="함초롬돋움"/>
              </a:rPr>
              <a:t>및 취합</a:t>
            </a:r>
            <a:r>
              <a:rPr sz="3600" spc="-60">
                <a:ea typeface="한컴 백제 M"/>
                <a:cs typeface="함초롬돋움"/>
              </a:rPr>
              <a:t>‧</a:t>
            </a:r>
            <a:r>
              <a:rPr sz="3600" spc="-60">
                <a:latin typeface="한컴 백제 M"/>
                <a:ea typeface="한컴 백제 M"/>
                <a:cs typeface="함초롬돋움"/>
              </a:rPr>
              <a:t>검토</a:t>
            </a:r>
            <a:r>
              <a:rPr lang="EN-US" sz="3600" spc="-60">
                <a:latin typeface="한컴 백제 M"/>
                <a:ea typeface="한컴 백제 M"/>
                <a:cs typeface="함초롬돋움"/>
              </a:rPr>
              <a:t>(3</a:t>
            </a:r>
            <a:r>
              <a:rPr sz="3600" spc="-60">
                <a:latin typeface="한컴 백제 M"/>
                <a:ea typeface="한컴 백제 M"/>
                <a:cs typeface="함초롬돋움"/>
              </a:rPr>
              <a:t>월</a:t>
            </a:r>
            <a:r>
              <a:rPr lang="EN-US" sz="3600" spc="-60">
                <a:latin typeface="한컴 백제 M"/>
                <a:ea typeface="한컴 백제 M"/>
                <a:cs typeface="함초롬돋움"/>
              </a:rPr>
              <a:t>, 8</a:t>
            </a:r>
            <a:r>
              <a:rPr sz="3600" spc="-60">
                <a:latin typeface="한컴 백제 M"/>
                <a:ea typeface="한컴 백제 M"/>
                <a:cs typeface="함초롬돋움"/>
              </a:rPr>
              <a:t>월</a:t>
            </a:r>
            <a:r>
              <a:rPr lang="EN-US" sz="3600" spc="-60">
                <a:latin typeface="한컴 백제 M"/>
                <a:ea typeface="한컴 백제 M"/>
                <a:cs typeface="함초롬돋움"/>
              </a:rPr>
              <a:t>)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000" b="1" spc="-60">
                <a:latin typeface="한컴 백제 M"/>
                <a:ea typeface="한컴 백제 M"/>
                <a:cs typeface="함초롬돋움"/>
              </a:rPr>
              <a:t>4.</a:t>
            </a:r>
            <a:r>
              <a:rPr lang="ko-KR" altLang="en-US" sz="4000" spc="-60">
                <a:latin typeface="한컴 백제 M"/>
                <a:ea typeface="한컴 백제 M"/>
                <a:cs typeface="함초롬돋움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  <a:cs typeface="함초롬돋움"/>
              </a:rPr>
              <a:t>교수학습 및 평가계획 요약하여 </a:t>
            </a:r>
            <a:r>
              <a:rPr sz="3600" b="0" i="0" u="none" strike="noStrike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학생 및 학부모 안내</a:t>
            </a:r>
            <a:r>
              <a:rPr lang="EN-US" sz="3600" b="0" i="0" u="none" strike="noStrike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(</a:t>
            </a:r>
            <a:r>
              <a:rPr sz="3600" b="0" i="0" u="none" strike="noStrike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학교</a:t>
            </a:r>
            <a:r>
              <a:rPr lang="ko-KR" altLang="en-US" sz="3600" b="0" i="0" u="none" strike="noStrike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 누리집</a:t>
            </a:r>
            <a:r>
              <a:rPr lang="EN-US" sz="3600" b="0" i="0" u="none" strike="noStrike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, </a:t>
            </a:r>
            <a:r>
              <a:rPr sz="3600" b="0" i="0" u="none" strike="noStrike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가정통신문 등</a:t>
            </a:r>
            <a:r>
              <a:rPr lang="EN-US" sz="3600" b="0" i="0" u="none" strike="noStrike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)</a:t>
            </a:r>
          </a:p>
          <a:p>
            <a:pPr marL="4826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0" i="0" u="none" strike="noStrike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        </a:t>
            </a:r>
            <a:r>
              <a:rPr lang="en-US" altLang="ko-KR" sz="3600" b="0" i="0" u="none" strike="noStrike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-</a:t>
            </a:r>
            <a:r>
              <a:rPr lang="ko-KR" altLang="en-US" sz="3600" b="0" i="0" u="none" strike="noStrike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 ㅂㅈㅎㅇ 등</a:t>
            </a:r>
          </a:p>
          <a:p>
            <a:pPr marL="0" marR="127000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b="1" i="0" u="none" strike="noStrike" spc="-60">
                <a:latin typeface="한컴 백제 M"/>
                <a:ea typeface="한컴 백제 M"/>
                <a:cs typeface="함초롬돋움"/>
              </a:rPr>
              <a:t>5.</a:t>
            </a:r>
            <a:r>
              <a:rPr lang="ko-KR" altLang="en-US" sz="3600" b="0" i="0" u="none" strike="noStrike" spc="-60">
                <a:latin typeface="한컴 백제 M"/>
                <a:ea typeface="한컴 백제 M"/>
                <a:cs typeface="함초롬돋움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  <a:cs typeface="함초롬돋움"/>
              </a:rPr>
              <a:t>교수학습 및 평가계</a:t>
            </a:r>
            <a:r>
              <a:rPr sz="3600" b="0" i="0" u="none" strike="noStrike" spc="-60">
                <a:latin typeface="한컴 백제 M"/>
                <a:cs typeface="함초롬돋움"/>
              </a:rPr>
              <a:t>ᅙᅬᆨ</a:t>
            </a:r>
            <a:r>
              <a:rPr sz="3600" b="0" i="0" u="none" strike="noStrike" spc="-60">
                <a:latin typeface="한컴 백제 M"/>
                <a:ea typeface="한컴 백제 M"/>
                <a:cs typeface="함초롬돋움"/>
              </a:rPr>
              <a:t> </a:t>
            </a:r>
            <a:r>
              <a:rPr sz="3600" b="0" i="0" u="none" strike="noStrike" spc="-60">
                <a:solidFill>
                  <a:srgbClr val="0000FF"/>
                </a:solidFill>
                <a:latin typeface="한컴 백제 M"/>
                <a:ea typeface="한컴 백제 M"/>
                <a:cs typeface="함초롬돋움"/>
              </a:rPr>
              <a:t>정보공시</a:t>
            </a:r>
            <a:r>
              <a:rPr lang="EN-US" sz="3600" b="0" i="0" u="none" strike="noStrike" spc="-60">
                <a:latin typeface="한컴 백제 M"/>
                <a:ea typeface="한컴 백제 M"/>
                <a:cs typeface="함초롬돋움"/>
              </a:rPr>
              <a:t>(4</a:t>
            </a:r>
            <a:r>
              <a:rPr sz="3600" b="0" i="0" u="none" strike="noStrike" spc="-60">
                <a:latin typeface="한컴 백제 M"/>
                <a:ea typeface="한컴 백제 M"/>
                <a:cs typeface="함초롬돋움"/>
              </a:rPr>
              <a:t>월</a:t>
            </a:r>
            <a:r>
              <a:rPr lang="EN-US" sz="3600" b="0" i="0" u="none" strike="noStrike" spc="-60">
                <a:latin typeface="한컴 백제 M"/>
                <a:ea typeface="한컴 백제 M"/>
                <a:cs typeface="함초롬돋움"/>
              </a:rPr>
              <a:t>, 9</a:t>
            </a:r>
            <a:r>
              <a:rPr sz="3600" b="0" i="0" u="none" strike="noStrike" spc="-60">
                <a:latin typeface="한컴 백제 M"/>
                <a:ea typeface="한컴 백제 M"/>
                <a:cs typeface="함초롬돋움"/>
              </a:rPr>
              <a:t>월</a:t>
            </a:r>
            <a:r>
              <a:rPr lang="EN-US" sz="3600" b="0" i="0" u="none" strike="noStrike" spc="-60">
                <a:latin typeface="한컴 백제 M"/>
                <a:ea typeface="한컴 백제 M"/>
                <a:cs typeface="함초롬돋움"/>
              </a:rPr>
              <a:t>)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17221200" y="9715500"/>
            <a:ext cx="1066800" cy="407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1/24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15087600" y="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 방법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143000" y="1011555"/>
            <a:ext cx="9372600" cy="116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en-US" altLang="ko-KR"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4</a:t>
            </a:r>
            <a:r>
              <a:rPr lang="ko-KR" altLang="en-US"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월 </a:t>
            </a:r>
            <a:r>
              <a:rPr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정기시험</a:t>
            </a:r>
            <a:r>
              <a:rPr sz="4400" b="1" i="0" u="none" strike="noStrike" spc="-60">
                <a:solidFill>
                  <a:schemeClr val="dk1"/>
                </a:solidFill>
                <a:ea typeface="한컴 백제 M"/>
              </a:rPr>
              <a:t>‧</a:t>
            </a:r>
            <a:r>
              <a:rPr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수행평가 선행작업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10591800" y="1104900"/>
            <a:ext cx="4648200" cy="988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26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① </a:t>
            </a:r>
            <a:r>
              <a:rPr 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OMR</a:t>
            </a:r>
            <a:r>
              <a:rPr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용 과목코드</a:t>
            </a:r>
            <a:r>
              <a:rPr lang="ko-KR" alt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      </a:t>
            </a:r>
            <a:endParaRPr lang="EN-US" sz="3700" b="0" i="0" u="none" strike="noStrike" spc="-60">
              <a:solidFill>
                <a:srgbClr val="000000"/>
              </a:solidFill>
              <a:latin typeface="한컴 백제 M"/>
              <a:ea typeface="한컴 백제 M"/>
            </a:endParaRPr>
          </a:p>
        </p:txBody>
      </p:sp>
      <p:pic>
        <p:nvPicPr>
          <p:cNvPr id="1007" name="그림 100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0" y="2095500"/>
            <a:ext cx="18582492" cy="8191500"/>
          </a:xfrm>
          <a:prstGeom prst="rect">
            <a:avLst/>
          </a:prstGeom>
        </p:spPr>
      </p:pic>
      <p:sp>
        <p:nvSpPr>
          <p:cNvPr id="1008" name="TextBox 1007"/>
          <p:cNvSpPr txBox="1"/>
          <p:nvPr/>
        </p:nvSpPr>
        <p:spPr>
          <a:xfrm>
            <a:off x="17068800" y="9536430"/>
            <a:ext cx="1066800" cy="407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2/24</a:t>
            </a:r>
          </a:p>
        </p:txBody>
      </p:sp>
      <p:sp>
        <p:nvSpPr>
          <p:cNvPr id="1009" name="직사각형 1008"/>
          <p:cNvSpPr/>
          <p:nvPr/>
        </p:nvSpPr>
        <p:spPr>
          <a:xfrm>
            <a:off x="228600" y="3238500"/>
            <a:ext cx="4724400" cy="304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rgbClr val="FF0000"/>
                </a:solidFill>
              </a:rPr>
              <a:t>정기시험</a:t>
            </a:r>
            <a:r>
              <a:rPr lang="en-US" altLang="ko-KR" b="1">
                <a:solidFill>
                  <a:srgbClr val="FF0000"/>
                </a:solidFill>
              </a:rPr>
              <a:t>/</a:t>
            </a:r>
            <a:r>
              <a:rPr lang="ko-KR" altLang="en-US" b="1">
                <a:solidFill>
                  <a:srgbClr val="FF0000"/>
                </a:solidFill>
              </a:rPr>
              <a:t>수행선행작업</a:t>
            </a:r>
            <a:r>
              <a:rPr lang="en-US" altLang="ko-KR" b="1">
                <a:solidFill>
                  <a:srgbClr val="FF0000"/>
                </a:solidFill>
              </a:rPr>
              <a:t>-</a:t>
            </a:r>
            <a:r>
              <a:rPr lang="ko-KR" altLang="en-US" b="1">
                <a:solidFill>
                  <a:srgbClr val="FF0000"/>
                </a:solidFill>
              </a:rPr>
              <a:t>카드과목코드관리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15087600" y="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 방법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143000" y="1011555"/>
            <a:ext cx="9372600" cy="116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en-US" altLang="ko-KR"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4</a:t>
            </a:r>
            <a:r>
              <a:rPr lang="ko-KR" altLang="en-US"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월 </a:t>
            </a:r>
            <a:r>
              <a:rPr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정기시험</a:t>
            </a:r>
            <a:r>
              <a:rPr sz="4400" b="1" i="0" u="none" strike="noStrike" spc="-60">
                <a:solidFill>
                  <a:schemeClr val="dk1"/>
                </a:solidFill>
                <a:ea typeface="한컴 백제 M"/>
              </a:rPr>
              <a:t>‧</a:t>
            </a:r>
            <a:r>
              <a:rPr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수행평가 선행작업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10210801" y="1106805"/>
            <a:ext cx="7391399" cy="996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26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② </a:t>
            </a:r>
            <a:r>
              <a:rPr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과목별 평가준거 성취기준 등록</a:t>
            </a:r>
          </a:p>
        </p:txBody>
      </p:sp>
      <p:pic>
        <p:nvPicPr>
          <p:cNvPr id="1007" name="그림 100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0" y="1971158"/>
            <a:ext cx="18516600" cy="5153542"/>
          </a:xfrm>
          <a:prstGeom prst="rect">
            <a:avLst/>
          </a:prstGeom>
        </p:spPr>
      </p:pic>
      <p:pic>
        <p:nvPicPr>
          <p:cNvPr id="1008" name="그림 100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0" y="7124700"/>
            <a:ext cx="18516600" cy="3162300"/>
          </a:xfrm>
          <a:prstGeom prst="rect">
            <a:avLst/>
          </a:prstGeom>
        </p:spPr>
      </p:pic>
      <p:sp>
        <p:nvSpPr>
          <p:cNvPr id="1009" name="TextBox 1008"/>
          <p:cNvSpPr txBox="1"/>
          <p:nvPr/>
        </p:nvSpPr>
        <p:spPr>
          <a:xfrm>
            <a:off x="17221200" y="9612630"/>
            <a:ext cx="1066800" cy="407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3/24</a:t>
            </a:r>
          </a:p>
        </p:txBody>
      </p:sp>
      <p:sp>
        <p:nvSpPr>
          <p:cNvPr id="1011" name="직사각형 1010"/>
          <p:cNvSpPr/>
          <p:nvPr/>
        </p:nvSpPr>
        <p:spPr>
          <a:xfrm>
            <a:off x="228600" y="3086100"/>
            <a:ext cx="4876800" cy="381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rgbClr val="FF0000"/>
                </a:solidFill>
              </a:rPr>
              <a:t>정기시험</a:t>
            </a:r>
            <a:r>
              <a:rPr lang="en-US" altLang="ko-KR" b="1">
                <a:solidFill>
                  <a:srgbClr val="FF0000"/>
                </a:solidFill>
              </a:rPr>
              <a:t>/</a:t>
            </a:r>
            <a:r>
              <a:rPr lang="ko-KR" altLang="en-US" b="1">
                <a:solidFill>
                  <a:srgbClr val="FF0000"/>
                </a:solidFill>
              </a:rPr>
              <a:t>수행선행작업</a:t>
            </a:r>
            <a:r>
              <a:rPr lang="en-US" altLang="ko-KR" b="1">
                <a:solidFill>
                  <a:srgbClr val="FF0000"/>
                </a:solidFill>
              </a:rPr>
              <a:t>-</a:t>
            </a:r>
            <a:r>
              <a:rPr lang="ko-KR" altLang="en-US" b="1">
                <a:solidFill>
                  <a:srgbClr val="FF0000"/>
                </a:solidFill>
              </a:rPr>
              <a:t>성취평가기준관리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15087600" y="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 방법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143000" y="1011555"/>
            <a:ext cx="9372600" cy="116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en-US" altLang="ko-KR"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4</a:t>
            </a:r>
            <a:r>
              <a:rPr lang="ko-KR" altLang="en-US"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월 </a:t>
            </a:r>
            <a:r>
              <a:rPr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정기시험</a:t>
            </a:r>
            <a:r>
              <a:rPr sz="4400" b="1" i="0" u="none" strike="noStrike" spc="-60">
                <a:solidFill>
                  <a:schemeClr val="dk1"/>
                </a:solidFill>
                <a:ea typeface="한컴 백제 M"/>
              </a:rPr>
              <a:t>‧</a:t>
            </a:r>
            <a:r>
              <a:rPr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수행평가 선행작업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10210801" y="1106805"/>
            <a:ext cx="7391399" cy="996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26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② </a:t>
            </a:r>
            <a:r>
              <a:rPr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과목별 평가준거 성취기준 등록</a:t>
            </a:r>
          </a:p>
        </p:txBody>
      </p:sp>
      <p:pic>
        <p:nvPicPr>
          <p:cNvPr id="1009" name="그림 100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0" y="2095500"/>
            <a:ext cx="18638112" cy="8191500"/>
          </a:xfrm>
          <a:prstGeom prst="rect">
            <a:avLst/>
          </a:prstGeom>
        </p:spPr>
      </p:pic>
      <p:sp>
        <p:nvSpPr>
          <p:cNvPr id="1010" name="TextBox 1009"/>
          <p:cNvSpPr txBox="1"/>
          <p:nvPr/>
        </p:nvSpPr>
        <p:spPr>
          <a:xfrm>
            <a:off x="16992600" y="9612630"/>
            <a:ext cx="1066800" cy="407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4/24</a:t>
            </a:r>
          </a:p>
        </p:txBody>
      </p:sp>
      <p:sp>
        <p:nvSpPr>
          <p:cNvPr id="1011" name="직사각형 1010"/>
          <p:cNvSpPr/>
          <p:nvPr/>
        </p:nvSpPr>
        <p:spPr>
          <a:xfrm>
            <a:off x="304800" y="3848100"/>
            <a:ext cx="4495800" cy="381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rgbClr val="FF0000"/>
                </a:solidFill>
              </a:rPr>
              <a:t>정기시험</a:t>
            </a:r>
            <a:r>
              <a:rPr lang="en-US" altLang="ko-KR" b="1">
                <a:solidFill>
                  <a:srgbClr val="FF0000"/>
                </a:solidFill>
              </a:rPr>
              <a:t>/</a:t>
            </a:r>
            <a:r>
              <a:rPr lang="ko-KR" altLang="en-US" b="1">
                <a:solidFill>
                  <a:srgbClr val="FF0000"/>
                </a:solidFill>
              </a:rPr>
              <a:t>수행선행작업</a:t>
            </a:r>
            <a:r>
              <a:rPr lang="en-US" altLang="ko-KR" b="1">
                <a:solidFill>
                  <a:srgbClr val="FF0000"/>
                </a:solidFill>
              </a:rPr>
              <a:t>-</a:t>
            </a:r>
            <a:r>
              <a:rPr lang="ko-KR" altLang="en-US" b="1">
                <a:solidFill>
                  <a:srgbClr val="FF0000"/>
                </a:solidFill>
              </a:rPr>
              <a:t>성취평가기준관리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15087600" y="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 방법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143000" y="1011555"/>
            <a:ext cx="9372600" cy="116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en-US" altLang="ko-KR"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4</a:t>
            </a:r>
            <a:r>
              <a:rPr lang="ko-KR" altLang="en-US"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월 </a:t>
            </a:r>
            <a:r>
              <a:rPr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정기시험</a:t>
            </a:r>
            <a:r>
              <a:rPr sz="4400" b="1" i="0" u="none" strike="noStrike" spc="-60">
                <a:solidFill>
                  <a:schemeClr val="dk1"/>
                </a:solidFill>
                <a:ea typeface="한컴 백제 M"/>
              </a:rPr>
              <a:t>‧</a:t>
            </a:r>
            <a:r>
              <a:rPr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수행평가 선행작업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4114800" y="1640205"/>
            <a:ext cx="14706600" cy="996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26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③ </a:t>
            </a:r>
            <a:r>
              <a:rPr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수행평가 선행작업</a:t>
            </a:r>
            <a:r>
              <a:rPr 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(‘</a:t>
            </a:r>
            <a:r>
              <a:rPr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영역명</a:t>
            </a:r>
            <a:r>
              <a:rPr 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’, ‘</a:t>
            </a:r>
            <a:r>
              <a:rPr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학기말 반영여부</a:t>
            </a:r>
            <a:r>
              <a:rPr 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’, ‘</a:t>
            </a:r>
            <a:r>
              <a:rPr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반영비율</a:t>
            </a:r>
            <a:r>
              <a:rPr 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’, ‘</a:t>
            </a:r>
            <a:r>
              <a:rPr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영역만점</a:t>
            </a:r>
            <a:r>
              <a:rPr 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’ </a:t>
            </a:r>
            <a:r>
              <a:rPr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입력</a:t>
            </a:r>
            <a:r>
              <a:rPr 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)</a:t>
            </a:r>
          </a:p>
        </p:txBody>
      </p:sp>
      <p:pic>
        <p:nvPicPr>
          <p:cNvPr id="1007" name="그림 100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-76200" y="2476500"/>
            <a:ext cx="18516600" cy="7810500"/>
          </a:xfrm>
          <a:prstGeom prst="rect">
            <a:avLst/>
          </a:prstGeom>
        </p:spPr>
      </p:pic>
      <p:sp>
        <p:nvSpPr>
          <p:cNvPr id="1008" name="TextBox 1007"/>
          <p:cNvSpPr txBox="1"/>
          <p:nvPr/>
        </p:nvSpPr>
        <p:spPr>
          <a:xfrm>
            <a:off x="17221200" y="9536430"/>
            <a:ext cx="1066800" cy="407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6/24</a:t>
            </a:r>
          </a:p>
        </p:txBody>
      </p:sp>
      <p:sp>
        <p:nvSpPr>
          <p:cNvPr id="1009" name="직사각형 1008"/>
          <p:cNvSpPr/>
          <p:nvPr/>
        </p:nvSpPr>
        <p:spPr>
          <a:xfrm>
            <a:off x="304800" y="6743700"/>
            <a:ext cx="4572000" cy="381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rgbClr val="FF0000"/>
                </a:solidFill>
              </a:rPr>
              <a:t>정기시험</a:t>
            </a:r>
            <a:r>
              <a:rPr lang="en-US" altLang="ko-KR" b="1">
                <a:solidFill>
                  <a:srgbClr val="FF0000"/>
                </a:solidFill>
              </a:rPr>
              <a:t>/</a:t>
            </a:r>
            <a:r>
              <a:rPr lang="ko-KR" altLang="en-US" b="1">
                <a:solidFill>
                  <a:srgbClr val="FF0000"/>
                </a:solidFill>
              </a:rPr>
              <a:t>수행선행작업</a:t>
            </a:r>
            <a:r>
              <a:rPr lang="en-US" altLang="ko-KR" b="1">
                <a:solidFill>
                  <a:srgbClr val="FF0000"/>
                </a:solidFill>
              </a:rPr>
              <a:t>-</a:t>
            </a:r>
            <a:r>
              <a:rPr lang="ko-KR" altLang="en-US" b="1">
                <a:solidFill>
                  <a:srgbClr val="FF0000"/>
                </a:solidFill>
              </a:rPr>
              <a:t>수행평가 영역관리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868973" y="622772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15087600" y="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 방법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143000" y="1011555"/>
            <a:ext cx="9372600" cy="116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en-US" altLang="ko-KR"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4</a:t>
            </a:r>
            <a:r>
              <a:rPr lang="ko-KR" altLang="en-US"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월 </a:t>
            </a:r>
            <a:r>
              <a:rPr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정기시험</a:t>
            </a:r>
            <a:r>
              <a:rPr sz="4400" b="1" i="0" u="none" strike="noStrike" spc="-60">
                <a:solidFill>
                  <a:schemeClr val="dk1"/>
                </a:solidFill>
                <a:ea typeface="한컴 백제 M"/>
              </a:rPr>
              <a:t>‧</a:t>
            </a:r>
            <a:r>
              <a:rPr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수행평가 선행작업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10591800" y="746758"/>
            <a:ext cx="8229600" cy="1842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26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④ </a:t>
            </a:r>
            <a:r>
              <a:rPr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정기시험명 등록</a:t>
            </a:r>
            <a:r>
              <a:rPr lang="EN-US"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 ‘</a:t>
            </a:r>
            <a:r>
              <a:rPr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학기말 반영여부</a:t>
            </a:r>
            <a:r>
              <a:rPr lang="EN-US"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’, ‘</a:t>
            </a:r>
            <a:r>
              <a:rPr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시행일자</a:t>
            </a:r>
            <a:r>
              <a:rPr lang="EN-US"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’, ‘</a:t>
            </a:r>
            <a:r>
              <a:rPr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정렬순서</a:t>
            </a:r>
            <a:r>
              <a:rPr lang="EN-US"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’ </a:t>
            </a:r>
            <a:r>
              <a:rPr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입력 </a:t>
            </a:r>
          </a:p>
        </p:txBody>
      </p:sp>
      <p:pic>
        <p:nvPicPr>
          <p:cNvPr id="1007" name="그림 100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0" y="2552700"/>
            <a:ext cx="19126200" cy="7734300"/>
          </a:xfrm>
          <a:prstGeom prst="rect">
            <a:avLst/>
          </a:prstGeom>
        </p:spPr>
      </p:pic>
      <p:sp>
        <p:nvSpPr>
          <p:cNvPr id="1008" name="TextBox 1007"/>
          <p:cNvSpPr txBox="1"/>
          <p:nvPr/>
        </p:nvSpPr>
        <p:spPr>
          <a:xfrm>
            <a:off x="17754600" y="9688830"/>
            <a:ext cx="1066800" cy="407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5/24</a:t>
            </a:r>
          </a:p>
        </p:txBody>
      </p:sp>
      <p:sp>
        <p:nvSpPr>
          <p:cNvPr id="1009" name="직사각형 1008"/>
          <p:cNvSpPr/>
          <p:nvPr/>
        </p:nvSpPr>
        <p:spPr>
          <a:xfrm>
            <a:off x="228600" y="4838700"/>
            <a:ext cx="4191000" cy="304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rgbClr val="FF0000"/>
                </a:solidFill>
              </a:rPr>
              <a:t>정기시험</a:t>
            </a:r>
            <a:r>
              <a:rPr lang="en-US" altLang="ko-KR" b="1">
                <a:solidFill>
                  <a:srgbClr val="FF0000"/>
                </a:solidFill>
              </a:rPr>
              <a:t>/</a:t>
            </a:r>
            <a:r>
              <a:rPr lang="ko-KR" altLang="en-US" b="1">
                <a:solidFill>
                  <a:srgbClr val="FF0000"/>
                </a:solidFill>
              </a:rPr>
              <a:t>수행선행작업</a:t>
            </a:r>
            <a:r>
              <a:rPr lang="en-US" altLang="ko-KR" b="1">
                <a:solidFill>
                  <a:srgbClr val="FF0000"/>
                </a:solidFill>
              </a:rPr>
              <a:t>-</a:t>
            </a:r>
            <a:r>
              <a:rPr lang="ko-KR" altLang="en-US" b="1">
                <a:solidFill>
                  <a:srgbClr val="FF0000"/>
                </a:solidFill>
              </a:rPr>
              <a:t>정기시험관리</a:t>
            </a:r>
          </a:p>
        </p:txBody>
      </p:sp>
      <p:sp>
        <p:nvSpPr>
          <p:cNvPr id="1010" name="직사각형 1009"/>
          <p:cNvSpPr/>
          <p:nvPr/>
        </p:nvSpPr>
        <p:spPr>
          <a:xfrm>
            <a:off x="3733800" y="7658100"/>
            <a:ext cx="2209800" cy="304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>
                <a:solidFill>
                  <a:srgbClr val="FF0000"/>
                </a:solidFill>
              </a:rPr>
              <a:t>1</a:t>
            </a:r>
            <a:r>
              <a:rPr lang="ko-KR" altLang="en-US" b="1">
                <a:solidFill>
                  <a:srgbClr val="FF0000"/>
                </a:solidFill>
              </a:rPr>
              <a:t>차 시험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7526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15087600" y="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 방법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143000" y="1011555"/>
            <a:ext cx="9372600" cy="116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en-US" altLang="ko-KR"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4</a:t>
            </a:r>
            <a:r>
              <a:rPr lang="ko-KR" altLang="en-US"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월 </a:t>
            </a:r>
            <a:r>
              <a:rPr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정기시험</a:t>
            </a:r>
            <a:r>
              <a:rPr sz="4400" b="1" i="0" u="none" strike="noStrike" spc="-60">
                <a:solidFill>
                  <a:schemeClr val="dk1"/>
                </a:solidFill>
                <a:ea typeface="한컴 백제 M"/>
              </a:rPr>
              <a:t>‧</a:t>
            </a:r>
            <a:r>
              <a:rPr sz="4400" b="1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수행평가 선행작업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4571998" y="1790700"/>
            <a:ext cx="13716002" cy="988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26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⑤ </a:t>
            </a:r>
            <a:r>
              <a:rPr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정기시험과목 관리</a:t>
            </a:r>
            <a:r>
              <a:rPr 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(‘</a:t>
            </a:r>
            <a:r>
              <a:rPr lang="ko-KR" alt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정기시험</a:t>
            </a:r>
            <a:r>
              <a:rPr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 과목</a:t>
            </a:r>
            <a:r>
              <a:rPr 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’ </a:t>
            </a:r>
            <a:r>
              <a:rPr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등록</a:t>
            </a:r>
            <a:r>
              <a:rPr 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, ‘</a:t>
            </a:r>
            <a:r>
              <a:rPr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반영 비율</a:t>
            </a:r>
            <a:r>
              <a:rPr 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’, ‘</a:t>
            </a:r>
            <a:r>
              <a:rPr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과목만점</a:t>
            </a:r>
            <a:r>
              <a:rPr 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’ </a:t>
            </a:r>
            <a:r>
              <a:rPr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입력</a:t>
            </a:r>
            <a:r>
              <a:rPr lang="EN-US" sz="37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)</a:t>
            </a:r>
          </a:p>
        </p:txBody>
      </p:sp>
      <p:pic>
        <p:nvPicPr>
          <p:cNvPr id="1008" name="그림 100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0" y="2666622"/>
            <a:ext cx="18592800" cy="3467478"/>
          </a:xfrm>
          <a:prstGeom prst="rect">
            <a:avLst/>
          </a:prstGeom>
        </p:spPr>
      </p:pic>
      <p:pic>
        <p:nvPicPr>
          <p:cNvPr id="1009" name="그림 1008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0" y="6134100"/>
            <a:ext cx="18669000" cy="4152900"/>
          </a:xfrm>
          <a:prstGeom prst="rect">
            <a:avLst/>
          </a:prstGeom>
        </p:spPr>
      </p:pic>
      <p:sp>
        <p:nvSpPr>
          <p:cNvPr id="1010" name="TextBox 1009"/>
          <p:cNvSpPr txBox="1"/>
          <p:nvPr/>
        </p:nvSpPr>
        <p:spPr>
          <a:xfrm>
            <a:off x="17221200" y="9639300"/>
            <a:ext cx="1066800" cy="407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7/24</a:t>
            </a:r>
          </a:p>
        </p:txBody>
      </p:sp>
      <p:sp>
        <p:nvSpPr>
          <p:cNvPr id="1011" name="직사각형 1010"/>
          <p:cNvSpPr/>
          <p:nvPr/>
        </p:nvSpPr>
        <p:spPr>
          <a:xfrm>
            <a:off x="228600" y="3848100"/>
            <a:ext cx="4876800" cy="304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rgbClr val="FF0000"/>
                </a:solidFill>
              </a:rPr>
              <a:t>정기시험</a:t>
            </a:r>
            <a:r>
              <a:rPr lang="en-US" altLang="ko-KR" b="1">
                <a:solidFill>
                  <a:srgbClr val="FF0000"/>
                </a:solidFill>
              </a:rPr>
              <a:t>/</a:t>
            </a:r>
            <a:r>
              <a:rPr lang="ko-KR" altLang="en-US" b="1">
                <a:solidFill>
                  <a:srgbClr val="FF0000"/>
                </a:solidFill>
              </a:rPr>
              <a:t>수행선행작업</a:t>
            </a:r>
            <a:r>
              <a:rPr lang="en-US" altLang="ko-KR" b="1">
                <a:solidFill>
                  <a:srgbClr val="FF0000"/>
                </a:solidFill>
              </a:rPr>
              <a:t>-</a:t>
            </a:r>
            <a:r>
              <a:rPr lang="ko-KR" altLang="en-US" b="1">
                <a:solidFill>
                  <a:srgbClr val="FF0000"/>
                </a:solidFill>
              </a:rPr>
              <a:t>정기시험 과목관리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15087600" y="0"/>
            <a:ext cx="3810000" cy="664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05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 i="0" u="none" strike="noStrike">
                <a:latin typeface="한컴 백제 M"/>
                <a:ea typeface="한컴 백제 M"/>
              </a:rPr>
              <a:t>단계별 업무 내용</a:t>
            </a:r>
            <a:r>
              <a:rPr lang="ko-KR" altLang="en-US" sz="2400" b="1" i="0" u="none" strike="noStrike">
                <a:latin typeface="한컴 백제 M"/>
                <a:ea typeface="한컴 백제 M"/>
              </a:rPr>
              <a:t> 포함</a:t>
            </a:r>
            <a:endParaRPr lang="ko-KR" altLang="en-US" sz="2400">
              <a:latin typeface="한컴 백제 M"/>
              <a:ea typeface="한컴 백제 M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600200" y="1247771"/>
            <a:ext cx="16383000" cy="739902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4</a:t>
            </a:r>
            <a:r>
              <a:rPr lang="ko-KR" altLang="en-US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월 </a:t>
            </a:r>
            <a:r>
              <a:rPr sz="4400" b="1" i="0" u="none" strike="noStrike" spc="-60">
                <a:latin typeface="한컴 백제 M"/>
                <a:ea typeface="한컴 백제 M"/>
              </a:rPr>
              <a:t>정기시험</a:t>
            </a:r>
            <a:r>
              <a:rPr lang="EN-US" sz="4400" b="1" i="0" u="none" strike="noStrike" spc="-60">
                <a:latin typeface="한컴 백제 M"/>
                <a:ea typeface="한컴 백제 M"/>
              </a:rPr>
              <a:t>(1</a:t>
            </a:r>
            <a:r>
              <a:rPr sz="4400" b="1" i="0" u="none" strike="noStrike" spc="-60">
                <a:latin typeface="한컴 백제 M"/>
                <a:ea typeface="한컴 백제 M"/>
              </a:rPr>
              <a:t>차 시험</a:t>
            </a:r>
            <a:r>
              <a:rPr lang="en-US" altLang="ko-KR" sz="4400" b="1" i="0" u="none" strike="noStrike" spc="-60">
                <a:latin typeface="한컴 백제 M"/>
                <a:ea typeface="한컴 백제 M"/>
              </a:rPr>
              <a:t>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1" i="0" u="none" strike="noStrike" spc="-60">
                <a:solidFill>
                  <a:srgbClr val="008000"/>
                </a:solidFill>
                <a:latin typeface="한컴 백제 M"/>
                <a:ea typeface="한컴 백제 M"/>
              </a:rPr>
              <a:t> </a:t>
            </a:r>
            <a:r>
              <a:rPr lang="en-US" altLang="ko-KR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1.</a:t>
            </a:r>
            <a:r>
              <a:rPr lang="ko-KR" altLang="en-US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정기시험</a:t>
            </a:r>
            <a:r>
              <a:rPr lang="ko-KR" altLang="en-US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실시계획 수립</a:t>
            </a:r>
          </a:p>
          <a:p>
            <a:pPr marL="4826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latin typeface="한컴 백제 M"/>
                <a:ea typeface="한컴 백제 M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</a:rPr>
              <a:t>① 정기시험시행계획 수립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(</a:t>
            </a:r>
            <a:r>
              <a:rPr sz="3600" b="0" i="0" u="none" strike="noStrike" spc="-60">
                <a:latin typeface="한컴 백제 M"/>
                <a:ea typeface="한컴 백제 M"/>
              </a:rPr>
              <a:t>출제 원안제출일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시험 시간표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연수 일정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성적처리 일정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이의신청 일정 및 절차 안내 등 포함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)</a:t>
            </a:r>
          </a:p>
          <a:p>
            <a:pPr marL="4826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latin typeface="한컴 백제 M"/>
                <a:ea typeface="한컴 백제 M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</a:rPr>
              <a:t>② 학업성적관리위원회 심의 후 학교장 결재</a:t>
            </a:r>
          </a:p>
          <a:p>
            <a:pPr marL="4826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latin typeface="한컴 백제 M"/>
                <a:ea typeface="한컴 백제 M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</a:rPr>
              <a:t>③ 이동식 저장매체 관리대장 작성 후 배부</a:t>
            </a:r>
          </a:p>
          <a:p>
            <a:pPr marL="4826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latin typeface="한컴 백제 M"/>
                <a:ea typeface="한컴 백제 M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</a:rPr>
              <a:t>④ 정기시험관련 양식 배부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endParaRPr lang="ko-KR" altLang="en-US" sz="3600" b="1" i="0" u="none" strike="noStrike" spc="-60">
              <a:latin typeface="한컴 백제 M"/>
              <a:ea typeface="한컴 백제 M"/>
            </a:endParaRPr>
          </a:p>
        </p:txBody>
      </p:sp>
      <p:cxnSp>
        <p:nvCxnSpPr>
          <p:cNvPr id="1008" name="직선 연결선 1007"/>
          <p:cNvCxnSpPr/>
          <p:nvPr/>
        </p:nvCxnSpPr>
        <p:spPr>
          <a:xfrm>
            <a:off x="1524000" y="2400300"/>
            <a:ext cx="8610600" cy="0"/>
          </a:xfrm>
          <a:prstGeom prst="line">
            <a:avLst/>
          </a:prstGeom>
          <a:ln w="762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9" name="TextBox 1008"/>
          <p:cNvSpPr txBox="1"/>
          <p:nvPr/>
        </p:nvSpPr>
        <p:spPr>
          <a:xfrm>
            <a:off x="17221200" y="9612630"/>
            <a:ext cx="1066800" cy="407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8/24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15087600" y="0"/>
            <a:ext cx="3810000" cy="664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05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 i="0" u="none" strike="noStrike">
                <a:latin typeface="한컴 백제 M"/>
                <a:ea typeface="한컴 백제 M"/>
              </a:rPr>
              <a:t>단계별 업무 내용</a:t>
            </a:r>
            <a:r>
              <a:rPr lang="ko-KR" altLang="en-US" sz="2400" b="1" i="0" u="none" strike="noStrike">
                <a:latin typeface="한컴 백제 M"/>
                <a:ea typeface="한컴 백제 M"/>
              </a:rPr>
              <a:t> 포함</a:t>
            </a:r>
            <a:endParaRPr lang="ko-KR" altLang="en-US" sz="2400">
              <a:latin typeface="한컴 백제 M"/>
              <a:ea typeface="한컴 백제 M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447799" y="800100"/>
            <a:ext cx="16383000" cy="930402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4</a:t>
            </a:r>
            <a:r>
              <a:rPr lang="ko-KR" altLang="en-US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월 </a:t>
            </a:r>
            <a:r>
              <a:rPr sz="4400" b="1" i="0" u="none" strike="noStrike" spc="-60">
                <a:latin typeface="한컴 백제 M"/>
                <a:ea typeface="한컴 백제 M"/>
              </a:rPr>
              <a:t>정기시험</a:t>
            </a:r>
            <a:r>
              <a:rPr lang="EN-US" sz="4400" b="1" i="0" u="none" strike="noStrike" spc="-60">
                <a:latin typeface="한컴 백제 M"/>
                <a:ea typeface="한컴 백제 M"/>
              </a:rPr>
              <a:t>(1</a:t>
            </a:r>
            <a:r>
              <a:rPr sz="4400" b="1" i="0" u="none" strike="noStrike" spc="-60">
                <a:latin typeface="한컴 백제 M"/>
                <a:ea typeface="한컴 백제 M"/>
              </a:rPr>
              <a:t>차 시험</a:t>
            </a:r>
            <a:r>
              <a:rPr lang="en-US" altLang="ko-KR" sz="4400" b="1" i="0" u="none" strike="noStrike" spc="-60">
                <a:latin typeface="한컴 백제 M"/>
                <a:ea typeface="한컴 백제 M"/>
              </a:rPr>
              <a:t>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1" i="0" u="none" strike="noStrike" spc="-60">
                <a:solidFill>
                  <a:srgbClr val="008000"/>
                </a:solidFill>
                <a:latin typeface="한컴 백제 M"/>
                <a:ea typeface="한컴 백제 M"/>
              </a:rPr>
              <a:t> </a:t>
            </a:r>
            <a:r>
              <a:rPr lang="en-US" altLang="ko-KR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2.</a:t>
            </a:r>
            <a:r>
              <a:rPr lang="ko-KR" altLang="en-US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정기시험</a:t>
            </a:r>
            <a:r>
              <a:rPr lang="ko-KR" altLang="en-US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교직원 연수 실시</a:t>
            </a:r>
          </a:p>
          <a:p>
            <a:pPr marL="4826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latin typeface="한컴 백제 M"/>
                <a:ea typeface="한컴 백제 M"/>
              </a:rPr>
              <a:t>  </a:t>
            </a:r>
            <a:r>
              <a:rPr sz="3600" b="0" i="0" u="none" strike="noStrike" spc="-60">
                <a:latin typeface="한컴 백제 M"/>
                <a:ea typeface="한컴 백제 M"/>
              </a:rPr>
              <a:t>① 출제 원안 제출일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정기시험시행일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채점 일정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학생 확인 방법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이의신청 일정</a:t>
            </a:r>
            <a:r>
              <a:rPr sz="3600" b="0" i="0" u="none" strike="noStrike" spc="-60">
                <a:ea typeface="한컴 백제 M"/>
              </a:rPr>
              <a:t>‧</a:t>
            </a:r>
            <a:r>
              <a:rPr sz="3600" b="0" i="0" u="none" strike="noStrike" spc="-60">
                <a:latin typeface="한컴 백제 M"/>
                <a:ea typeface="한컴 백제 M"/>
              </a:rPr>
              <a:t>절차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lang="ko-KR" altLang="en-US" sz="3600" b="0" i="0" u="none" strike="noStrike" spc="-60">
                <a:latin typeface="한컴 백제 M"/>
                <a:ea typeface="한컴 백제 M"/>
              </a:rPr>
              <a:t>   </a:t>
            </a:r>
            <a:r>
              <a:rPr sz="3600" b="0" i="0" u="none" strike="noStrike" spc="-60">
                <a:latin typeface="한컴 백제 M"/>
                <a:ea typeface="한컴 백제 M"/>
              </a:rPr>
              <a:t>성적처리 일정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성적표 발송 일정 등</a:t>
            </a:r>
          </a:p>
          <a:p>
            <a:pPr marL="4826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latin typeface="한컴 백제 M"/>
                <a:ea typeface="한컴 백제 M"/>
              </a:rPr>
              <a:t>  </a:t>
            </a:r>
            <a:r>
              <a:rPr sz="3600" b="0" i="0" u="none" strike="noStrike" spc="-60">
                <a:latin typeface="한컴 백제 M"/>
                <a:ea typeface="한컴 백제 M"/>
              </a:rPr>
              <a:t>②</a:t>
            </a:r>
            <a:r>
              <a:rPr lang="ko-KR" altLang="en-US" sz="3600" b="0" i="0" u="none" strike="noStrike" spc="-60">
                <a:latin typeface="한컴 백제 M"/>
                <a:ea typeface="한컴 백제 M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</a:rPr>
              <a:t>출제 및 보안 관리 연수</a:t>
            </a:r>
          </a:p>
          <a:p>
            <a:pPr marL="4826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latin typeface="한컴 백제 M"/>
                <a:ea typeface="한컴 백제 M"/>
              </a:rPr>
              <a:t>   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- </a:t>
            </a:r>
            <a:r>
              <a:rPr sz="3600" b="0" i="0" u="none" strike="noStrike" spc="-60">
                <a:latin typeface="한컴 백제 M"/>
                <a:ea typeface="한컴 백제 M"/>
              </a:rPr>
              <a:t>문항 출제 시 유의사항 등 연수</a:t>
            </a:r>
          </a:p>
          <a:p>
            <a:pPr marL="762000" marR="127000" indent="-317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70">
                <a:latin typeface="한컴 백제 M"/>
                <a:ea typeface="한컴 백제 M"/>
              </a:rPr>
              <a:t>  </a:t>
            </a:r>
            <a:r>
              <a:rPr lang="EN-US" sz="3600" b="0" i="0" u="none" strike="noStrike" spc="-70">
                <a:latin typeface="한컴 백제 M"/>
                <a:ea typeface="한컴 백제 M"/>
              </a:rPr>
              <a:t>- </a:t>
            </a:r>
            <a:r>
              <a:rPr sz="3600" b="0" i="0" u="none" strike="noStrike" spc="-60">
                <a:latin typeface="한컴 백제 M"/>
                <a:ea typeface="한컴 백제 M"/>
              </a:rPr>
              <a:t>교과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(</a:t>
            </a:r>
            <a:r>
              <a:rPr sz="3600" b="0" i="0" u="none" strike="noStrike" spc="-60">
                <a:latin typeface="한컴 백제 M"/>
                <a:ea typeface="한컴 백제 M"/>
              </a:rPr>
              <a:t>학년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)</a:t>
            </a:r>
            <a:r>
              <a:rPr sz="3600" b="0" i="0" u="none" strike="noStrike" spc="-60">
                <a:latin typeface="한컴 백제 M"/>
                <a:ea typeface="한컴 백제 M"/>
              </a:rPr>
              <a:t>협의회에서 평가 내용에 대해 사전 협의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(</a:t>
            </a:r>
            <a:r>
              <a:rPr sz="3600" b="0" i="0" u="none" strike="noStrike" spc="-60">
                <a:latin typeface="한컴 백제 M"/>
                <a:ea typeface="한컴 백제 M"/>
              </a:rPr>
              <a:t>출제 범위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출제유형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난이도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문항수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배점 등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) </a:t>
            </a:r>
            <a:r>
              <a:rPr sz="3600" b="0" i="0" u="none" strike="noStrike" spc="-60">
                <a:latin typeface="한컴 백제 M"/>
                <a:ea typeface="한컴 백제 M"/>
              </a:rPr>
              <a:t>후 공동 출제 및 검토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en-US" altLang="ko-KR" sz="42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3.</a:t>
            </a:r>
            <a:r>
              <a:rPr lang="ko-KR" altLang="en-US" sz="42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2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정기시험</a:t>
            </a:r>
            <a:r>
              <a:rPr lang="ko-KR" altLang="en-US" sz="42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학생 안내</a:t>
            </a:r>
          </a:p>
          <a:p>
            <a:pPr marL="4826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sz="3600" b="0" i="0" u="none" strike="noStrike" spc="-60">
                <a:latin typeface="한컴 백제 M"/>
                <a:ea typeface="한컴 백제 M"/>
              </a:rPr>
              <a:t> </a:t>
            </a:r>
            <a:r>
              <a:rPr sz="3400" b="0" i="0" u="none" strike="noStrike" spc="-60">
                <a:latin typeface="한컴 백제 M"/>
                <a:ea typeface="한컴 백제 M"/>
              </a:rPr>
              <a:t>정기시험관련 일정</a:t>
            </a:r>
            <a:r>
              <a:rPr lang="EN-US" sz="3400" b="0" i="0" u="none" strike="noStrike" spc="-60">
                <a:latin typeface="한컴 백제 M"/>
                <a:ea typeface="한컴 백제 M"/>
              </a:rPr>
              <a:t>, </a:t>
            </a:r>
            <a:r>
              <a:rPr sz="3400" b="0" i="0" u="none" strike="noStrike" spc="-60">
                <a:latin typeface="한컴 백제 M"/>
                <a:ea typeface="한컴 백제 M"/>
              </a:rPr>
              <a:t>시험 시간표</a:t>
            </a:r>
            <a:r>
              <a:rPr lang="EN-US" sz="3400" b="0" i="0" u="none" strike="noStrike" spc="-60">
                <a:latin typeface="한컴 백제 M"/>
                <a:ea typeface="한컴 백제 M"/>
              </a:rPr>
              <a:t>, </a:t>
            </a:r>
            <a:r>
              <a:rPr sz="3400" b="0" i="0" u="none" strike="noStrike" spc="-60">
                <a:latin typeface="한컴 백제 M"/>
                <a:ea typeface="한컴 백제 M"/>
              </a:rPr>
              <a:t>시험 범위 공지</a:t>
            </a:r>
            <a:r>
              <a:rPr lang="en-US" altLang="ko-KR" sz="3400" b="0" i="0" u="none" strike="noStrike" spc="-60">
                <a:latin typeface="한컴 백제 M"/>
                <a:ea typeface="한컴 백제 M"/>
              </a:rPr>
              <a:t>(</a:t>
            </a:r>
            <a:r>
              <a:rPr sz="3400" b="0" i="0" u="none" strike="noStrike" spc="-60">
                <a:latin typeface="한컴 백제 M"/>
                <a:ea typeface="한컴 백제 M"/>
              </a:rPr>
              <a:t>학</a:t>
            </a:r>
            <a:r>
              <a:rPr lang="ko-KR" altLang="en-US" sz="3400" b="0" i="0" u="none" strike="noStrike" spc="-60">
                <a:latin typeface="한컴 백제 M"/>
                <a:ea typeface="한컴 백제 M"/>
              </a:rPr>
              <a:t>교누리집</a:t>
            </a:r>
            <a:r>
              <a:rPr lang="EN-US" sz="3400" b="0" i="0" u="none" strike="noStrike" spc="-60">
                <a:latin typeface="한컴 백제 M"/>
                <a:ea typeface="한컴 백제 M"/>
              </a:rPr>
              <a:t>, </a:t>
            </a:r>
            <a:r>
              <a:rPr sz="3400" b="0" i="0" u="none" strike="noStrike" spc="-60">
                <a:latin typeface="한컴 백제 M"/>
                <a:ea typeface="한컴 백제 M"/>
              </a:rPr>
              <a:t>가정통신문</a:t>
            </a:r>
            <a:r>
              <a:rPr lang="EN-US" sz="3400" b="0" i="0" u="none" strike="noStrike" spc="-60">
                <a:latin typeface="한컴 백제 M"/>
                <a:ea typeface="한컴 백제 M"/>
              </a:rPr>
              <a:t>, </a:t>
            </a:r>
            <a:r>
              <a:rPr sz="3400" b="0" i="0" u="none" strike="noStrike" spc="-60">
                <a:latin typeface="한컴 백제 M"/>
                <a:ea typeface="한컴 백제 M"/>
              </a:rPr>
              <a:t>학급 게시 등</a:t>
            </a:r>
            <a:r>
              <a:rPr lang="en-US" altLang="ko-KR" sz="3400" b="0" i="0" u="none" strike="noStrike" spc="-60">
                <a:latin typeface="한컴 백제 M"/>
                <a:ea typeface="한컴 백제 M"/>
              </a:rPr>
              <a:t>)</a:t>
            </a:r>
            <a:r>
              <a:rPr sz="3400" b="0" i="0" u="none" strike="noStrike" spc="-60">
                <a:latin typeface="한컴 백제 M"/>
                <a:ea typeface="한컴 백제 M"/>
              </a:rPr>
              <a:t> </a:t>
            </a:r>
          </a:p>
        </p:txBody>
      </p:sp>
      <p:cxnSp>
        <p:nvCxnSpPr>
          <p:cNvPr id="1008" name="직선 연결선 1007"/>
          <p:cNvCxnSpPr/>
          <p:nvPr/>
        </p:nvCxnSpPr>
        <p:spPr>
          <a:xfrm>
            <a:off x="1524000" y="1943100"/>
            <a:ext cx="8610600" cy="0"/>
          </a:xfrm>
          <a:prstGeom prst="line">
            <a:avLst/>
          </a:prstGeom>
          <a:ln w="762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9" name="TextBox 1008"/>
          <p:cNvSpPr txBox="1"/>
          <p:nvPr/>
        </p:nvSpPr>
        <p:spPr>
          <a:xfrm>
            <a:off x="17449800" y="9612630"/>
            <a:ext cx="1066800" cy="407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9/24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15087600" y="0"/>
            <a:ext cx="3810000" cy="664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05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 i="0" u="none" strike="noStrike">
                <a:latin typeface="한컴 백제 M"/>
                <a:ea typeface="한컴 백제 M"/>
              </a:rPr>
              <a:t>단계별 업무 내용</a:t>
            </a:r>
            <a:r>
              <a:rPr lang="ko-KR" altLang="en-US" sz="2400" b="1" i="0" u="none" strike="noStrike">
                <a:latin typeface="한컴 백제 M"/>
                <a:ea typeface="한컴 백제 M"/>
              </a:rPr>
              <a:t> 포함</a:t>
            </a:r>
            <a:endParaRPr lang="ko-KR" altLang="en-US" sz="2400">
              <a:latin typeface="한컴 백제 M"/>
              <a:ea typeface="한컴 백제 M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600200" y="1247770"/>
            <a:ext cx="16383000" cy="213170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4</a:t>
            </a:r>
            <a:r>
              <a:rPr lang="ko-KR" altLang="en-US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월 </a:t>
            </a:r>
            <a:r>
              <a:rPr sz="4400" b="1" i="0" u="none" strike="noStrike" spc="-60">
                <a:latin typeface="한컴 백제 M"/>
                <a:ea typeface="한컴 백제 M"/>
              </a:rPr>
              <a:t>정기시험</a:t>
            </a:r>
            <a:r>
              <a:rPr lang="EN-US" sz="4400" b="1" i="0" u="none" strike="noStrike" spc="-60">
                <a:latin typeface="한컴 백제 M"/>
                <a:ea typeface="한컴 백제 M"/>
              </a:rPr>
              <a:t>(1</a:t>
            </a:r>
            <a:r>
              <a:rPr sz="4400" b="1" i="0" u="none" strike="noStrike" spc="-60">
                <a:latin typeface="한컴 백제 M"/>
                <a:ea typeface="한컴 백제 M"/>
              </a:rPr>
              <a:t>차 시험</a:t>
            </a:r>
            <a:r>
              <a:rPr lang="en-US" altLang="ko-KR" sz="4400" b="1" i="0" u="none" strike="noStrike" spc="-60">
                <a:latin typeface="한컴 백제 M"/>
                <a:ea typeface="한컴 백제 M"/>
              </a:rPr>
              <a:t>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latin typeface="한컴 백제 M"/>
                <a:ea typeface="한컴 백제 M"/>
              </a:rPr>
              <a:t> </a:t>
            </a:r>
            <a:r>
              <a:rPr lang="ko-KR" altLang="en-US" sz="4000" b="0" i="0" u="none" strike="noStrike" spc="-60">
                <a:latin typeface="한컴 백제 M"/>
                <a:ea typeface="한컴 백제 M"/>
              </a:rPr>
              <a:t> </a:t>
            </a:r>
            <a:endParaRPr sz="4000" b="0" i="0" u="none" strike="noStrike" spc="-60"/>
          </a:p>
        </p:txBody>
      </p:sp>
      <p:sp>
        <p:nvSpPr>
          <p:cNvPr id="1008" name="TextBox 1007"/>
          <p:cNvSpPr txBox="1"/>
          <p:nvPr/>
        </p:nvSpPr>
        <p:spPr>
          <a:xfrm>
            <a:off x="1524000" y="2301239"/>
            <a:ext cx="16916400" cy="5450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en-US" altLang="ko-KR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4.</a:t>
            </a:r>
            <a:r>
              <a:rPr lang="ko-KR" altLang="en-US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정기시험</a:t>
            </a:r>
            <a:r>
              <a:rPr lang="ko-KR" altLang="en-US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제출서류 검토 및 인쇄 관리</a:t>
            </a:r>
          </a:p>
          <a:p>
            <a:pPr marL="1092200" marR="127000" indent="-5207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① 문항정보표 작성</a:t>
            </a:r>
            <a:r>
              <a:rPr lang="EN-US"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서</a:t>
            </a:r>
            <a:r>
              <a:rPr lang="EN-US"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·</a:t>
            </a:r>
            <a:r>
              <a:rPr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논술형 평가문항 채점기준표 작성</a:t>
            </a:r>
          </a:p>
          <a:p>
            <a:pPr marL="1092200" marR="127000" indent="-5207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② </a:t>
            </a:r>
            <a:r>
              <a:rPr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문항정보표</a:t>
            </a:r>
            <a:r>
              <a:rPr lang="EN-US"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서</a:t>
            </a:r>
            <a:r>
              <a:rPr lang="EN-US"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·</a:t>
            </a:r>
            <a:r>
              <a:rPr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논술형 평가문항 채점기준표</a:t>
            </a:r>
            <a:r>
              <a:rPr lang="EN-US"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출제 원안 검토 확인 및 결재</a:t>
            </a:r>
          </a:p>
          <a:p>
            <a:pPr marL="1079500" marR="127000" indent="-5080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③</a:t>
            </a:r>
            <a:r>
              <a:rPr sz="3600" b="0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 출제 원안지 검토</a:t>
            </a:r>
          </a:p>
          <a:p>
            <a:pPr marL="2349500" marR="127000" indent="-1929753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sz="3600" b="0" i="0" u="none" strike="noStrike" spc="-60"/>
              <a:t> </a:t>
            </a:r>
            <a:r>
              <a:rPr lang="ko-KR" altLang="en-US" sz="3600" b="0" i="0" u="none" strike="noStrike" spc="-60">
                <a:latin typeface="한컴 백제 M"/>
                <a:ea typeface="한컴 백제 M"/>
              </a:rPr>
              <a:t>④ </a:t>
            </a:r>
            <a:r>
              <a:rPr sz="3600" b="0" i="0" u="none" strike="noStrike" spc="-60">
                <a:latin typeface="한컴 백제 M"/>
                <a:ea typeface="한컴 백제 M"/>
              </a:rPr>
              <a:t>인쇄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(</a:t>
            </a:r>
            <a:r>
              <a:rPr sz="3600" b="0" i="0" u="none" strike="noStrike" spc="-60">
                <a:latin typeface="한컴 백제 M"/>
                <a:ea typeface="한컴 백제 M"/>
              </a:rPr>
              <a:t>출제 원지 및 파지 별도 보관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) </a:t>
            </a:r>
            <a:r>
              <a:rPr sz="3600" b="0" i="0" u="none" strike="noStrike" spc="-60">
                <a:latin typeface="한컴 백제 M"/>
                <a:ea typeface="한컴 백제 M"/>
              </a:rPr>
              <a:t>및 평가관리실 출입 통제</a:t>
            </a:r>
          </a:p>
          <a:p>
            <a:pPr marL="2349500" marR="127000" indent="-2010475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sz="3600" b="0" i="0" u="none" strike="noStrike" spc="-60">
                <a:latin typeface="한컴 백제 M"/>
                <a:ea typeface="한컴 백제 M"/>
              </a:rPr>
              <a:t> ⑤</a:t>
            </a:r>
            <a:r>
              <a:rPr lang="ko-KR" altLang="en-US" sz="3600" b="0" i="0" u="none" strike="noStrike" spc="-60">
                <a:latin typeface="한컴 백제 M"/>
                <a:ea typeface="한컴 백제 M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</a:rPr>
              <a:t>봉철 및 보관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(</a:t>
            </a:r>
            <a:r>
              <a:rPr sz="3600" b="0" i="0" u="none" strike="noStrike" spc="-60">
                <a:latin typeface="한컴 백제 M"/>
                <a:ea typeface="한컴 백제 M"/>
              </a:rPr>
              <a:t>이중 잠금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출입자 확인 장치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통신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·</a:t>
            </a:r>
            <a:r>
              <a:rPr sz="3600" b="0" i="0" u="none" strike="noStrike" spc="-60">
                <a:latin typeface="한컴 백제 M"/>
                <a:ea typeface="한컴 백제 M"/>
              </a:rPr>
              <a:t>전자기기 소지 금지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)</a:t>
            </a:r>
            <a:endParaRPr sz="3600" b="0" i="0" u="none" strike="noStrike" spc="-60">
              <a:solidFill>
                <a:srgbClr val="000000"/>
              </a:solidFill>
              <a:latin typeface="한컴 백제 M"/>
              <a:ea typeface="한컴 백제 M"/>
            </a:endParaRPr>
          </a:p>
        </p:txBody>
      </p:sp>
      <p:sp>
        <p:nvSpPr>
          <p:cNvPr id="1014" name="TextBox 1013"/>
          <p:cNvSpPr txBox="1"/>
          <p:nvPr/>
        </p:nvSpPr>
        <p:spPr>
          <a:xfrm>
            <a:off x="2463673" y="3390900"/>
            <a:ext cx="1066292" cy="5695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92200" marR="127000" indent="-5207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endParaRPr sz="1000" b="0" i="0" u="none" strike="noStrike" spc="-60">
              <a:solidFill>
                <a:srgbClr val="000000"/>
              </a:solidFill>
              <a:latin typeface="한컴바탕"/>
              <a:ea typeface="한컴바탕"/>
            </a:endParaRPr>
          </a:p>
          <a:p>
            <a:pPr marL="1498600" marR="127000" indent="-6858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sz="1000" b="0" i="0" u="none" strike="noStrike" spc="-60">
                <a:solidFill>
                  <a:srgbClr val="000000"/>
                </a:solidFill>
                <a:latin typeface="한컴바탕"/>
                <a:ea typeface="한컴바탕"/>
              </a:rPr>
              <a:t> </a:t>
            </a:r>
          </a:p>
        </p:txBody>
      </p:sp>
      <p:cxnSp>
        <p:nvCxnSpPr>
          <p:cNvPr id="1017" name="직선 연결선 1016"/>
          <p:cNvCxnSpPr/>
          <p:nvPr/>
        </p:nvCxnSpPr>
        <p:spPr>
          <a:xfrm>
            <a:off x="1524000" y="2400300"/>
            <a:ext cx="8610600" cy="0"/>
          </a:xfrm>
          <a:prstGeom prst="line">
            <a:avLst/>
          </a:prstGeom>
          <a:ln w="762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8" name="TextBox 1017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10/24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15087600" y="0"/>
            <a:ext cx="3810000" cy="664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05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 i="0" u="none" strike="noStrike">
                <a:latin typeface="한컴 백제 M"/>
                <a:ea typeface="한컴 백제 M"/>
              </a:rPr>
              <a:t>단계별 업무 내용</a:t>
            </a:r>
            <a:r>
              <a:rPr lang="ko-KR" altLang="en-US" sz="2400" b="1" i="0" u="none" strike="noStrike">
                <a:latin typeface="한컴 백제 M"/>
                <a:ea typeface="한컴 백제 M"/>
              </a:rPr>
              <a:t> 포함</a:t>
            </a:r>
            <a:endParaRPr lang="ko-KR" altLang="en-US" sz="2400">
              <a:latin typeface="한컴 백제 M"/>
              <a:ea typeface="한컴 백제 M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600200" y="1247767"/>
            <a:ext cx="16383000" cy="733235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4</a:t>
            </a:r>
            <a:r>
              <a:rPr lang="ko-KR" altLang="en-US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월 </a:t>
            </a:r>
            <a:r>
              <a:rPr sz="4400" b="1" i="0" u="none" strike="noStrike" spc="-60">
                <a:latin typeface="한컴 백제 M"/>
                <a:ea typeface="한컴 백제 M"/>
              </a:rPr>
              <a:t>정기시험</a:t>
            </a:r>
            <a:r>
              <a:rPr lang="EN-US" sz="4400" b="1" i="0" u="none" strike="noStrike" spc="-60">
                <a:latin typeface="한컴 백제 M"/>
                <a:ea typeface="한컴 백제 M"/>
              </a:rPr>
              <a:t>(1</a:t>
            </a:r>
            <a:r>
              <a:rPr sz="4400" b="1" i="0" u="none" strike="noStrike" spc="-60">
                <a:latin typeface="한컴 백제 M"/>
                <a:ea typeface="한컴 백제 M"/>
              </a:rPr>
              <a:t>차 시험</a:t>
            </a:r>
            <a:r>
              <a:rPr lang="en-US" altLang="ko-KR" sz="4400" b="1" i="0" u="none" strike="noStrike" spc="-60">
                <a:latin typeface="한컴 백제 M"/>
                <a:ea typeface="한컴 백제 M"/>
              </a:rPr>
              <a:t>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lang="en-US" altLang="ko-KR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5.</a:t>
            </a:r>
            <a:r>
              <a:rPr lang="ko-KR" altLang="en-US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정기시험</a:t>
            </a:r>
            <a:r>
              <a:rPr lang="ko-KR" altLang="en-US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감독 배정 및 교</a:t>
            </a:r>
            <a:r>
              <a:rPr lang="ko-KR" altLang="en-US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직원 연수</a:t>
            </a:r>
            <a:r>
              <a:rPr lang="en-US" altLang="ko-KR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,</a:t>
            </a:r>
            <a:r>
              <a:rPr lang="ko-KR" altLang="en-US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학생 </a:t>
            </a:r>
            <a:r>
              <a:rPr lang="ko-KR" altLang="en-US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교육</a:t>
            </a:r>
            <a:r>
              <a:rPr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실시</a:t>
            </a:r>
          </a:p>
          <a:p>
            <a:pPr marL="4445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b="0" i="0" u="none" strike="noStrike" spc="-60"/>
              <a:t> </a:t>
            </a:r>
            <a:r>
              <a:rPr lang="ko-KR" altLang="en-US" sz="3600" b="1" i="0" u="none" strike="noStrike" spc="-60"/>
              <a:t> </a:t>
            </a:r>
            <a:r>
              <a:rPr sz="3600" i="0" u="none" strike="noStrike" spc="-60">
                <a:latin typeface="한컴 백제 M"/>
                <a:ea typeface="한컴 백제 M"/>
              </a:rPr>
              <a:t>① 정기시험감독 배정 및 결재</a:t>
            </a:r>
          </a:p>
          <a:p>
            <a:pPr marL="4445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i="0" u="none" strike="noStrike" spc="-60">
                <a:latin typeface="한컴 백제 M"/>
                <a:ea typeface="한컴 백제 M"/>
              </a:rPr>
              <a:t>    </a:t>
            </a:r>
            <a:r>
              <a:rPr lang="EN-US" sz="3600" i="0" u="none" strike="noStrike" spc="-60">
                <a:latin typeface="한컴 백제 M"/>
                <a:ea typeface="한컴 백제 M"/>
              </a:rPr>
              <a:t>- </a:t>
            </a:r>
            <a:r>
              <a:rPr sz="3600" i="0" u="none" strike="noStrike" spc="-60">
                <a:latin typeface="한컴 백제 M"/>
                <a:ea typeface="한컴 백제 M"/>
              </a:rPr>
              <a:t>정기시험실별 감독교사를 사전에 알지 못하도록 시험 당일 안내</a:t>
            </a:r>
          </a:p>
          <a:p>
            <a:pPr marL="4445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i="0" u="none" strike="noStrike" spc="-60">
                <a:latin typeface="한컴 백제 M"/>
                <a:ea typeface="한컴 백제 M"/>
              </a:rPr>
              <a:t>  </a:t>
            </a:r>
            <a:r>
              <a:rPr sz="3600" i="0" u="none" strike="noStrike" spc="-60">
                <a:latin typeface="한컴 백제 M"/>
                <a:ea typeface="한컴 백제 M"/>
              </a:rPr>
              <a:t>② 정기시험관련 감독교사 및 담임교사 유의사항 연수 실시</a:t>
            </a:r>
          </a:p>
          <a:p>
            <a:pPr marL="444500" marR="127000" indent="-1905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i="0" u="none" strike="noStrike" spc="-60">
                <a:latin typeface="한컴 백제 M"/>
                <a:ea typeface="한컴 백제 M"/>
              </a:rPr>
              <a:t>  </a:t>
            </a:r>
            <a:r>
              <a:rPr sz="3600" i="0" u="none" strike="noStrike" spc="-60">
                <a:latin typeface="한컴 백제 M"/>
                <a:ea typeface="한컴 백제 M"/>
              </a:rPr>
              <a:t>③ 정기시험관련 학생 유의사항 안내</a:t>
            </a:r>
          </a:p>
          <a:p>
            <a:pPr marL="444500" marR="127000" indent="-1905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i="0" u="none" strike="noStrike" spc="-60">
                <a:latin typeface="한컴 백제 M"/>
                <a:ea typeface="한컴 백제 M"/>
              </a:rPr>
              <a:t>     </a:t>
            </a:r>
            <a:r>
              <a:rPr lang="EN-US" sz="3600" i="0" u="none" strike="noStrike" spc="-60">
                <a:latin typeface="한컴 백제 M"/>
                <a:ea typeface="한컴 백제 M"/>
              </a:rPr>
              <a:t>- OMR</a:t>
            </a:r>
            <a:r>
              <a:rPr sz="3600" i="0" u="none" strike="noStrike" spc="-60">
                <a:latin typeface="한컴 백제 M"/>
                <a:ea typeface="한컴 백제 M"/>
              </a:rPr>
              <a:t>카드</a:t>
            </a:r>
            <a:r>
              <a:rPr lang="EN-US" sz="3600" i="0" u="none" strike="noStrike" spc="-60">
                <a:latin typeface="한컴 백제 M"/>
                <a:ea typeface="한컴 백제 M"/>
              </a:rPr>
              <a:t>, </a:t>
            </a:r>
            <a:r>
              <a:rPr sz="3600" i="0" u="none" strike="noStrike" spc="-60">
                <a:latin typeface="한컴 백제 M"/>
                <a:ea typeface="한컴 백제 M"/>
              </a:rPr>
              <a:t>서</a:t>
            </a:r>
            <a:r>
              <a:rPr lang="EN-US" sz="3600" i="0" u="none" strike="noStrike" spc="-60">
                <a:latin typeface="한컴 백제 M"/>
                <a:ea typeface="한컴 백제 M"/>
              </a:rPr>
              <a:t>·</a:t>
            </a:r>
            <a:r>
              <a:rPr sz="3600" i="0" u="none" strike="noStrike" spc="-60">
                <a:latin typeface="한컴 백제 M"/>
                <a:ea typeface="한컴 백제 M"/>
              </a:rPr>
              <a:t>논술형 평가답안지 작성 요령 및 부정행위 예방 교육</a:t>
            </a:r>
          </a:p>
          <a:p>
            <a:pPr marL="419100" marR="127000" indent="-1905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269240" algn="l"/>
              </a:tabLst>
              <a:defRPr/>
            </a:pPr>
            <a:r>
              <a:rPr lang="ko-KR" altLang="en-US" sz="3600" i="0" u="none" strike="noStrike" spc="-60">
                <a:latin typeface="한컴 백제 M"/>
                <a:ea typeface="한컴 백제 M"/>
              </a:rPr>
              <a:t>  </a:t>
            </a:r>
            <a:r>
              <a:rPr sz="3600" i="0" u="none" strike="noStrike" spc="-60">
                <a:latin typeface="한컴 백제 M"/>
                <a:ea typeface="한컴 백제 M"/>
              </a:rPr>
              <a:t>④ 정기시험기간 타종 점검</a:t>
            </a:r>
          </a:p>
        </p:txBody>
      </p:sp>
      <p:cxnSp>
        <p:nvCxnSpPr>
          <p:cNvPr id="1011" name="직선 연결선 1010"/>
          <p:cNvCxnSpPr/>
          <p:nvPr/>
        </p:nvCxnSpPr>
        <p:spPr>
          <a:xfrm>
            <a:off x="1524000" y="2400300"/>
            <a:ext cx="8610600" cy="0"/>
          </a:xfrm>
          <a:prstGeom prst="line">
            <a:avLst/>
          </a:prstGeom>
          <a:ln w="762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2" name="TextBox 1011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11/24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15087600" y="0"/>
            <a:ext cx="3810000" cy="664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05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 i="0" u="none" strike="noStrike">
                <a:latin typeface="한컴 백제 M"/>
                <a:ea typeface="한컴 백제 M"/>
              </a:rPr>
              <a:t>단계별 업무 내용</a:t>
            </a:r>
            <a:r>
              <a:rPr lang="ko-KR" altLang="en-US" sz="2400" b="1" i="0" u="none" strike="noStrike">
                <a:latin typeface="한컴 백제 M"/>
                <a:ea typeface="한컴 백제 M"/>
              </a:rPr>
              <a:t> 포함</a:t>
            </a:r>
            <a:endParaRPr lang="ko-KR" altLang="en-US" sz="2400">
              <a:latin typeface="한컴 백제 M"/>
              <a:ea typeface="한컴 백제 M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600200" y="1247766"/>
            <a:ext cx="16687800" cy="531305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4</a:t>
            </a:r>
            <a:r>
              <a:rPr lang="ko-KR" altLang="en-US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월 </a:t>
            </a:r>
            <a:r>
              <a:rPr sz="4400" b="1" i="0" u="none" strike="noStrike" spc="-60">
                <a:latin typeface="한컴 백제 M"/>
                <a:ea typeface="한컴 백제 M"/>
              </a:rPr>
              <a:t>정기시험</a:t>
            </a:r>
            <a:r>
              <a:rPr lang="EN-US" sz="4400" b="1" i="0" u="none" strike="noStrike" spc="-60">
                <a:latin typeface="한컴 백제 M"/>
                <a:ea typeface="한컴 백제 M"/>
              </a:rPr>
              <a:t>(1</a:t>
            </a:r>
            <a:r>
              <a:rPr sz="4400" b="1" i="0" u="none" strike="noStrike" spc="-60">
                <a:latin typeface="한컴 백제 M"/>
                <a:ea typeface="한컴 백제 M"/>
              </a:rPr>
              <a:t>차 시험</a:t>
            </a:r>
            <a:r>
              <a:rPr lang="en-US" altLang="ko-KR" sz="4400" b="1" i="0" u="none" strike="noStrike" spc="-60">
                <a:latin typeface="한컴 백제 M"/>
                <a:ea typeface="한컴 백제 M"/>
              </a:rPr>
              <a:t>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lang="en-US" altLang="ko-KR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6.</a:t>
            </a:r>
            <a:r>
              <a:rPr lang="ko-KR" altLang="en-US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정기시험</a:t>
            </a:r>
            <a:r>
              <a:rPr lang="ko-KR" altLang="en-US"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1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시행</a:t>
            </a:r>
          </a:p>
          <a:p>
            <a:pPr marL="368300" marR="127000" indent="-15240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0" i="0" u="none" strike="noStrike" spc="-60">
                <a:latin typeface="한컴 백제 M"/>
                <a:ea typeface="한컴 백제 M"/>
              </a:rPr>
              <a:t>  ① </a:t>
            </a:r>
            <a:r>
              <a:rPr sz="3600" b="0" i="0" u="none" strike="noStrike" spc="-60">
                <a:latin typeface="한컴 백제 M"/>
                <a:ea typeface="한컴 백제 M"/>
              </a:rPr>
              <a:t>답안지 매수와 응시자수 일치 여부 확인</a:t>
            </a:r>
          </a:p>
          <a:p>
            <a:pPr marL="368300" marR="127000" indent="-15240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0" i="0" u="none" strike="noStrike" spc="-60">
                <a:latin typeface="한컴 백제 M"/>
                <a:ea typeface="한컴 백제 M"/>
              </a:rPr>
              <a:t>  ② 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OMR</a:t>
            </a:r>
            <a:r>
              <a:rPr sz="3600" b="0" i="0" u="none" strike="noStrike" spc="-60">
                <a:latin typeface="한컴 백제 M"/>
                <a:ea typeface="한컴 백제 M"/>
              </a:rPr>
              <a:t>카드봉투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서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·</a:t>
            </a:r>
            <a:r>
              <a:rPr sz="3600" b="0" i="0" u="none" strike="noStrike" spc="-60">
                <a:latin typeface="한컴 백제 M"/>
                <a:ea typeface="한컴 백제 M"/>
              </a:rPr>
              <a:t>논술형 평가답안지 표지에 응시자수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결시자수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감독교사 날인 확인</a:t>
            </a:r>
          </a:p>
          <a:p>
            <a:pPr marL="368300" marR="127000" indent="-15240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0" i="0" u="none" strike="noStrike" spc="-60">
                <a:latin typeface="한컴 백제 M"/>
                <a:ea typeface="한컴 백제 M"/>
              </a:rPr>
              <a:t>  ③ </a:t>
            </a:r>
            <a:r>
              <a:rPr sz="3600" b="0" i="0" u="none" strike="noStrike" spc="-60">
                <a:latin typeface="한컴 백제 M"/>
                <a:ea typeface="한컴 백제 M"/>
              </a:rPr>
              <a:t>차시별 결시생 명단 확인</a:t>
            </a:r>
          </a:p>
          <a:p>
            <a:pPr marL="368300" marR="127000" indent="-15240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0" i="0" u="none" strike="noStrike" spc="-60">
                <a:latin typeface="한컴 백제 M"/>
                <a:ea typeface="한컴 백제 M"/>
              </a:rPr>
              <a:t>  ④ </a:t>
            </a:r>
            <a:r>
              <a:rPr sz="3600" b="0" i="0" u="none" strike="noStrike" spc="-60">
                <a:latin typeface="한컴 백제 M"/>
                <a:ea typeface="한컴 백제 M"/>
              </a:rPr>
              <a:t>결시 증빙 서류 취합</a:t>
            </a:r>
          </a:p>
        </p:txBody>
      </p:sp>
      <p:cxnSp>
        <p:nvCxnSpPr>
          <p:cNvPr id="1011" name="직선 연결선 1010"/>
          <p:cNvCxnSpPr/>
          <p:nvPr/>
        </p:nvCxnSpPr>
        <p:spPr>
          <a:xfrm>
            <a:off x="1524000" y="2400300"/>
            <a:ext cx="8610600" cy="0"/>
          </a:xfrm>
          <a:prstGeom prst="line">
            <a:avLst/>
          </a:prstGeom>
          <a:ln w="762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2" name="TextBox 1011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12/24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15087600" y="0"/>
            <a:ext cx="3810000" cy="664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05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 i="0" u="none" strike="noStrike">
                <a:latin typeface="한컴 백제 M"/>
                <a:ea typeface="한컴 백제 M"/>
              </a:rPr>
              <a:t>단계별 업무 내용</a:t>
            </a:r>
            <a:r>
              <a:rPr lang="ko-KR" altLang="en-US" sz="2400" b="1" i="0" u="none" strike="noStrike">
                <a:latin typeface="한컴 백제 M"/>
                <a:ea typeface="한컴 백제 M"/>
              </a:rPr>
              <a:t> 포함</a:t>
            </a:r>
            <a:endParaRPr lang="ko-KR" altLang="en-US" sz="2400">
              <a:latin typeface="한컴 백제 M"/>
              <a:ea typeface="한컴 백제 M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600200" y="1247767"/>
            <a:ext cx="16383000" cy="203645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4</a:t>
            </a:r>
            <a:r>
              <a:rPr lang="ko-KR" altLang="en-US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월 </a:t>
            </a:r>
            <a:r>
              <a:rPr sz="4400" b="1" i="0" u="none" strike="noStrike" spc="-60">
                <a:latin typeface="한컴 백제 M"/>
                <a:ea typeface="한컴 백제 M"/>
              </a:rPr>
              <a:t>정기시험</a:t>
            </a:r>
            <a:r>
              <a:rPr lang="EN-US" sz="4400" b="1" i="0" u="none" strike="noStrike" spc="-60">
                <a:latin typeface="한컴 백제 M"/>
                <a:ea typeface="한컴 백제 M"/>
              </a:rPr>
              <a:t>(1</a:t>
            </a:r>
            <a:r>
              <a:rPr sz="4400" b="1" i="0" u="none" strike="noStrike" spc="-60">
                <a:latin typeface="한컴 백제 M"/>
                <a:ea typeface="한컴 백제 M"/>
              </a:rPr>
              <a:t>차 시험</a:t>
            </a:r>
            <a:r>
              <a:rPr lang="en-US" altLang="ko-KR" sz="4400" b="1" i="0" u="none" strike="noStrike" spc="-60">
                <a:latin typeface="한컴 백제 M"/>
                <a:ea typeface="한컴 백제 M"/>
              </a:rPr>
              <a:t>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endParaRPr sz="3600" i="0" u="none" strike="noStrike" spc="-60">
              <a:latin typeface="한컴 백제 M"/>
              <a:ea typeface="한컴 백제 M"/>
            </a:endParaRPr>
          </a:p>
        </p:txBody>
      </p:sp>
      <p:sp>
        <p:nvSpPr>
          <p:cNvPr id="1011" name="TextBox 1010"/>
          <p:cNvSpPr txBox="1"/>
          <p:nvPr/>
        </p:nvSpPr>
        <p:spPr>
          <a:xfrm>
            <a:off x="1600200" y="2400300"/>
            <a:ext cx="16383000" cy="5036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7.</a:t>
            </a:r>
            <a:r>
              <a:rPr lang="ko-KR" altLang="en-US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채점 및 성적처리</a:t>
            </a:r>
          </a:p>
          <a:p>
            <a:pPr marL="38100" marR="12700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0" i="0" u="none" strike="noStrike" spc="-60">
                <a:latin typeface="한컴 백제 M"/>
                <a:ea typeface="한컴 백제 M"/>
              </a:rPr>
              <a:t>① 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OMR</a:t>
            </a:r>
            <a:r>
              <a:rPr sz="3600" b="0" i="0" u="none" strike="noStrike" spc="-60">
                <a:latin typeface="한컴 백제 M"/>
                <a:ea typeface="한컴 백제 M"/>
              </a:rPr>
              <a:t>카드 리딩</a:t>
            </a:r>
          </a:p>
          <a:p>
            <a:pPr marL="203200" marR="12700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0" i="0" u="none" strike="noStrike" spc="-60">
                <a:latin typeface="한컴 백제 M"/>
                <a:ea typeface="한컴 백제 M"/>
              </a:rPr>
              <a:t>- OMR</a:t>
            </a:r>
            <a:r>
              <a:rPr sz="3600" b="0" i="0" u="none" strike="noStrike" spc="-60">
                <a:latin typeface="한컴 백제 M"/>
                <a:ea typeface="한컴 백제 M"/>
              </a:rPr>
              <a:t>카드리딩 시 감독교사 날인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중복마킹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무표기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학번 등 확인</a:t>
            </a:r>
          </a:p>
          <a:p>
            <a:pPr marL="203200" marR="12700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0" i="0" u="none" strike="noStrike" spc="-60">
                <a:latin typeface="한컴 백제 M"/>
                <a:ea typeface="한컴 백제 M"/>
              </a:rPr>
              <a:t>② 서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·</a:t>
            </a:r>
            <a:r>
              <a:rPr sz="3600" b="0" i="0" u="none" strike="noStrike" spc="-60">
                <a:latin typeface="한컴 백제 M"/>
                <a:ea typeface="한컴 백제 M"/>
              </a:rPr>
              <a:t>논술형 평가채점</a:t>
            </a:r>
          </a:p>
          <a:p>
            <a:pPr marL="368300" marR="127000" indent="-15240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0" i="0" u="none" strike="noStrike" spc="-60">
                <a:latin typeface="한컴 백제 M"/>
                <a:ea typeface="한컴 백제 M"/>
              </a:rPr>
              <a:t>③ 학생 답 정오표 학생 확인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서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·</a:t>
            </a:r>
            <a:r>
              <a:rPr sz="3600" b="0" i="0" u="none" strike="noStrike" spc="-60">
                <a:latin typeface="한컴 백제 M"/>
                <a:ea typeface="한컴 백제 M"/>
              </a:rPr>
              <a:t>논술형 평가답안지 채점 결과 학생 확인</a:t>
            </a:r>
          </a:p>
          <a:p>
            <a:pPr marL="368300" marR="127000" indent="-15240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0" i="0" u="none" strike="noStrike" spc="-60">
                <a:latin typeface="한컴 백제 M"/>
                <a:ea typeface="한컴 백제 M"/>
              </a:rPr>
              <a:t>④ 이의신청이 있을 경우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교과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(</a:t>
            </a:r>
            <a:r>
              <a:rPr sz="3600" b="0" i="0" u="none" strike="noStrike" spc="-60">
                <a:latin typeface="한컴 백제 M"/>
                <a:ea typeface="한컴 백제 M"/>
              </a:rPr>
              <a:t>학년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)</a:t>
            </a:r>
            <a:r>
              <a:rPr sz="3600" b="0" i="0" u="none" strike="noStrike" spc="-60">
                <a:latin typeface="한컴 백제 M"/>
                <a:ea typeface="한컴 백제 M"/>
              </a:rPr>
              <a:t>협의회 후 학업성적관리위원회의 심의를 거쳐 처리</a:t>
            </a:r>
          </a:p>
        </p:txBody>
      </p:sp>
      <p:cxnSp>
        <p:nvCxnSpPr>
          <p:cNvPr id="1012" name="직선 연결선 1011"/>
          <p:cNvCxnSpPr/>
          <p:nvPr/>
        </p:nvCxnSpPr>
        <p:spPr>
          <a:xfrm>
            <a:off x="1524000" y="2400300"/>
            <a:ext cx="8610600" cy="0"/>
          </a:xfrm>
          <a:prstGeom prst="line">
            <a:avLst/>
          </a:prstGeom>
          <a:ln w="762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3" name="TextBox 1012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13/24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600200" y="1247767"/>
            <a:ext cx="16383000" cy="203645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4</a:t>
            </a:r>
            <a:r>
              <a:rPr lang="ko-KR" altLang="en-US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월 </a:t>
            </a:r>
            <a:r>
              <a:rPr sz="4400" b="1" i="0" u="none" strike="noStrike" spc="-60">
                <a:latin typeface="한컴 백제 M"/>
                <a:ea typeface="한컴 백제 M"/>
              </a:rPr>
              <a:t>정기시험</a:t>
            </a:r>
            <a:r>
              <a:rPr lang="EN-US" sz="4400" b="1" i="0" u="none" strike="noStrike" spc="-60">
                <a:latin typeface="한컴 백제 M"/>
                <a:ea typeface="한컴 백제 M"/>
              </a:rPr>
              <a:t>(1</a:t>
            </a:r>
            <a:r>
              <a:rPr sz="4400" b="1" i="0" u="none" strike="noStrike" spc="-60">
                <a:latin typeface="한컴 백제 M"/>
                <a:ea typeface="한컴 백제 M"/>
              </a:rPr>
              <a:t>차 시험</a:t>
            </a:r>
            <a:r>
              <a:rPr lang="en-US" altLang="ko-KR" sz="4400" b="1" i="0" u="none" strike="noStrike" spc="-60">
                <a:latin typeface="한컴 백제 M"/>
                <a:ea typeface="한컴 백제 M"/>
              </a:rPr>
              <a:t>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endParaRPr sz="3600" i="0" u="none" strike="noStrike" spc="-60">
              <a:latin typeface="한컴 백제 M"/>
              <a:ea typeface="한컴 백제 M"/>
            </a:endParaRPr>
          </a:p>
        </p:txBody>
      </p:sp>
      <p:sp>
        <p:nvSpPr>
          <p:cNvPr id="1011" name="TextBox 1010"/>
          <p:cNvSpPr txBox="1"/>
          <p:nvPr/>
        </p:nvSpPr>
        <p:spPr>
          <a:xfrm>
            <a:off x="8686801" y="1562100"/>
            <a:ext cx="8000999" cy="106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7.</a:t>
            </a:r>
            <a:r>
              <a:rPr lang="ko-KR" altLang="en-US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채점 및 성적처리</a:t>
            </a:r>
            <a:r>
              <a:rPr lang="ko-KR" altLang="en-US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lang="ko-KR" altLang="en-US" sz="3600" b="1" i="0" u="none" strike="noStrike" spc="-60">
                <a:solidFill>
                  <a:srgbClr val="FF0000"/>
                </a:solidFill>
                <a:latin typeface="한컴 백제 M"/>
                <a:ea typeface="한컴 백제 M"/>
              </a:rPr>
              <a:t>⑤ 문항정보표 작성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15087600" y="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 방법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cxnSp>
        <p:nvCxnSpPr>
          <p:cNvPr id="1013" name="직선 연결선 1012"/>
          <p:cNvCxnSpPr/>
          <p:nvPr/>
        </p:nvCxnSpPr>
        <p:spPr>
          <a:xfrm>
            <a:off x="1524000" y="2400300"/>
            <a:ext cx="5105400" cy="0"/>
          </a:xfrm>
          <a:prstGeom prst="line">
            <a:avLst/>
          </a:prstGeom>
          <a:ln w="762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5" name="그림 101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0" y="2552700"/>
            <a:ext cx="18440400" cy="4419600"/>
          </a:xfrm>
          <a:prstGeom prst="rect">
            <a:avLst/>
          </a:prstGeom>
        </p:spPr>
      </p:pic>
      <p:pic>
        <p:nvPicPr>
          <p:cNvPr id="1016" name="그림 101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0" y="6972034"/>
            <a:ext cx="18592800" cy="3314966"/>
          </a:xfrm>
          <a:prstGeom prst="rect">
            <a:avLst/>
          </a:prstGeom>
        </p:spPr>
      </p:pic>
      <p:sp>
        <p:nvSpPr>
          <p:cNvPr id="1017" name="TextBox 1016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14/24</a:t>
            </a:r>
          </a:p>
        </p:txBody>
      </p:sp>
      <p:sp>
        <p:nvSpPr>
          <p:cNvPr id="1018" name="직사각형 1017"/>
          <p:cNvSpPr/>
          <p:nvPr/>
        </p:nvSpPr>
        <p:spPr>
          <a:xfrm>
            <a:off x="0" y="3009900"/>
            <a:ext cx="2895600" cy="304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rgbClr val="FF0000"/>
                </a:solidFill>
              </a:rPr>
              <a:t>정기시험</a:t>
            </a:r>
            <a:r>
              <a:rPr lang="en-US" altLang="ko-KR" b="1">
                <a:solidFill>
                  <a:srgbClr val="FF0000"/>
                </a:solidFill>
              </a:rPr>
              <a:t>-</a:t>
            </a:r>
            <a:r>
              <a:rPr lang="ko-KR" altLang="en-US" b="1">
                <a:solidFill>
                  <a:srgbClr val="FF0000"/>
                </a:solidFill>
              </a:rPr>
              <a:t>문항정보표 관리</a:t>
            </a:r>
          </a:p>
        </p:txBody>
      </p:sp>
      <p:sp>
        <p:nvSpPr>
          <p:cNvPr id="1019" name="별: 꼭짓점 5개 1018"/>
          <p:cNvSpPr/>
          <p:nvPr/>
        </p:nvSpPr>
        <p:spPr>
          <a:xfrm>
            <a:off x="16078200" y="1485899"/>
            <a:ext cx="838200" cy="7620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600200" y="1247767"/>
            <a:ext cx="16383000" cy="203645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4</a:t>
            </a:r>
            <a:r>
              <a:rPr lang="ko-KR" altLang="en-US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월 </a:t>
            </a:r>
            <a:r>
              <a:rPr sz="4400" b="1" i="0" u="none" strike="noStrike" spc="-60">
                <a:latin typeface="한컴 백제 M"/>
                <a:ea typeface="한컴 백제 M"/>
              </a:rPr>
              <a:t>정기시험</a:t>
            </a:r>
            <a:r>
              <a:rPr lang="EN-US" sz="4400" b="1" i="0" u="none" strike="noStrike" spc="-60">
                <a:latin typeface="한컴 백제 M"/>
                <a:ea typeface="한컴 백제 M"/>
              </a:rPr>
              <a:t>(1</a:t>
            </a:r>
            <a:r>
              <a:rPr sz="4400" b="1" i="0" u="none" strike="noStrike" spc="-60">
                <a:latin typeface="한컴 백제 M"/>
                <a:ea typeface="한컴 백제 M"/>
              </a:rPr>
              <a:t>차 시험</a:t>
            </a:r>
            <a:r>
              <a:rPr lang="en-US" altLang="ko-KR" sz="4400" b="1" i="0" u="none" strike="noStrike" spc="-60">
                <a:latin typeface="한컴 백제 M"/>
                <a:ea typeface="한컴 백제 M"/>
              </a:rPr>
              <a:t>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endParaRPr sz="3600" i="0" u="none" strike="noStrike" spc="-60">
              <a:latin typeface="한컴 백제 M"/>
              <a:ea typeface="한컴 백제 M"/>
            </a:endParaRPr>
          </a:p>
        </p:txBody>
      </p:sp>
      <p:sp>
        <p:nvSpPr>
          <p:cNvPr id="1011" name="TextBox 1010"/>
          <p:cNvSpPr txBox="1"/>
          <p:nvPr/>
        </p:nvSpPr>
        <p:spPr>
          <a:xfrm>
            <a:off x="10287001" y="1421130"/>
            <a:ext cx="8000999" cy="106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7.</a:t>
            </a:r>
            <a:r>
              <a:rPr lang="ko-KR" altLang="en-US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채점 및 성적처리</a:t>
            </a:r>
            <a:r>
              <a:rPr lang="ko-KR" altLang="en-US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lang="ko-KR" altLang="en-US" sz="3600" b="0" i="0" u="none" strike="noStrike" spc="-60">
                <a:latin typeface="한컴 백제 M"/>
                <a:ea typeface="한컴 백제 M"/>
              </a:rPr>
              <a:t>⑥ 성적파일올리기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15087600" y="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 방법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cxnSp>
        <p:nvCxnSpPr>
          <p:cNvPr id="1013" name="직선 연결선 1012"/>
          <p:cNvCxnSpPr/>
          <p:nvPr/>
        </p:nvCxnSpPr>
        <p:spPr>
          <a:xfrm>
            <a:off x="1524000" y="2400300"/>
            <a:ext cx="8610600" cy="0"/>
          </a:xfrm>
          <a:prstGeom prst="line">
            <a:avLst/>
          </a:prstGeom>
          <a:ln w="762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4" name="그림 10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0" y="2671418"/>
            <a:ext cx="18516600" cy="7615582"/>
          </a:xfrm>
          <a:prstGeom prst="rect">
            <a:avLst/>
          </a:prstGeom>
        </p:spPr>
      </p:pic>
      <p:sp>
        <p:nvSpPr>
          <p:cNvPr id="1015" name="TextBox 1014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15/24</a:t>
            </a:r>
          </a:p>
        </p:txBody>
      </p:sp>
      <p:sp>
        <p:nvSpPr>
          <p:cNvPr id="1016" name="직사각형 1015"/>
          <p:cNvSpPr/>
          <p:nvPr/>
        </p:nvSpPr>
        <p:spPr>
          <a:xfrm>
            <a:off x="152400" y="4838700"/>
            <a:ext cx="4267200" cy="304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rgbClr val="FF0000"/>
                </a:solidFill>
              </a:rPr>
              <a:t>정기시험</a:t>
            </a:r>
            <a:r>
              <a:rPr lang="en-US" altLang="ko-KR" b="1">
                <a:solidFill>
                  <a:srgbClr val="FF0000"/>
                </a:solidFill>
              </a:rPr>
              <a:t>/</a:t>
            </a:r>
            <a:r>
              <a:rPr lang="ko-KR" altLang="en-US" b="1">
                <a:solidFill>
                  <a:srgbClr val="FF0000"/>
                </a:solidFill>
              </a:rPr>
              <a:t>수행선행작업</a:t>
            </a:r>
            <a:r>
              <a:rPr lang="en-US" altLang="ko-KR" b="1">
                <a:solidFill>
                  <a:srgbClr val="FF0000"/>
                </a:solidFill>
              </a:rPr>
              <a:t>-</a:t>
            </a:r>
            <a:r>
              <a:rPr lang="ko-KR" altLang="en-US" b="1">
                <a:solidFill>
                  <a:srgbClr val="FF0000"/>
                </a:solidFill>
              </a:rPr>
              <a:t>성적파일올리기</a:t>
            </a:r>
          </a:p>
        </p:txBody>
      </p:sp>
      <p:sp>
        <p:nvSpPr>
          <p:cNvPr id="1017" name="별: 꼭짓점 5개 1016"/>
          <p:cNvSpPr/>
          <p:nvPr/>
        </p:nvSpPr>
        <p:spPr>
          <a:xfrm>
            <a:off x="17449800" y="1333499"/>
            <a:ext cx="838200" cy="7620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457200" y="419100"/>
            <a:ext cx="16383000" cy="203645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4</a:t>
            </a:r>
            <a:r>
              <a:rPr lang="ko-KR" altLang="en-US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월 </a:t>
            </a:r>
            <a:r>
              <a:rPr sz="4400" b="1" i="0" u="none" strike="noStrike" spc="-60">
                <a:latin typeface="한컴 백제 M"/>
                <a:ea typeface="한컴 백제 M"/>
              </a:rPr>
              <a:t>정기시험</a:t>
            </a:r>
            <a:r>
              <a:rPr lang="EN-US" sz="4400" b="1" i="0" u="none" strike="noStrike" spc="-60">
                <a:latin typeface="한컴 백제 M"/>
                <a:ea typeface="한컴 백제 M"/>
              </a:rPr>
              <a:t>(1</a:t>
            </a:r>
            <a:r>
              <a:rPr sz="4400" b="1" i="0" u="none" strike="noStrike" spc="-60">
                <a:latin typeface="한컴 백제 M"/>
                <a:ea typeface="한컴 백제 M"/>
              </a:rPr>
              <a:t>차 시험</a:t>
            </a:r>
            <a:r>
              <a:rPr lang="en-US" altLang="ko-KR" sz="4400" b="1" i="0" u="none" strike="noStrike" spc="-60">
                <a:latin typeface="한컴 백제 M"/>
                <a:ea typeface="한컴 백제 M"/>
              </a:rPr>
              <a:t>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endParaRPr sz="3600" i="0" u="none" strike="noStrike" spc="-60">
              <a:latin typeface="한컴 백제 M"/>
              <a:ea typeface="한컴 백제 M"/>
            </a:endParaRPr>
          </a:p>
        </p:txBody>
      </p:sp>
      <p:sp>
        <p:nvSpPr>
          <p:cNvPr id="1011" name="TextBox 1010"/>
          <p:cNvSpPr txBox="1"/>
          <p:nvPr/>
        </p:nvSpPr>
        <p:spPr>
          <a:xfrm>
            <a:off x="5791200" y="1268730"/>
            <a:ext cx="12496800" cy="106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7.</a:t>
            </a:r>
            <a:r>
              <a:rPr lang="ko-KR" altLang="en-US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채점 및 성적처리</a:t>
            </a:r>
            <a:r>
              <a:rPr lang="ko-KR" altLang="en-US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lang="ko-KR" altLang="en-US" sz="3600" b="0" i="0" u="none" strike="noStrike" spc="-60">
                <a:latin typeface="한컴 백제 M"/>
                <a:ea typeface="한컴 백제 M"/>
              </a:rPr>
              <a:t>⑦ 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{</a:t>
            </a:r>
            <a:r>
              <a:rPr lang="ko-KR" altLang="en-US" sz="3600" b="0" i="0" u="none" strike="noStrike" spc="-60">
                <a:latin typeface="한컴 백제 M"/>
                <a:ea typeface="한컴 백제 M"/>
              </a:rPr>
              <a:t>정기시험채점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}</a:t>
            </a:r>
            <a:r>
              <a:rPr sz="3600" b="0" i="0" u="none" strike="noStrike" spc="-60">
                <a:latin typeface="한컴 백제 M"/>
                <a:ea typeface="한컴 백제 M"/>
              </a:rPr>
              <a:t>에서 </a:t>
            </a:r>
            <a:r>
              <a:rPr lang="ko-KR" altLang="en-US" sz="3600" b="0" i="0" u="none" strike="noStrike" spc="-60">
                <a:latin typeface="한컴 백제 M"/>
                <a:ea typeface="한컴 백제 M"/>
              </a:rPr>
              <a:t>강의실 선택 후 채점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15087600" y="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 방법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cxnSp>
        <p:nvCxnSpPr>
          <p:cNvPr id="1013" name="직선 연결선 1012"/>
          <p:cNvCxnSpPr/>
          <p:nvPr/>
        </p:nvCxnSpPr>
        <p:spPr>
          <a:xfrm>
            <a:off x="533400" y="1562100"/>
            <a:ext cx="8610600" cy="0"/>
          </a:xfrm>
          <a:prstGeom prst="line">
            <a:avLst/>
          </a:prstGeom>
          <a:ln w="762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6" name="TextBox 1015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16/24</a:t>
            </a:r>
          </a:p>
        </p:txBody>
      </p:sp>
      <p:pic>
        <p:nvPicPr>
          <p:cNvPr id="1018" name="그림 101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0" y="2095500"/>
            <a:ext cx="18592800" cy="8039100"/>
          </a:xfrm>
          <a:prstGeom prst="rect">
            <a:avLst/>
          </a:prstGeom>
        </p:spPr>
      </p:pic>
      <p:sp>
        <p:nvSpPr>
          <p:cNvPr id="1017" name="직사각형 1016"/>
          <p:cNvSpPr/>
          <p:nvPr/>
        </p:nvSpPr>
        <p:spPr>
          <a:xfrm>
            <a:off x="0" y="3695700"/>
            <a:ext cx="2667000" cy="304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rgbClr val="FF0000"/>
                </a:solidFill>
              </a:rPr>
              <a:t>정기시험</a:t>
            </a:r>
            <a:r>
              <a:rPr lang="en-US" altLang="ko-KR" b="1">
                <a:solidFill>
                  <a:srgbClr val="FF0000"/>
                </a:solidFill>
              </a:rPr>
              <a:t>-</a:t>
            </a:r>
            <a:r>
              <a:rPr lang="ko-KR" altLang="en-US" b="1">
                <a:solidFill>
                  <a:srgbClr val="FF0000"/>
                </a:solidFill>
              </a:rPr>
              <a:t>정기시험 채점</a:t>
            </a:r>
          </a:p>
        </p:txBody>
      </p:sp>
      <p:sp>
        <p:nvSpPr>
          <p:cNvPr id="1019" name="별: 꼭짓점 5개 1018"/>
          <p:cNvSpPr/>
          <p:nvPr/>
        </p:nvSpPr>
        <p:spPr>
          <a:xfrm>
            <a:off x="5715000" y="3162300"/>
            <a:ext cx="838200" cy="7620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20" name="TextBox 1019"/>
          <p:cNvSpPr txBox="1"/>
          <p:nvPr/>
        </p:nvSpPr>
        <p:spPr>
          <a:xfrm>
            <a:off x="2362200" y="3893820"/>
            <a:ext cx="4343400" cy="571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sz="3200">
                <a:solidFill>
                  <a:srgbClr val="FF0000"/>
                </a:solidFill>
              </a:rPr>
              <a:t>② ‘성적관리서답형’</a:t>
            </a:r>
            <a:endParaRPr sz="3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457200" y="419100"/>
            <a:ext cx="16383000" cy="203645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4</a:t>
            </a:r>
            <a:r>
              <a:rPr lang="ko-KR" altLang="en-US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월 </a:t>
            </a:r>
            <a:r>
              <a:rPr sz="4400" b="1" i="0" u="none" strike="noStrike" spc="-60">
                <a:latin typeface="한컴 백제 M"/>
                <a:ea typeface="한컴 백제 M"/>
              </a:rPr>
              <a:t>정기시험</a:t>
            </a:r>
            <a:r>
              <a:rPr lang="EN-US" sz="4400" b="1" i="0" u="none" strike="noStrike" spc="-60">
                <a:latin typeface="한컴 백제 M"/>
                <a:ea typeface="한컴 백제 M"/>
              </a:rPr>
              <a:t>(1</a:t>
            </a:r>
            <a:r>
              <a:rPr sz="4400" b="1" i="0" u="none" strike="noStrike" spc="-60">
                <a:latin typeface="한컴 백제 M"/>
                <a:ea typeface="한컴 백제 M"/>
              </a:rPr>
              <a:t>차 시험</a:t>
            </a:r>
            <a:r>
              <a:rPr lang="en-US" altLang="ko-KR" sz="4400" b="1" i="0" u="none" strike="noStrike" spc="-60">
                <a:latin typeface="한컴 백제 M"/>
                <a:ea typeface="한컴 백제 M"/>
              </a:rPr>
              <a:t>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endParaRPr sz="3600" i="0" u="none" strike="noStrike" spc="-60">
              <a:latin typeface="한컴 백제 M"/>
              <a:ea typeface="한컴 백제 M"/>
            </a:endParaRPr>
          </a:p>
        </p:txBody>
      </p:sp>
      <p:sp>
        <p:nvSpPr>
          <p:cNvPr id="1011" name="TextBox 1010"/>
          <p:cNvSpPr txBox="1"/>
          <p:nvPr/>
        </p:nvSpPr>
        <p:spPr>
          <a:xfrm>
            <a:off x="5791200" y="1268730"/>
            <a:ext cx="12496800" cy="106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7.</a:t>
            </a:r>
            <a:r>
              <a:rPr lang="ko-KR" altLang="en-US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채점 및 성적처리</a:t>
            </a:r>
            <a:r>
              <a:rPr lang="ko-KR" altLang="en-US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lang="ko-KR" altLang="en-US" sz="3600" b="0" i="0" u="none" strike="noStrike" spc="-60">
                <a:latin typeface="한컴 백제 M"/>
                <a:ea typeface="한컴 백제 M"/>
              </a:rPr>
              <a:t>⑧ 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{</a:t>
            </a:r>
            <a:r>
              <a:rPr sz="3600" b="0" i="0" u="none" strike="noStrike" spc="-60">
                <a:latin typeface="한컴 백제 M"/>
                <a:ea typeface="한컴 백제 M"/>
              </a:rPr>
              <a:t>정기시험성적관리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}</a:t>
            </a:r>
            <a:r>
              <a:rPr sz="3600" b="0" i="0" u="none" strike="noStrike" spc="-60">
                <a:latin typeface="한컴 백제 M"/>
                <a:ea typeface="한컴 백제 M"/>
              </a:rPr>
              <a:t>에서 강의실별로 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{</a:t>
            </a:r>
            <a:r>
              <a:rPr sz="3600" b="0" i="0" u="none" strike="noStrike" spc="-60">
                <a:latin typeface="한컴 백제 M"/>
                <a:ea typeface="한컴 백제 M"/>
              </a:rPr>
              <a:t>마감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}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15087600" y="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 방법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cxnSp>
        <p:nvCxnSpPr>
          <p:cNvPr id="1013" name="직선 연결선 1012"/>
          <p:cNvCxnSpPr/>
          <p:nvPr/>
        </p:nvCxnSpPr>
        <p:spPr>
          <a:xfrm>
            <a:off x="1524000" y="2400300"/>
            <a:ext cx="8610600" cy="0"/>
          </a:xfrm>
          <a:prstGeom prst="line">
            <a:avLst/>
          </a:prstGeom>
          <a:ln w="762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4" name="그림 10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0" y="2247900"/>
            <a:ext cx="18516600" cy="8039100"/>
          </a:xfrm>
          <a:prstGeom prst="rect">
            <a:avLst/>
          </a:prstGeom>
        </p:spPr>
      </p:pic>
      <p:sp>
        <p:nvSpPr>
          <p:cNvPr id="1015" name="타원 1014"/>
          <p:cNvSpPr/>
          <p:nvPr/>
        </p:nvSpPr>
        <p:spPr>
          <a:xfrm>
            <a:off x="15925800" y="5143500"/>
            <a:ext cx="838200" cy="304800"/>
          </a:xfrm>
          <a:prstGeom prst="ellipse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w="med" len="med"/>
            <a:tailEnd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16" name="TextBox 1015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16/24</a:t>
            </a:r>
          </a:p>
        </p:txBody>
      </p:sp>
      <p:sp>
        <p:nvSpPr>
          <p:cNvPr id="1017" name="직사각형 1016"/>
          <p:cNvSpPr/>
          <p:nvPr/>
        </p:nvSpPr>
        <p:spPr>
          <a:xfrm>
            <a:off x="457200" y="4838700"/>
            <a:ext cx="3124200" cy="304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rgbClr val="FF0000"/>
                </a:solidFill>
              </a:rPr>
              <a:t>정기시험</a:t>
            </a:r>
            <a:r>
              <a:rPr lang="en-US" altLang="ko-KR" b="1">
                <a:solidFill>
                  <a:srgbClr val="FF0000"/>
                </a:solidFill>
              </a:rPr>
              <a:t>-</a:t>
            </a:r>
            <a:r>
              <a:rPr lang="ko-KR" altLang="en-US" b="1">
                <a:solidFill>
                  <a:srgbClr val="FF0000"/>
                </a:solidFill>
              </a:rPr>
              <a:t>정기시험 성적관리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524000" y="821047"/>
            <a:ext cx="16383000" cy="203645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4</a:t>
            </a:r>
            <a:r>
              <a:rPr lang="ko-KR" altLang="en-US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월 </a:t>
            </a:r>
            <a:r>
              <a:rPr sz="4400" b="1" i="0" u="none" strike="noStrike" spc="-60">
                <a:latin typeface="한컴 백제 M"/>
                <a:ea typeface="한컴 백제 M"/>
              </a:rPr>
              <a:t>정기시험</a:t>
            </a:r>
            <a:r>
              <a:rPr lang="EN-US" sz="4400" b="1" i="0" u="none" strike="noStrike" spc="-60">
                <a:latin typeface="한컴 백제 M"/>
                <a:ea typeface="한컴 백제 M"/>
              </a:rPr>
              <a:t>(1</a:t>
            </a:r>
            <a:r>
              <a:rPr sz="4400" b="1" i="0" u="none" strike="noStrike" spc="-60">
                <a:latin typeface="한컴 백제 M"/>
                <a:ea typeface="한컴 백제 M"/>
              </a:rPr>
              <a:t>차 시험</a:t>
            </a:r>
            <a:r>
              <a:rPr lang="en-US" altLang="ko-KR" sz="4400" b="1" i="0" u="none" strike="noStrike" spc="-60">
                <a:latin typeface="한컴 백제 M"/>
                <a:ea typeface="한컴 백제 M"/>
              </a:rPr>
              <a:t>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endParaRPr sz="3600" i="0" u="none" strike="noStrike" spc="-60">
              <a:latin typeface="한컴 백제 M"/>
              <a:ea typeface="한컴 백제 M"/>
            </a:endParaRPr>
          </a:p>
        </p:txBody>
      </p:sp>
      <p:sp>
        <p:nvSpPr>
          <p:cNvPr id="1011" name="TextBox 1010"/>
          <p:cNvSpPr txBox="1"/>
          <p:nvPr/>
        </p:nvSpPr>
        <p:spPr>
          <a:xfrm>
            <a:off x="304800" y="1727835"/>
            <a:ext cx="18288000" cy="977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8300" marR="127000" indent="-15240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7.</a:t>
            </a:r>
            <a:r>
              <a:rPr lang="ko-KR" altLang="en-US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채점 및 성적처리</a:t>
            </a:r>
            <a:r>
              <a:rPr lang="ko-KR" altLang="en-US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lang="ko-KR" altLang="en-US" sz="3600" b="0" i="0" u="none" strike="noStrike" spc="-60">
                <a:latin typeface="한컴 백제 M"/>
                <a:ea typeface="한컴 백제 M"/>
              </a:rPr>
              <a:t>⑨ </a:t>
            </a:r>
            <a:r>
              <a:rPr sz="3600" b="0" i="0" u="none" strike="noStrike" spc="-60">
                <a:latin typeface="한컴 백제 M"/>
                <a:ea typeface="한컴 백제 M"/>
              </a:rPr>
              <a:t>정기시험교과목별 성적관리 마감 여부 확인 후 최종 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{</a:t>
            </a:r>
            <a:r>
              <a:rPr sz="3600" b="0" i="0" u="none" strike="noStrike" spc="-60">
                <a:latin typeface="한컴 백제 M"/>
                <a:ea typeface="한컴 백제 M"/>
              </a:rPr>
              <a:t>마감정보저장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}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15087600" y="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 방법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cxnSp>
        <p:nvCxnSpPr>
          <p:cNvPr id="1013" name="직선 연결선 1012"/>
          <p:cNvCxnSpPr/>
          <p:nvPr/>
        </p:nvCxnSpPr>
        <p:spPr>
          <a:xfrm>
            <a:off x="1447800" y="1866900"/>
            <a:ext cx="8610600" cy="0"/>
          </a:xfrm>
          <a:prstGeom prst="line">
            <a:avLst/>
          </a:prstGeom>
          <a:ln w="762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4" name="그림 10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0" y="2628900"/>
            <a:ext cx="18516600" cy="7658100"/>
          </a:xfrm>
          <a:prstGeom prst="rect">
            <a:avLst/>
          </a:prstGeom>
        </p:spPr>
      </p:pic>
      <p:sp>
        <p:nvSpPr>
          <p:cNvPr id="1015" name="타원 1014"/>
          <p:cNvSpPr/>
          <p:nvPr/>
        </p:nvSpPr>
        <p:spPr>
          <a:xfrm>
            <a:off x="3505200" y="4991100"/>
            <a:ext cx="1676400" cy="3810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16" name="TextBox 1015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17/24</a:t>
            </a:r>
          </a:p>
        </p:txBody>
      </p:sp>
      <p:sp>
        <p:nvSpPr>
          <p:cNvPr id="1017" name="직사각형 1016"/>
          <p:cNvSpPr/>
          <p:nvPr/>
        </p:nvSpPr>
        <p:spPr>
          <a:xfrm>
            <a:off x="609600" y="5143500"/>
            <a:ext cx="3124200" cy="304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rgbClr val="FF0000"/>
                </a:solidFill>
              </a:rPr>
              <a:t>정기시험</a:t>
            </a:r>
            <a:r>
              <a:rPr lang="en-US" altLang="ko-KR" b="1">
                <a:solidFill>
                  <a:srgbClr val="FF0000"/>
                </a:solidFill>
              </a:rPr>
              <a:t>-</a:t>
            </a:r>
            <a:r>
              <a:rPr lang="ko-KR" altLang="en-US" b="1">
                <a:solidFill>
                  <a:srgbClr val="FF0000"/>
                </a:solidFill>
              </a:rPr>
              <a:t>정기시험 마감관리</a:t>
            </a:r>
          </a:p>
        </p:txBody>
      </p:sp>
      <p:sp>
        <p:nvSpPr>
          <p:cNvPr id="1018" name="직사각형 1017"/>
          <p:cNvSpPr/>
          <p:nvPr/>
        </p:nvSpPr>
        <p:spPr>
          <a:xfrm>
            <a:off x="2362200" y="2705100"/>
            <a:ext cx="2514600" cy="381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952500" y="952500"/>
            <a:ext cx="16383000" cy="203645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4</a:t>
            </a:r>
            <a:r>
              <a:rPr lang="ko-KR" altLang="en-US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월 </a:t>
            </a:r>
            <a:r>
              <a:rPr sz="4400" b="1" i="0" u="none" strike="noStrike" spc="-60">
                <a:latin typeface="한컴 백제 M"/>
                <a:ea typeface="한컴 백제 M"/>
              </a:rPr>
              <a:t>정기시험</a:t>
            </a:r>
            <a:r>
              <a:rPr lang="EN-US" sz="4400" b="1" i="0" u="none" strike="noStrike" spc="-60">
                <a:latin typeface="한컴 백제 M"/>
                <a:ea typeface="한컴 백제 M"/>
              </a:rPr>
              <a:t>(1</a:t>
            </a:r>
            <a:r>
              <a:rPr sz="4400" b="1" i="0" u="none" strike="noStrike" spc="-60">
                <a:latin typeface="한컴 백제 M"/>
                <a:ea typeface="한컴 백제 M"/>
              </a:rPr>
              <a:t>차 시험</a:t>
            </a:r>
            <a:r>
              <a:rPr lang="en-US" altLang="ko-KR" sz="4400" b="1" i="0" u="none" strike="noStrike" spc="-60">
                <a:latin typeface="한컴 백제 M"/>
                <a:ea typeface="한컴 백제 M"/>
              </a:rPr>
              <a:t>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 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9677400" y="1125855"/>
            <a:ext cx="8839200" cy="977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8300" marR="127000" indent="-15240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7.</a:t>
            </a:r>
            <a:r>
              <a:rPr lang="ko-KR" altLang="en-US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채점 및 성적처리</a:t>
            </a:r>
            <a:r>
              <a:rPr lang="ko-KR" altLang="en-US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lang="ko-KR" altLang="en-US" sz="3600" b="0" i="0" u="none" strike="noStrike" spc="-60">
                <a:latin typeface="한컴 백제 M"/>
                <a:ea typeface="한컴 백제 M"/>
              </a:rPr>
              <a:t>⑩ </a:t>
            </a:r>
            <a:r>
              <a:rPr sz="3600" b="0" i="0" u="none" strike="noStrike" spc="-60">
                <a:latin typeface="한컴 백제 M"/>
                <a:ea typeface="한컴 백제 M"/>
              </a:rPr>
              <a:t>정기시험성적 산출</a:t>
            </a:r>
            <a:r>
              <a:rPr lang="ko-KR" altLang="en-US" sz="36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lang="ko-KR" altLang="en-US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15087600" y="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 방법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cxnSp>
        <p:nvCxnSpPr>
          <p:cNvPr id="1013" name="직선 연결선 1012"/>
          <p:cNvCxnSpPr/>
          <p:nvPr/>
        </p:nvCxnSpPr>
        <p:spPr>
          <a:xfrm>
            <a:off x="914400" y="2019300"/>
            <a:ext cx="8610600" cy="0"/>
          </a:xfrm>
          <a:prstGeom prst="line">
            <a:avLst/>
          </a:prstGeom>
          <a:ln w="762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4" name="그림 10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0" y="2171699"/>
            <a:ext cx="18516600" cy="8115300"/>
          </a:xfrm>
          <a:prstGeom prst="rect">
            <a:avLst/>
          </a:prstGeom>
        </p:spPr>
      </p:pic>
      <p:sp>
        <p:nvSpPr>
          <p:cNvPr id="1015" name="TextBox 1014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18/24</a:t>
            </a:r>
          </a:p>
        </p:txBody>
      </p:sp>
      <p:sp>
        <p:nvSpPr>
          <p:cNvPr id="1016" name="직사각형 1015"/>
          <p:cNvSpPr/>
          <p:nvPr/>
        </p:nvSpPr>
        <p:spPr>
          <a:xfrm>
            <a:off x="381000" y="4305300"/>
            <a:ext cx="2590800" cy="304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rgbClr val="FF0000"/>
                </a:solidFill>
              </a:rPr>
              <a:t>성적처리</a:t>
            </a:r>
            <a:r>
              <a:rPr lang="en-US" altLang="ko-KR" b="1">
                <a:solidFill>
                  <a:srgbClr val="FF0000"/>
                </a:solidFill>
              </a:rPr>
              <a:t>-</a:t>
            </a:r>
            <a:r>
              <a:rPr lang="ko-KR" altLang="en-US" b="1">
                <a:solidFill>
                  <a:srgbClr val="FF0000"/>
                </a:solidFill>
              </a:rPr>
              <a:t>성적산출관리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952500" y="952500"/>
            <a:ext cx="16383000" cy="203645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4</a:t>
            </a:r>
            <a:r>
              <a:rPr lang="ko-KR" altLang="en-US" sz="4400" b="1" spc="-60">
                <a:solidFill>
                  <a:srgbClr val="000000"/>
                </a:solidFill>
                <a:latin typeface="한컴 백제 M"/>
                <a:ea typeface="한컴 백제 M"/>
                <a:cs typeface="함초롬돋움"/>
              </a:rPr>
              <a:t>월 </a:t>
            </a:r>
            <a:r>
              <a:rPr sz="4400" b="1" i="0" u="none" strike="noStrike" spc="-60">
                <a:latin typeface="한컴 백제 M"/>
                <a:ea typeface="한컴 백제 M"/>
              </a:rPr>
              <a:t>정기시험</a:t>
            </a:r>
            <a:r>
              <a:rPr lang="EN-US" sz="4400" b="1" i="0" u="none" strike="noStrike" spc="-60">
                <a:latin typeface="한컴 백제 M"/>
                <a:ea typeface="한컴 백제 M"/>
              </a:rPr>
              <a:t>(1</a:t>
            </a:r>
            <a:r>
              <a:rPr sz="4400" b="1" i="0" u="none" strike="noStrike" spc="-60">
                <a:latin typeface="한컴 백제 M"/>
                <a:ea typeface="한컴 백제 M"/>
              </a:rPr>
              <a:t>차 시험</a:t>
            </a:r>
            <a:r>
              <a:rPr lang="en-US" altLang="ko-KR" sz="4400" b="1" i="0" u="none" strike="noStrike" spc="-60">
                <a:latin typeface="한컴 백제 M"/>
                <a:ea typeface="한컴 백제 M"/>
              </a:rPr>
              <a:t>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tabLst>
                <a:tab pos="4377690" algn="l"/>
              </a:tabLst>
              <a:defRPr/>
            </a:pPr>
            <a:r>
              <a:rPr lang="ko-KR" altLang="en-US" sz="36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 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9677400" y="1125855"/>
            <a:ext cx="8839200" cy="977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8300" marR="127000" indent="-15240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7.</a:t>
            </a:r>
            <a:r>
              <a:rPr lang="ko-KR" altLang="en-US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채점 및 성적처리</a:t>
            </a:r>
            <a:r>
              <a:rPr lang="ko-KR" altLang="en-US" sz="40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lang="ko-KR" altLang="en-US" sz="3600" b="0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⑪ 성적통지표 </a:t>
            </a:r>
            <a:r>
              <a:rPr lang="ko-KR" altLang="en-US" sz="4000" b="0" i="0" u="none" strike="noStrike" spc="-60">
                <a:solidFill>
                  <a:schemeClr val="dk1"/>
                </a:solidFill>
                <a:latin typeface="한컴 백제 M"/>
                <a:ea typeface="한컴 백제 M"/>
              </a:rPr>
              <a:t> 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15087600" y="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 방법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cxnSp>
        <p:nvCxnSpPr>
          <p:cNvPr id="1013" name="직선 연결선 1012"/>
          <p:cNvCxnSpPr/>
          <p:nvPr/>
        </p:nvCxnSpPr>
        <p:spPr>
          <a:xfrm>
            <a:off x="914400" y="2019300"/>
            <a:ext cx="8610600" cy="0"/>
          </a:xfrm>
          <a:prstGeom prst="line">
            <a:avLst/>
          </a:prstGeom>
          <a:ln w="762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5" name="그림 101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0" y="2209326"/>
            <a:ext cx="18516600" cy="8077673"/>
          </a:xfrm>
          <a:prstGeom prst="rect">
            <a:avLst/>
          </a:prstGeom>
        </p:spPr>
      </p:pic>
      <p:sp>
        <p:nvSpPr>
          <p:cNvPr id="1016" name="TextBox 1015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19/24</a:t>
            </a:r>
          </a:p>
        </p:txBody>
      </p:sp>
      <p:sp>
        <p:nvSpPr>
          <p:cNvPr id="1017" name="직사각형 1016"/>
          <p:cNvSpPr/>
          <p:nvPr/>
        </p:nvSpPr>
        <p:spPr>
          <a:xfrm>
            <a:off x="0" y="6362700"/>
            <a:ext cx="2895600" cy="381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rgbClr val="FF0000"/>
                </a:solidFill>
              </a:rPr>
              <a:t>성적처리</a:t>
            </a:r>
            <a:r>
              <a:rPr lang="en-US" altLang="ko-KR" b="1">
                <a:solidFill>
                  <a:srgbClr val="FF0000"/>
                </a:solidFill>
              </a:rPr>
              <a:t>-</a:t>
            </a:r>
            <a:r>
              <a:rPr lang="ko-KR" altLang="en-US" b="1">
                <a:solidFill>
                  <a:srgbClr val="FF0000"/>
                </a:solidFill>
              </a:rPr>
              <a:t>성적통지표관리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15087600" y="0"/>
            <a:ext cx="3810000" cy="664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05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 i="0" u="none" strike="noStrike">
                <a:latin typeface="한컴 백제 M"/>
                <a:ea typeface="한컴 백제 M"/>
              </a:rPr>
              <a:t>단계별 업무 내용</a:t>
            </a:r>
            <a:r>
              <a:rPr lang="ko-KR" altLang="en-US" sz="2400" b="1" i="0" u="none" strike="noStrike">
                <a:latin typeface="한컴 백제 M"/>
                <a:ea typeface="한컴 백제 M"/>
              </a:rPr>
              <a:t> 포함</a:t>
            </a:r>
            <a:endParaRPr lang="ko-KR" altLang="en-US" sz="2400">
              <a:latin typeface="한컴 백제 M"/>
              <a:ea typeface="한컴 백제 M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600200" y="1247767"/>
            <a:ext cx="16383000" cy="6341753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en-US" altLang="ko-KR" sz="4400" b="1" i="0" u="none" strike="noStrike" spc="-60">
                <a:latin typeface="한컴 백제 M"/>
                <a:ea typeface="한컴 백제 M"/>
              </a:rPr>
              <a:t>6</a:t>
            </a:r>
            <a:r>
              <a:rPr lang="ko-KR" altLang="en-US" sz="4400" b="1" i="0" u="none" strike="noStrike" spc="-60">
                <a:latin typeface="한컴 백제 M"/>
                <a:ea typeface="한컴 백제 M"/>
              </a:rPr>
              <a:t>월 수행평가 성적 처리</a:t>
            </a:r>
          </a:p>
          <a:p>
            <a:pPr marL="177800" indent="-6350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0" i="0" u="none" strike="noStrike" spc="-60">
                <a:solidFill>
                  <a:srgbClr val="800080"/>
                </a:solidFill>
                <a:latin typeface="한컴 백제 M"/>
                <a:ea typeface="한컴 백제 M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</a:rPr>
              <a:t>① 교과별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/</a:t>
            </a:r>
            <a:r>
              <a:rPr sz="3600" b="0" i="0" u="none" strike="noStrike" spc="-60">
                <a:latin typeface="한컴 백제 M"/>
                <a:ea typeface="한컴 백제 M"/>
              </a:rPr>
              <a:t>영역별 점수 입력 → 학생 확인 철저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1" i="0" u="none" strike="noStrike">
                <a:latin typeface="한컴 백제 M"/>
                <a:ea typeface="한컴 백제 M"/>
              </a:rPr>
              <a:t>       </a:t>
            </a:r>
            <a:r>
              <a:rPr sz="3600" b="1" i="0" u="none" strike="noStrike">
                <a:latin typeface="한컴 백제 M"/>
                <a:ea typeface="한컴 백제 M"/>
              </a:rPr>
              <a:t>채점기준 준수</a:t>
            </a:r>
          </a:p>
          <a:p>
            <a:pPr lvl="1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-"/>
              <a:defRPr/>
            </a:pPr>
            <a:r>
              <a:rPr sz="3600" b="0" i="0" u="none" strike="noStrike" spc="-200">
                <a:latin typeface="한컴 백제 M"/>
                <a:ea typeface="한컴 백제 M"/>
              </a:rPr>
              <a:t>교과 역량 및 성취기준과 무관한 평가는 하지 않도록 유의</a:t>
            </a:r>
          </a:p>
          <a:p>
            <a:pPr lvl="1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-"/>
              <a:defRPr/>
            </a:pPr>
            <a:r>
              <a:rPr sz="3600" b="0" i="0" u="none" strike="noStrike" spc="-220">
                <a:latin typeface="한컴 백제 M"/>
                <a:ea typeface="한컴 백제 M"/>
              </a:rPr>
              <a:t>정확한 근거 자료 없이 다수에게 만점 또는 </a:t>
            </a:r>
            <a:r>
              <a:rPr lang="EN-US" sz="3600" b="0" i="0" u="none" strike="noStrike" spc="-220">
                <a:latin typeface="한컴 백제 M"/>
                <a:ea typeface="한컴 백제 M"/>
              </a:rPr>
              <a:t>0</a:t>
            </a:r>
            <a:r>
              <a:rPr sz="3600" b="0" i="0" u="none" strike="noStrike" spc="-220">
                <a:latin typeface="한컴 백제 M"/>
                <a:ea typeface="한컴 백제 M"/>
              </a:rPr>
              <a:t>점을 부여하지 않도록 유의</a:t>
            </a:r>
          </a:p>
          <a:p>
            <a:pPr lvl="1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-"/>
              <a:defRPr/>
            </a:pPr>
            <a:r>
              <a:rPr sz="3600" b="0" i="0" u="none" strike="noStrike" spc="-200">
                <a:latin typeface="한컴 백제 M"/>
                <a:ea typeface="한컴 백제 M"/>
              </a:rPr>
              <a:t>영역별</a:t>
            </a:r>
            <a:r>
              <a:rPr lang="EN-US" sz="3600" b="0" i="0" u="none" strike="noStrike" spc="-200">
                <a:latin typeface="한컴 백제 M"/>
                <a:ea typeface="한컴 백제 M"/>
              </a:rPr>
              <a:t>·</a:t>
            </a:r>
            <a:r>
              <a:rPr sz="3600" b="0" i="0" u="none" strike="noStrike" spc="-200">
                <a:latin typeface="한컴 백제 M"/>
                <a:ea typeface="한컴 백제 M"/>
              </a:rPr>
              <a:t>요소별 채점한 성적일람표의 기초자료</a:t>
            </a:r>
            <a:r>
              <a:rPr lang="EN-US" sz="3600" b="0" i="0" u="none" strike="noStrike" spc="-200">
                <a:latin typeface="한컴 백제 M"/>
                <a:ea typeface="한컴 백제 M"/>
              </a:rPr>
              <a:t>(</a:t>
            </a:r>
            <a:r>
              <a:rPr sz="3600" b="0" i="0" u="none" strike="noStrike" spc="-200">
                <a:latin typeface="한컴 백제 M"/>
                <a:ea typeface="한컴 백제 M"/>
              </a:rPr>
              <a:t>수행평가 보조부</a:t>
            </a:r>
            <a:r>
              <a:rPr lang="EN-US" sz="3600" b="0" i="0" u="none" strike="noStrike" spc="-200">
                <a:latin typeface="한컴 백제 M"/>
                <a:ea typeface="한컴 백제 M"/>
              </a:rPr>
              <a:t>)</a:t>
            </a:r>
            <a:r>
              <a:rPr sz="3600" b="0" i="0" u="none" strike="noStrike" spc="-200">
                <a:latin typeface="한컴 백제 M"/>
                <a:ea typeface="한컴 백제 M"/>
              </a:rPr>
              <a:t>는 정확하게 작성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defRPr/>
            </a:pPr>
            <a:r>
              <a:rPr lang="ko-KR" altLang="en-US" sz="3600" b="0" i="0" u="none" strike="noStrike" spc="-60">
                <a:latin typeface="한컴 백제 M"/>
                <a:ea typeface="한컴 백제 M"/>
              </a:rPr>
              <a:t>  ② </a:t>
            </a:r>
            <a:r>
              <a:rPr sz="3600" b="0" i="0" u="none" strike="noStrike" spc="-60">
                <a:latin typeface="한컴 백제 M"/>
                <a:ea typeface="한컴 백제 M"/>
              </a:rPr>
              <a:t>교과교사 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{</a:t>
            </a:r>
            <a:r>
              <a:rPr sz="3600" b="0" i="0" u="none" strike="noStrike" spc="-60">
                <a:latin typeface="한컴 백제 M"/>
                <a:ea typeface="한컴 백제 M"/>
              </a:rPr>
              <a:t>마감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} </a:t>
            </a:r>
            <a:r>
              <a:rPr sz="3600" b="0" i="0" u="none" strike="noStrike" spc="-60">
                <a:latin typeface="한컴 백제 M"/>
                <a:ea typeface="한컴 백제 M"/>
              </a:rPr>
              <a:t>→ 평가담당교사 최종 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{</a:t>
            </a:r>
            <a:r>
              <a:rPr sz="3600" b="0" i="0" u="none" strike="noStrike" spc="-60">
                <a:latin typeface="한컴 백제 M"/>
                <a:ea typeface="한컴 백제 M"/>
              </a:rPr>
              <a:t>마감정보저장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}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1600200" y="2400300"/>
            <a:ext cx="16383000" cy="1941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4000" b="0" i="0" u="none" strike="noStrike" spc="-60">
              <a:solidFill>
                <a:srgbClr val="800080"/>
              </a:solidFill>
              <a:latin typeface="한컴 백제 M"/>
              <a:ea typeface="한컴 백제 M"/>
            </a:endParaRPr>
          </a:p>
          <a:p>
            <a:pPr marL="38100" marR="12700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b="0" i="0" u="none" strike="noStrike" spc="-60"/>
              <a:t> </a:t>
            </a:r>
          </a:p>
        </p:txBody>
      </p:sp>
      <p:sp>
        <p:nvSpPr>
          <p:cNvPr id="1013" name="TextBox 1012"/>
          <p:cNvSpPr txBox="1"/>
          <p:nvPr/>
        </p:nvSpPr>
        <p:spPr>
          <a:xfrm>
            <a:off x="12268200" y="674370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sp>
        <p:nvSpPr>
          <p:cNvPr id="1014" name="TextBox 1013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20/24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05" name="TextBox 1004"/>
          <p:cNvSpPr txBox="1"/>
          <p:nvPr/>
        </p:nvSpPr>
        <p:spPr>
          <a:xfrm>
            <a:off x="1600200" y="1247767"/>
            <a:ext cx="16916400" cy="5541653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400" b="1" i="0" u="none" strike="noStrike" spc="-60">
                <a:latin typeface="한컴 백제 M"/>
                <a:ea typeface="한컴 백제 M"/>
              </a:rPr>
              <a:t>7</a:t>
            </a:r>
            <a:r>
              <a:rPr lang="ko-KR" altLang="en-US" sz="4400" b="1" i="0" u="none" strike="noStrike" spc="-60">
                <a:latin typeface="한컴 백제 M"/>
                <a:ea typeface="한컴 백제 M"/>
              </a:rPr>
              <a:t>월 </a:t>
            </a:r>
            <a:r>
              <a:rPr sz="4400" b="1" i="0" u="none" strike="noStrike" spc="-60">
                <a:latin typeface="한컴 백제 M"/>
                <a:ea typeface="한컴 백제 M"/>
              </a:rPr>
              <a:t>성적 확인 및 제출 서류 취합</a:t>
            </a:r>
            <a:endParaRPr sz="4400" b="0" i="0" u="none" strike="noStrike" spc="-60">
              <a:latin typeface="한컴 백제 M"/>
              <a:ea typeface="한컴 백제 M"/>
            </a:endParaRPr>
          </a:p>
          <a:p>
            <a:pPr marL="4445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0" i="0" u="none" strike="noStrike" spc="-60">
                <a:latin typeface="한컴 백제 M"/>
                <a:ea typeface="한컴 백제 M"/>
              </a:rPr>
              <a:t>① 정기시험</a:t>
            </a:r>
            <a:r>
              <a:rPr lang="ko-KR" altLang="en-US" sz="3600" b="0" i="0" u="none" strike="noStrike" spc="-60">
                <a:latin typeface="한컴 백제 M"/>
                <a:ea typeface="한컴 백제 M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</a:rPr>
              <a:t>학생 성적 최종 확인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(</a:t>
            </a:r>
            <a:r>
              <a:rPr sz="3600" b="0" i="0" u="none" strike="noStrike" spc="-60">
                <a:latin typeface="한컴 백제 M"/>
                <a:ea typeface="한컴 백제 M"/>
              </a:rPr>
              <a:t>개인별 성적일람표 활용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)</a:t>
            </a:r>
          </a:p>
          <a:p>
            <a:pPr marL="4445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0" i="0" u="none" strike="noStrike" spc="-60">
                <a:latin typeface="한컴 백제 M"/>
                <a:ea typeface="한컴 백제 M"/>
              </a:rPr>
              <a:t>② </a:t>
            </a:r>
            <a:r>
              <a:rPr sz="3600" b="0" i="0" u="none" strike="noStrike" spc="-50">
                <a:latin typeface="한컴 백제 M"/>
                <a:ea typeface="한컴 백제 M"/>
              </a:rPr>
              <a:t>과목별 정기시험관련 성적 자료 취합</a:t>
            </a:r>
            <a:r>
              <a:rPr lang="EN-US" sz="3600" b="0" i="0" u="none" strike="noStrike" spc="-50">
                <a:latin typeface="한컴 백제 M"/>
                <a:ea typeface="한컴 백제 M"/>
              </a:rPr>
              <a:t>(</a:t>
            </a:r>
            <a:r>
              <a:rPr sz="3600" b="0" i="0" u="none" strike="noStrike" spc="-50">
                <a:latin typeface="한컴 백제 M"/>
                <a:ea typeface="한컴 백제 M"/>
              </a:rPr>
              <a:t>정기시험성적관리 일람표</a:t>
            </a:r>
            <a:r>
              <a:rPr lang="EN-US" sz="3600" b="0" i="0" u="none" strike="noStrike" spc="-50">
                <a:latin typeface="한컴 백제 M"/>
                <a:ea typeface="한컴 백제 M"/>
              </a:rPr>
              <a:t>, </a:t>
            </a:r>
            <a:r>
              <a:rPr sz="3600" b="0" i="0" u="none" strike="noStrike" spc="-50">
                <a:latin typeface="한컴 백제 M"/>
                <a:ea typeface="한컴 백제 M"/>
              </a:rPr>
              <a:t>서</a:t>
            </a:r>
            <a:r>
              <a:rPr lang="EN-US" sz="3600" b="0" i="0" u="none" strike="noStrike" spc="-50">
                <a:latin typeface="한컴 백제 M"/>
                <a:ea typeface="한컴 백제 M"/>
              </a:rPr>
              <a:t>·</a:t>
            </a:r>
            <a:r>
              <a:rPr sz="3600" b="0" i="0" u="none" strike="noStrike" spc="-50">
                <a:latin typeface="한컴 백제 M"/>
                <a:ea typeface="한컴 백제 M"/>
              </a:rPr>
              <a:t>논술형 평가답안지 등</a:t>
            </a:r>
            <a:r>
              <a:rPr lang="EN-US" sz="3600" b="0" i="0" u="none" strike="noStrike" spc="-50">
                <a:latin typeface="한컴 백제 M"/>
                <a:ea typeface="한컴 백제 M"/>
              </a:rPr>
              <a:t>)</a:t>
            </a:r>
          </a:p>
          <a:p>
            <a:pPr marL="546100" marR="127000" indent="-2540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0" i="0" u="none" strike="noStrike" spc="-60">
                <a:latin typeface="한컴 백제 M"/>
                <a:ea typeface="한컴 백제 M"/>
              </a:rPr>
              <a:t>③ 과목별 수행평가 관련 성적 자료 취합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(</a:t>
            </a:r>
            <a:r>
              <a:rPr sz="3600" b="0" i="0" u="none" strike="noStrike" spc="-60">
                <a:latin typeface="한컴 백제 M"/>
                <a:ea typeface="한컴 백제 M"/>
              </a:rPr>
              <a:t>영역별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·</a:t>
            </a:r>
            <a:r>
              <a:rPr sz="3600" b="0" i="0" u="none" strike="noStrike" spc="-60">
                <a:latin typeface="한컴 백제 M"/>
                <a:ea typeface="한컴 백제 M"/>
              </a:rPr>
              <a:t>요소별 채점한 성적일람표의 기초자료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(</a:t>
            </a:r>
            <a:r>
              <a:rPr sz="3600" b="0" i="0" u="none" strike="noStrike" spc="-60">
                <a:latin typeface="한컴 백제 M"/>
                <a:ea typeface="한컴 백제 M"/>
              </a:rPr>
              <a:t>수행평가 보조부는 영역별</a:t>
            </a:r>
            <a:r>
              <a:rPr sz="3600" b="0" i="0" u="none" strike="noStrike" spc="-60">
                <a:ea typeface="한컴 백제 M"/>
              </a:rPr>
              <a:t>․</a:t>
            </a:r>
            <a:r>
              <a:rPr sz="3600" b="0" i="0" u="none" strike="noStrike" spc="-60">
                <a:latin typeface="한컴 백제 M"/>
                <a:ea typeface="한컴 백제 M"/>
              </a:rPr>
              <a:t>평가 요소별 점수와 합산된 점수를 모두 표기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), </a:t>
            </a:r>
            <a:r>
              <a:rPr sz="3600" b="0" i="0" u="none" strike="noStrike" spc="-60">
                <a:latin typeface="한컴 백제 M"/>
                <a:ea typeface="한컴 백제 M"/>
              </a:rPr>
              <a:t>수행평가 성적일람표 등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)</a:t>
            </a:r>
            <a:endParaRPr sz="3600" b="0" i="0" u="none" strike="noStrike" spc="-60">
              <a:latin typeface="한컴 백제 M"/>
              <a:ea typeface="한컴 백제 M"/>
            </a:endParaRPr>
          </a:p>
        </p:txBody>
      </p:sp>
      <p:sp>
        <p:nvSpPr>
          <p:cNvPr id="1014" name="TextBox 1013"/>
          <p:cNvSpPr txBox="1"/>
          <p:nvPr/>
        </p:nvSpPr>
        <p:spPr>
          <a:xfrm>
            <a:off x="15087600" y="0"/>
            <a:ext cx="3810000" cy="664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05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 i="0" u="none" strike="noStrike">
                <a:latin typeface="한컴 백제 M"/>
                <a:ea typeface="한컴 백제 M"/>
              </a:rPr>
              <a:t>단계별 업무 내용</a:t>
            </a:r>
            <a:r>
              <a:rPr lang="ko-KR" altLang="en-US" sz="2400" b="1" i="0" u="none" strike="noStrike">
                <a:latin typeface="한컴 백제 M"/>
                <a:ea typeface="한컴 백제 M"/>
              </a:rPr>
              <a:t> 포함</a:t>
            </a:r>
            <a:endParaRPr lang="ko-KR" altLang="en-US" sz="2400">
              <a:latin typeface="한컴 백제 M"/>
              <a:ea typeface="한컴 백제 M"/>
            </a:endParaRPr>
          </a:p>
        </p:txBody>
      </p:sp>
      <p:sp>
        <p:nvSpPr>
          <p:cNvPr id="1015" name="TextBox 1014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20/24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1014" name="TextBox 1013"/>
          <p:cNvSpPr txBox="1"/>
          <p:nvPr/>
        </p:nvSpPr>
        <p:spPr>
          <a:xfrm>
            <a:off x="15087600" y="0"/>
            <a:ext cx="3810000" cy="664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05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 i="0" u="none" strike="noStrike">
                <a:latin typeface="한컴 백제 M"/>
                <a:ea typeface="한컴 백제 M"/>
              </a:rPr>
              <a:t>단계별 업무 내용</a:t>
            </a:r>
            <a:r>
              <a:rPr lang="ko-KR" altLang="en-US" sz="2400" b="1" i="0" u="none" strike="noStrike">
                <a:latin typeface="한컴 백제 M"/>
                <a:ea typeface="한컴 백제 M"/>
              </a:rPr>
              <a:t> 포함</a:t>
            </a:r>
            <a:endParaRPr lang="ko-KR" altLang="en-US" sz="2400">
              <a:latin typeface="한컴 백제 M"/>
              <a:ea typeface="한컴 백제 M"/>
            </a:endParaRPr>
          </a:p>
        </p:txBody>
      </p:sp>
      <p:sp>
        <p:nvSpPr>
          <p:cNvPr id="1015" name="TextBox 1014"/>
          <p:cNvSpPr txBox="1"/>
          <p:nvPr/>
        </p:nvSpPr>
        <p:spPr>
          <a:xfrm>
            <a:off x="1676400" y="859154"/>
            <a:ext cx="16611600" cy="74923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400" b="1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7</a:t>
            </a:r>
            <a:r>
              <a:rPr lang="ko-KR" altLang="en-US" sz="4400" b="1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월 </a:t>
            </a:r>
            <a:r>
              <a:rPr sz="4400" b="1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학기말</a:t>
            </a:r>
            <a:r>
              <a:rPr lang="ko-KR" altLang="en-US" sz="4400" b="1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 </a:t>
            </a:r>
            <a:r>
              <a:rPr sz="4400" b="1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인정점 부여</a:t>
            </a:r>
          </a:p>
          <a:p>
            <a:pPr marL="4445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400" b="1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 </a:t>
            </a:r>
            <a:r>
              <a:rPr lang="ko-KR" altLang="en-US" sz="3600" b="0" i="0" u="none" strike="noStrike" spc="-60">
                <a:latin typeface="한컴 백제 M"/>
                <a:ea typeface="한컴 백제 M"/>
              </a:rPr>
              <a:t>① </a:t>
            </a:r>
            <a:r>
              <a:rPr sz="3600" b="0" i="0" u="none" strike="noStrike" spc="-60">
                <a:latin typeface="한컴 백제 M"/>
                <a:ea typeface="한컴 백제 M"/>
              </a:rPr>
              <a:t>학업성적관리규정 확인</a:t>
            </a:r>
          </a:p>
          <a:p>
            <a:pPr marL="101600" marR="1270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0" i="0" u="none" strike="noStrike" spc="-60">
                <a:latin typeface="한컴 백제 M"/>
                <a:ea typeface="한컴 백제 M"/>
              </a:rPr>
              <a:t>    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- </a:t>
            </a:r>
            <a:r>
              <a:rPr lang="ko-KR" altLang="en-US" sz="3600" b="0" i="0" u="none" strike="noStrike" spc="-60">
                <a:latin typeface="한컴 백제 M"/>
                <a:ea typeface="한컴 백제 M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</a:rPr>
              <a:t>인정점 부여 관련 규정 확인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(</a:t>
            </a:r>
            <a:r>
              <a:rPr sz="3600" b="0" i="0" u="none" strike="noStrike" spc="-60">
                <a:latin typeface="한컴 백제 M"/>
                <a:ea typeface="한컴 백제 M"/>
              </a:rPr>
              <a:t>인정 사유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인정점 비율 등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)</a:t>
            </a:r>
          </a:p>
          <a:p>
            <a:pPr marL="635000" marR="127000" indent="-2540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0" i="0" u="none" strike="noStrike" spc="-60">
                <a:latin typeface="한컴 백제 M"/>
                <a:ea typeface="한컴 백제 M"/>
              </a:rPr>
              <a:t>  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- </a:t>
            </a:r>
            <a:r>
              <a:rPr sz="3600" b="0" i="0" u="none" strike="noStrike" spc="-60">
                <a:latin typeface="한컴 백제 M"/>
                <a:ea typeface="한컴 백제 M"/>
              </a:rPr>
              <a:t>증빙서류 검토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(</a:t>
            </a:r>
            <a:r>
              <a:rPr sz="3600" b="0" i="0" u="none" strike="noStrike" spc="-60">
                <a:latin typeface="한컴 백제 M"/>
                <a:ea typeface="한컴 백제 M"/>
              </a:rPr>
              <a:t>의사의 진단서 또는 의견서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(</a:t>
            </a:r>
            <a:r>
              <a:rPr sz="3600" b="0" i="0" u="none" strike="noStrike" spc="-60">
                <a:latin typeface="한컴 백제 M"/>
                <a:ea typeface="한컴 백제 M"/>
              </a:rPr>
              <a:t>병명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진료기간 등이 기록된 의사 소견서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진료 확인서 등의 증빙서류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)</a:t>
            </a:r>
            <a:r>
              <a:rPr sz="3600" b="0" i="0" u="none" strike="noStrike" spc="-60">
                <a:latin typeface="한컴 백제 M"/>
                <a:ea typeface="한컴 백제 M"/>
              </a:rPr>
              <a:t>를 첨부한결석 신고서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</a:t>
            </a:r>
            <a:r>
              <a:rPr sz="3600" b="0" i="0" u="none" strike="noStrike" spc="-60">
                <a:latin typeface="한컴 백제 M"/>
                <a:ea typeface="한컴 백제 M"/>
              </a:rPr>
              <a:t>담임교사의 확인서 등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)</a:t>
            </a:r>
          </a:p>
          <a:p>
            <a:pPr marL="444500" marR="127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0" i="0" u="none" strike="noStrike" spc="-60">
                <a:latin typeface="한컴 백제 M"/>
                <a:ea typeface="한컴 백제 M"/>
              </a:rPr>
              <a:t> ②</a:t>
            </a:r>
            <a:r>
              <a:rPr sz="3600" b="0" i="0" u="none" strike="noStrike" spc="-60">
                <a:latin typeface="한컴 백제 M"/>
                <a:ea typeface="한컴 백제 M"/>
              </a:rPr>
              <a:t> 학업성적관리위원회의 심의</a:t>
            </a:r>
          </a:p>
          <a:p>
            <a:pPr marL="368300" marR="127000" indent="-3683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0" i="0" u="none" strike="noStrike" spc="-90">
                <a:latin typeface="한컴 백제 M"/>
                <a:ea typeface="한컴 백제 M"/>
              </a:rPr>
              <a:t>     </a:t>
            </a:r>
            <a:r>
              <a:rPr lang="EN-US" sz="3600" b="0" i="0" u="none" strike="noStrike" spc="-90">
                <a:latin typeface="한컴 백제 M"/>
                <a:ea typeface="한컴 백제 M"/>
              </a:rPr>
              <a:t>- </a:t>
            </a:r>
            <a:r>
              <a:rPr sz="3600" b="0" i="0" u="none" strike="noStrike" spc="-90">
                <a:latin typeface="한컴 백제 M"/>
                <a:ea typeface="한컴 백제 M"/>
              </a:rPr>
              <a:t>학기말 인정점 부여</a:t>
            </a:r>
            <a:r>
              <a:rPr lang="EN-US" sz="3600" b="0" i="0" u="none" strike="noStrike" spc="-90">
                <a:latin typeface="한컴 백제 M"/>
                <a:ea typeface="한컴 백제 M"/>
              </a:rPr>
              <a:t>(</a:t>
            </a:r>
            <a:r>
              <a:rPr sz="3600" b="0" i="0" u="none" strike="noStrike" spc="-90">
                <a:latin typeface="한컴 백제 M"/>
                <a:ea typeface="한컴 백제 M"/>
              </a:rPr>
              <a:t>결시생</a:t>
            </a:r>
            <a:r>
              <a:rPr lang="EN-US" sz="3600" b="0" i="0" u="none" strike="noStrike" spc="-90">
                <a:latin typeface="한컴 백제 M"/>
                <a:ea typeface="한컴 백제 M"/>
              </a:rPr>
              <a:t>·</a:t>
            </a:r>
            <a:r>
              <a:rPr sz="3600" b="0" i="0" u="none" strike="noStrike" spc="-90">
                <a:latin typeface="한컴 백제 M"/>
                <a:ea typeface="한컴 백제 M"/>
              </a:rPr>
              <a:t>전입생</a:t>
            </a:r>
            <a:r>
              <a:rPr lang="EN-US" sz="3600" b="0" i="0" u="none" strike="noStrike" spc="-90">
                <a:latin typeface="한컴 백제 M"/>
                <a:ea typeface="한컴 백제 M"/>
              </a:rPr>
              <a:t>·</a:t>
            </a:r>
            <a:r>
              <a:rPr sz="3600" b="0" i="0" u="none" strike="noStrike" spc="-90">
                <a:latin typeface="한컴 백제 M"/>
                <a:ea typeface="한컴 백제 M"/>
              </a:rPr>
              <a:t>위탁학생 등</a:t>
            </a:r>
            <a:r>
              <a:rPr lang="en-US" altLang="ko-KR" sz="3600" b="0" i="0" u="none" strike="noStrike" spc="-90">
                <a:latin typeface="한컴 백제 M"/>
                <a:ea typeface="한컴 백제 M"/>
              </a:rPr>
              <a:t>)</a:t>
            </a:r>
          </a:p>
          <a:p>
            <a:pPr marL="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0" i="0" u="none" strike="noStrike" spc="-90">
                <a:latin typeface="한컴 백제 M"/>
                <a:ea typeface="한컴 백제 M"/>
              </a:rPr>
              <a:t>    </a:t>
            </a:r>
            <a:r>
              <a:rPr lang="en-US" altLang="ko-KR" sz="3600" b="0" i="0" u="none" strike="noStrike" spc="-90">
                <a:latin typeface="한컴 백제 M"/>
                <a:ea typeface="한컴 백제 M"/>
              </a:rPr>
              <a:t>-</a:t>
            </a:r>
            <a:r>
              <a:rPr lang="ko-KR" altLang="en-US" sz="3600" b="0" i="0" u="none" strike="noStrike" spc="-90">
                <a:latin typeface="한컴 백제 M"/>
                <a:ea typeface="한컴 백제 M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</a:rPr>
              <a:t>학교장 결재 후 부여</a:t>
            </a:r>
            <a:endParaRPr lang="ko-KR" altLang="en-US" sz="3600" b="0" i="0" u="none" strike="noStrike" spc="-90">
              <a:latin typeface="한컴 백제 M"/>
              <a:ea typeface="한컴 백제 M"/>
            </a:endParaRPr>
          </a:p>
        </p:txBody>
      </p:sp>
      <p:sp>
        <p:nvSpPr>
          <p:cNvPr id="1016" name="TextBox 1015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21/24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13" name="TextBox 1012"/>
          <p:cNvSpPr txBox="1"/>
          <p:nvPr/>
        </p:nvSpPr>
        <p:spPr>
          <a:xfrm>
            <a:off x="14706600" y="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 방법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sp>
        <p:nvSpPr>
          <p:cNvPr id="1014" name="TextBox 1013"/>
          <p:cNvSpPr txBox="1"/>
          <p:nvPr/>
        </p:nvSpPr>
        <p:spPr>
          <a:xfrm>
            <a:off x="1447800" y="628650"/>
            <a:ext cx="16687800" cy="1160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4400" b="1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학기말 성적처리</a:t>
            </a:r>
            <a:r>
              <a:rPr lang="ko-KR" altLang="en-US" sz="4400" b="1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</a:rPr>
              <a:t>① 학기말 성적산출 선행작업 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- </a:t>
            </a:r>
            <a:r>
              <a:rPr sz="3600" b="0" i="0" u="none" strike="noStrike" spc="-60">
                <a:latin typeface="한컴 백제 M"/>
                <a:ea typeface="한컴 백제 M"/>
              </a:rPr>
              <a:t>나이스 결시생 인정점 부여 기준 입력</a:t>
            </a:r>
          </a:p>
        </p:txBody>
      </p:sp>
      <p:pic>
        <p:nvPicPr>
          <p:cNvPr id="1015" name="그림 101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0" y="1742813"/>
            <a:ext cx="18592800" cy="5153287"/>
          </a:xfrm>
          <a:prstGeom prst="rect">
            <a:avLst/>
          </a:prstGeom>
        </p:spPr>
      </p:pic>
      <p:pic>
        <p:nvPicPr>
          <p:cNvPr id="1016" name="그림 101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0" y="6858000"/>
            <a:ext cx="18440400" cy="3429000"/>
          </a:xfrm>
          <a:prstGeom prst="rect">
            <a:avLst/>
          </a:prstGeom>
        </p:spPr>
      </p:pic>
      <p:sp>
        <p:nvSpPr>
          <p:cNvPr id="1017" name="TextBox 1016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22/24</a:t>
            </a:r>
          </a:p>
        </p:txBody>
      </p:sp>
      <p:sp>
        <p:nvSpPr>
          <p:cNvPr id="1018" name="직사각형 1017"/>
          <p:cNvSpPr/>
          <p:nvPr/>
        </p:nvSpPr>
        <p:spPr>
          <a:xfrm>
            <a:off x="152400" y="5448300"/>
            <a:ext cx="4495800" cy="304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rgbClr val="FF0000"/>
                </a:solidFill>
              </a:rPr>
              <a:t>성적처리선행작업</a:t>
            </a:r>
            <a:r>
              <a:rPr lang="en-US" altLang="ko-KR" b="1">
                <a:solidFill>
                  <a:srgbClr val="FF0000"/>
                </a:solidFill>
              </a:rPr>
              <a:t>-</a:t>
            </a:r>
            <a:r>
              <a:rPr lang="ko-KR" altLang="en-US" b="1">
                <a:solidFill>
                  <a:srgbClr val="FF0000"/>
                </a:solidFill>
              </a:rPr>
              <a:t>성적산출선행작업관리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52400" y="622772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13" name="TextBox 1012"/>
          <p:cNvSpPr txBox="1"/>
          <p:nvPr/>
        </p:nvSpPr>
        <p:spPr>
          <a:xfrm>
            <a:off x="14706600" y="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 방법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sp>
        <p:nvSpPr>
          <p:cNvPr id="1014" name="TextBox 1013"/>
          <p:cNvSpPr txBox="1"/>
          <p:nvPr/>
        </p:nvSpPr>
        <p:spPr>
          <a:xfrm>
            <a:off x="1447800" y="628650"/>
            <a:ext cx="16687800" cy="1160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4400" b="1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학기말 성적처리</a:t>
            </a:r>
            <a:r>
              <a:rPr lang="ko-KR" altLang="en-US" sz="4400" b="1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</a:rPr>
              <a:t>② 인정점 산출 대상자 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: </a:t>
            </a:r>
            <a:r>
              <a:rPr sz="3600" b="0" i="0" u="none" strike="noStrike" spc="-60">
                <a:solidFill>
                  <a:srgbClr val="FF0000"/>
                </a:solidFill>
                <a:latin typeface="한컴 백제 M"/>
                <a:ea typeface="한컴 백제 M"/>
              </a:rPr>
              <a:t>인정점 부여</a:t>
            </a:r>
            <a:endParaRPr sz="3600" b="1" i="0" u="none" strike="noStrike" spc="-60">
              <a:solidFill>
                <a:srgbClr val="FF0000"/>
              </a:solidFill>
              <a:latin typeface="한컴 백제 M"/>
              <a:ea typeface="한컴 백제 M"/>
            </a:endParaRPr>
          </a:p>
        </p:txBody>
      </p:sp>
      <p:sp>
        <p:nvSpPr>
          <p:cNvPr id="1017" name="TextBox 1016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23/24</a:t>
            </a:r>
          </a:p>
        </p:txBody>
      </p:sp>
      <p:sp>
        <p:nvSpPr>
          <p:cNvPr id="1019" name="별: 꼭짓점 5개 1018"/>
          <p:cNvSpPr/>
          <p:nvPr/>
        </p:nvSpPr>
        <p:spPr>
          <a:xfrm>
            <a:off x="11734800" y="571499"/>
            <a:ext cx="1600200" cy="990599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020" name="그림 101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-76199" y="1943100"/>
            <a:ext cx="18440400" cy="8572500"/>
          </a:xfrm>
          <a:prstGeom prst="rect">
            <a:avLst/>
          </a:prstGeom>
        </p:spPr>
      </p:pic>
      <p:sp>
        <p:nvSpPr>
          <p:cNvPr id="1018" name="직사각형 1017"/>
          <p:cNvSpPr/>
          <p:nvPr/>
        </p:nvSpPr>
        <p:spPr>
          <a:xfrm>
            <a:off x="0" y="3619500"/>
            <a:ext cx="4495800" cy="381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rgbClr val="FF0000"/>
                </a:solidFill>
              </a:rPr>
              <a:t>성적처리선행작업</a:t>
            </a:r>
            <a:r>
              <a:rPr lang="en-US" altLang="ko-KR" b="1">
                <a:solidFill>
                  <a:srgbClr val="FF0000"/>
                </a:solidFill>
              </a:rPr>
              <a:t>-</a:t>
            </a:r>
            <a:r>
              <a:rPr lang="ko-KR" altLang="en-US" b="1">
                <a:solidFill>
                  <a:srgbClr val="FF0000"/>
                </a:solidFill>
              </a:rPr>
              <a:t>성적산출선행작업관리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17602200" y="97650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23/24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83680" y="1154430"/>
            <a:ext cx="8531720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4600" spc="-300">
              <a:latin typeface="+mj-ea"/>
              <a:ea typeface="+mj-ea"/>
            </a:endParaRPr>
          </a:p>
        </p:txBody>
      </p:sp>
      <p:sp>
        <p:nvSpPr>
          <p:cNvPr id="1013" name="TextBox 1012"/>
          <p:cNvSpPr txBox="1"/>
          <p:nvPr/>
        </p:nvSpPr>
        <p:spPr>
          <a:xfrm>
            <a:off x="14706600" y="0"/>
            <a:ext cx="3810000" cy="8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3200" b="1">
                <a:solidFill>
                  <a:srgbClr val="BAFF1A"/>
                </a:solidFill>
                <a:latin typeface="한컴 백제 M"/>
                <a:ea typeface="한컴 백제 M"/>
              </a:rPr>
              <a:t>나이스 처리 방법</a:t>
            </a:r>
            <a:endParaRPr lang="ko-KR" altLang="en-US" sz="3200">
              <a:solidFill>
                <a:srgbClr val="BAFF1A"/>
              </a:solidFill>
              <a:latin typeface="한컴 백제 M"/>
              <a:ea typeface="한컴 백제 M"/>
            </a:endParaRPr>
          </a:p>
        </p:txBody>
      </p:sp>
      <p:sp>
        <p:nvSpPr>
          <p:cNvPr id="1014" name="TextBox 1013"/>
          <p:cNvSpPr txBox="1"/>
          <p:nvPr/>
        </p:nvSpPr>
        <p:spPr>
          <a:xfrm>
            <a:off x="1447800" y="628650"/>
            <a:ext cx="16687800" cy="1160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4400" b="1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학기말 성적처리</a:t>
            </a:r>
            <a:r>
              <a:rPr lang="ko-KR" altLang="en-US" sz="4400" b="1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</a:rPr>
              <a:t>② 인정점 산출 대상자 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: </a:t>
            </a:r>
            <a:r>
              <a:rPr sz="3600" b="0" i="0" u="none" strike="noStrike" spc="-60">
                <a:solidFill>
                  <a:srgbClr val="FF0000"/>
                </a:solidFill>
                <a:latin typeface="한컴 백제 M"/>
                <a:ea typeface="한컴 백제 M"/>
              </a:rPr>
              <a:t>인정점 부여</a:t>
            </a:r>
            <a:endParaRPr sz="3600" b="1" i="0" u="none" strike="noStrike" spc="-60">
              <a:solidFill>
                <a:srgbClr val="FF0000"/>
              </a:solidFill>
              <a:latin typeface="한컴 백제 M"/>
              <a:ea typeface="한컴 백제 M"/>
            </a:endParaRPr>
          </a:p>
        </p:txBody>
      </p:sp>
      <p:pic>
        <p:nvPicPr>
          <p:cNvPr id="1015" name="그림 101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6200" y="1714500"/>
            <a:ext cx="18516600" cy="4724400"/>
          </a:xfrm>
          <a:prstGeom prst="rect">
            <a:avLst/>
          </a:prstGeom>
        </p:spPr>
      </p:pic>
      <p:pic>
        <p:nvPicPr>
          <p:cNvPr id="1016" name="그림 101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0" y="6286500"/>
            <a:ext cx="18516600" cy="4000500"/>
          </a:xfrm>
          <a:prstGeom prst="rect">
            <a:avLst/>
          </a:prstGeom>
        </p:spPr>
      </p:pic>
      <p:sp>
        <p:nvSpPr>
          <p:cNvPr id="1017" name="TextBox 1016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23/24</a:t>
            </a:r>
          </a:p>
        </p:txBody>
      </p:sp>
      <p:sp>
        <p:nvSpPr>
          <p:cNvPr id="1018" name="직사각형 1017"/>
          <p:cNvSpPr/>
          <p:nvPr/>
        </p:nvSpPr>
        <p:spPr>
          <a:xfrm>
            <a:off x="0" y="5524500"/>
            <a:ext cx="2743200" cy="304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rgbClr val="FF0000"/>
                </a:solidFill>
              </a:rPr>
              <a:t>성적처리</a:t>
            </a:r>
            <a:r>
              <a:rPr lang="en-US" altLang="ko-KR" b="1">
                <a:solidFill>
                  <a:srgbClr val="FF0000"/>
                </a:solidFill>
              </a:rPr>
              <a:t>-</a:t>
            </a:r>
            <a:r>
              <a:rPr lang="ko-KR" altLang="en-US" b="1">
                <a:solidFill>
                  <a:srgbClr val="FF0000"/>
                </a:solidFill>
              </a:rPr>
              <a:t>성적산출관리</a:t>
            </a:r>
          </a:p>
        </p:txBody>
      </p:sp>
      <p:sp>
        <p:nvSpPr>
          <p:cNvPr id="1019" name="별: 꼭짓점 5개 1018"/>
          <p:cNvSpPr/>
          <p:nvPr/>
        </p:nvSpPr>
        <p:spPr>
          <a:xfrm>
            <a:off x="11734800" y="571499"/>
            <a:ext cx="1600200" cy="990599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</p:spPr>
        <p:style>
          <a:lnRef idx="2">
            <a:schemeClr val="accent2"/>
          </a:lnRef>
          <a:fillRef idx="1">
            <a:schemeClr val="lt1"/>
          </a:fillRef>
          <a:effectRef idx="2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1447800" y="62277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4" name="그룹 1003"/>
          <p:cNvGrpSpPr/>
          <p:nvPr/>
        </p:nvGrpSpPr>
        <p:grpSpPr>
          <a:xfrm>
            <a:off x="14478000" y="0"/>
            <a:ext cx="3810000" cy="6477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1014" name="TextBox 1013"/>
          <p:cNvSpPr txBox="1"/>
          <p:nvPr/>
        </p:nvSpPr>
        <p:spPr>
          <a:xfrm>
            <a:off x="15087600" y="0"/>
            <a:ext cx="3810000" cy="664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05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 i="0" u="none" strike="noStrike">
                <a:latin typeface="한컴 백제 M"/>
                <a:ea typeface="한컴 백제 M"/>
              </a:rPr>
              <a:t>단계별 업무 내용</a:t>
            </a:r>
            <a:r>
              <a:rPr lang="ko-KR" altLang="en-US" sz="2400" b="1" i="0" u="none" strike="noStrike">
                <a:latin typeface="한컴 백제 M"/>
                <a:ea typeface="한컴 백제 M"/>
              </a:rPr>
              <a:t> 포함</a:t>
            </a:r>
            <a:endParaRPr lang="ko-KR" altLang="en-US" sz="2400">
              <a:latin typeface="한컴 백제 M"/>
              <a:ea typeface="한컴 백제 M"/>
            </a:endParaRPr>
          </a:p>
        </p:txBody>
      </p:sp>
      <p:sp>
        <p:nvSpPr>
          <p:cNvPr id="1015" name="TextBox 1014"/>
          <p:cNvSpPr txBox="1"/>
          <p:nvPr/>
        </p:nvSpPr>
        <p:spPr>
          <a:xfrm>
            <a:off x="1676400" y="859154"/>
            <a:ext cx="16611600" cy="6616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4400" b="1" i="0" u="none" strike="noStrike" spc="-60">
                <a:latin typeface="한컴 백제 M"/>
                <a:ea typeface="한컴 백제 M"/>
              </a:rPr>
              <a:t>자료 보관</a:t>
            </a:r>
          </a:p>
          <a:p>
            <a:pPr marL="78073" indent="-93688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400" b="1" i="0" u="none" strike="noStrike" spc="-60">
                <a:solidFill>
                  <a:srgbClr val="000000"/>
                </a:solidFill>
                <a:latin typeface="한컴 백제 M"/>
                <a:ea typeface="한컴 백제 M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</a:rPr>
              <a:t>① 성적처리 및 학생 확인이</a:t>
            </a:r>
            <a:r>
              <a:rPr lang="ko-KR" altLang="en-US" sz="3600" b="0" i="0" u="none" strike="noStrike" spc="-60">
                <a:latin typeface="한컴 백제 M"/>
                <a:ea typeface="한컴 백제 M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</a:rPr>
              <a:t>완료된 정기시험의 학생 답안지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(</a:t>
            </a:r>
            <a:r>
              <a:rPr sz="3600" b="0" i="0" u="none" strike="noStrike" spc="-60">
                <a:latin typeface="한컴 백제 M"/>
                <a:ea typeface="한컴 백제 M"/>
              </a:rPr>
              <a:t>서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·</a:t>
            </a:r>
            <a:r>
              <a:rPr sz="3600" b="0" i="0" u="none" strike="noStrike" spc="-60">
                <a:latin typeface="한컴 백제 M"/>
                <a:ea typeface="한컴 백제 M"/>
              </a:rPr>
              <a:t>논술형 평가</a:t>
            </a:r>
            <a:r>
              <a:rPr lang="ko-KR" altLang="en-US" sz="3600" b="0" i="0" u="none" strike="noStrike" spc="-60">
                <a:latin typeface="한컴 백제 M"/>
                <a:ea typeface="한컴 백제 M"/>
              </a:rPr>
              <a:t> </a:t>
            </a:r>
            <a:r>
              <a:rPr sz="3600" b="0" i="0" u="none" strike="noStrike" spc="-60">
                <a:latin typeface="한컴 백제 M"/>
                <a:ea typeface="한컴 백제 M"/>
              </a:rPr>
              <a:t>답안지 포함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)</a:t>
            </a:r>
            <a:r>
              <a:rPr sz="3600" b="0" i="0" u="none" strike="noStrike" spc="-60">
                <a:latin typeface="한컴 백제 M"/>
                <a:ea typeface="한컴 백제 M"/>
              </a:rPr>
              <a:t>는 성적 산출의 증빙자료로 문항정보표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, </a:t>
            </a:r>
            <a:r>
              <a:rPr sz="3600" b="0" i="0" u="none" strike="noStrike" spc="-60">
                <a:latin typeface="한컴 백제 M"/>
                <a:ea typeface="한컴 백제 M"/>
              </a:rPr>
              <a:t>출제 원안 등과 함께 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5</a:t>
            </a:r>
            <a:r>
              <a:rPr sz="3600" b="0" i="0" u="none" strike="noStrike" spc="-60">
                <a:latin typeface="한컴 백제 M"/>
                <a:ea typeface="한컴 백제 M"/>
              </a:rPr>
              <a:t>년간 보관</a:t>
            </a:r>
          </a:p>
          <a:p>
            <a:pPr marL="381000" indent="-1651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0" i="0" u="none" strike="noStrike" spc="-60">
                <a:latin typeface="한컴 백제 M"/>
                <a:ea typeface="한컴 백제 M"/>
              </a:rPr>
              <a:t>② 학생의 이의신청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·</a:t>
            </a:r>
            <a:r>
              <a:rPr sz="3600" b="0" i="0" u="none" strike="noStrike" spc="-60">
                <a:latin typeface="한컴 백제 M"/>
                <a:ea typeface="한컴 백제 M"/>
              </a:rPr>
              <a:t>접수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·</a:t>
            </a:r>
            <a:r>
              <a:rPr sz="3600" b="0" i="0" u="none" strike="noStrike" spc="-60">
                <a:latin typeface="한컴 백제 M"/>
                <a:ea typeface="한컴 백제 M"/>
              </a:rPr>
              <a:t>처리</a:t>
            </a:r>
            <a:r>
              <a:rPr lang="EN-US" sz="3600" b="0" i="0" u="none" strike="noStrike" spc="-60">
                <a:latin typeface="한컴 백제 M"/>
                <a:ea typeface="한컴 백제 M"/>
              </a:rPr>
              <a:t>·</a:t>
            </a:r>
            <a:r>
              <a:rPr sz="3600" b="0" i="0" u="none" strike="noStrike" spc="-60">
                <a:latin typeface="한컴 백제 M"/>
                <a:ea typeface="한컴 백제 M"/>
              </a:rPr>
              <a:t>확인 과정 등 적절한 조치가</a:t>
            </a:r>
            <a:r>
              <a:rPr sz="3600" b="0" i="0" u="none" strike="noStrike" spc="-50">
                <a:latin typeface="한컴 백제 M"/>
                <a:ea typeface="한컴 백제 M"/>
              </a:rPr>
              <a:t>완료된 후 작성된 성적 기록 자료</a:t>
            </a:r>
            <a:r>
              <a:rPr lang="EN-US" sz="3600" b="0" i="0" u="none" strike="noStrike" spc="-50">
                <a:latin typeface="한컴 백제 M"/>
                <a:ea typeface="한컴 백제 M"/>
              </a:rPr>
              <a:t>(</a:t>
            </a:r>
            <a:r>
              <a:rPr sz="3600" b="0" i="0" u="none" strike="noStrike" spc="-50">
                <a:latin typeface="한컴 백제 M"/>
                <a:ea typeface="한컴 백제 M"/>
              </a:rPr>
              <a:t>영역별</a:t>
            </a:r>
            <a:r>
              <a:rPr sz="3600" b="0" i="0" u="none" strike="noStrike" spc="-50">
                <a:ea typeface="한컴 백제 M"/>
              </a:rPr>
              <a:t>․</a:t>
            </a:r>
            <a:r>
              <a:rPr sz="3600" b="0" i="0" u="none" strike="noStrike" spc="-50">
                <a:latin typeface="한컴 백제 M"/>
                <a:ea typeface="한컴 백제 M"/>
              </a:rPr>
              <a:t>요소별 채점한 성적일람표의 기초자료</a:t>
            </a:r>
            <a:r>
              <a:rPr lang="EN-US" sz="3600" b="0" i="0" u="none" strike="noStrike" spc="-50">
                <a:latin typeface="한컴 백제 M"/>
                <a:ea typeface="한컴 백제 M"/>
              </a:rPr>
              <a:t>(</a:t>
            </a:r>
            <a:r>
              <a:rPr sz="3600" b="0" i="0" u="none" strike="noStrike" spc="-50">
                <a:latin typeface="한컴 백제 M"/>
                <a:ea typeface="한컴 백제 M"/>
              </a:rPr>
              <a:t>수행평가 보조부</a:t>
            </a:r>
            <a:r>
              <a:rPr lang="EN-US" sz="3600" b="0" i="0" u="none" strike="noStrike" spc="-50">
                <a:latin typeface="한컴 백제 M"/>
                <a:ea typeface="한컴 백제 M"/>
              </a:rPr>
              <a:t>), </a:t>
            </a:r>
            <a:r>
              <a:rPr sz="3600" b="0" i="0" u="none" strike="noStrike" spc="-50">
                <a:latin typeface="한컴 백제 M"/>
                <a:ea typeface="한컴 백제 M"/>
              </a:rPr>
              <a:t>수행평가 성적일람표 등</a:t>
            </a:r>
            <a:r>
              <a:rPr lang="EN-US" sz="3600" b="0" i="0" u="none" strike="noStrike" spc="-50">
                <a:latin typeface="한컴 백제 M"/>
                <a:ea typeface="한컴 백제 M"/>
              </a:rPr>
              <a:t>)</a:t>
            </a:r>
            <a:r>
              <a:rPr sz="3600" b="0" i="0" u="none" strike="noStrike" spc="-50">
                <a:latin typeface="한컴 백제 M"/>
                <a:ea typeface="한컴 백제 M"/>
              </a:rPr>
              <a:t>는 졸업 후 </a:t>
            </a:r>
            <a:r>
              <a:rPr lang="EN-US" sz="3600" b="0" i="0" u="none" strike="noStrike" spc="-50">
                <a:latin typeface="한컴 백제 M"/>
                <a:ea typeface="한컴 백제 M"/>
              </a:rPr>
              <a:t>1</a:t>
            </a:r>
            <a:r>
              <a:rPr sz="3600" b="0" i="0" u="none" strike="noStrike" spc="-50">
                <a:latin typeface="한컴 백제 M"/>
                <a:ea typeface="한컴 백제 M"/>
              </a:rPr>
              <a:t>년 이상 보관</a:t>
            </a:r>
          </a:p>
          <a:p>
            <a:pPr marL="177800" indent="-63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0" i="0" u="none" strike="noStrike" spc="-60">
                <a:latin typeface="한컴 백제 M"/>
                <a:ea typeface="한컴 백제 M"/>
              </a:rPr>
              <a:t>③ 인정점 산출 대상자 서류와 증빙서류 보관</a:t>
            </a:r>
            <a:endParaRPr lang="ko-KR" altLang="en-US" sz="3600" b="0" i="0" u="none" strike="noStrike" spc="-90">
              <a:latin typeface="한컴 백제 M"/>
              <a:ea typeface="한컴 백제 M"/>
            </a:endParaRPr>
          </a:p>
        </p:txBody>
      </p:sp>
      <p:pic>
        <p:nvPicPr>
          <p:cNvPr id="1016" name="그림 6"/>
          <p:cNvPicPr>
            <a:picLocks noChangeAspect="1"/>
          </p:cNvPicPr>
          <p:nvPr/>
        </p:nvPicPr>
        <p:blipFill rotWithShape="1">
          <a:blip r:embed="rId6"/>
          <a:srcRect l="5250" t="11820" r="1580" b="8950"/>
          <a:stretch>
            <a:fillRect/>
          </a:stretch>
        </p:blipFill>
        <p:spPr>
          <a:xfrm>
            <a:off x="15172401" y="7962900"/>
            <a:ext cx="3115598" cy="1676402"/>
          </a:xfrm>
          <a:prstGeom prst="rect">
            <a:avLst/>
          </a:prstGeom>
        </p:spPr>
      </p:pic>
      <p:sp>
        <p:nvSpPr>
          <p:cNvPr id="1017" name="TextBox 1016"/>
          <p:cNvSpPr txBox="1"/>
          <p:nvPr/>
        </p:nvSpPr>
        <p:spPr>
          <a:xfrm>
            <a:off x="17449800" y="9612630"/>
            <a:ext cx="1066800" cy="41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>
                <a:latin typeface="+mj-ea"/>
                <a:ea typeface="+mj-ea"/>
              </a:rPr>
              <a:t>24/24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solidFill>
              <a:schemeClr val="accent3"/>
            </a:solidFill>
          </p:spPr>
        </p:pic>
      </p:grpSp>
      <p:grpSp>
        <p:nvGrpSpPr>
          <p:cNvPr id="1002" name="그룹 1002"/>
          <p:cNvGrpSpPr/>
          <p:nvPr/>
        </p:nvGrpSpPr>
        <p:grpSpPr>
          <a:xfrm>
            <a:off x="590445" y="190500"/>
            <a:ext cx="17104828" cy="9662868"/>
            <a:chOff x="590444" y="189141"/>
            <a:chExt cx="17104828" cy="9664227"/>
          </a:xfrm>
          <a:solidFill>
            <a:schemeClr val="accent3"/>
          </a:solidFill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  <a:grpFill/>
          </p:spPr>
        </p:pic>
      </p:grpSp>
      <p:grpSp>
        <p:nvGrpSpPr>
          <p:cNvPr id="4" name="그룹 1003"/>
          <p:cNvGrpSpPr/>
          <p:nvPr/>
        </p:nvGrpSpPr>
        <p:grpSpPr>
          <a:xfrm>
            <a:off x="228600" y="1485900"/>
            <a:ext cx="8531720" cy="19050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2879273" y="1716318"/>
            <a:ext cx="323037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1" lang="en-US" altLang="ko-KR" sz="6000" b="1">
                <a:solidFill>
                  <a:schemeClr val="bg1"/>
                </a:solidFill>
                <a:latin typeface="Bell MT"/>
              </a:rPr>
              <a:t>Contents</a:t>
            </a:r>
            <a:endParaRPr kumimoji="1" lang="ko-KR" altLang="en-US" sz="6000" b="1">
              <a:solidFill>
                <a:schemeClr val="bg1"/>
              </a:solidFill>
              <a:latin typeface="Bell MT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097000" y="6057901"/>
            <a:ext cx="2684432" cy="2784564"/>
          </a:xfrm>
          <a:prstGeom prst="rect">
            <a:avLst/>
          </a:prstGeom>
        </p:spPr>
      </p:pic>
      <p:sp>
        <p:nvSpPr>
          <p:cNvPr id="1005" name="TextBox 7"/>
          <p:cNvSpPr txBox="1"/>
          <p:nvPr/>
        </p:nvSpPr>
        <p:spPr>
          <a:xfrm>
            <a:off x="2057400" y="3389087"/>
            <a:ext cx="13792199" cy="1181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4800" b="1"/>
              <a:t>III. </a:t>
            </a:r>
            <a:r>
              <a:rPr lang="ko-KR" altLang="en-US" sz="4800" b="1"/>
              <a:t>업무 처리 시 주의해야 할 점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4572000" y="6993254"/>
            <a:ext cx="9677400" cy="1426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400">
                <a:latin typeface="HY바다L"/>
                <a:ea typeface="HY바다L"/>
              </a:rPr>
              <a:t>학생평가는 학교마다 ㄷㄹ 수 있지만</a:t>
            </a:r>
            <a:r>
              <a:rPr lang="en-US" altLang="ko-KR" sz="4400">
                <a:latin typeface="HY바다L"/>
                <a:ea typeface="HY바다L"/>
              </a:rPr>
              <a:t>,</a:t>
            </a:r>
            <a:r>
              <a:rPr lang="ko-KR" altLang="en-US" sz="4400">
                <a:latin typeface="HY바다L"/>
                <a:ea typeface="HY바다L"/>
              </a:rPr>
              <a:t> </a:t>
            </a:r>
          </a:p>
          <a:p>
            <a:pPr>
              <a:defRPr/>
            </a:pPr>
            <a:r>
              <a:rPr lang="ko-KR" altLang="en-US" sz="4400">
                <a:latin typeface="HY바다L"/>
                <a:ea typeface="HY바다L"/>
              </a:rPr>
              <a:t>ㅌㄹ면 안되는 규정 업무입니다</a:t>
            </a:r>
            <a:r>
              <a:rPr lang="en-US" altLang="ko-KR" sz="4400">
                <a:latin typeface="HY바다L"/>
                <a:ea typeface="HY바다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590444" y="189141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grpSp>
        <p:nvGrpSpPr>
          <p:cNvPr id="4" name="그룹 1003"/>
          <p:cNvGrpSpPr/>
          <p:nvPr/>
        </p:nvGrpSpPr>
        <p:grpSpPr>
          <a:xfrm>
            <a:off x="304800" y="647699"/>
            <a:ext cx="3200400" cy="1905000"/>
            <a:chOff x="221620" y="1585885"/>
            <a:chExt cx="4317256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221620" y="1585885"/>
              <a:ext cx="4317256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838199" y="1028700"/>
            <a:ext cx="5486401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600" b="1" spc="-300">
                <a:latin typeface="+mj-ea"/>
                <a:ea typeface="+mj-ea"/>
              </a:rPr>
              <a:t>평가계획</a:t>
            </a:r>
          </a:p>
        </p:txBody>
      </p:sp>
      <p:sp>
        <p:nvSpPr>
          <p:cNvPr id="9" name="모서리가 둥근 직사각형 63"/>
          <p:cNvSpPr/>
          <p:nvPr/>
        </p:nvSpPr>
        <p:spPr>
          <a:xfrm>
            <a:off x="590444" y="2171700"/>
            <a:ext cx="17104828" cy="6934200"/>
          </a:xfrm>
          <a:prstGeom prst="roundRect">
            <a:avLst>
              <a:gd name="adj" fmla="val 4133"/>
            </a:avLst>
          </a:prstGeom>
          <a:noFill/>
          <a:ln w="38100">
            <a:solidFill>
              <a:srgbClr val="5029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600" latinLnBrk="1">
              <a:defRPr/>
            </a:pPr>
            <a:endParaRPr lang="ko-KR" altLang="en-US" sz="270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003" name="TextBox 24"/>
          <p:cNvSpPr txBox="1"/>
          <p:nvPr/>
        </p:nvSpPr>
        <p:spPr>
          <a:xfrm>
            <a:off x="533400" y="2011676"/>
            <a:ext cx="17145000" cy="7873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8000" indent="-1905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500" b="1" i="0" u="none" strike="noStrike" spc="-10"/>
              <a:t>1.</a:t>
            </a:r>
            <a:r>
              <a:rPr lang="ko-KR" altLang="en-US" sz="3500" b="1" i="0" u="none" strike="noStrike" spc="-10"/>
              <a:t> </a:t>
            </a:r>
            <a:r>
              <a:rPr lang="ko-KR" altLang="en-US" sz="3500" b="1" i="0" u="none" strike="noStrike" spc="-10">
                <a:solidFill>
                  <a:srgbClr val="0000FF"/>
                </a:solidFill>
              </a:rPr>
              <a:t>교과별 평가계획 제출</a:t>
            </a:r>
          </a:p>
          <a:p>
            <a:pPr marL="546100" indent="-1143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500" b="1" i="0" u="none" strike="noStrike" spc="-10"/>
              <a:t>   가</a:t>
            </a:r>
            <a:r>
              <a:rPr lang="EN-US" sz="3500" b="1" i="0" u="none" strike="noStrike" spc="-10"/>
              <a:t>. </a:t>
            </a:r>
            <a:r>
              <a:rPr sz="3500" b="1" i="0" u="none" strike="noStrike" spc="-10"/>
              <a:t>정기시험</a:t>
            </a:r>
            <a:r>
              <a:rPr lang="ko-KR" altLang="en-US" sz="3500" b="1" i="0" u="none" strike="noStrike" spc="-10"/>
              <a:t> </a:t>
            </a:r>
            <a:r>
              <a:rPr sz="3500" b="1" i="0" u="none" strike="noStrike" spc="-10"/>
              <a:t>및 수행평가의 영역</a:t>
            </a:r>
            <a:r>
              <a:rPr lang="EN-US" sz="3500" b="1" i="0" u="none" strike="noStrike" spc="-10"/>
              <a:t>, </a:t>
            </a:r>
            <a:r>
              <a:rPr sz="3500" b="1" i="0" u="none" strike="noStrike" spc="-10"/>
              <a:t>요소</a:t>
            </a:r>
            <a:r>
              <a:rPr lang="EN-US" sz="3500" b="1" i="0" u="none" strike="noStrike" spc="-10"/>
              <a:t>, </a:t>
            </a:r>
            <a:r>
              <a:rPr sz="3500" b="1" i="0" u="none" strike="noStrike" spc="-10"/>
              <a:t>방법</a:t>
            </a:r>
            <a:r>
              <a:rPr lang="EN-US" sz="3500" b="1" i="0" u="none" strike="noStrike" spc="-10"/>
              <a:t>, </a:t>
            </a:r>
            <a:r>
              <a:rPr sz="3500" b="1" i="0" u="none" strike="noStrike" spc="-10"/>
              <a:t>시기</a:t>
            </a:r>
            <a:r>
              <a:rPr lang="EN-US" sz="3500" b="1" i="0" u="none" strike="noStrike" spc="-10"/>
              <a:t>, </a:t>
            </a:r>
            <a:r>
              <a:rPr sz="3500" b="1" i="0" u="none" strike="noStrike" spc="-10"/>
              <a:t>횟수</a:t>
            </a:r>
            <a:r>
              <a:rPr lang="EN-US" sz="3500" b="1" i="0" u="none" strike="noStrike" spc="-10"/>
              <a:t>, </a:t>
            </a:r>
            <a:r>
              <a:rPr sz="3500" b="1" i="0" u="none" strike="noStrike" spc="-10"/>
              <a:t>반영비율 등</a:t>
            </a:r>
          </a:p>
          <a:p>
            <a:pPr marL="546100" indent="-1143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500" b="1" i="0" u="none" strike="noStrike" spc="-10"/>
              <a:t>   나</a:t>
            </a:r>
            <a:r>
              <a:rPr lang="EN-US" sz="3500" b="1" i="0" u="none" strike="noStrike" spc="-10"/>
              <a:t>. </a:t>
            </a:r>
            <a:r>
              <a:rPr sz="3500" b="1" i="0" u="none" strike="noStrike" spc="-10"/>
              <a:t>수행평가의 세부기준</a:t>
            </a:r>
            <a:r>
              <a:rPr lang="EN-US" sz="3500" b="1" i="0" u="none" strike="noStrike" spc="-10"/>
              <a:t>(</a:t>
            </a:r>
            <a:r>
              <a:rPr sz="3500" b="1" i="0" u="none" strike="noStrike" spc="-10"/>
              <a:t>영역별 배점과 채점기준</a:t>
            </a:r>
            <a:r>
              <a:rPr lang="EN-US" sz="3500" b="1" i="0" u="none" strike="noStrike" spc="-10"/>
              <a:t>)</a:t>
            </a:r>
            <a:r>
              <a:rPr sz="3500" b="1" i="0" u="none" strike="noStrike" spc="-10"/>
              <a:t> </a:t>
            </a:r>
          </a:p>
          <a:p>
            <a:pPr marL="508000" indent="-190500" algn="just" defTabSz="914400" rtl="0" eaLnBrk="1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3500" b="1" i="0" u="none" strike="noStrike" spc="-10"/>
              <a:t>    다</a:t>
            </a:r>
            <a:r>
              <a:rPr lang="en-US" altLang="ko-KR" sz="3500" b="1" i="0" u="none" strike="noStrike" spc="-10"/>
              <a:t>.</a:t>
            </a:r>
            <a:r>
              <a:rPr lang="ko-KR" altLang="en-US" sz="3500" b="1" i="0" u="none" strike="noStrike" spc="-10"/>
              <a:t> </a:t>
            </a:r>
            <a:r>
              <a:rPr kumimoji="0" sz="3500" b="1" i="0" u="none" strike="noStrike" kern="1200" cap="none" spc="-10" normalizeH="0" baseline="0">
                <a:solidFill>
                  <a:srgbClr val="000000"/>
                </a:solidFill>
                <a:latin typeface="Calibri"/>
                <a:ea typeface="?? ??"/>
                <a:cs typeface="?? ??"/>
              </a:rPr>
              <a:t>성적처리 방법 및 결과의 활용 등</a:t>
            </a:r>
          </a:p>
          <a:p>
            <a:pPr marL="508000" indent="-190500" algn="just" defTabSz="914400" rtl="0" eaLnBrk="1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3500" b="1" i="0" u="none" strike="noStrike" spc="-10"/>
              <a:t>2.</a:t>
            </a:r>
            <a:r>
              <a:rPr lang="ko-KR" altLang="en-US" sz="3500" b="1" i="0" u="none" strike="noStrike" spc="-10"/>
              <a:t> </a:t>
            </a:r>
            <a:r>
              <a:rPr lang="ko-KR" altLang="en-US" sz="3500" b="1" i="0" u="none" strike="noStrike" spc="-10">
                <a:solidFill>
                  <a:srgbClr val="0000FF"/>
                </a:solidFill>
              </a:rPr>
              <a:t>학업성적관리위원회의 심의 후 학교장 결재</a:t>
            </a:r>
            <a:r>
              <a:rPr lang="ko-KR" altLang="en-US" sz="3500" b="1" i="0" u="none" strike="noStrike" spc="-10"/>
              <a:t> </a:t>
            </a:r>
          </a:p>
          <a:p>
            <a:pPr marL="114300" indent="-1143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500" b="1" i="0" u="none" strike="noStrike" spc="-10"/>
              <a:t>   </a:t>
            </a:r>
            <a:r>
              <a:rPr lang="en-US" altLang="ko-KR" sz="3500" b="1" i="0" u="none" strike="noStrike" spc="-10"/>
              <a:t>3.</a:t>
            </a:r>
            <a:r>
              <a:rPr lang="ko-KR" altLang="en-US" sz="3500" b="1" i="0" u="none" strike="noStrike" spc="-10"/>
              <a:t> </a:t>
            </a:r>
            <a:r>
              <a:rPr sz="3500" b="1" i="0" u="none" strike="noStrike" spc="-20"/>
              <a:t>확정된 평가 계획은 </a:t>
            </a:r>
            <a:r>
              <a:rPr sz="3500" b="1" i="0" u="none" strike="noStrike" spc="-20">
                <a:solidFill>
                  <a:srgbClr val="0000FF"/>
                </a:solidFill>
              </a:rPr>
              <a:t>정보공시</a:t>
            </a:r>
            <a:r>
              <a:rPr lang="EN-US" sz="3500" b="1" i="0" u="none" strike="noStrike" spc="-20">
                <a:solidFill>
                  <a:srgbClr val="0000FF"/>
                </a:solidFill>
              </a:rPr>
              <a:t>, </a:t>
            </a:r>
            <a:r>
              <a:rPr sz="3500" b="1" i="0" u="none" strike="noStrike" spc="-20">
                <a:solidFill>
                  <a:srgbClr val="0000FF"/>
                </a:solidFill>
              </a:rPr>
              <a:t>가정통신</a:t>
            </a:r>
            <a:r>
              <a:rPr lang="EN-US" sz="3500" b="1" i="0" u="none" strike="noStrike" spc="-20">
                <a:solidFill>
                  <a:srgbClr val="0000FF"/>
                </a:solidFill>
              </a:rPr>
              <a:t>, </a:t>
            </a:r>
            <a:r>
              <a:rPr sz="3500" b="1" i="0" u="none" strike="noStrike" spc="-40">
                <a:solidFill>
                  <a:srgbClr val="0000FF"/>
                </a:solidFill>
              </a:rPr>
              <a:t>학교</a:t>
            </a:r>
            <a:r>
              <a:rPr lang="ko-KR" altLang="en-US" sz="3500" b="1" i="0" u="none" strike="noStrike" spc="-40">
                <a:solidFill>
                  <a:srgbClr val="0000FF"/>
                </a:solidFill>
              </a:rPr>
              <a:t> </a:t>
            </a:r>
            <a:r>
              <a:rPr sz="3500" b="1" i="0" u="none" strike="noStrike">
                <a:solidFill>
                  <a:srgbClr val="0000FF"/>
                </a:solidFill>
              </a:rPr>
              <a:t>누리집</a:t>
            </a:r>
            <a:r>
              <a:rPr lang="ko-KR" altLang="en-US" sz="3500" b="1" i="0" u="none" strike="noStrike">
                <a:solidFill>
                  <a:srgbClr val="0000FF"/>
                </a:solidFill>
              </a:rPr>
              <a:t> </a:t>
            </a:r>
            <a:r>
              <a:rPr sz="3500" b="1" i="0" u="none" strike="noStrike" spc="-20">
                <a:solidFill>
                  <a:srgbClr val="0000FF"/>
                </a:solidFill>
              </a:rPr>
              <a:t>등을 통해 학생 및 학부모</a:t>
            </a:r>
            <a:r>
              <a:rPr lang="ko-KR" altLang="en-US" sz="3500" b="1" i="0" u="none" strike="noStrike" spc="-20">
                <a:solidFill>
                  <a:srgbClr val="0000FF"/>
                </a:solidFill>
              </a:rPr>
              <a:t> 등 </a:t>
            </a:r>
          </a:p>
          <a:p>
            <a:pPr marL="114300" indent="-1143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500" b="1" i="0" u="none" strike="noStrike" spc="-20">
                <a:solidFill>
                  <a:srgbClr val="0000FF"/>
                </a:solidFill>
              </a:rPr>
              <a:t>      보호자</a:t>
            </a:r>
            <a:r>
              <a:rPr sz="3500" b="1" i="0" u="none" strike="noStrike" spc="-20">
                <a:solidFill>
                  <a:srgbClr val="0000FF"/>
                </a:solidFill>
              </a:rPr>
              <a:t>에</a:t>
            </a:r>
            <a:r>
              <a:rPr sz="3500" b="1" i="0" u="none" strike="noStrike" spc="-10">
                <a:solidFill>
                  <a:srgbClr val="0000FF"/>
                </a:solidFill>
              </a:rPr>
              <a:t>게 </a:t>
            </a:r>
            <a:r>
              <a:rPr lang="ko-KR" altLang="en-US" sz="3500" b="1" i="0" u="none" strike="noStrike" spc="-10">
                <a:solidFill>
                  <a:srgbClr val="0000FF"/>
                </a:solidFill>
              </a:rPr>
              <a:t> </a:t>
            </a:r>
            <a:r>
              <a:rPr sz="3500" b="1" i="0" u="none" strike="noStrike" spc="-10">
                <a:solidFill>
                  <a:srgbClr val="0000FF"/>
                </a:solidFill>
              </a:rPr>
              <a:t>공개</a:t>
            </a:r>
          </a:p>
          <a:p>
            <a:pPr marL="114300" indent="-114300" algn="r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500" b="1" i="0" u="none" strike="noStrike" spc="-10">
                <a:solidFill>
                  <a:srgbClr val="FF0000"/>
                </a:solidFill>
                <a:latin typeface="HY바다L"/>
                <a:ea typeface="HY바다L"/>
              </a:rPr>
              <a:t>※</a:t>
            </a:r>
            <a:r>
              <a:rPr lang="ko-KR" altLang="en-US" sz="3500" b="1" i="0" u="none" strike="noStrike" spc="-10">
                <a:solidFill>
                  <a:srgbClr val="FF0000"/>
                </a:solidFill>
                <a:latin typeface="HY바다L"/>
                <a:ea typeface="HY바다L"/>
              </a:rPr>
              <a:t> 평가 실시 후 평가 계획을 임의 변경하시면 안됩니다</a:t>
            </a:r>
            <a:r>
              <a:rPr lang="en-US" altLang="ko-KR" sz="3500" b="1" i="0" u="none" strike="noStrike" spc="-10">
                <a:solidFill>
                  <a:srgbClr val="FF0000"/>
                </a:solidFill>
                <a:latin typeface="HY바다L"/>
                <a:ea typeface="HY바다L"/>
              </a:rPr>
              <a:t>.</a:t>
            </a:r>
          </a:p>
          <a:p>
            <a:pPr marL="114300" indent="-1143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500" b="1" i="0" u="none" strike="noStrike" spc="-10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590444" y="189141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grpSp>
        <p:nvGrpSpPr>
          <p:cNvPr id="4" name="그룹 1003"/>
          <p:cNvGrpSpPr/>
          <p:nvPr/>
        </p:nvGrpSpPr>
        <p:grpSpPr>
          <a:xfrm>
            <a:off x="304800" y="647700"/>
            <a:ext cx="3276600" cy="19050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838199" y="1028700"/>
            <a:ext cx="2743201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600" b="1" spc="-300">
                <a:latin typeface="+mj-ea"/>
                <a:ea typeface="+mj-ea"/>
              </a:rPr>
              <a:t>수행평가</a:t>
            </a:r>
          </a:p>
        </p:txBody>
      </p:sp>
      <p:sp>
        <p:nvSpPr>
          <p:cNvPr id="9" name="모서리가 둥근 직사각형 63"/>
          <p:cNvSpPr/>
          <p:nvPr/>
        </p:nvSpPr>
        <p:spPr>
          <a:xfrm>
            <a:off x="590444" y="2171700"/>
            <a:ext cx="17104828" cy="6934200"/>
          </a:xfrm>
          <a:prstGeom prst="roundRect">
            <a:avLst>
              <a:gd name="adj" fmla="val 4133"/>
            </a:avLst>
          </a:prstGeom>
          <a:noFill/>
          <a:ln w="38100">
            <a:solidFill>
              <a:srgbClr val="5029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600" latinLnBrk="1">
              <a:defRPr/>
            </a:pPr>
            <a:endParaRPr lang="ko-KR" altLang="en-US" sz="270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685800" y="2242182"/>
            <a:ext cx="16306800" cy="6785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-1143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b="1"/>
              <a:t>1.</a:t>
            </a:r>
            <a:r>
              <a:rPr lang="ko-KR" altLang="en-US" sz="4000" b="1"/>
              <a:t> 하기 전 </a:t>
            </a:r>
            <a:r>
              <a:rPr lang="en-US" altLang="ko-KR" sz="4000" b="1"/>
              <a:t>:</a:t>
            </a:r>
            <a:r>
              <a:rPr lang="ko-KR" altLang="en-US" sz="4000" b="1"/>
              <a:t>  </a:t>
            </a:r>
            <a:r>
              <a:rPr lang="ko-KR" altLang="en-US" sz="4000" b="1">
                <a:solidFill>
                  <a:srgbClr val="0000FF"/>
                </a:solidFill>
              </a:rPr>
              <a:t>ㅅㅂ</a:t>
            </a:r>
            <a:r>
              <a:rPr lang="ko-KR" altLang="en-US" sz="4000" b="1" i="0" u="none" strike="noStrike" spc="-10">
                <a:solidFill>
                  <a:srgbClr val="0000FF"/>
                </a:solidFill>
              </a:rPr>
              <a:t> ㅊㅈㄱㅈ</a:t>
            </a:r>
            <a:r>
              <a:rPr sz="4000" b="1" i="0" u="none" strike="noStrike" spc="-10">
                <a:solidFill>
                  <a:schemeClr val="dk1"/>
                </a:solidFill>
              </a:rPr>
              <a:t>을</a:t>
            </a:r>
            <a:r>
              <a:rPr sz="4000" b="1" i="0" u="none" strike="noStrike" spc="-10">
                <a:solidFill>
                  <a:srgbClr val="0000FF"/>
                </a:solidFill>
              </a:rPr>
              <a:t> </a:t>
            </a:r>
            <a:r>
              <a:rPr lang="ko-KR" altLang="en-US" sz="4000" b="1" i="0" u="none" strike="noStrike" spc="-10">
                <a:solidFill>
                  <a:srgbClr val="0000FF"/>
                </a:solidFill>
              </a:rPr>
              <a:t>학생</a:t>
            </a:r>
            <a:r>
              <a:rPr sz="4000" b="1" i="0" u="none" strike="noStrike" spc="-10">
                <a:solidFill>
                  <a:srgbClr val="000000"/>
                </a:solidFill>
              </a:rPr>
              <a:t>에게 안</a:t>
            </a:r>
            <a:r>
              <a:rPr lang="ko-KR" altLang="en-US" sz="4000" b="1" i="0" u="none" strike="noStrike" spc="-10">
                <a:solidFill>
                  <a:srgbClr val="000000"/>
                </a:solidFill>
              </a:rPr>
              <a:t>내</a:t>
            </a:r>
          </a:p>
          <a:p>
            <a:pPr marL="601185" indent="-457189">
              <a:lnSpc>
                <a:spcPct val="120000"/>
              </a:lnSpc>
              <a:spcBef>
                <a:spcPts val="3000"/>
              </a:spcBef>
              <a:buClr>
                <a:srgbClr val="5151C0"/>
              </a:buClr>
              <a:buFont typeface="Wingdings"/>
              <a:buChar char="Ø"/>
              <a:defRPr/>
            </a:pPr>
            <a:r>
              <a:rPr lang="en-US" altLang="ko-KR" sz="4000" b="1" i="0" u="none" strike="noStrike" spc="-10">
                <a:solidFill>
                  <a:srgbClr val="000000"/>
                </a:solidFill>
              </a:rPr>
              <a:t>2.</a:t>
            </a:r>
            <a:r>
              <a:rPr lang="ko-KR" altLang="en-US" sz="4000" b="1" i="0" u="none" strike="noStrike" spc="-10">
                <a:solidFill>
                  <a:srgbClr val="000000"/>
                </a:solidFill>
              </a:rPr>
              <a:t> 하는 중 </a:t>
            </a:r>
            <a:r>
              <a:rPr lang="en-US" altLang="ko-KR" sz="4000" b="1" i="0" u="none" strike="noStrike" spc="-10">
                <a:solidFill>
                  <a:srgbClr val="000000"/>
                </a:solidFill>
              </a:rPr>
              <a:t>:</a:t>
            </a:r>
            <a:r>
              <a:rPr lang="ko-KR" altLang="en-US" sz="4000" b="1" i="0" u="none" strike="noStrike" spc="-10">
                <a:solidFill>
                  <a:srgbClr val="000000"/>
                </a:solidFill>
              </a:rPr>
              <a:t> </a:t>
            </a:r>
            <a:r>
              <a:rPr lang="ko-KR" altLang="en-US" sz="4000" b="1" spc="-5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직접 관찰하고</a:t>
            </a:r>
            <a:r>
              <a:rPr lang="en-US" altLang="ko-KR" sz="4000" b="1" spc="-5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, </a:t>
            </a:r>
            <a:r>
              <a:rPr lang="ko-KR" altLang="en-US" sz="4000" b="1" spc="-5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그 관찰 결과를 </a:t>
            </a:r>
            <a:r>
              <a:rPr lang="ko-KR" altLang="en-US" sz="4000" b="1" spc="-51">
                <a:solidFill>
                  <a:srgbClr val="0000FF"/>
                </a:solidFill>
                <a:latin typeface="맑은 고딕"/>
                <a:ea typeface="맑은 고딕"/>
              </a:rPr>
              <a:t>ㄱㄹ</a:t>
            </a:r>
            <a:r>
              <a:rPr lang="ko-KR" altLang="en-US" sz="4000" b="1" spc="-5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하기</a:t>
            </a:r>
          </a:p>
          <a:p>
            <a:pPr marL="177800" indent="-1778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b="1" spc="-5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            </a:t>
            </a:r>
            <a:r>
              <a:rPr lang="ko-KR" altLang="en-US" sz="3700" b="1" spc="-5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수행평가 보조부</a:t>
            </a:r>
            <a:r>
              <a:rPr lang="en-US" altLang="ko-KR" sz="3700" b="1" spc="-5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(</a:t>
            </a:r>
            <a:r>
              <a:rPr sz="3700" b="1" i="0" u="none" strike="noStrike" spc="-20"/>
              <a:t>영역별</a:t>
            </a:r>
            <a:r>
              <a:rPr lang="en-US" altLang="ko-KR" sz="3700" b="1" i="0" u="none" strike="noStrike" spc="-20"/>
              <a:t>·</a:t>
            </a:r>
            <a:r>
              <a:rPr sz="3700" b="1" i="0" u="none" strike="noStrike" spc="-20"/>
              <a:t>요소별 채점한 성적일람표의 기초자료</a:t>
            </a:r>
            <a:r>
              <a:rPr lang="en-US" altLang="ko-KR" sz="3700" b="1" i="0" u="none" strike="noStrike" spc="-20"/>
              <a:t>)</a:t>
            </a:r>
            <a:r>
              <a:rPr lang="ko-KR" altLang="en-US" sz="3700" b="1" i="0" u="none" strike="noStrike" spc="-20"/>
              <a:t> 작성</a:t>
            </a:r>
          </a:p>
          <a:p>
            <a:pPr marL="622300" indent="-215900" algn="just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i="0" u="none" strike="noStrike" spc="-10">
                <a:solidFill>
                  <a:srgbClr val="008000"/>
                </a:solidFill>
              </a:rPr>
              <a:t>※</a:t>
            </a:r>
            <a:r>
              <a:rPr lang="ko-KR" altLang="en-US" sz="2800" b="1" i="0" u="none" strike="noStrike" spc="-10">
                <a:solidFill>
                  <a:srgbClr val="008000"/>
                </a:solidFill>
              </a:rPr>
              <a:t> ㄱㅂㅈㅅ</a:t>
            </a:r>
            <a:r>
              <a:rPr sz="2800" b="1" i="0" u="none" strike="noStrike" spc="-10">
                <a:solidFill>
                  <a:srgbClr val="008000"/>
                </a:solidFill>
              </a:rPr>
              <a:t>는 수업과 수행평가에 참여하였으나</a:t>
            </a:r>
            <a:r>
              <a:rPr lang="EN-US" sz="2800" b="1" i="0" u="none" strike="noStrike" spc="-10">
                <a:solidFill>
                  <a:srgbClr val="008000"/>
                </a:solidFill>
              </a:rPr>
              <a:t>, </a:t>
            </a:r>
            <a:r>
              <a:rPr sz="2800" b="1" i="0" u="none" strike="noStrike" spc="-10">
                <a:solidFill>
                  <a:srgbClr val="008000"/>
                </a:solidFill>
              </a:rPr>
              <a:t>산출물이 없는 학생이 받을 수 있는 최소의 점수</a:t>
            </a:r>
            <a:endParaRPr lang="EN-US" sz="2800" b="1" i="0" u="none" strike="noStrike" spc="-10">
              <a:solidFill>
                <a:srgbClr val="008000"/>
              </a:solidFill>
            </a:endParaRPr>
          </a:p>
          <a:p>
            <a:pPr marL="495300" indent="-177800" algn="just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b="1" spc="-5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3.</a:t>
            </a:r>
            <a:r>
              <a:rPr lang="ko-KR" altLang="en-US" sz="4000" b="1" spc="-5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 한 후</a:t>
            </a:r>
            <a:r>
              <a:rPr lang="en-US" altLang="ko-KR" sz="4000" b="1" spc="-5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:</a:t>
            </a:r>
            <a:r>
              <a:rPr lang="ko-KR" altLang="en-US" sz="4000" b="1" spc="-5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sz="4000" b="1" i="0" u="none" strike="noStrike" spc="-10"/>
              <a:t>학생들의 </a:t>
            </a:r>
            <a:r>
              <a:rPr sz="4000" b="1" i="0" u="none" strike="noStrike" spc="-10">
                <a:solidFill>
                  <a:srgbClr val="0000FF"/>
                </a:solidFill>
              </a:rPr>
              <a:t>이의 신청</a:t>
            </a:r>
            <a:r>
              <a:rPr lang="EN-US" sz="4000" b="1" i="0" u="none" strike="noStrike" spc="-10"/>
              <a:t>·</a:t>
            </a:r>
            <a:r>
              <a:rPr sz="4000" b="1" i="0" u="none" strike="noStrike" spc="-10"/>
              <a:t>처리</a:t>
            </a:r>
            <a:r>
              <a:rPr lang="EN-US" sz="4000" b="1" i="0" u="none" strike="noStrike" spc="-10"/>
              <a:t>·</a:t>
            </a:r>
            <a:r>
              <a:rPr sz="4000" b="1" i="0" u="none" strike="noStrike" spc="-10"/>
              <a:t>확인 과정</a:t>
            </a:r>
            <a:r>
              <a:rPr lang="ko-KR" altLang="en-US" sz="4000" b="1" i="0" u="none" strike="noStrike" spc="-10"/>
              <a:t>을 거쳐 나이스에 성적 입력</a:t>
            </a:r>
          </a:p>
          <a:p>
            <a:pPr marL="177800" indent="-1778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4000" b="1" spc="-51">
              <a:solidFill>
                <a:schemeClr val="tx1">
                  <a:lumMod val="85000"/>
                  <a:lumOff val="15000"/>
                </a:schemeClr>
              </a:solidFill>
              <a:latin typeface="맑은 고딕"/>
              <a:ea typeface="맑은 고딕"/>
            </a:endParaRPr>
          </a:p>
          <a:p>
            <a:pPr marL="177800" indent="-1778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b="1" spc="-5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*</a:t>
            </a:r>
            <a:r>
              <a:rPr lang="ko-KR" altLang="en-US" sz="3200" b="1" spc="-5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 학기말에 수행평가 보조부</a:t>
            </a:r>
            <a:r>
              <a:rPr lang="en-US" altLang="ko-KR" sz="3200" b="1" spc="-5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(</a:t>
            </a:r>
            <a:r>
              <a:rPr sz="3200" b="1" i="0" u="none" strike="noStrike" spc="-20"/>
              <a:t>영역별</a:t>
            </a:r>
            <a:r>
              <a:rPr lang="en-US" altLang="ko-KR" sz="3200" b="1" i="0" u="none" strike="noStrike" spc="-20"/>
              <a:t>·</a:t>
            </a:r>
            <a:r>
              <a:rPr sz="3200" b="1" i="0" u="none" strike="noStrike" spc="-20"/>
              <a:t>요소별 채점한 성적일람표의 기초자료</a:t>
            </a:r>
            <a:r>
              <a:rPr lang="en-US" altLang="ko-KR" sz="3200" b="1" i="0" u="none" strike="noStrike" spc="-20"/>
              <a:t>),</a:t>
            </a:r>
            <a:r>
              <a:rPr lang="ko-KR" altLang="en-US" sz="3200" b="1" i="0" u="none" strike="noStrike" spc="-20"/>
              <a:t> </a:t>
            </a:r>
            <a:r>
              <a:rPr sz="3200" b="1" i="0" u="none" strike="noStrike" spc="-20"/>
              <a:t>수행평가 성적일람표</a:t>
            </a:r>
            <a:r>
              <a:rPr lang="ko-KR" altLang="en-US" sz="3200" b="1" i="0" u="none" strike="noStrike" spc="-20"/>
              <a:t> 제출</a:t>
            </a:r>
            <a:r>
              <a:rPr lang="en-US" altLang="ko-KR" sz="3200" b="1" i="0" u="none" strike="noStrike" spc="-20"/>
              <a:t>(</a:t>
            </a:r>
            <a:r>
              <a:rPr lang="ko-KR" altLang="en-US" sz="3200" b="1" i="0" u="none" strike="noStrike" spc="-20"/>
              <a:t>점검 및 보관</a:t>
            </a:r>
            <a:r>
              <a:rPr lang="en-US" altLang="ko-KR" sz="3200" b="1" i="0" u="none" strike="noStrike" spc="-20"/>
              <a:t>(</a:t>
            </a:r>
            <a:r>
              <a:rPr lang="ko-KR" altLang="en-US" sz="3200" b="1" i="0" u="none" strike="noStrike" spc="-20"/>
              <a:t>졸업 후 </a:t>
            </a:r>
            <a:r>
              <a:rPr lang="en-US" altLang="ko-KR" sz="3200" b="1" i="0" u="none" strike="noStrike" spc="-20"/>
              <a:t>1</a:t>
            </a:r>
            <a:r>
              <a:rPr lang="ko-KR" altLang="en-US" sz="3200" b="1" i="0" u="none" strike="noStrike" spc="-20"/>
              <a:t>년 이상</a:t>
            </a:r>
            <a:r>
              <a:rPr lang="en-US" altLang="ko-KR" sz="3200" b="1" i="0" u="none" strike="noStrike" spc="-20"/>
              <a:t>))</a:t>
            </a:r>
            <a:endParaRPr lang="ko-KR" altLang="en-US" sz="3200" b="1" i="0" u="none" strike="noStrike" spc="-20"/>
          </a:p>
        </p:txBody>
      </p:sp>
      <p:sp>
        <p:nvSpPr>
          <p:cNvPr id="1004" name="TextBox 1003"/>
          <p:cNvSpPr txBox="1"/>
          <p:nvPr/>
        </p:nvSpPr>
        <p:spPr>
          <a:xfrm>
            <a:off x="1219200" y="9079230"/>
            <a:ext cx="16383000" cy="788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7700" indent="-228600" algn="r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-</a:t>
            </a:r>
            <a:r>
              <a:rPr lang="ko-KR" altLang="en-US" sz="28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 </a:t>
            </a:r>
            <a:r>
              <a:rPr lang="EN-US" sz="28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‘</a:t>
            </a:r>
            <a:r>
              <a:rPr sz="28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학생 답안지</a:t>
            </a:r>
            <a:r>
              <a:rPr lang="EN-US" sz="28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’</a:t>
            </a:r>
            <a:r>
              <a:rPr lang="en-US" altLang="ko-KR" sz="28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,</a:t>
            </a:r>
            <a:r>
              <a:rPr sz="28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 </a:t>
            </a:r>
            <a:r>
              <a:rPr lang="EN-US" sz="28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‘</a:t>
            </a:r>
            <a:r>
              <a:rPr sz="28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문항정보표와 출제원안지</a:t>
            </a:r>
            <a:r>
              <a:rPr lang="EN-US" sz="28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’ </a:t>
            </a:r>
            <a:r>
              <a:rPr sz="28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등은 </a:t>
            </a:r>
            <a:r>
              <a:rPr lang="ko-KR" altLang="en-US" sz="28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 </a:t>
            </a:r>
            <a:r>
              <a:rPr lang="en-US" altLang="ko-KR" sz="28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5</a:t>
            </a:r>
            <a:r>
              <a:rPr sz="2800" b="1" i="0" u="none" strike="noStrike" spc="-10">
                <a:solidFill>
                  <a:srgbClr val="000000"/>
                </a:solidFill>
                <a:latin typeface="KoPub바탕체 Light"/>
                <a:ea typeface="KoPub바탕체 Light"/>
              </a:rPr>
              <a:t>년간 보관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591586" y="0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grpSp>
        <p:nvGrpSpPr>
          <p:cNvPr id="4" name="그룹 1003"/>
          <p:cNvGrpSpPr/>
          <p:nvPr/>
        </p:nvGrpSpPr>
        <p:grpSpPr>
          <a:xfrm>
            <a:off x="0" y="0"/>
            <a:ext cx="3276600" cy="13335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228600" y="240030"/>
            <a:ext cx="2743201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600" b="1" spc="-300">
                <a:latin typeface="+mj-ea"/>
                <a:ea typeface="+mj-ea"/>
              </a:rPr>
              <a:t>정기시험</a:t>
            </a:r>
          </a:p>
        </p:txBody>
      </p:sp>
      <p:sp>
        <p:nvSpPr>
          <p:cNvPr id="9" name="모서리가 둥근 직사각형 63"/>
          <p:cNvSpPr/>
          <p:nvPr/>
        </p:nvSpPr>
        <p:spPr>
          <a:xfrm>
            <a:off x="344972" y="1104900"/>
            <a:ext cx="17104828" cy="8763000"/>
          </a:xfrm>
          <a:prstGeom prst="roundRect">
            <a:avLst>
              <a:gd name="adj" fmla="val 4133"/>
            </a:avLst>
          </a:prstGeom>
          <a:noFill/>
          <a:ln w="38100">
            <a:solidFill>
              <a:srgbClr val="5029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600" latinLnBrk="1">
              <a:defRPr/>
            </a:pPr>
            <a:endParaRPr lang="ko-KR" altLang="en-US" sz="270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381000" y="1192527"/>
            <a:ext cx="17145000" cy="7720968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63500" marR="63500" lvl="1" indent="0" algn="just">
              <a:lnSpc>
                <a:spcPct val="199000"/>
              </a:lnSpc>
              <a:spcBef>
                <a:spcPts val="0"/>
              </a:spcBef>
              <a:buClr>
                <a:srgbClr val="7F7F7F"/>
              </a:buClr>
              <a:buFont typeface="Wingdings"/>
              <a:buNone/>
              <a:defRPr/>
            </a:pPr>
            <a:r>
              <a:rPr sz="3600" b="1">
                <a:solidFill>
                  <a:schemeClr val="tx1"/>
                </a:solidFill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 sz="3600" b="1">
                <a:solidFill>
                  <a:schemeClr val="tx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3600" b="1">
                <a:solidFill>
                  <a:schemeClr val="tx1"/>
                </a:solidFill>
              </a:rPr>
              <a:t>평가 시 유의사항 및 보안 교</a:t>
            </a:r>
            <a:r>
              <a:rPr lang="ko-KR" altLang="en-US" sz="3600" b="1">
                <a:solidFill>
                  <a:srgbClr val="0000FF"/>
                </a:solidFill>
              </a:rPr>
              <a:t>직</a:t>
            </a:r>
            <a:r>
              <a:rPr lang="ko-KR" altLang="en-US" sz="3600" b="1">
                <a:solidFill>
                  <a:schemeClr val="tx1"/>
                </a:solidFill>
              </a:rPr>
              <a:t>원 연수</a:t>
            </a:r>
            <a:r>
              <a:rPr lang="en-US" altLang="ko-KR" sz="3600" b="1">
                <a:solidFill>
                  <a:schemeClr val="tx1"/>
                </a:solidFill>
              </a:rPr>
              <a:t>,</a:t>
            </a:r>
            <a:r>
              <a:rPr lang="ko-KR" altLang="en-US" sz="3600" b="1">
                <a:solidFill>
                  <a:schemeClr val="tx1"/>
                </a:solidFill>
              </a:rPr>
              <a:t> 학생 교육</a:t>
            </a:r>
          </a:p>
          <a:p>
            <a:pPr marL="0" marR="63500" indent="0">
              <a:lnSpc>
                <a:spcPct val="199000"/>
              </a:lnSpc>
              <a:spcBef>
                <a:spcPts val="0"/>
              </a:spcBef>
              <a:buFont typeface="Wingdings"/>
              <a:buNone/>
              <a:defRPr/>
            </a:pPr>
            <a:r>
              <a:rPr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계획된 </a:t>
            </a:r>
            <a:r>
              <a:rPr lang="ko-KR" altLang="en-US" sz="3600" b="1" spc="-90">
                <a:solidFill>
                  <a:schemeClr val="tx1"/>
                </a:solidFill>
                <a:latin typeface="+mj-ea"/>
                <a:ea typeface="+mj-ea"/>
              </a:rPr>
              <a:t>서</a:t>
            </a:r>
            <a:r>
              <a:rPr lang="en-US" altLang="ko-KR" sz="3600" b="1" spc="-9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3600" b="1" spc="-90">
                <a:solidFill>
                  <a:schemeClr val="tx1"/>
                </a:solidFill>
                <a:latin typeface="+mj-ea"/>
                <a:ea typeface="+mj-ea"/>
              </a:rPr>
              <a:t>논</a:t>
            </a:r>
            <a:r>
              <a:rPr lang="ko-KR" altLang="ko-KR" sz="3600" b="1" spc="-90">
                <a:solidFill>
                  <a:schemeClr val="tx1"/>
                </a:solidFill>
                <a:latin typeface="+mj-ea"/>
                <a:ea typeface="+mj-ea"/>
              </a:rPr>
              <a:t>술형 평가</a:t>
            </a:r>
            <a:r>
              <a:rPr lang="en-US" altLang="ko-KR" sz="3600" b="1" spc="-9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3600" b="1" spc="-90">
                <a:solidFill>
                  <a:schemeClr val="tx1"/>
                </a:solidFill>
                <a:latin typeface="+mj-ea"/>
                <a:ea typeface="+mj-ea"/>
              </a:rPr>
              <a:t>비율</a:t>
            </a:r>
            <a:r>
              <a:rPr lang="en-US" altLang="ko-KR" sz="3600" b="1" spc="-90">
                <a:solidFill>
                  <a:schemeClr val="tx1"/>
                </a:solidFill>
                <a:latin typeface="+mj-ea"/>
                <a:ea typeface="+mj-ea"/>
              </a:rPr>
              <a:t>,</a:t>
            </a:r>
            <a:r>
              <a:rPr lang="ko-KR" altLang="en-US" sz="3600" b="1" spc="-90">
                <a:solidFill>
                  <a:schemeClr val="tx1"/>
                </a:solidFill>
                <a:latin typeface="+mj-ea"/>
                <a:ea typeface="+mj-ea"/>
              </a:rPr>
              <a:t> 성취기준 등으</a:t>
            </a:r>
            <a:r>
              <a:rPr lang="ko-KR" altLang="en-US" sz="3600" b="1" spc="-90">
                <a:solidFill>
                  <a:srgbClr val="000000"/>
                </a:solidFill>
                <a:latin typeface="+mj-ea"/>
                <a:ea typeface="+mj-ea"/>
              </a:rPr>
              <a:t>로 출제</a:t>
            </a:r>
          </a:p>
          <a:p>
            <a:pPr marL="0" marR="63500" indent="0">
              <a:lnSpc>
                <a:spcPct val="199000"/>
              </a:lnSpc>
              <a:spcBef>
                <a:spcPts val="0"/>
              </a:spcBef>
              <a:buFont typeface="Wingdings"/>
              <a:buNone/>
              <a:defRPr/>
            </a:pPr>
            <a:r>
              <a:rPr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3600" b="1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공동 출제</a:t>
            </a:r>
            <a:r>
              <a:rPr lang="ko-KR" altLang="en-US" sz="3600" b="1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및 검토 교사 간 </a:t>
            </a:r>
            <a:r>
              <a:rPr lang="ko-KR" altLang="en-US"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문항 오류 예방</a:t>
            </a:r>
          </a:p>
          <a:p>
            <a:pPr marL="152400" marR="63500" indent="-152400" algn="just">
              <a:lnSpc>
                <a:spcPct val="199000"/>
              </a:lnSpc>
              <a:spcBef>
                <a:spcPts val="0"/>
              </a:spcBef>
              <a:defRPr/>
            </a:pPr>
            <a:r>
              <a:rPr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시험범위 중 일부 내용 </a:t>
            </a:r>
            <a:r>
              <a:rPr sz="3600" b="1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학습</a:t>
            </a:r>
            <a:r>
              <a:rPr lang="en-US" altLang="ko-KR" sz="3600" b="1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</a:t>
            </a:r>
            <a:r>
              <a:rPr lang="ko-KR" altLang="en-US" sz="3600" b="1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학습지 등</a:t>
            </a:r>
            <a:r>
              <a:rPr lang="en-US" altLang="ko-KR" sz="3600" b="1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)</a:t>
            </a:r>
            <a:r>
              <a:rPr sz="3600" b="1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이 누락된 학급</a:t>
            </a:r>
            <a:r>
              <a:rPr lang="en-US" altLang="ko-KR" sz="3600" b="1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,</a:t>
            </a:r>
            <a:r>
              <a:rPr lang="ko-KR" altLang="en-US" sz="3600" b="1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학생</a:t>
            </a:r>
            <a:r>
              <a:rPr sz="3600" b="1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여부</a:t>
            </a:r>
          </a:p>
          <a:p>
            <a:pPr marL="152400" marR="63500" indent="-152400" algn="just">
              <a:lnSpc>
                <a:spcPct val="199000"/>
              </a:lnSpc>
              <a:spcBef>
                <a:spcPts val="0"/>
              </a:spcBef>
              <a:defRPr/>
            </a:pPr>
            <a:r>
              <a:rPr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인쇄된 문제지 및 학생 답안지를 봉철 시 앞뒤 </a:t>
            </a:r>
            <a:r>
              <a:rPr sz="3600" b="1" spc="2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인쇄 상태</a:t>
            </a:r>
            <a:r>
              <a:rPr lang="en-US" altLang="ko-KR" sz="3600" b="1" spc="2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,</a:t>
            </a:r>
            <a:r>
              <a:rPr lang="ko-KR" altLang="en-US" sz="3600" b="1" spc="2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페이지 누락 등</a:t>
            </a:r>
          </a:p>
          <a:p>
            <a:pPr marL="152400" marR="63500" indent="-152400" algn="just">
              <a:lnSpc>
                <a:spcPct val="199000"/>
              </a:lnSpc>
              <a:spcBef>
                <a:spcPts val="0"/>
              </a:spcBef>
              <a:defRPr/>
            </a:pPr>
            <a:r>
              <a:rPr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 </a:t>
            </a:r>
            <a:r>
              <a:rPr sz="3600" b="1" spc="-10"/>
              <a:t>서</a:t>
            </a:r>
            <a:r>
              <a:rPr lang="EN-US" sz="3600" b="1" spc="-10"/>
              <a:t>·</a:t>
            </a:r>
            <a:r>
              <a:rPr sz="3600" b="1" spc="-10"/>
              <a:t>논술형 평가 채점</a:t>
            </a:r>
            <a:r>
              <a:rPr lang="ko-KR" altLang="en-US" sz="3600" b="1" spc="-10"/>
              <a:t>은</a:t>
            </a:r>
            <a:r>
              <a:rPr sz="3600" b="1" spc="-10"/>
              <a:t> </a:t>
            </a:r>
            <a:r>
              <a:rPr lang="EN-US" sz="3600" b="1" spc="-10"/>
              <a:t>1</a:t>
            </a:r>
            <a:r>
              <a:rPr sz="3600" b="1" spc="-10"/>
              <a:t>차</a:t>
            </a:r>
            <a:r>
              <a:rPr lang="EN-US" sz="3600" b="1" spc="-10"/>
              <a:t>(</a:t>
            </a:r>
            <a:r>
              <a:rPr sz="3600" b="1" spc="-10"/>
              <a:t>교과 담당교사 공동 초검</a:t>
            </a:r>
            <a:r>
              <a:rPr lang="EN-US" sz="3600" b="1" spc="-10"/>
              <a:t>)·2</a:t>
            </a:r>
            <a:r>
              <a:rPr sz="3600" b="1" spc="-10"/>
              <a:t>차</a:t>
            </a:r>
            <a:r>
              <a:rPr lang="EN-US" sz="3600" b="1" spc="-10"/>
              <a:t>(</a:t>
            </a:r>
            <a:r>
              <a:rPr sz="3600" b="1" spc="-10"/>
              <a:t>교과 담당교사 공동 재검</a:t>
            </a:r>
            <a:r>
              <a:rPr lang="EN-US" sz="3600" b="1" spc="-10"/>
              <a:t>)</a:t>
            </a:r>
            <a:r>
              <a:rPr sz="3600" b="1" spc="-10"/>
              <a:t>로 실시하고</a:t>
            </a:r>
            <a:r>
              <a:rPr lang="en-US" altLang="ko-KR" sz="3600" b="1" spc="-10"/>
              <a:t>,</a:t>
            </a:r>
            <a:r>
              <a:rPr sz="3600" b="1" spc="-10"/>
              <a:t> 채점 기준 수정 시 절차</a:t>
            </a:r>
            <a:r>
              <a:rPr lang="ko-KR" altLang="en-US" sz="3600" b="1" spc="-10"/>
              <a:t>를 준수</a:t>
            </a:r>
            <a:endParaRPr lang="ko-KR" altLang="en-US" sz="3600" b="1" spc="-10">
              <a:solidFill>
                <a:srgbClr val="000000"/>
              </a:solidFill>
              <a:latin typeface="KoPub돋움체 Bold"/>
              <a:ea typeface="KoPub돋움체 Bold"/>
            </a:endParaRPr>
          </a:p>
        </p:txBody>
      </p:sp>
      <p:sp>
        <p:nvSpPr>
          <p:cNvPr id="1004" name="TextBox 1003"/>
          <p:cNvSpPr txBox="1"/>
          <p:nvPr/>
        </p:nvSpPr>
        <p:spPr>
          <a:xfrm>
            <a:off x="4267200" y="6179820"/>
            <a:ext cx="9144000" cy="495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1005" name="TextBox 1004"/>
          <p:cNvSpPr txBox="1"/>
          <p:nvPr/>
        </p:nvSpPr>
        <p:spPr>
          <a:xfrm>
            <a:off x="4572000" y="4635341"/>
            <a:ext cx="9144000" cy="553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-114300" algn="just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1006" name="TextBox 1005"/>
          <p:cNvSpPr txBox="1"/>
          <p:nvPr/>
        </p:nvSpPr>
        <p:spPr>
          <a:xfrm>
            <a:off x="990600" y="8420100"/>
            <a:ext cx="9144000" cy="550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-114300" algn="just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590444" y="189141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grpSp>
        <p:nvGrpSpPr>
          <p:cNvPr id="4" name="그룹 1003"/>
          <p:cNvGrpSpPr/>
          <p:nvPr/>
        </p:nvGrpSpPr>
        <p:grpSpPr>
          <a:xfrm>
            <a:off x="0" y="0"/>
            <a:ext cx="3276600" cy="13335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228600" y="240030"/>
            <a:ext cx="2743201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600" b="1" spc="-300">
                <a:latin typeface="+mj-ea"/>
                <a:ea typeface="+mj-ea"/>
              </a:rPr>
              <a:t>정기시험</a:t>
            </a:r>
          </a:p>
        </p:txBody>
      </p:sp>
      <p:sp>
        <p:nvSpPr>
          <p:cNvPr id="9" name="모서리가 둥근 직사각형 63"/>
          <p:cNvSpPr/>
          <p:nvPr/>
        </p:nvSpPr>
        <p:spPr>
          <a:xfrm>
            <a:off x="344972" y="1104900"/>
            <a:ext cx="17104828" cy="8763000"/>
          </a:xfrm>
          <a:prstGeom prst="roundRect">
            <a:avLst>
              <a:gd name="adj" fmla="val 4133"/>
            </a:avLst>
          </a:prstGeom>
          <a:noFill/>
          <a:ln w="38100">
            <a:solidFill>
              <a:srgbClr val="5029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600" latinLnBrk="1">
              <a:defRPr/>
            </a:pPr>
            <a:endParaRPr lang="ko-KR" altLang="en-US" sz="270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381000" y="1192529"/>
            <a:ext cx="16687800" cy="778764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152400" marR="63500" indent="-152400" algn="just">
              <a:lnSpc>
                <a:spcPct val="199000"/>
              </a:lnSpc>
              <a:spcBef>
                <a:spcPts val="0"/>
              </a:spcBef>
              <a:defRPr/>
            </a:pPr>
            <a:r>
              <a:rPr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 </a:t>
            </a:r>
            <a:r>
              <a:rPr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문제지와 </a:t>
            </a:r>
            <a:r>
              <a:rPr lang="ko-KR" altLang="en-US"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학생</a:t>
            </a:r>
            <a:r>
              <a:rPr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답안지는 평가 본부에서 수령 </a:t>
            </a:r>
          </a:p>
          <a:p>
            <a:pPr marL="152400" marR="63500" indent="-152400" algn="just">
              <a:lnSpc>
                <a:spcPct val="199000"/>
              </a:lnSpc>
              <a:spcBef>
                <a:spcPts val="0"/>
              </a:spcBef>
              <a:defRPr/>
            </a:pPr>
            <a:r>
              <a:rPr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시험</a:t>
            </a:r>
            <a:r>
              <a:rPr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이 끝난 즉시 </a:t>
            </a:r>
            <a:r>
              <a:rPr lang="ko-KR" altLang="en-US"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학생답안지 및  교환</a:t>
            </a:r>
            <a:r>
              <a:rPr lang="en-US" altLang="ko-KR"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·</a:t>
            </a:r>
            <a:r>
              <a:rPr lang="ko-KR" altLang="en-US"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폐기</a:t>
            </a:r>
            <a:r>
              <a:rPr lang="en-US" altLang="ko-KR"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·</a:t>
            </a:r>
            <a:r>
              <a:rPr lang="ko-KR" altLang="en-US"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여분 학생답안지도 제출</a:t>
            </a:r>
          </a:p>
          <a:p>
            <a:pPr marL="152400" marR="63500" indent="-152400" algn="just">
              <a:lnSpc>
                <a:spcPct val="199000"/>
              </a:lnSpc>
              <a:spcBef>
                <a:spcPts val="0"/>
              </a:spcBef>
              <a:defRPr/>
            </a:pPr>
            <a:r>
              <a:rPr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문제</a:t>
            </a:r>
            <a:r>
              <a:rPr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지 </a:t>
            </a:r>
            <a:r>
              <a:rPr lang="ko-KR" altLang="en-US"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및 학생 답안지 </a:t>
            </a:r>
            <a:r>
              <a:rPr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배부 착오</a:t>
            </a:r>
            <a:r>
              <a:rPr lang="EN-US"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</a:t>
            </a:r>
            <a:r>
              <a:rPr lang="ko-KR" altLang="en-US"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문제</a:t>
            </a:r>
            <a:r>
              <a:rPr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지 누락</a:t>
            </a:r>
            <a:r>
              <a:rPr lang="EN-US"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, </a:t>
            </a:r>
            <a:r>
              <a:rPr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다른 과목 </a:t>
            </a:r>
            <a:r>
              <a:rPr lang="ko-KR" altLang="en-US"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문제</a:t>
            </a:r>
            <a:r>
              <a:rPr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지 배부 등</a:t>
            </a:r>
            <a:r>
              <a:rPr lang="EN-US"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)</a:t>
            </a:r>
            <a:r>
              <a:rPr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를 주</a:t>
            </a:r>
            <a:r>
              <a:rPr lang="ko-KR" altLang="en-US" sz="3600" b="1" spc="-3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의</a:t>
            </a:r>
          </a:p>
          <a:p>
            <a:pPr marL="152400" marR="63500" indent="-152400" algn="just">
              <a:lnSpc>
                <a:spcPct val="199000"/>
              </a:lnSpc>
              <a:spcBef>
                <a:spcPts val="0"/>
              </a:spcBef>
              <a:defRPr/>
            </a:pPr>
            <a:r>
              <a:rPr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 </a:t>
            </a:r>
            <a:r>
              <a:rPr sz="3600" b="1" spc="-50">
                <a:solidFill>
                  <a:srgbClr val="0000FF"/>
                </a:solidFill>
                <a:latin typeface="함초롬돋움"/>
                <a:ea typeface="함초롬돋움"/>
                <a:cs typeface="함초롬돋움"/>
              </a:rPr>
              <a:t>종료령이 울린 후에는 답안지를 작성</a:t>
            </a:r>
            <a:r>
              <a:rPr sz="3600" b="1" spc="-5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하거나 마킹하지 않도록 </a:t>
            </a:r>
            <a:r>
              <a:rPr lang="ko-KR" altLang="en-US" sz="3600" b="1" spc="-5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사전 안내 및 </a:t>
            </a:r>
            <a:r>
              <a:rPr sz="3600" b="1" spc="-5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지도</a:t>
            </a:r>
          </a:p>
          <a:p>
            <a:pPr marL="152400" marR="63500" indent="-152400" algn="just">
              <a:lnSpc>
                <a:spcPct val="199000"/>
              </a:lnSpc>
              <a:spcBef>
                <a:spcPts val="0"/>
              </a:spcBef>
              <a:defRPr/>
            </a:pPr>
            <a:r>
              <a:rPr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 </a:t>
            </a:r>
            <a:r>
              <a:rPr sz="3600" b="1" spc="-8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답안지 인계인수 시 반드시 매수 등을 철저히 확인하여 차후의 문제 발생 예방</a:t>
            </a:r>
          </a:p>
          <a:p>
            <a:pPr marL="114300" marR="63500" indent="-114300" algn="just">
              <a:lnSpc>
                <a:spcPct val="199000"/>
              </a:lnSpc>
              <a:spcBef>
                <a:spcPts val="500"/>
              </a:spcBef>
              <a:defRPr/>
            </a:pPr>
            <a:r>
              <a:rPr sz="3600" b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 </a:t>
            </a:r>
            <a:r>
              <a:rPr sz="3600" b="1" spc="-10">
                <a:solidFill>
                  <a:srgbClr val="000000"/>
                </a:solidFill>
                <a:latin typeface="KoPub돋움체 Bold"/>
                <a:ea typeface="KoPub돋움체 Bold"/>
              </a:rPr>
              <a:t>사안 발생</a:t>
            </a:r>
            <a:r>
              <a:rPr lang="EN-US" sz="3600" b="1" spc="-10">
                <a:solidFill>
                  <a:srgbClr val="000000"/>
                </a:solidFill>
                <a:latin typeface="KoPub돋움체 Bold"/>
                <a:ea typeface="KoPub돋움체 Bold"/>
              </a:rPr>
              <a:t>(&lt;</a:t>
            </a:r>
            <a:r>
              <a:rPr sz="3600" b="1" spc="-10">
                <a:solidFill>
                  <a:srgbClr val="000000"/>
                </a:solidFill>
                <a:latin typeface="KoPub돋움체 Bold"/>
                <a:ea typeface="KoPub돋움체 Bold"/>
              </a:rPr>
              <a:t>예</a:t>
            </a:r>
            <a:r>
              <a:rPr lang="EN-US" sz="3600" b="1" spc="-10">
                <a:solidFill>
                  <a:srgbClr val="000000"/>
                </a:solidFill>
                <a:latin typeface="KoPub돋움체 Bold"/>
                <a:ea typeface="KoPub돋움체 Bold"/>
              </a:rPr>
              <a:t>&gt;</a:t>
            </a:r>
            <a:r>
              <a:rPr lang="ko-KR" altLang="en-US" sz="3600" b="1" spc="-10">
                <a:solidFill>
                  <a:srgbClr val="0000FF"/>
                </a:solidFill>
                <a:latin typeface="KoPub돋움체 Bold"/>
                <a:ea typeface="KoPub돋움체 Bold"/>
              </a:rPr>
              <a:t>이의신청서</a:t>
            </a:r>
            <a:r>
              <a:rPr sz="3600" b="1" spc="-10">
                <a:solidFill>
                  <a:srgbClr val="000000"/>
                </a:solidFill>
                <a:latin typeface="KoPub돋움체 Bold"/>
                <a:ea typeface="KoPub돋움체 Bold"/>
              </a:rPr>
              <a:t> 접수</a:t>
            </a:r>
            <a:r>
              <a:rPr lang="EN-US" sz="3600" b="1" spc="-10">
                <a:solidFill>
                  <a:srgbClr val="000000"/>
                </a:solidFill>
                <a:latin typeface="KoPub돋움체 Bold"/>
                <a:ea typeface="KoPub돋움체 Bold"/>
              </a:rPr>
              <a:t>, </a:t>
            </a:r>
            <a:r>
              <a:rPr lang="ko-KR" altLang="en-US" sz="3600" b="1" spc="-10">
                <a:solidFill>
                  <a:srgbClr val="0000FF"/>
                </a:solidFill>
                <a:latin typeface="KoPub돋움체 Bold"/>
                <a:ea typeface="KoPub돋움체 Bold"/>
              </a:rPr>
              <a:t>ㅁㅎㅇㄹ</a:t>
            </a:r>
            <a:r>
              <a:rPr sz="3600" b="1" spc="-10">
                <a:solidFill>
                  <a:srgbClr val="000000"/>
                </a:solidFill>
                <a:latin typeface="KoPub돋움체 Bold"/>
                <a:ea typeface="KoPub돋움체 Bold"/>
              </a:rPr>
              <a:t>로 </a:t>
            </a:r>
            <a:r>
              <a:rPr sz="3600" b="1" spc="-10">
                <a:solidFill>
                  <a:srgbClr val="0000FF"/>
                </a:solidFill>
                <a:latin typeface="KoPub돋움체 Bold"/>
                <a:ea typeface="KoPub돋움체 Bold"/>
              </a:rPr>
              <a:t>재시험</a:t>
            </a:r>
            <a:r>
              <a:rPr sz="3600" b="1" spc="-10">
                <a:solidFill>
                  <a:srgbClr val="000000"/>
                </a:solidFill>
                <a:latin typeface="KoPub돋움체 Bold"/>
                <a:ea typeface="KoPub돋움체 Bold"/>
              </a:rPr>
              <a:t> 등</a:t>
            </a:r>
            <a:r>
              <a:rPr lang="EN-US" sz="3600" b="1" spc="-10">
                <a:solidFill>
                  <a:srgbClr val="000000"/>
                </a:solidFill>
                <a:latin typeface="KoPub돋움체 Bold"/>
                <a:ea typeface="KoPub돋움체 Bold"/>
              </a:rPr>
              <a:t>) </a:t>
            </a:r>
            <a:r>
              <a:rPr sz="3600" b="1" spc="-10">
                <a:solidFill>
                  <a:srgbClr val="000000"/>
                </a:solidFill>
                <a:latin typeface="KoPub돋움체 Bold"/>
                <a:ea typeface="KoPub돋움체 Bold"/>
              </a:rPr>
              <a:t>시 교과협의록을 작성</a:t>
            </a:r>
            <a:r>
              <a:rPr lang="en-US" altLang="ko-KR" sz="3600" b="1" spc="-10">
                <a:solidFill>
                  <a:srgbClr val="000000"/>
                </a:solidFill>
                <a:latin typeface="KoPub돋움체 Bold"/>
                <a:ea typeface="KoPub돋움체 Bold"/>
              </a:rPr>
              <a:t>·</a:t>
            </a:r>
            <a:r>
              <a:rPr lang="ko-KR" altLang="en-US" sz="3600" b="1" spc="-10">
                <a:solidFill>
                  <a:srgbClr val="000000"/>
                </a:solidFill>
                <a:latin typeface="KoPub돋움체 Bold"/>
                <a:ea typeface="KoPub돋움체 Bold"/>
              </a:rPr>
              <a:t>보관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4267200" y="6179820"/>
            <a:ext cx="9144000" cy="495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1005" name="TextBox 1004"/>
          <p:cNvSpPr txBox="1"/>
          <p:nvPr/>
        </p:nvSpPr>
        <p:spPr>
          <a:xfrm>
            <a:off x="4572000" y="4635341"/>
            <a:ext cx="9144000" cy="553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-114300" algn="just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1006" name="TextBox 1005"/>
          <p:cNvSpPr txBox="1"/>
          <p:nvPr/>
        </p:nvSpPr>
        <p:spPr>
          <a:xfrm>
            <a:off x="990600" y="8420100"/>
            <a:ext cx="9144000" cy="550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-114300" algn="just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590444" y="189141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grpSp>
        <p:nvGrpSpPr>
          <p:cNvPr id="4" name="그룹 1003"/>
          <p:cNvGrpSpPr/>
          <p:nvPr/>
        </p:nvGrpSpPr>
        <p:grpSpPr>
          <a:xfrm>
            <a:off x="380999" y="647699"/>
            <a:ext cx="6705601" cy="1905000"/>
            <a:chOff x="359228" y="1585885"/>
            <a:chExt cx="7740117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359228" y="1585885"/>
              <a:ext cx="7740117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685798" y="876300"/>
            <a:ext cx="6248402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600" b="1" spc="-300">
                <a:latin typeface="+mj-ea"/>
                <a:ea typeface="+mj-ea"/>
              </a:rPr>
              <a:t>통신</a:t>
            </a:r>
            <a:r>
              <a:rPr lang="en-US" altLang="ko-KR" sz="4600" b="1" spc="-300">
                <a:latin typeface="+mj-ea"/>
                <a:ea typeface="+mj-ea"/>
              </a:rPr>
              <a:t>·</a:t>
            </a:r>
            <a:r>
              <a:rPr lang="ko-KR" altLang="en-US" sz="4600" b="1" spc="-300">
                <a:latin typeface="+mj-ea"/>
                <a:ea typeface="+mj-ea"/>
              </a:rPr>
              <a:t>전자기기 소지 금지</a:t>
            </a:r>
          </a:p>
        </p:txBody>
      </p:sp>
      <p:sp>
        <p:nvSpPr>
          <p:cNvPr id="9" name="모서리가 둥근 직사각형 63"/>
          <p:cNvSpPr/>
          <p:nvPr/>
        </p:nvSpPr>
        <p:spPr>
          <a:xfrm>
            <a:off x="590444" y="2171700"/>
            <a:ext cx="17104828" cy="6934200"/>
          </a:xfrm>
          <a:prstGeom prst="roundRect">
            <a:avLst>
              <a:gd name="adj" fmla="val 4133"/>
            </a:avLst>
          </a:prstGeom>
          <a:noFill/>
          <a:ln w="38100">
            <a:solidFill>
              <a:srgbClr val="5029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600" latinLnBrk="1">
              <a:defRPr/>
            </a:pPr>
            <a:endParaRPr lang="ko-KR" altLang="en-US" sz="270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838200" y="2004059"/>
            <a:ext cx="16611600" cy="2834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defRPr/>
            </a:pPr>
            <a:r>
              <a:rPr lang="ko-KR" altLang="en-US" sz="4000" b="1" kern="0" spc="-3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통신</a:t>
            </a:r>
            <a:r>
              <a:rPr lang="en-US" altLang="ko-KR" sz="4000" b="1" kern="0" spc="-3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·</a:t>
            </a:r>
            <a:r>
              <a:rPr lang="ko-KR" altLang="en-US" sz="4000" b="1" kern="0" spc="-3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전자기기를 </a:t>
            </a:r>
            <a:r>
              <a:rPr lang="ko-KR" altLang="en-US" sz="4000" b="1" kern="0" spc="-30">
                <a:solidFill>
                  <a:srgbClr val="0000FF"/>
                </a:solidFill>
                <a:effectLst/>
                <a:latin typeface="함초롬돋움"/>
                <a:ea typeface="함초롬돋움"/>
                <a:cs typeface="함초롬돋움"/>
              </a:rPr>
              <a:t>소지</a:t>
            </a:r>
            <a:r>
              <a:rPr lang="ko-KR" altLang="en-US" sz="4000" b="1" kern="0" spc="-3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하였다고 판단할 수 있는 수험자와 기기 간의 물리적 거리나 정황 등을</a:t>
            </a:r>
            <a:r>
              <a:rPr lang="ko-KR" altLang="en-US" sz="4000" b="1" kern="0" spc="-6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 종합적으로 고려하여 학업성적관리위원회 심의를 통해 결정할 수 있음</a:t>
            </a:r>
            <a:r>
              <a:rPr lang="en-US" altLang="ko-KR" sz="4000" b="1" kern="0" spc="-6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 sz="4000" b="1" kern="0" spc="-6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04" name="TextBox 1003"/>
          <p:cNvSpPr txBox="1"/>
          <p:nvPr/>
        </p:nvSpPr>
        <p:spPr>
          <a:xfrm>
            <a:off x="1066799" y="4686300"/>
            <a:ext cx="16154400" cy="3989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200" b="0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※ 부정행위로 처리할 수 있는 예시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200" b="0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 </a:t>
            </a:r>
            <a:r>
              <a:rPr lang="EN-US" sz="3200" b="0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 </a:t>
            </a:r>
            <a:r>
              <a:rPr sz="3200" b="0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옷에 넣은 상</a:t>
            </a:r>
            <a:r>
              <a:rPr lang="ko-KR" altLang="en-US" sz="3200" b="0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3200" b="0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태로 몸에 지닌 경우 </a:t>
            </a:r>
            <a:r>
              <a:rPr lang="ko-KR" altLang="en-US" sz="3200" b="0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      </a:t>
            </a:r>
            <a:r>
              <a:rPr lang="EN-US" sz="3200" b="0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 </a:t>
            </a:r>
            <a:r>
              <a:rPr sz="3200" b="0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책상에 걸어놓은 가방 속에 넣어둔 경우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200" b="0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 </a:t>
            </a:r>
            <a:r>
              <a:rPr lang="EN-US" sz="3200" b="0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 </a:t>
            </a:r>
            <a:r>
              <a:rPr sz="3200" b="0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화장실에 두었다가 사용한 경우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200" b="0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 </a:t>
            </a:r>
            <a:r>
              <a:rPr lang="EN-US" sz="3200" b="0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 </a:t>
            </a:r>
            <a:r>
              <a:rPr sz="3200" b="0" i="0" u="none" strike="noStrike" spc="-150">
                <a:solidFill>
                  <a:schemeClr val="tx1"/>
                </a:solidFill>
                <a:latin typeface="함초롬돋움"/>
                <a:ea typeface="함초롬돋움"/>
                <a:cs typeface="함초롬돋움"/>
              </a:rPr>
              <a:t>정기시험</a:t>
            </a:r>
            <a:r>
              <a:rPr sz="3200" b="0" i="0" u="none" strike="noStrike" spc="-15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실 책상 서랍 안이나 시험 진행 중 학생이 임의로 기기를 조작할 수 있는 범위에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200" b="0" i="0" u="none" strike="noStrike" spc="-15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3200" b="0" i="0" u="none" strike="noStrike" spc="-15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    </a:t>
            </a:r>
            <a:r>
              <a:rPr sz="3200" b="0" i="0" u="none" strike="noStrike" spc="-15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있는 경우 등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6" y="1004597"/>
            <a:ext cx="17501944" cy="9025239"/>
            <a:chOff x="391886" y="1004597"/>
            <a:chExt cx="17501944" cy="9025239"/>
          </a:xfrm>
          <a:solidFill>
            <a:schemeClr val="accent3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590444" y="189141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grpSp>
        <p:nvGrpSpPr>
          <p:cNvPr id="4" name="그룹 1003"/>
          <p:cNvGrpSpPr/>
          <p:nvPr/>
        </p:nvGrpSpPr>
        <p:grpSpPr>
          <a:xfrm>
            <a:off x="304800" y="647700"/>
            <a:ext cx="4724400" cy="1905000"/>
            <a:chOff x="221620" y="1585885"/>
            <a:chExt cx="8531720" cy="1820749"/>
          </a:xfrm>
        </p:grpSpPr>
        <p:pic>
          <p:nvPicPr>
            <p:cNvPr id="5" name="Object 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221620" y="1585885"/>
              <a:ext cx="8531720" cy="182074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838199" y="1028700"/>
            <a:ext cx="4267201" cy="78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600" b="1" spc="-300">
                <a:latin typeface="+mj-ea"/>
                <a:ea typeface="+mj-ea"/>
              </a:rPr>
              <a:t>학기말성적 처리</a:t>
            </a:r>
          </a:p>
        </p:txBody>
      </p:sp>
      <p:sp>
        <p:nvSpPr>
          <p:cNvPr id="9" name="모서리가 둥근 직사각형 63"/>
          <p:cNvSpPr/>
          <p:nvPr/>
        </p:nvSpPr>
        <p:spPr>
          <a:xfrm>
            <a:off x="590444" y="2171700"/>
            <a:ext cx="17104828" cy="6934200"/>
          </a:xfrm>
          <a:prstGeom prst="roundRect">
            <a:avLst>
              <a:gd name="adj" fmla="val 4133"/>
            </a:avLst>
          </a:prstGeom>
          <a:noFill/>
          <a:ln w="38100">
            <a:solidFill>
              <a:srgbClr val="5029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600" latinLnBrk="1">
              <a:defRPr/>
            </a:pPr>
            <a:endParaRPr lang="ko-KR" altLang="en-US" sz="270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990600" y="2400297"/>
            <a:ext cx="16687800" cy="5903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spcBef>
                <a:spcPts val="0"/>
              </a:spcBef>
              <a:defRPr/>
            </a:pPr>
            <a:r>
              <a:rPr sz="3600" b="1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 sz="3600" b="1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3600" b="1" i="0" u="none" strike="noStrike" spc="-10"/>
              <a:t>정기시험</a:t>
            </a:r>
            <a:r>
              <a:rPr lang="ko-KR" altLang="en-US" sz="3600" b="1" i="0" u="none" strike="noStrike" spc="-10"/>
              <a:t> </a:t>
            </a:r>
            <a:r>
              <a:rPr sz="3600" b="1" i="0" u="none" strike="noStrike" spc="-10"/>
              <a:t>및 수행평가의 결과</a:t>
            </a:r>
            <a:r>
              <a:rPr lang="EN-US" sz="3600" b="1" i="0" u="none" strike="noStrike" spc="-10"/>
              <a:t>(</a:t>
            </a:r>
            <a:r>
              <a:rPr sz="3600" b="1" i="0" u="none" strike="noStrike" spc="-10"/>
              <a:t>학기말 포함</a:t>
            </a:r>
            <a:r>
              <a:rPr lang="EN-US" sz="3600" b="1" i="0" u="none" strike="noStrike" spc="-10"/>
              <a:t>)</a:t>
            </a:r>
            <a:r>
              <a:rPr sz="3600" b="1" i="0" u="none" strike="noStrike" spc="-10"/>
              <a:t>를 학생 본인</a:t>
            </a:r>
            <a:r>
              <a:rPr lang="ko-KR" altLang="en-US" sz="3600" b="1" i="0" u="none" strike="noStrike" spc="-10"/>
              <a:t> </a:t>
            </a:r>
            <a:r>
              <a:rPr sz="3600" b="1" i="0" u="none" strike="noStrike" spc="-10"/>
              <a:t>확인</a:t>
            </a:r>
            <a:r>
              <a:rPr lang="ko-KR" altLang="en-US" sz="3600" b="1" i="0" u="none" strike="noStrike" spc="-10"/>
              <a:t> 시 </a:t>
            </a:r>
            <a:r>
              <a:rPr sz="3600" b="1" i="0" u="none" strike="noStrike" spc="-10"/>
              <a:t> </a:t>
            </a:r>
            <a:r>
              <a:rPr lang="EN-US" sz="3600" b="1" i="0" u="none" strike="noStrike" spc="-10"/>
              <a:t>‘</a:t>
            </a:r>
            <a:r>
              <a:rPr sz="3600" b="1" i="0" u="none" strike="noStrike" spc="-10"/>
              <a:t>개인별 성적일람표</a:t>
            </a:r>
            <a:r>
              <a:rPr lang="EN-US" sz="3600" b="1" i="0" u="none" strike="noStrike" spc="-10"/>
              <a:t>’ </a:t>
            </a:r>
            <a:r>
              <a:rPr sz="3600" b="1" i="0" u="none" strike="noStrike" spc="-10"/>
              <a:t>등을 활용</a:t>
            </a:r>
          </a:p>
          <a:p>
            <a:pPr latinLnBrk="1">
              <a:lnSpc>
                <a:spcPct val="150000"/>
              </a:lnSpc>
              <a:spcBef>
                <a:spcPts val="0"/>
              </a:spcBef>
              <a:defRPr/>
            </a:pPr>
            <a:r>
              <a:rPr sz="3600" b="1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 sz="3600" b="1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3600" b="1" i="0" u="none" strike="noStrike" spc="-10"/>
              <a:t>다른 학생에게 성적 정보가 노출되지 않도록 유의</a:t>
            </a:r>
          </a:p>
          <a:p>
            <a:pPr latinLnBrk="1">
              <a:lnSpc>
                <a:spcPct val="150000"/>
              </a:lnSpc>
              <a:spcBef>
                <a:spcPts val="0"/>
              </a:spcBef>
              <a:defRPr/>
            </a:pPr>
            <a:r>
              <a:rPr sz="3600" b="1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 sz="3600" b="1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3600" b="1" i="0" u="none" strike="noStrike" spc="-10"/>
              <a:t>학생 본인의 확인이 어려운 경우 학부모 등 보호자에게 공개하여 확인</a:t>
            </a:r>
          </a:p>
          <a:p>
            <a:pPr marL="152400" indent="-152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b="1" i="0" u="none" strike="noStrik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 sz="3600" b="1" i="0" u="none" strike="noStrike" spc="-10">
                <a:solidFill>
                  <a:srgbClr val="0000FF"/>
                </a:solidFill>
                <a:latin typeface="함초롬돋움"/>
                <a:ea typeface="함초롬돋움"/>
                <a:cs typeface="함초롬돋움"/>
              </a:rPr>
              <a:t>ㅇㅈㅈ ㅂㅇ</a:t>
            </a:r>
            <a:r>
              <a:rPr lang="ko-KR" altLang="en-US" sz="3600" b="1" i="0" u="none" strike="noStrike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시 </a:t>
            </a:r>
          </a:p>
          <a:p>
            <a:pPr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defRPr/>
            </a:pPr>
            <a:r>
              <a:rPr lang="ko-KR" altLang="en-US" sz="3600" b="1" i="0" u="none" strike="noStrike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  </a:t>
            </a:r>
            <a:r>
              <a:rPr lang="en-US" altLang="ko-KR" sz="3600" b="1" i="0" u="none" strike="noStrike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lang="ko-KR" altLang="en-US" sz="3600" b="1" i="0" u="none" strike="noStrike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2000" b="1" i="0" u="none" strike="noStrike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경상남도 학업성적 시행지침을 토대로 마련된</a:t>
            </a:r>
            <a:r>
              <a:rPr lang="ko-KR" altLang="en-US" sz="3600" b="1" i="0" u="none" strike="noStrike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학교 규정에 정해진 기준이 있다면 따라야 함</a:t>
            </a:r>
          </a:p>
          <a:p>
            <a:pPr marL="152400" indent="-152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600" b="1" i="0" u="none" strike="noStrike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  </a:t>
            </a:r>
            <a:r>
              <a:rPr lang="en-US" altLang="ko-KR" sz="3600" b="1" i="0" u="none" strike="noStrike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lang="ko-KR" altLang="en-US" sz="3600" b="1" i="0" u="none" strike="noStrike" spc="-1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증빙서류 확인</a:t>
            </a:r>
          </a:p>
        </p:txBody>
      </p:sp>
      <p:pic>
        <p:nvPicPr>
          <p:cNvPr id="1004" name="그림 6"/>
          <p:cNvPicPr>
            <a:picLocks noChangeAspect="1"/>
          </p:cNvPicPr>
          <p:nvPr/>
        </p:nvPicPr>
        <p:blipFill rotWithShape="1">
          <a:blip r:embed="rId5"/>
          <a:srcRect l="5250" t="11820" r="1580" b="8950"/>
          <a:stretch>
            <a:fillRect/>
          </a:stretch>
        </p:blipFill>
        <p:spPr>
          <a:xfrm>
            <a:off x="14084041" y="7429500"/>
            <a:ext cx="2832362" cy="1524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4" cy="9025239"/>
            <a:chOff x="391886" y="1004597"/>
            <a:chExt cx="17501944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1886" y="1004597"/>
              <a:ext cx="17501944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0444" y="244403"/>
            <a:ext cx="17104828" cy="9664227"/>
            <a:chOff x="590444" y="189141"/>
            <a:chExt cx="17104828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90444" y="189141"/>
              <a:ext cx="17104828" cy="9664227"/>
            </a:xfrm>
            <a:prstGeom prst="rect">
              <a:avLst/>
            </a:prstGeom>
          </p:spPr>
        </p:pic>
      </p:grpSp>
      <p:sp>
        <p:nvSpPr>
          <p:cNvPr id="5" name="Rounded Rectangle 17"/>
          <p:cNvSpPr/>
          <p:nvPr/>
        </p:nvSpPr>
        <p:spPr>
          <a:xfrm>
            <a:off x="1371600" y="1437033"/>
            <a:ext cx="15392400" cy="1115665"/>
          </a:xfrm>
          <a:prstGeom prst="roundRect">
            <a:avLst>
              <a:gd name="adj" fmla="val 10788"/>
            </a:avLst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800" b="1"/>
              <a:t>2026</a:t>
            </a:r>
            <a:r>
              <a:rPr lang="ko-KR" altLang="en-US" sz="4800" b="1"/>
              <a:t>학년도 경상남도 중학교 학업성적관리 시행지침</a:t>
            </a:r>
          </a:p>
        </p:txBody>
      </p:sp>
      <p:sp>
        <p:nvSpPr>
          <p:cNvPr id="9" name="Rounded Rectangle 25"/>
          <p:cNvSpPr/>
          <p:nvPr/>
        </p:nvSpPr>
        <p:spPr>
          <a:xfrm rot="21600000" flipH="1">
            <a:off x="1485900" y="3086101"/>
            <a:ext cx="15316200" cy="1115664"/>
          </a:xfrm>
          <a:prstGeom prst="roundRect">
            <a:avLst>
              <a:gd name="adj" fmla="val 1078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3800"/>
          </a:p>
        </p:txBody>
      </p:sp>
      <p:sp>
        <p:nvSpPr>
          <p:cNvPr id="18" name="Rounded Rectangle 17"/>
          <p:cNvSpPr/>
          <p:nvPr/>
        </p:nvSpPr>
        <p:spPr>
          <a:xfrm>
            <a:off x="2406190" y="4585667"/>
            <a:ext cx="13475619" cy="1115665"/>
          </a:xfrm>
          <a:prstGeom prst="roundRect">
            <a:avLst>
              <a:gd name="adj" fmla="val 10788"/>
            </a:avLst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4800" b="1"/>
              <a:t>               국가교육과정정보센터</a:t>
            </a:r>
            <a:r>
              <a:rPr lang="en-US" altLang="ko-KR" sz="4800"/>
              <a:t>(</a:t>
            </a:r>
            <a:r>
              <a:rPr lang="en-US" altLang="ko-KR" sz="4800" b="1">
                <a:hlinkClick r:id="rId5"/>
              </a:rPr>
              <a:t>http://ncic.re.kr</a:t>
            </a:r>
            <a:r>
              <a:rPr lang="en-US" altLang="ko-KR" sz="4800" b="1"/>
              <a:t>)</a:t>
            </a:r>
            <a:endParaRPr lang="en-US" altLang="ko-KR" sz="4800"/>
          </a:p>
        </p:txBody>
      </p:sp>
      <p:grpSp>
        <p:nvGrpSpPr>
          <p:cNvPr id="22" name="Group 23"/>
          <p:cNvGrpSpPr/>
          <p:nvPr/>
        </p:nvGrpSpPr>
        <p:grpSpPr>
          <a:xfrm flipH="1">
            <a:off x="2409832" y="6161434"/>
            <a:ext cx="13468337" cy="1115666"/>
            <a:chOff x="1822736" y="2564904"/>
            <a:chExt cx="3384376" cy="1415809"/>
          </a:xfrm>
        </p:grpSpPr>
        <p:sp>
          <p:nvSpPr>
            <p:cNvPr id="23" name="Rounded Rectangle 25"/>
            <p:cNvSpPr/>
            <p:nvPr/>
          </p:nvSpPr>
          <p:spPr>
            <a:xfrm>
              <a:off x="1822736" y="2564904"/>
              <a:ext cx="3384376" cy="1415807"/>
            </a:xfrm>
            <a:prstGeom prst="roundRect">
              <a:avLst>
                <a:gd name="adj" fmla="val 1078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050"/>
            </a:p>
          </p:txBody>
        </p:sp>
        <p:sp>
          <p:nvSpPr>
            <p:cNvPr id="24" name="Rounded Rectangle 9"/>
            <p:cNvSpPr/>
            <p:nvPr/>
          </p:nvSpPr>
          <p:spPr>
            <a:xfrm flipH="1">
              <a:off x="1822737" y="2575648"/>
              <a:ext cx="3384375" cy="1405065"/>
            </a:xfrm>
            <a:custGeom>
              <a:avLst/>
              <a:gdLst/>
              <a:ahLst/>
              <a:cxnLst/>
              <a:rect l="l" t="t" r="r" b="b"/>
              <a:pathLst>
                <a:path w="1572775" h="1405065">
                  <a:moveTo>
                    <a:pt x="1473249" y="0"/>
                  </a:moveTo>
                  <a:cubicBezTo>
                    <a:pt x="1531558" y="20642"/>
                    <a:pt x="1572775" y="76505"/>
                    <a:pt x="1572775" y="141994"/>
                  </a:cubicBezTo>
                  <a:lnTo>
                    <a:pt x="1572775" y="1252328"/>
                  </a:lnTo>
                  <a:cubicBezTo>
                    <a:pt x="1572775" y="1336682"/>
                    <a:pt x="1504392" y="1405065"/>
                    <a:pt x="1420038" y="1405065"/>
                  </a:cubicBezTo>
                  <a:lnTo>
                    <a:pt x="0" y="1405065"/>
                  </a:lnTo>
                  <a:cubicBezTo>
                    <a:pt x="768941" y="1317621"/>
                    <a:pt x="1379064" y="735374"/>
                    <a:pt x="1473249" y="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lumMod val="68000"/>
                    <a:lumOff val="32000"/>
                  </a:schemeClr>
                </a:gs>
                <a:gs pos="94000">
                  <a:schemeClr val="accent3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4800" b="1" spc="-150"/>
                <a:t>학생평가지원포털</a:t>
              </a:r>
              <a:r>
                <a:rPr lang="en-US" altLang="ko-KR" sz="4400" spc="-150">
                  <a:solidFill>
                    <a:schemeClr val="bg1"/>
                  </a:solidFill>
                  <a:latin typeface="HY견고딕"/>
                  <a:ea typeface="HY견고딕"/>
                </a:rPr>
                <a:t>(</a:t>
              </a:r>
              <a:r>
                <a:rPr lang="en-US" altLang="ko-KR" sz="4400" spc="-150">
                  <a:solidFill>
                    <a:schemeClr val="accent1">
                      <a:lumMod val="75000"/>
                    </a:schemeClr>
                  </a:solidFill>
                  <a:latin typeface="HY견고딕"/>
                  <a:ea typeface="HY견고딕"/>
                </a:rPr>
                <a:t>https://stassess.kice.re.kr </a:t>
              </a:r>
              <a:r>
                <a:rPr lang="en-US" altLang="ko-KR" sz="4400" spc="-150">
                  <a:solidFill>
                    <a:schemeClr val="bg1"/>
                  </a:solidFill>
                  <a:latin typeface="HY견고딕"/>
                  <a:ea typeface="HY견고딕"/>
                </a:rPr>
                <a:t>)</a:t>
              </a:r>
            </a:p>
          </p:txBody>
        </p:sp>
      </p:grpSp>
      <p:sp>
        <p:nvSpPr>
          <p:cNvPr id="1003" name="TextBox 1002"/>
          <p:cNvSpPr txBox="1"/>
          <p:nvPr/>
        </p:nvSpPr>
        <p:spPr>
          <a:xfrm>
            <a:off x="1447800" y="3162300"/>
            <a:ext cx="15392400" cy="788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600" b="1"/>
              <a:t>2026</a:t>
            </a:r>
            <a:r>
              <a:rPr lang="ko-KR" altLang="en-US" sz="4600" b="1"/>
              <a:t>학년도 경상남도 중등 학업성적관리 업무 길라잡이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1887" y="1004598"/>
            <a:ext cx="17501943" cy="9025239"/>
            <a:chOff x="391886" y="1004597"/>
            <a:chExt cx="17501943" cy="902523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886" y="1004597"/>
              <a:ext cx="17501943" cy="90252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90445" y="189141"/>
            <a:ext cx="17104827" cy="9664227"/>
            <a:chOff x="590444" y="189141"/>
            <a:chExt cx="17104827" cy="96642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444" y="189141"/>
              <a:ext cx="17104827" cy="9664227"/>
            </a:xfrm>
            <a:prstGeom prst="rect">
              <a:avLst/>
            </a:prstGeom>
          </p:spPr>
        </p:pic>
      </p:grpSp>
      <p:grpSp>
        <p:nvGrpSpPr>
          <p:cNvPr id="12" name="그룹 11"/>
          <p:cNvGrpSpPr/>
          <p:nvPr/>
        </p:nvGrpSpPr>
        <p:grpSpPr>
          <a:xfrm>
            <a:off x="3962401" y="1943101"/>
            <a:ext cx="10600692" cy="6718015"/>
            <a:chOff x="3851412" y="2983260"/>
            <a:chExt cx="10600692" cy="671801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321FB3-FB05-4603-B037-D118BCC9F905}"/>
                </a:ext>
              </a:extLst>
            </p:cNvPr>
            <p:cNvSpPr txBox="1"/>
            <p:nvPr/>
          </p:nvSpPr>
          <p:spPr>
            <a:xfrm>
              <a:off x="3851412" y="2983260"/>
              <a:ext cx="1060069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0" dirty="0">
                  <a:solidFill>
                    <a:srgbClr val="02474E"/>
                  </a:solidFill>
                  <a:latin typeface="안동엄마까투리" panose="020B0600000101010101" pitchFamily="50" charset="-127"/>
                  <a:ea typeface="안동엄마까투리" panose="020B0600000101010101" pitchFamily="50" charset="-127"/>
                  <a:cs typeface="THE코알라" panose="02020503020101020101" pitchFamily="18" charset="-127"/>
                </a:rPr>
                <a:t>감사합니다</a:t>
              </a:r>
              <a:r>
                <a:rPr lang="en-US" altLang="ko-KR" sz="12000" dirty="0">
                  <a:solidFill>
                    <a:srgbClr val="02474E"/>
                  </a:solidFill>
                  <a:latin typeface="안동엄마까투리" panose="020B0600000101010101" pitchFamily="50" charset="-127"/>
                  <a:ea typeface="안동엄마까투리" panose="020B0600000101010101" pitchFamily="50" charset="-127"/>
                  <a:cs typeface="THE코알라" panose="02020503020101020101" pitchFamily="18" charset="-127"/>
                </a:rPr>
                <a:t>^^</a:t>
              </a:r>
              <a:endParaRPr lang="ko-KR" altLang="en-US" sz="12000" dirty="0">
                <a:solidFill>
                  <a:srgbClr val="02474E"/>
                </a:solidFill>
                <a:latin typeface="안동엄마까투리" panose="020B0600000101010101" pitchFamily="50" charset="-127"/>
                <a:ea typeface="안동엄마까투리" panose="020B0600000101010101" pitchFamily="50" charset="-127"/>
                <a:cs typeface="THE코알라" panose="02020503020101020101" pitchFamily="18" charset="-127"/>
              </a:endParaRPr>
            </a:p>
          </p:txBody>
        </p:sp>
        <p:pic>
          <p:nvPicPr>
            <p:cNvPr id="14" name="Picture 2" descr="https://search.pstatic.net/common/?src=http%3A%2F%2Fblogfiles.naver.net%2FMjAxOTEyMzFfNDIg%2FMDAxNTc3Nzk2NTgxMDMw.cMrBgezhjdeV7TnG-XzNEVFhUwSLPq1sxY4r2SI1oZwg.0TrE8a2Zu8ERoMtr1UZ1T3hAoeSzep2Se2tYeyw_Aocg.GIF.thddl0208%2FBandPhoto_2018_03_03_16_28_55.gif&amp;type=sc960_832_gif"/>
            <p:cNvPicPr>
              <a:picLocks noChangeAspect="1" noChangeArrowheads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551" y="5415024"/>
              <a:ext cx="5286375" cy="4286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02517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anchor="ctr"/>
      <a:lstStyle>
        <a:defPPr algn="ctr">
          <a:defRPr lang="ko-KR" altLang="en-US"/>
        </a:defPPr>
      </a:lstStyle>
      <a:style>
        <a:lnRef idx="2">
          <a:schemeClr val="accent2"/>
        </a:lnRef>
        <a:fillRef idx="1">
          <a:schemeClr val="lt1"/>
        </a:fillRef>
        <a:effectRef idx="2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3584</Words>
  <Application>Microsoft Office PowerPoint</Application>
  <PresentationFormat>사용자 지정</PresentationFormat>
  <Paragraphs>419</Paragraphs>
  <Slides>54</Slides>
  <Notes>42</Notes>
  <HiddenSlides>0</HiddenSlides>
  <MMClips>0</MMClips>
  <ScaleCrop>false</ScaleCrop>
  <HeadingPairs>
    <vt:vector size="6" baseType="variant">
      <vt:variant>
        <vt:lpstr>사용한 글꼴</vt:lpstr>
      </vt:variant>
      <vt:variant>
        <vt:i4>20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75" baseType="lpstr">
      <vt:lpstr>?? ??</vt:lpstr>
      <vt:lpstr>HY견고딕</vt:lpstr>
      <vt:lpstr>HY바다L</vt:lpstr>
      <vt:lpstr>KoPubWorld돋움체 Light</vt:lpstr>
      <vt:lpstr>KoPub돋움체 Bold</vt:lpstr>
      <vt:lpstr>KoPub돋움체 Light</vt:lpstr>
      <vt:lpstr>KoPub돋움체_Pro Medium</vt:lpstr>
      <vt:lpstr>KoPub바탕체 Light</vt:lpstr>
      <vt:lpstr>THE코알라</vt:lpstr>
      <vt:lpstr>나눔손글씨 붓</vt:lpstr>
      <vt:lpstr>맑은 고딕</vt:lpstr>
      <vt:lpstr>안동엄마까투리</vt:lpstr>
      <vt:lpstr>한컴 백제 M</vt:lpstr>
      <vt:lpstr>한컴바탕</vt:lpstr>
      <vt:lpstr>함초롬돋움</vt:lpstr>
      <vt:lpstr>Arial</vt:lpstr>
      <vt:lpstr>Bell MT</vt:lpstr>
      <vt:lpstr>Calibri</vt:lpstr>
      <vt:lpstr>Times New Roman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officegen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ADMIN</cp:lastModifiedBy>
  <cp:revision>480</cp:revision>
  <dcterms:created xsi:type="dcterms:W3CDTF">2023-08-18T12:46:30Z</dcterms:created>
  <dcterms:modified xsi:type="dcterms:W3CDTF">2026-03-12T08:40:59Z</dcterms:modified>
  <cp:version/>
</cp:coreProperties>
</file>