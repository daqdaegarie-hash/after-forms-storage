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3" r:id="rId1"/>
  </p:sldMasterIdLst>
  <p:notesMasterIdLst>
    <p:notesMasterId r:id="rId20"/>
  </p:notesMasterIdLst>
  <p:handoutMasterIdLst>
    <p:handoutMasterId r:id="rId21"/>
  </p:handoutMasterIdLst>
  <p:sldIdLst>
    <p:sldId id="1136" r:id="rId2"/>
    <p:sldId id="1570" r:id="rId3"/>
    <p:sldId id="1441" r:id="rId4"/>
    <p:sldId id="1532" r:id="rId5"/>
    <p:sldId id="1525" r:id="rId6"/>
    <p:sldId id="1536" r:id="rId7"/>
    <p:sldId id="1535" r:id="rId8"/>
    <p:sldId id="1537" r:id="rId9"/>
    <p:sldId id="1538" r:id="rId10"/>
    <p:sldId id="1533" r:id="rId11"/>
    <p:sldId id="1586" r:id="rId12"/>
    <p:sldId id="1587" r:id="rId13"/>
    <p:sldId id="1588" r:id="rId14"/>
    <p:sldId id="1592" r:id="rId15"/>
    <p:sldId id="1589" r:id="rId16"/>
    <p:sldId id="1590" r:id="rId17"/>
    <p:sldId id="1591" r:id="rId18"/>
    <p:sldId id="1411" r:id="rId19"/>
  </p:sldIdLst>
  <p:sldSz cx="9906000" cy="6858000" type="A4"/>
  <p:notesSz cx="6735763" cy="9866313"/>
  <p:embeddedFontLst>
    <p:embeddedFont>
      <p:font typeface="等线" panose="02010600030101010101" pitchFamily="2" charset="-122"/>
      <p:regular r:id="rId22"/>
      <p:bold r:id="rId23"/>
    </p:embeddedFont>
    <p:embeddedFont>
      <p:font typeface="HY울릉도M" panose="02030600000101010101" charset="-127"/>
      <p:regular r:id="rId24"/>
    </p:embeddedFont>
    <p:embeddedFont>
      <p:font typeface="나눔바른고딕" panose="020B0600000101010101" charset="-127"/>
      <p:regular r:id="rId25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libri Light" panose="020F0302020204030204" pitchFamily="34" charset="0"/>
      <p:regular r:id="rId31"/>
      <p:italic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8" pos="5955" userDrawn="1">
          <p15:clr>
            <a:srgbClr val="A4A3A4"/>
          </p15:clr>
        </p15:guide>
        <p15:guide id="10" orient="horz" pos="482" userDrawn="1">
          <p15:clr>
            <a:srgbClr val="A4A3A4"/>
          </p15:clr>
        </p15:guide>
        <p15:guide id="11" pos="1306" userDrawn="1">
          <p15:clr>
            <a:srgbClr val="A4A3A4"/>
          </p15:clr>
        </p15:guide>
        <p15:guide id="13" pos="3120" userDrawn="1">
          <p15:clr>
            <a:srgbClr val="A4A3A4"/>
          </p15:clr>
        </p15:guide>
        <p15:guide id="15" pos="466" userDrawn="1">
          <p15:clr>
            <a:srgbClr val="A4A3A4"/>
          </p15:clr>
        </p15:guide>
        <p15:guide id="16" orient="horz" pos="1094" userDrawn="1">
          <p15:clr>
            <a:srgbClr val="A4A3A4"/>
          </p15:clr>
        </p15:guide>
        <p15:guide id="17" pos="4526" userDrawn="1">
          <p15:clr>
            <a:srgbClr val="A4A3A4"/>
          </p15:clr>
        </p15:guide>
        <p15:guide id="18" pos="5728" userDrawn="1">
          <p15:clr>
            <a:srgbClr val="A4A3A4"/>
          </p15:clr>
        </p15:guide>
        <p15:guide id="19" pos="4186" userDrawn="1">
          <p15:clr>
            <a:srgbClr val="A4A3A4"/>
          </p15:clr>
        </p15:guide>
        <p15:guide id="21" orient="horz" pos="3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  <p:cmAuthor id="2" name="Jinyoung Kim" initials="JK" lastIdx="27" clrIdx="1">
    <p:extLst>
      <p:ext uri="{19B8F6BF-5375-455C-9EA6-DF929625EA0E}">
        <p15:presenceInfo xmlns:p15="http://schemas.microsoft.com/office/powerpoint/2012/main" userId="6d742133f869a8e4" providerId="Windows Live"/>
      </p:ext>
    </p:extLst>
  </p:cmAuthor>
  <p:cmAuthor id="3" name="Kim Jinyoung" initials="KJ" lastIdx="5" clrIdx="2">
    <p:extLst>
      <p:ext uri="{19B8F6BF-5375-455C-9EA6-DF929625EA0E}">
        <p15:presenceInfo xmlns:p15="http://schemas.microsoft.com/office/powerpoint/2012/main" userId="Kim Jinyou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5312"/>
    <a:srgbClr val="0033CC"/>
    <a:srgbClr val="0000FF"/>
    <a:srgbClr val="663300"/>
    <a:srgbClr val="FBFEFF"/>
    <a:srgbClr val="F2F2F2"/>
    <a:srgbClr val="F2F9FF"/>
    <a:srgbClr val="0266FD"/>
    <a:srgbClr val="FFEAA7"/>
    <a:srgbClr val="F3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96353" autoAdjust="0"/>
  </p:normalViewPr>
  <p:slideViewPr>
    <p:cSldViewPr snapToGrid="0">
      <p:cViewPr varScale="1">
        <p:scale>
          <a:sx n="82" d="100"/>
          <a:sy n="82" d="100"/>
        </p:scale>
        <p:origin x="1488" y="67"/>
      </p:cViewPr>
      <p:guideLst>
        <p:guide orient="horz" pos="4088"/>
        <p:guide pos="194"/>
        <p:guide orient="horz" pos="640"/>
        <p:guide pos="6068"/>
        <p:guide pos="5955"/>
        <p:guide orient="horz" pos="482"/>
        <p:guide pos="1306"/>
        <p:guide pos="3120"/>
        <p:guide pos="466"/>
        <p:guide orient="horz" pos="1094"/>
        <p:guide pos="4526"/>
        <p:guide pos="5728"/>
        <p:guide pos="4186"/>
        <p:guide orient="horz" pos="3702"/>
      </p:guideLst>
    </p:cSldViewPr>
  </p:slideViewPr>
  <p:outlineViewPr>
    <p:cViewPr>
      <p:scale>
        <a:sx n="75" d="100"/>
        <a:sy n="75" d="100"/>
      </p:scale>
      <p:origin x="0" y="-1330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21612"/>
    </p:cViewPr>
  </p:sorter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handoutMaster" Target="handoutMasters/handout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6FFC83-DE86-4FE8-8DB6-36F1B8FE7939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C5826-AC7F-4B08-9E73-B69C0D7DBC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378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5EB33-9155-451B-9135-9CDA28F8A9EE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24038-EF15-4DA4-866B-4ED83CF22F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81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24038-EF15-4DA4-866B-4ED83CF22FD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581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24038-EF15-4DA4-866B-4ED83CF22FD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790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424038-EF15-4DA4-866B-4ED83CF22FD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49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9945A-6767-4D11-AEC4-D25A21AE09E8}" type="slidenum">
              <a:rPr lang="ko-KR" altLang="en-US" smtClean="0">
                <a:solidFill>
                  <a:prstClr val="black"/>
                </a:solidFill>
              </a:rPr>
              <a:pPr/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068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939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663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1126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3255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817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209945A-6767-4D11-AEC4-D25A21AE09E8}" type="slidenum">
              <a:rPr lang="ko-KR" altLang="en-US" smtClean="0">
                <a:solidFill>
                  <a:prstClr val="black"/>
                </a:solidFill>
              </a:rPr>
              <a:pPr/>
              <a:t>10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3089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16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043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20207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488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719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521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38150" y="803275"/>
            <a:ext cx="5800725" cy="40163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 latinLnBrk="0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209945A-6767-4D11-AEC4-D25A21AE09E8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75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05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8AB359F-1C9F-4661-A5C8-30B172A636F9}"/>
              </a:ext>
            </a:extLst>
          </p:cNvPr>
          <p:cNvSpPr/>
          <p:nvPr userDrawn="1"/>
        </p:nvSpPr>
        <p:spPr>
          <a:xfrm>
            <a:off x="74762" y="624841"/>
            <a:ext cx="9756476" cy="61569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152400" dist="508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10" name="직각 삼각형 9">
            <a:extLst>
              <a:ext uri="{FF2B5EF4-FFF2-40B4-BE49-F238E27FC236}">
                <a16:creationId xmlns:a16="http://schemas.microsoft.com/office/drawing/2014/main" id="{E8B926E8-2C87-4C2F-A819-82D9E2D5D529}"/>
              </a:ext>
            </a:extLst>
          </p:cNvPr>
          <p:cNvSpPr/>
          <p:nvPr userDrawn="1"/>
        </p:nvSpPr>
        <p:spPr>
          <a:xfrm flipH="1">
            <a:off x="9333779" y="6356352"/>
            <a:ext cx="572219" cy="504351"/>
          </a:xfrm>
          <a:prstGeom prst="rtTriangle">
            <a:avLst/>
          </a:prstGeom>
          <a:solidFill>
            <a:srgbClr val="2F97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2000" b="1" kern="1200" spc="-54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2000" dirty="0">
              <a:solidFill>
                <a:prstClr val="whit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471171-6B59-455F-BCDB-AA7A9F088361}"/>
              </a:ext>
            </a:extLst>
          </p:cNvPr>
          <p:cNvSpPr txBox="1"/>
          <p:nvPr userDrawn="1"/>
        </p:nvSpPr>
        <p:spPr>
          <a:xfrm>
            <a:off x="9342406" y="6596503"/>
            <a:ext cx="7482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9D4B301-5701-4261-AD3F-58994895B762}" type="slidenum">
              <a:rPr lang="en-US" altLang="ko-KR" sz="1200" b="1" kern="1200" spc="-54" smtClean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+mn-cs"/>
              </a:rPr>
              <a:pPr algn="ctr"/>
              <a:t>‹#›</a:t>
            </a:fld>
            <a:endParaRPr lang="ko-KR" altLang="en-US" sz="1200" b="1" kern="1200" spc="-54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+mn-cs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1772" y="0"/>
            <a:ext cx="9904228" cy="466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1952893" y="634005"/>
            <a:ext cx="7878345" cy="10947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</p:spTree>
    <p:extLst>
      <p:ext uri="{BB962C8B-B14F-4D97-AF65-F5344CB8AC3E}">
        <p14:creationId xmlns:p14="http://schemas.microsoft.com/office/powerpoint/2010/main" val="1185478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86"/>
          <a:stretch/>
        </p:blipFill>
        <p:spPr>
          <a:xfrm>
            <a:off x="-9525" y="0"/>
            <a:ext cx="9915525" cy="6858000"/>
          </a:xfrm>
          <a:prstGeom prst="rect">
            <a:avLst/>
          </a:prstGeom>
        </p:spPr>
      </p:pic>
      <p:sp>
        <p:nvSpPr>
          <p:cNvPr id="6" name="직사각형 5"/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88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500387" y="345296"/>
            <a:ext cx="1983247" cy="276999"/>
            <a:chOff x="500387" y="345296"/>
            <a:chExt cx="1983247" cy="276999"/>
          </a:xfrm>
        </p:grpSpPr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B2A2134E-34A5-422C-8D66-092F6558A4F0}"/>
                </a:ext>
              </a:extLst>
            </p:cNvPr>
            <p:cNvSpPr txBox="1"/>
            <p:nvPr/>
          </p:nvSpPr>
          <p:spPr>
            <a:xfrm>
              <a:off x="508413" y="345296"/>
              <a:ext cx="1975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4</a:t>
              </a:r>
              <a:r>
                <a:rPr lang="ko-KR" altLang="en-US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세대 지능형 나이스 구축 </a:t>
              </a:r>
              <a:r>
                <a:rPr lang="en-US" altLang="ko-KR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TF</a:t>
              </a:r>
              <a:endParaRPr lang="en-US" altLang="ko-KR" sz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19000">
                      <a:srgbClr val="00A7E2"/>
                    </a:gs>
                    <a:gs pos="100000">
                      <a:srgbClr val="004A8E"/>
                    </a:gs>
                  </a:gsLst>
                  <a:lin ang="5400000" scaled="0"/>
                </a:gra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 flipH="1">
              <a:off x="500387" y="395674"/>
              <a:ext cx="45719" cy="159460"/>
            </a:xfrm>
            <a:prstGeom prst="rect">
              <a:avLst/>
            </a:prstGeom>
            <a:solidFill>
              <a:srgbClr val="179CD7"/>
            </a:solidFill>
            <a:ln>
              <a:noFill/>
            </a:ln>
            <a:effectLst>
              <a:innerShdw blurRad="25400" dist="254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184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500387" y="345296"/>
            <a:ext cx="1983247" cy="276999"/>
            <a:chOff x="500387" y="345296"/>
            <a:chExt cx="1983247" cy="276999"/>
          </a:xfrm>
        </p:grpSpPr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B2A2134E-34A5-422C-8D66-092F6558A4F0}"/>
                </a:ext>
              </a:extLst>
            </p:cNvPr>
            <p:cNvSpPr txBox="1"/>
            <p:nvPr/>
          </p:nvSpPr>
          <p:spPr>
            <a:xfrm>
              <a:off x="508413" y="345296"/>
              <a:ext cx="19752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altLang="ko-KR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4</a:t>
              </a:r>
              <a:r>
                <a:rPr lang="ko-KR" altLang="en-US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세대 지능형 나이스 구축 </a:t>
              </a:r>
              <a:r>
                <a:rPr lang="en-US" altLang="ko-KR" sz="120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gradFill>
                    <a:gsLst>
                      <a:gs pos="19000">
                        <a:srgbClr val="00A7E2"/>
                      </a:gs>
                      <a:gs pos="100000">
                        <a:srgbClr val="004A8E"/>
                      </a:gs>
                    </a:gsLst>
                    <a:lin ang="5400000" scaled="0"/>
                  </a:gradFill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TF</a:t>
              </a:r>
              <a:endParaRPr lang="en-US" altLang="ko-KR" sz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gradFill>
                  <a:gsLst>
                    <a:gs pos="19000">
                      <a:srgbClr val="00A7E2"/>
                    </a:gs>
                    <a:gs pos="100000">
                      <a:srgbClr val="004A8E"/>
                    </a:gs>
                  </a:gsLst>
                  <a:lin ang="5400000" scaled="0"/>
                </a:gra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 flipH="1">
              <a:off x="500387" y="395674"/>
              <a:ext cx="45719" cy="159460"/>
            </a:xfrm>
            <a:prstGeom prst="rect">
              <a:avLst/>
            </a:prstGeom>
            <a:solidFill>
              <a:srgbClr val="179CD7"/>
            </a:solidFill>
            <a:ln>
              <a:noFill/>
            </a:ln>
            <a:effectLst>
              <a:innerShdw blurRad="25400" dist="25400" dir="13500000">
                <a:prstClr val="black">
                  <a:alpha val="3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181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124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190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26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66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91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87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8AADA710-CAAB-407D-82AE-866CF5721927}" type="datetimeFigureOut">
              <a:rPr lang="ko-KR" altLang="en-US" smtClean="0"/>
              <a:t>2024-08-28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2A4E37-F2A5-458F-B415-69887E9E66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79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0620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8"/>
          <a:stretch/>
        </p:blipFill>
        <p:spPr>
          <a:xfrm>
            <a:off x="0" y="0"/>
            <a:ext cx="9904576" cy="6858000"/>
          </a:xfrm>
          <a:prstGeom prst="rect">
            <a:avLst/>
          </a:prstGeom>
        </p:spPr>
      </p:pic>
      <p:sp>
        <p:nvSpPr>
          <p:cNvPr id="18" name="矩形 18"/>
          <p:cNvSpPr/>
          <p:nvPr/>
        </p:nvSpPr>
        <p:spPr>
          <a:xfrm>
            <a:off x="476075" y="1417356"/>
            <a:ext cx="8968450" cy="4257052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grpSp>
        <p:nvGrpSpPr>
          <p:cNvPr id="19" name="组合 19"/>
          <p:cNvGrpSpPr/>
          <p:nvPr/>
        </p:nvGrpSpPr>
        <p:grpSpPr>
          <a:xfrm flipH="1">
            <a:off x="910838" y="1806662"/>
            <a:ext cx="8107584" cy="3494296"/>
            <a:chOff x="1295400" y="1122996"/>
            <a:chExt cx="6544141" cy="2939704"/>
          </a:xfrm>
        </p:grpSpPr>
        <p:sp>
          <p:nvSpPr>
            <p:cNvPr id="20" name="矩形 3"/>
            <p:cNvSpPr/>
            <p:nvPr/>
          </p:nvSpPr>
          <p:spPr>
            <a:xfrm>
              <a:off x="1295400" y="1122996"/>
              <a:ext cx="6544141" cy="2935213"/>
            </a:xfrm>
            <a:custGeom>
              <a:avLst/>
              <a:gdLst>
                <a:gd name="connsiteX0" fmla="*/ 0 w 7581900"/>
                <a:gd name="connsiteY0" fmla="*/ 0 h 3390900"/>
                <a:gd name="connsiteX1" fmla="*/ 7581900 w 7581900"/>
                <a:gd name="connsiteY1" fmla="*/ 0 h 3390900"/>
                <a:gd name="connsiteX2" fmla="*/ 7581900 w 7581900"/>
                <a:gd name="connsiteY2" fmla="*/ 3390900 h 3390900"/>
                <a:gd name="connsiteX3" fmla="*/ 0 w 7581900"/>
                <a:gd name="connsiteY3" fmla="*/ 3390900 h 3390900"/>
                <a:gd name="connsiteX4" fmla="*/ 0 w 7581900"/>
                <a:gd name="connsiteY4" fmla="*/ 0 h 3390900"/>
                <a:gd name="connsiteX0-1" fmla="*/ 0 w 7581900"/>
                <a:gd name="connsiteY0-2" fmla="*/ 0 h 3390900"/>
                <a:gd name="connsiteX1-3" fmla="*/ 7581900 w 7581900"/>
                <a:gd name="connsiteY1-4" fmla="*/ 0 h 3390900"/>
                <a:gd name="connsiteX2-5" fmla="*/ 7581900 w 7581900"/>
                <a:gd name="connsiteY2-6" fmla="*/ 3390900 h 3390900"/>
                <a:gd name="connsiteX3-7" fmla="*/ 0 w 7581900"/>
                <a:gd name="connsiteY3-8" fmla="*/ 3390900 h 3390900"/>
                <a:gd name="connsiteX4-9" fmla="*/ 91440 w 7581900"/>
                <a:gd name="connsiteY4-10" fmla="*/ 91440 h 3390900"/>
                <a:gd name="connsiteX0-11" fmla="*/ 22860 w 7604760"/>
                <a:gd name="connsiteY0-12" fmla="*/ 0 h 3390900"/>
                <a:gd name="connsiteX1-13" fmla="*/ 7604760 w 7604760"/>
                <a:gd name="connsiteY1-14" fmla="*/ 0 h 3390900"/>
                <a:gd name="connsiteX2-15" fmla="*/ 7604760 w 7604760"/>
                <a:gd name="connsiteY2-16" fmla="*/ 3390900 h 3390900"/>
                <a:gd name="connsiteX3-17" fmla="*/ 22860 w 7604760"/>
                <a:gd name="connsiteY3-18" fmla="*/ 3390900 h 3390900"/>
                <a:gd name="connsiteX4-19" fmla="*/ 0 w 7604760"/>
                <a:gd name="connsiteY4-20" fmla="*/ 1672590 h 3390900"/>
                <a:gd name="connsiteX0-21" fmla="*/ 0 w 7581900"/>
                <a:gd name="connsiteY0-22" fmla="*/ 0 h 3390900"/>
                <a:gd name="connsiteX1-23" fmla="*/ 7581900 w 7581900"/>
                <a:gd name="connsiteY1-24" fmla="*/ 0 h 3390900"/>
                <a:gd name="connsiteX2-25" fmla="*/ 7581900 w 7581900"/>
                <a:gd name="connsiteY2-26" fmla="*/ 3390900 h 3390900"/>
                <a:gd name="connsiteX3-27" fmla="*/ 0 w 7581900"/>
                <a:gd name="connsiteY3-28" fmla="*/ 3390900 h 3390900"/>
                <a:gd name="connsiteX4-29" fmla="*/ 5715 w 7581900"/>
                <a:gd name="connsiteY4-30" fmla="*/ 1672590 h 3390900"/>
                <a:gd name="connsiteX0-31" fmla="*/ 3790950 w 7581900"/>
                <a:gd name="connsiteY0-32" fmla="*/ 0 h 3390900"/>
                <a:gd name="connsiteX1-33" fmla="*/ 7581900 w 7581900"/>
                <a:gd name="connsiteY1-34" fmla="*/ 0 h 3390900"/>
                <a:gd name="connsiteX2-35" fmla="*/ 7581900 w 7581900"/>
                <a:gd name="connsiteY2-36" fmla="*/ 3390900 h 3390900"/>
                <a:gd name="connsiteX3-37" fmla="*/ 0 w 7581900"/>
                <a:gd name="connsiteY3-38" fmla="*/ 3390900 h 3390900"/>
                <a:gd name="connsiteX4-39" fmla="*/ 5715 w 7581900"/>
                <a:gd name="connsiteY4-40" fmla="*/ 1672590 h 3390900"/>
                <a:gd name="connsiteX0-1" fmla="*/ 1008420 w 7581900"/>
                <a:gd name="connsiteY0-2" fmla="*/ 25455 h 3390900"/>
                <a:gd name="connsiteX1-3" fmla="*/ 7581900 w 7581900"/>
                <a:gd name="connsiteY1-4" fmla="*/ 0 h 3390900"/>
                <a:gd name="connsiteX2-5" fmla="*/ 7581900 w 7581900"/>
                <a:gd name="connsiteY2-6" fmla="*/ 3390900 h 3390900"/>
                <a:gd name="connsiteX3-7" fmla="*/ 0 w 7581900"/>
                <a:gd name="connsiteY3-8" fmla="*/ 3390900 h 3390900"/>
                <a:gd name="connsiteX4-9" fmla="*/ 5715 w 7581900"/>
                <a:gd name="connsiteY4-10" fmla="*/ 1672590 h 3390900"/>
                <a:gd name="connsiteX0-11" fmla="*/ 1008420 w 7581900"/>
                <a:gd name="connsiteY0-12" fmla="*/ 25455 h 3390900"/>
                <a:gd name="connsiteX1-13" fmla="*/ 7581900 w 7581900"/>
                <a:gd name="connsiteY1-14" fmla="*/ 0 h 3390900"/>
                <a:gd name="connsiteX2-15" fmla="*/ 7581900 w 7581900"/>
                <a:gd name="connsiteY2-16" fmla="*/ 3390900 h 3390900"/>
                <a:gd name="connsiteX3-17" fmla="*/ 0 w 7581900"/>
                <a:gd name="connsiteY3-18" fmla="*/ 3390900 h 3390900"/>
                <a:gd name="connsiteX4-19" fmla="*/ 18479 w 7581900"/>
                <a:gd name="connsiteY4-20" fmla="*/ 730777 h 3390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581900" h="3390900">
                  <a:moveTo>
                    <a:pt x="1008420" y="25455"/>
                  </a:moveTo>
                  <a:lnTo>
                    <a:pt x="7581900" y="0"/>
                  </a:lnTo>
                  <a:lnTo>
                    <a:pt x="7581900" y="3390900"/>
                  </a:lnTo>
                  <a:lnTo>
                    <a:pt x="0" y="3390900"/>
                  </a:lnTo>
                  <a:cubicBezTo>
                    <a:pt x="0" y="2260600"/>
                    <a:pt x="18479" y="730777"/>
                    <a:pt x="18479" y="730777"/>
                  </a:cubicBezTo>
                </a:path>
              </a:pathLst>
            </a:custGeom>
            <a:noFill/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Montserrat SemiBold" panose="00000700000000000000" charset="0"/>
                <a:ea typeface="方正黑体简体" panose="02000000000000000000" pitchFamily="65" charset="-122"/>
                <a:cs typeface="Montserrat SemiBold" panose="00000700000000000000" charset="0"/>
                <a:sym typeface="+mn-lt"/>
              </a:endParaRPr>
            </a:p>
          </p:txBody>
        </p:sp>
        <p:sp>
          <p:nvSpPr>
            <p:cNvPr id="21" name="矩形 21"/>
            <p:cNvSpPr/>
            <p:nvPr/>
          </p:nvSpPr>
          <p:spPr>
            <a:xfrm>
              <a:off x="1295400" y="1122996"/>
              <a:ext cx="762000" cy="51851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ontserrat SemiBold" panose="00000700000000000000" charset="0"/>
                <a:cs typeface="Montserrat SemiBold" panose="00000700000000000000" charset="0"/>
              </a:endParaRPr>
            </a:p>
          </p:txBody>
        </p:sp>
        <p:sp>
          <p:nvSpPr>
            <p:cNvPr id="22" name="矩形: 圆角 7"/>
            <p:cNvSpPr/>
            <p:nvPr/>
          </p:nvSpPr>
          <p:spPr>
            <a:xfrm>
              <a:off x="3622079" y="3631029"/>
              <a:ext cx="1822114" cy="431671"/>
            </a:xfrm>
            <a:prstGeom prst="roundRect">
              <a:avLst>
                <a:gd name="adj" fmla="val 0"/>
              </a:avLst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>
                  <a:solidFill>
                    <a:schemeClr val="tx1"/>
                  </a:solidFill>
                  <a:latin typeface="Montserrat SemiBold" panose="00000700000000000000" charset="0"/>
                  <a:ea typeface="方正黑体简体" panose="02000000000000000000" pitchFamily="65" charset="-122"/>
                  <a:cs typeface="Montserrat SemiBold" panose="00000700000000000000" charset="0"/>
                  <a:sym typeface="+mn-lt"/>
                </a:rPr>
                <a:t> </a:t>
              </a:r>
              <a:endParaRPr lang="en-US" altLang="zh-CN" sz="1050" dirty="0">
                <a:solidFill>
                  <a:schemeClr val="tx1"/>
                </a:solidFill>
                <a:latin typeface="Montserrat SemiBold" panose="00000700000000000000" charset="0"/>
                <a:ea typeface="方正黑体简体" panose="02000000000000000000" pitchFamily="65" charset="-122"/>
                <a:cs typeface="Montserrat SemiBold" panose="00000700000000000000" charset="0"/>
                <a:sym typeface="+mn-lt"/>
              </a:endParaRPr>
            </a:p>
          </p:txBody>
        </p:sp>
      </p:grpSp>
      <p:sp>
        <p:nvSpPr>
          <p:cNvPr id="16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2647187" y="2722901"/>
            <a:ext cx="46496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800"/>
              </a:lnSpc>
            </a:pPr>
            <a:r>
              <a:rPr lang="ko-KR" altLang="en-US" sz="2200" spc="-7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</a:t>
            </a:r>
            <a:r>
              <a:rPr lang="ko-KR" altLang="en-US" sz="2200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교육활동신청관리</a:t>
            </a:r>
            <a:r>
              <a:rPr lang="en-US" altLang="ko-KR" sz="2200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결석신고관리</a:t>
            </a:r>
            <a:r>
              <a:rPr lang="en-US" altLang="ko-KR" sz="2200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ctr">
              <a:lnSpc>
                <a:spcPts val="4800"/>
              </a:lnSpc>
            </a:pPr>
            <a:r>
              <a:rPr lang="ko-KR" altLang="en-US" sz="38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시스템 사용자 교육자료</a:t>
            </a:r>
            <a:endParaRPr lang="en-US" altLang="ko-KR" sz="3800" b="1" spc="-7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7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4509437" y="4900087"/>
            <a:ext cx="993542" cy="3270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00"/>
              </a:lnSpc>
            </a:pPr>
            <a:r>
              <a:rPr lang="en-US" altLang="ko-KR" sz="1600" b="1" spc="-7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2024. 08</a:t>
            </a:r>
            <a:r>
              <a:rPr lang="en-US" altLang="ko-KR" sz="16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051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151038" y="-270865"/>
            <a:ext cx="6249762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000"/>
              </a:lnSpc>
              <a:tabLst>
                <a:tab pos="717550" algn="l"/>
              </a:tabLst>
            </a:pP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교육활동신청관리</a:t>
            </a:r>
            <a:r>
              <a:rPr lang="en-US" altLang="ko-KR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결석신고관리</a:t>
            </a:r>
            <a:r>
              <a:rPr lang="en-US" altLang="ko-KR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 흐름도 및 메뉴 구성</a:t>
            </a:r>
            <a:endParaRPr lang="en-US" altLang="ko-KR" sz="2000" b="1" spc="-7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51038" y="773606"/>
            <a:ext cx="5388708" cy="532421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spc="-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교육활동신청관리</a:t>
            </a:r>
            <a:r>
              <a:rPr lang="en-US" altLang="ko-KR" sz="2200" b="1" spc="-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200" b="1" spc="-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결석신고관리</a:t>
            </a:r>
            <a:r>
              <a:rPr lang="en-US" altLang="ko-KR" sz="2200" b="1" spc="-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2200" b="1" spc="-10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 흐름도 </a:t>
            </a:r>
            <a:endParaRPr kumimoji="1" lang="x-none" altLang="en-US" sz="2200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38" y="1604140"/>
            <a:ext cx="9475499" cy="425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615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789284"/>
            <a:ext cx="5388708" cy="692308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200" b="1" spc="-10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교육활동신청관리 메뉴 구조</a:t>
            </a:r>
            <a:endParaRPr kumimoji="1" lang="x-none" altLang="en-US" sz="2200" dirty="0">
              <a:solidFill>
                <a:srgbClr val="002060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96019" y="1763989"/>
            <a:ext cx="2306466" cy="966102"/>
            <a:chOff x="296019" y="1763989"/>
            <a:chExt cx="2156579" cy="966102"/>
          </a:xfrm>
        </p:grpSpPr>
        <p:pic>
          <p:nvPicPr>
            <p:cNvPr id="27" name="그림 26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256" t="28225" r="16806" b="66093"/>
            <a:stretch/>
          </p:blipFill>
          <p:spPr>
            <a:xfrm>
              <a:off x="296019" y="1991476"/>
              <a:ext cx="2156579" cy="224286"/>
            </a:xfrm>
            <a:prstGeom prst="rect">
              <a:avLst/>
            </a:prstGeom>
            <a:effectLst/>
          </p:spPr>
        </p:pic>
        <p:sp>
          <p:nvSpPr>
            <p:cNvPr id="29" name="TextBox 28"/>
            <p:cNvSpPr txBox="1"/>
            <p:nvPr/>
          </p:nvSpPr>
          <p:spPr>
            <a:xfrm>
              <a:off x="366703" y="1763989"/>
              <a:ext cx="2067222" cy="32496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ko-KR" altLang="en-US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학교 메뉴</a:t>
              </a:r>
              <a:r>
                <a:rPr lang="en-US" altLang="ko-KR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(</a:t>
              </a:r>
              <a:r>
                <a:rPr lang="ko-KR" altLang="en-US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업무담당자</a:t>
              </a:r>
              <a:r>
                <a:rPr lang="en-US" altLang="ko-KR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)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87648" y="2117487"/>
              <a:ext cx="2019748" cy="61260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4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교외체험학습관리</a:t>
              </a:r>
              <a:endParaRPr lang="en-US" altLang="ko-KR" sz="1200" b="1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100" spc="-50" dirty="0" err="1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교외체험학습기준관리</a:t>
              </a:r>
              <a:endParaRPr lang="en-US" altLang="ko-KR" sz="1100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2627253" y="1763989"/>
            <a:ext cx="4236315" cy="1440078"/>
            <a:chOff x="5098878" y="1763989"/>
            <a:chExt cx="4236315" cy="1440078"/>
          </a:xfrm>
        </p:grpSpPr>
        <p:sp>
          <p:nvSpPr>
            <p:cNvPr id="43" name="TextBox 42"/>
            <p:cNvSpPr txBox="1"/>
            <p:nvPr/>
          </p:nvSpPr>
          <p:spPr>
            <a:xfrm>
              <a:off x="5307953" y="2117487"/>
              <a:ext cx="1982012" cy="1086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ko-KR" altLang="en-US" sz="14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교외체험학습관리</a:t>
              </a:r>
              <a:endParaRPr lang="en-US" altLang="ko-KR" sz="1200" b="1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100" spc="-50" dirty="0" err="1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교외체험학습신청서관리</a:t>
              </a:r>
              <a:endParaRPr lang="en-US" altLang="ko-KR" sz="1100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100" spc="-50" dirty="0" err="1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교외체험학습보고서관리</a:t>
              </a:r>
              <a:endParaRPr lang="en-US" altLang="ko-KR" sz="1100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100" spc="-50" dirty="0" err="1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교외체험학습현황관리</a:t>
              </a:r>
              <a:endParaRPr lang="en-US" altLang="ko-KR" sz="1000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</p:txBody>
        </p:sp>
        <p:pic>
          <p:nvPicPr>
            <p:cNvPr id="44" name="그림 43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256" t="28225" r="16806" b="66093"/>
            <a:stretch/>
          </p:blipFill>
          <p:spPr>
            <a:xfrm>
              <a:off x="5098878" y="1991476"/>
              <a:ext cx="4236315" cy="224286"/>
            </a:xfrm>
            <a:prstGeom prst="rect">
              <a:avLst/>
            </a:prstGeom>
            <a:effectLst/>
          </p:spPr>
        </p:pic>
        <p:sp>
          <p:nvSpPr>
            <p:cNvPr id="45" name="TextBox 44"/>
            <p:cNvSpPr txBox="1"/>
            <p:nvPr/>
          </p:nvSpPr>
          <p:spPr>
            <a:xfrm>
              <a:off x="5279377" y="1763989"/>
              <a:ext cx="1673535" cy="32701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ko-KR" altLang="en-US" sz="1600" b="1" spc="-5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학교 메뉴</a:t>
              </a:r>
              <a:r>
                <a:rPr lang="en-US" altLang="ko-KR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(</a:t>
              </a:r>
              <a:r>
                <a:rPr lang="ko-KR" altLang="en-US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담임</a:t>
              </a:r>
              <a:r>
                <a:rPr lang="en-US" altLang="ko-KR" sz="1600" b="1" spc="-50" dirty="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)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7289965" y="2117487"/>
              <a:ext cx="1854035" cy="61401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lvl="0">
                <a:lnSpc>
                  <a:spcPct val="140000"/>
                </a:lnSpc>
                <a:spcBef>
                  <a:spcPts val="300"/>
                </a:spcBef>
              </a:pPr>
              <a:r>
                <a:rPr lang="ko-KR" altLang="en-US" sz="1400" b="1" spc="-50" dirty="0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결석신고관리</a:t>
              </a:r>
              <a:endParaRPr lang="en-US" altLang="ko-KR" sz="1200" b="1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lvl="0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100" spc="-50" dirty="0" err="1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결석신고서관리</a:t>
              </a:r>
              <a:endParaRPr lang="en-US" altLang="ko-KR" sz="1100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6954710" y="1763989"/>
            <a:ext cx="2468066" cy="1547671"/>
            <a:chOff x="296019" y="1763989"/>
            <a:chExt cx="2468066" cy="1547671"/>
          </a:xfrm>
        </p:grpSpPr>
        <p:pic>
          <p:nvPicPr>
            <p:cNvPr id="48" name="그림 47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256" t="28225" r="16806" b="66093"/>
            <a:stretch/>
          </p:blipFill>
          <p:spPr>
            <a:xfrm>
              <a:off x="296019" y="1991476"/>
              <a:ext cx="2468066" cy="224286"/>
            </a:xfrm>
            <a:prstGeom prst="rect">
              <a:avLst/>
            </a:prstGeom>
            <a:effectLst/>
          </p:spPr>
        </p:pic>
        <p:sp>
          <p:nvSpPr>
            <p:cNvPr id="49" name="TextBox 48"/>
            <p:cNvSpPr txBox="1"/>
            <p:nvPr/>
          </p:nvSpPr>
          <p:spPr>
            <a:xfrm>
              <a:off x="476519" y="1763989"/>
              <a:ext cx="2179774" cy="3231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ko-KR" altLang="en-US" sz="1600" b="1" spc="-50">
                  <a:ln>
                    <a:solidFill>
                      <a:schemeClr val="accent5">
                        <a:alpha val="10000"/>
                      </a:schemeClr>
                    </a:solidFill>
                  </a:ln>
                  <a:solidFill>
                    <a:schemeClr val="accent1">
                      <a:lumMod val="75000"/>
                    </a:scheme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학부모서비스 메뉴</a:t>
              </a:r>
              <a:endParaRPr lang="en-US" altLang="ko-KR" sz="1600" b="1" spc="-50" dirty="0">
                <a:ln>
                  <a:solidFill>
                    <a:schemeClr val="accent5">
                      <a:alpha val="10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5094" y="2117487"/>
              <a:ext cx="1947504" cy="119417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lvl="0">
                <a:lnSpc>
                  <a:spcPct val="140000"/>
                </a:lnSpc>
                <a:spcBef>
                  <a:spcPts val="300"/>
                </a:spcBef>
              </a:pPr>
              <a:r>
                <a:rPr lang="ko-KR" altLang="en-US" sz="1600" b="1" spc="-50" dirty="0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교육활동신청</a:t>
              </a:r>
              <a:endParaRPr lang="en-US" altLang="ko-KR" sz="1400" b="1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lvl="0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200" spc="-50" dirty="0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결석신고서</a:t>
              </a:r>
            </a:p>
            <a:p>
              <a:pPr marL="130175" lvl="0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200" spc="-50" dirty="0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교외체험학습신청</a:t>
              </a:r>
              <a:endParaRPr lang="en-US" altLang="ko-KR" sz="1200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  <a:p>
              <a:pPr marL="130175" lvl="0" indent="-130175">
                <a:lnSpc>
                  <a:spcPct val="140000"/>
                </a:lnSpc>
                <a:buFontTx/>
                <a:buChar char="-"/>
              </a:pPr>
              <a:r>
                <a:rPr lang="ko-KR" altLang="en-US" sz="1200" spc="-50" dirty="0">
                  <a:ln>
                    <a:solidFill>
                      <a:srgbClr val="4472C4">
                        <a:alpha val="10000"/>
                      </a:srgbClr>
                    </a:solidFill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  <a:cs typeface="Poppins Light" panose="02000000000000000000" pitchFamily="2" charset="0"/>
                </a:rPr>
                <a:t>교외체험학습보고서</a:t>
              </a:r>
              <a:endParaRPr lang="en-US" altLang="ko-KR" sz="1200" spc="-50" dirty="0">
                <a:ln>
                  <a:solidFill>
                    <a:srgbClr val="4472C4">
                      <a:alpha val="1000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oppins Light" panose="02000000000000000000" pitchFamily="2" charset="0"/>
              </a:endParaRPr>
            </a:p>
          </p:txBody>
        </p:sp>
      </p:grpSp>
      <p:sp>
        <p:nvSpPr>
          <p:cNvPr id="17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151038" y="-270865"/>
            <a:ext cx="6249762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6000"/>
              </a:lnSpc>
              <a:tabLst>
                <a:tab pos="717550" algn="l"/>
              </a:tabLst>
            </a:pP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교육활동신청관리</a:t>
            </a:r>
            <a:r>
              <a:rPr lang="en-US" altLang="ko-KR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결석신고관리</a:t>
            </a:r>
            <a:r>
              <a:rPr lang="en-US" altLang="ko-KR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b="1" spc="-7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 흐름도 및 메뉴 구성</a:t>
            </a:r>
            <a:endParaRPr lang="en-US" altLang="ko-KR" sz="2000" b="1" spc="-7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775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-992376" y="2273767"/>
            <a:ext cx="3510390" cy="11116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532128" y="2273767"/>
            <a:ext cx="6725462" cy="1111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908058" y="2273767"/>
            <a:ext cx="1404156" cy="11116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893945" y="2273767"/>
            <a:ext cx="1248139" cy="11116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25893" y="2507794"/>
            <a:ext cx="1248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prstClr val="white"/>
                </a:solidFill>
                <a:latin typeface="+mn-ea"/>
              </a:rPr>
              <a:t>01</a:t>
            </a:r>
            <a:endParaRPr lang="ko-KR" altLang="en-US" sz="40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15113" y="2538571"/>
            <a:ext cx="649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>
                <a:solidFill>
                  <a:prstClr val="white"/>
                </a:solidFill>
                <a:latin typeface="+mn-ea"/>
              </a:rPr>
              <a:t>학교업무분장설정</a:t>
            </a:r>
            <a:r>
              <a:rPr lang="en-US" altLang="ko-KR" sz="3600" b="1">
                <a:solidFill>
                  <a:prstClr val="white"/>
                </a:solidFill>
                <a:latin typeface="+mn-ea"/>
              </a:rPr>
              <a:t>(</a:t>
            </a:r>
            <a:r>
              <a:rPr lang="ko-KR" altLang="en-US" sz="3600" b="1">
                <a:solidFill>
                  <a:prstClr val="white"/>
                </a:solidFill>
                <a:latin typeface="+mn-ea"/>
              </a:rPr>
              <a:t>권한 부여</a:t>
            </a:r>
            <a:r>
              <a:rPr lang="en-US" altLang="ko-KR" sz="3600" b="1" dirty="0">
                <a:solidFill>
                  <a:prstClr val="white"/>
                </a:solidFill>
                <a:latin typeface="+mn-ea"/>
              </a:rPr>
              <a:t>)</a:t>
            </a:r>
            <a:endParaRPr lang="ko-KR" altLang="en-US" sz="3600" b="1" dirty="0"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36633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42" y="1826781"/>
            <a:ext cx="9238493" cy="35811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1-1. </a:t>
            </a:r>
            <a:r>
              <a:rPr lang="ko-KR" altLang="en-US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담임인 경우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학교업무분장설정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13B21E-D9E5-4BE6-AB9C-ADCDEF6AE8BD}"/>
              </a:ext>
            </a:extLst>
          </p:cNvPr>
          <p:cNvSpPr/>
          <p:nvPr/>
        </p:nvSpPr>
        <p:spPr>
          <a:xfrm>
            <a:off x="316800" y="5919909"/>
            <a:ext cx="8445788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담임이면 학급담임 메뉴 중 교육활동신청관리가 자동적으로 부여 및 조회 가능함 </a:t>
            </a:r>
            <a:r>
              <a:rPr lang="en-US" altLang="ko-KR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</a:t>
            </a: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자료권한 확인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)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384368" y="1866052"/>
            <a:ext cx="427177" cy="181808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1811545" y="3876659"/>
            <a:ext cx="769730" cy="590565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8726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71427" y="1720598"/>
            <a:ext cx="9155487" cy="4817515"/>
            <a:chOff x="271427" y="1720598"/>
            <a:chExt cx="9155487" cy="4817515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800" y="1720598"/>
              <a:ext cx="9110114" cy="4396398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E13B21E-D9E5-4BE6-AB9C-ADCDEF6AE8BD}"/>
                </a:ext>
              </a:extLst>
            </p:cNvPr>
            <p:cNvSpPr/>
            <p:nvPr/>
          </p:nvSpPr>
          <p:spPr>
            <a:xfrm>
              <a:off x="271427" y="6325747"/>
              <a:ext cx="8445788" cy="212366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000">
                <a:lnSpc>
                  <a:spcPct val="120000"/>
                </a:lnSpc>
              </a:pPr>
              <a:r>
                <a:rPr lang="ko-KR" altLang="en-US" sz="1200" b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FD5312"/>
                  </a:solidFill>
                  <a:latin typeface="나눔바른고딕" panose="020B0600000101010101" charset="-127"/>
                  <a:ea typeface="나눔바른고딕" panose="020B0600000101010101" charset="-127"/>
                </a:rPr>
                <a:t>업무담당자는 학교업무분장설정에서 교육설문</a:t>
              </a:r>
              <a:r>
                <a:rPr lang="en-US" altLang="ko-KR" sz="1200" b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FD5312"/>
                  </a:solidFill>
                  <a:latin typeface="나눔바른고딕" panose="020B0600000101010101" charset="-127"/>
                  <a:ea typeface="나눔바른고딕" panose="020B0600000101010101" charset="-127"/>
                </a:rPr>
                <a:t>-</a:t>
              </a:r>
              <a:r>
                <a:rPr lang="ko-KR" altLang="en-US" sz="1200" b="1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rgbClr val="FD5312"/>
                  </a:solidFill>
                  <a:latin typeface="나눔바른고딕" panose="020B0600000101010101" charset="-127"/>
                  <a:ea typeface="나눔바른고딕" panose="020B0600000101010101" charset="-127"/>
                </a:rPr>
                <a:t>교육활동신청관리 권한을 부여받아야 함</a:t>
              </a:r>
              <a:endPara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endParaRPr>
            </a:p>
          </p:txBody>
        </p:sp>
        <p:sp>
          <p:nvSpPr>
            <p:cNvPr id="3" name="직사각형 2"/>
            <p:cNvSpPr/>
            <p:nvPr/>
          </p:nvSpPr>
          <p:spPr>
            <a:xfrm>
              <a:off x="1572768" y="4425696"/>
              <a:ext cx="1856232" cy="1426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794005" y="3879500"/>
              <a:ext cx="774945" cy="692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794004" y="4658348"/>
              <a:ext cx="774945" cy="7645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1-2. </a:t>
            </a:r>
            <a:r>
              <a:rPr lang="ko-KR" altLang="en-US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업무담당자인 경우 </a:t>
            </a:r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1/4)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학교업무분장설정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787191" y="4552954"/>
            <a:ext cx="619959" cy="181808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8664001" y="3330560"/>
            <a:ext cx="702249" cy="136540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7389093" y="2041399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057191" y="4567444"/>
            <a:ext cx="372309" cy="167318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6934827" y="4399804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6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8564941" y="3181974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7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7566336" y="2128722"/>
            <a:ext cx="1799914" cy="313536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249698" y="2552942"/>
            <a:ext cx="510864" cy="184471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2069637" y="2370062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896923" y="2552942"/>
            <a:ext cx="403336" cy="181808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8664001" y="2551870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5599874" y="443303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5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935444" y="4241225"/>
            <a:ext cx="448942" cy="181808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1752564" y="4067973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4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6760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학교업무분장설정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13B21E-D9E5-4BE6-AB9C-ADCDEF6AE8BD}"/>
              </a:ext>
            </a:extLst>
          </p:cNvPr>
          <p:cNvSpPr/>
          <p:nvPr/>
        </p:nvSpPr>
        <p:spPr>
          <a:xfrm>
            <a:off x="333426" y="6070397"/>
            <a:ext cx="8445788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메뉴관리에서 학교행정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-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교육설문</a:t>
            </a:r>
            <a:r>
              <a:rPr lang="en-US" altLang="ko-KR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-</a:t>
            </a: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교육활동신청관리 메뉴등록</a:t>
            </a:r>
            <a:r>
              <a:rPr lang="en-US" altLang="ko-KR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/</a:t>
            </a: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관리권한을 모두 체크해야함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1-2. </a:t>
            </a:r>
            <a:r>
              <a:rPr lang="ko-KR" altLang="en-US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업무담당자인 경우 </a:t>
            </a:r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2/4)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8E962CE-8E64-FC6B-85A9-B2D2E9792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06" y="1635853"/>
            <a:ext cx="8445788" cy="4322088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3710587" y="379689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7" name="타원 6"/>
          <p:cNvSpPr/>
          <p:nvPr/>
        </p:nvSpPr>
        <p:spPr>
          <a:xfrm>
            <a:off x="4424369" y="5553834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647760" y="5610851"/>
            <a:ext cx="323567" cy="234364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3893467" y="4027095"/>
            <a:ext cx="238695" cy="1065766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679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학교업무분장설정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13B21E-D9E5-4BE6-AB9C-ADCDEF6AE8BD}"/>
              </a:ext>
            </a:extLst>
          </p:cNvPr>
          <p:cNvSpPr/>
          <p:nvPr/>
        </p:nvSpPr>
        <p:spPr>
          <a:xfrm>
            <a:off x="333426" y="5994197"/>
            <a:ext cx="8445788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업무담당자는 학년반 자료권한 전체를 부여해야 학교 모든 학생을 조회할 수 있음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1295093" y="2236979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634291" y="5126674"/>
            <a:ext cx="6077149" cy="176846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26" y="1682018"/>
            <a:ext cx="9359472" cy="4163819"/>
          </a:xfrm>
          <a:prstGeom prst="rect">
            <a:avLst/>
          </a:prstGeom>
        </p:spPr>
      </p:pic>
      <p:sp>
        <p:nvSpPr>
          <p:cNvPr id="9" name="모서리가 둥근 직사각형 8"/>
          <p:cNvSpPr/>
          <p:nvPr/>
        </p:nvSpPr>
        <p:spPr>
          <a:xfrm>
            <a:off x="1840031" y="3741420"/>
            <a:ext cx="3257749" cy="1638300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1-2. </a:t>
            </a:r>
            <a:r>
              <a:rPr lang="ko-KR" altLang="en-US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업무담당자인 경우 </a:t>
            </a:r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3/4)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963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441960" y="1737317"/>
            <a:ext cx="9141162" cy="4008205"/>
            <a:chOff x="441960" y="1737317"/>
            <a:chExt cx="9141162" cy="400820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1960" y="1737317"/>
              <a:ext cx="9141162" cy="400820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sp>
          <p:nvSpPr>
            <p:cNvPr id="4" name="직사각형 3"/>
            <p:cNvSpPr/>
            <p:nvPr/>
          </p:nvSpPr>
          <p:spPr>
            <a:xfrm>
              <a:off x="1775460" y="3680460"/>
              <a:ext cx="7635240" cy="20650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학교업무분장설정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E13B21E-D9E5-4BE6-AB9C-ADCDEF6AE8BD}"/>
              </a:ext>
            </a:extLst>
          </p:cNvPr>
          <p:cNvSpPr/>
          <p:nvPr/>
        </p:nvSpPr>
        <p:spPr>
          <a:xfrm>
            <a:off x="333426" y="5994197"/>
            <a:ext cx="8445788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교무자료권한승인요청 후 승인이 완료되어야 권한부여가 완료됨</a:t>
            </a:r>
            <a:endParaRPr lang="en-US" altLang="ko-KR" sz="120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9144000" y="3122614"/>
            <a:ext cx="350520" cy="176846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8963958" y="302815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1-2. </a:t>
            </a:r>
            <a:r>
              <a:rPr lang="ko-KR" altLang="en-US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업무담당자인 경우 </a:t>
            </a:r>
            <a:r>
              <a:rPr lang="en-US" altLang="ko-KR" sz="2400" b="1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4/4)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556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/>
          <p:cNvSpPr/>
          <p:nvPr/>
        </p:nvSpPr>
        <p:spPr>
          <a:xfrm>
            <a:off x="-992376" y="2273767"/>
            <a:ext cx="3510390" cy="11116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532128" y="2273767"/>
            <a:ext cx="6725462" cy="1111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908058" y="2273767"/>
            <a:ext cx="1404156" cy="11116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1893945" y="2273767"/>
            <a:ext cx="1248139" cy="111162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25893" y="2507794"/>
            <a:ext cx="12481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prstClr val="white"/>
                </a:solidFill>
                <a:latin typeface="+mn-ea"/>
              </a:rPr>
              <a:t>02</a:t>
            </a:r>
            <a:endParaRPr lang="ko-KR" altLang="en-US" sz="4000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15113" y="2538571"/>
            <a:ext cx="6490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>
                <a:solidFill>
                  <a:prstClr val="white"/>
                </a:solidFill>
                <a:latin typeface="+mn-ea"/>
              </a:rPr>
              <a:t>나이스 업무 절차</a:t>
            </a:r>
            <a:endParaRPr lang="ko-KR" altLang="en-US" sz="3600" b="1" dirty="0">
              <a:solidFill>
                <a:prstClr val="white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85137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(1/7)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905708" y="5995375"/>
            <a:ext cx="5276977" cy="4339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 학부모가 신청한 건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접수대기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’)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이 조회됩니다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② 학생 이름을 선택하면 팝업에서 상세 내용을 조회할 수 있습니다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0A0E65BE-6751-43C6-B6A2-288F662C0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742" y="1690182"/>
            <a:ext cx="8099938" cy="4213754"/>
          </a:xfrm>
          <a:prstGeom prst="rect">
            <a:avLst/>
          </a:prstGeom>
        </p:spPr>
      </p:pic>
      <p:sp>
        <p:nvSpPr>
          <p:cNvPr id="29" name="모서리가 둥근 직사각형 20">
            <a:extLst>
              <a:ext uri="{FF2B5EF4-FFF2-40B4-BE49-F238E27FC236}">
                <a16:creationId xmlns:a16="http://schemas.microsoft.com/office/drawing/2014/main" id="{167487E7-A241-4598-8559-8EFC79111F39}"/>
              </a:ext>
            </a:extLst>
          </p:cNvPr>
          <p:cNvSpPr/>
          <p:nvPr/>
        </p:nvSpPr>
        <p:spPr>
          <a:xfrm>
            <a:off x="1229566" y="3195787"/>
            <a:ext cx="1650010" cy="182880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267251C-E168-433B-AC56-8E94205A7E2C}"/>
              </a:ext>
            </a:extLst>
          </p:cNvPr>
          <p:cNvSpPr/>
          <p:nvPr/>
        </p:nvSpPr>
        <p:spPr>
          <a:xfrm>
            <a:off x="1146654" y="3058943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33" name="모서리가 둥근 직사각형 14">
            <a:extLst>
              <a:ext uri="{FF2B5EF4-FFF2-40B4-BE49-F238E27FC236}">
                <a16:creationId xmlns:a16="http://schemas.microsoft.com/office/drawing/2014/main" id="{26AEE270-7FFD-4D3B-973F-5530EBE754D4}"/>
              </a:ext>
            </a:extLst>
          </p:cNvPr>
          <p:cNvSpPr/>
          <p:nvPr/>
        </p:nvSpPr>
        <p:spPr>
          <a:xfrm>
            <a:off x="5401845" y="3194027"/>
            <a:ext cx="378169" cy="182880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430C6D1-C29A-41D8-B61E-5E91C5498CC0}"/>
              </a:ext>
            </a:extLst>
          </p:cNvPr>
          <p:cNvSpPr/>
          <p:nvPr/>
        </p:nvSpPr>
        <p:spPr>
          <a:xfrm>
            <a:off x="5310405" y="3076160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1695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(2/7)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928725" y="5896627"/>
            <a:ext cx="5276977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결석신고 구분 및 접수상태를 선택 한 후 저장을 할 수 있습니다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DA53B8-7A7D-692C-3120-CA963722E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725" y="1879604"/>
            <a:ext cx="4473120" cy="357262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819D06-9392-3D13-5223-7A532AADF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363" y="1984409"/>
            <a:ext cx="1024152" cy="122277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FFF8696-EE20-3F0E-3321-F745D6EE5F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363" y="3801034"/>
            <a:ext cx="1025665" cy="1045909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49E24A77-73E8-AE73-3B81-1F263516B73E}"/>
              </a:ext>
            </a:extLst>
          </p:cNvPr>
          <p:cNvCxnSpPr>
            <a:cxnSpLocks/>
            <a:stCxn id="7" idx="3"/>
            <a:endCxn id="14" idx="1"/>
          </p:cNvCxnSpPr>
          <p:nvPr/>
        </p:nvCxnSpPr>
        <p:spPr>
          <a:xfrm flipV="1">
            <a:off x="2590800" y="2595796"/>
            <a:ext cx="3074563" cy="12501"/>
          </a:xfrm>
          <a:prstGeom prst="line">
            <a:avLst/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모서리가 둥근 직사각형 14">
            <a:extLst>
              <a:ext uri="{FF2B5EF4-FFF2-40B4-BE49-F238E27FC236}">
                <a16:creationId xmlns:a16="http://schemas.microsoft.com/office/drawing/2014/main" id="{FEFB66EB-40CC-8E54-BD91-5A5A66F5058B}"/>
              </a:ext>
            </a:extLst>
          </p:cNvPr>
          <p:cNvSpPr/>
          <p:nvPr/>
        </p:nvSpPr>
        <p:spPr>
          <a:xfrm>
            <a:off x="1861308" y="2535101"/>
            <a:ext cx="729492" cy="146391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14">
            <a:extLst>
              <a:ext uri="{FF2B5EF4-FFF2-40B4-BE49-F238E27FC236}">
                <a16:creationId xmlns:a16="http://schemas.microsoft.com/office/drawing/2014/main" id="{6E79A2A4-083B-057D-50B7-249CF2EAE204}"/>
              </a:ext>
            </a:extLst>
          </p:cNvPr>
          <p:cNvSpPr/>
          <p:nvPr/>
        </p:nvSpPr>
        <p:spPr>
          <a:xfrm>
            <a:off x="1861308" y="2729655"/>
            <a:ext cx="729492" cy="146391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73FD86AC-D390-4828-267D-2A29CFA12DC2}"/>
              </a:ext>
            </a:extLst>
          </p:cNvPr>
          <p:cNvCxnSpPr>
            <a:cxnSpLocks/>
            <a:stCxn id="26" idx="3"/>
            <a:endCxn id="16" idx="1"/>
          </p:cNvCxnSpPr>
          <p:nvPr/>
        </p:nvCxnSpPr>
        <p:spPr>
          <a:xfrm>
            <a:off x="2590800" y="2802851"/>
            <a:ext cx="3074563" cy="1521138"/>
          </a:xfrm>
          <a:prstGeom prst="line">
            <a:avLst/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7" name="모서리가 둥근 직사각형 14">
            <a:extLst>
              <a:ext uri="{FF2B5EF4-FFF2-40B4-BE49-F238E27FC236}">
                <a16:creationId xmlns:a16="http://schemas.microsoft.com/office/drawing/2014/main" id="{54D7F70C-D287-6894-CE89-5177F0C38E98}"/>
              </a:ext>
            </a:extLst>
          </p:cNvPr>
          <p:cNvSpPr/>
          <p:nvPr/>
        </p:nvSpPr>
        <p:spPr>
          <a:xfrm>
            <a:off x="2914567" y="4981341"/>
            <a:ext cx="255683" cy="194846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7065B48-9A66-15F1-7C79-4657C7175265}"/>
              </a:ext>
            </a:extLst>
          </p:cNvPr>
          <p:cNvSpPr/>
          <p:nvPr/>
        </p:nvSpPr>
        <p:spPr>
          <a:xfrm>
            <a:off x="5640993" y="4879954"/>
            <a:ext cx="4088237" cy="57227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 결석사유 및 첨부파일 보완이 필요한 경우 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(‘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보완요청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‘) 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선택</a:t>
            </a:r>
            <a:endParaRPr lang="en-US" altLang="ko-KR" sz="105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6000">
              <a:lnSpc>
                <a:spcPct val="120000"/>
              </a:lnSpc>
            </a:pP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② 결석기간 수정 또는 결석신고서 삭제가 필요한 경우 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(‘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접수취소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‘) 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선택</a:t>
            </a:r>
            <a:endParaRPr lang="en-US" altLang="ko-KR" sz="105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  <a:p>
            <a:pPr marL="36000">
              <a:lnSpc>
                <a:spcPct val="120000"/>
              </a:lnSpc>
            </a:pP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③ 수정사항이 없을 경우 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(‘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접수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’)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선택</a:t>
            </a:r>
            <a:endParaRPr lang="en-US" altLang="ko-KR" sz="105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620708-6E10-E507-27C5-044EBE3424B1}"/>
              </a:ext>
            </a:extLst>
          </p:cNvPr>
          <p:cNvSpPr/>
          <p:nvPr/>
        </p:nvSpPr>
        <p:spPr>
          <a:xfrm>
            <a:off x="5665363" y="3236915"/>
            <a:ext cx="4088237" cy="184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 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‘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기타결석</a:t>
            </a:r>
            <a:r>
              <a:rPr lang="en-US" altLang="ko-KR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’</a:t>
            </a:r>
            <a:r>
              <a:rPr lang="ko-KR" altLang="en-US" sz="105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 선택 시 결석 내용 입력 가능</a:t>
            </a:r>
            <a:endParaRPr lang="en-US" altLang="ko-KR" sz="1050" b="1" dirty="0">
              <a:ln>
                <a:solidFill>
                  <a:schemeClr val="tx1">
                    <a:lumMod val="85000"/>
                    <a:lumOff val="15000"/>
                    <a:alpha val="0"/>
                  </a:schemeClr>
                </a:solidFill>
              </a:ln>
              <a:solidFill>
                <a:srgbClr val="FD5312"/>
              </a:solidFill>
              <a:latin typeface="나눔바른고딕" panose="020B0600000101010101" charset="-127"/>
              <a:ea typeface="나눔바른고딕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654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(3/7)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1022304" y="5912184"/>
            <a:ext cx="5276977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~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② 접수된 결석신고 건을 결재권자에게 승인 받기 위해 승인요청 버튼을 클릭한다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BE411E-55C5-4351-A66C-7F7C35CE6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04" y="1717025"/>
            <a:ext cx="7869453" cy="4096164"/>
          </a:xfrm>
          <a:prstGeom prst="rect">
            <a:avLst/>
          </a:prstGeom>
        </p:spPr>
      </p:pic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72C4C730-7CC8-4CF6-A8CD-4DC113E701EE}"/>
              </a:ext>
            </a:extLst>
          </p:cNvPr>
          <p:cNvSpPr/>
          <p:nvPr/>
        </p:nvSpPr>
        <p:spPr>
          <a:xfrm>
            <a:off x="1133265" y="2966364"/>
            <a:ext cx="7545916" cy="208783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6CE2FF3-C607-43DF-8C11-B9AD4D0346E8}"/>
              </a:ext>
            </a:extLst>
          </p:cNvPr>
          <p:cNvSpPr/>
          <p:nvPr/>
        </p:nvSpPr>
        <p:spPr>
          <a:xfrm>
            <a:off x="1025502" y="2833205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4" name="모서리가 둥근 직사각형 14">
            <a:extLst>
              <a:ext uri="{FF2B5EF4-FFF2-40B4-BE49-F238E27FC236}">
                <a16:creationId xmlns:a16="http://schemas.microsoft.com/office/drawing/2014/main" id="{020D3190-D0EE-4FE4-A79B-424BF9BB18BE}"/>
              </a:ext>
            </a:extLst>
          </p:cNvPr>
          <p:cNvSpPr/>
          <p:nvPr/>
        </p:nvSpPr>
        <p:spPr>
          <a:xfrm>
            <a:off x="7833359" y="2517061"/>
            <a:ext cx="350521" cy="208783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A9264D-98F9-4BA5-ACA7-ADE2A8C1CEB8}"/>
              </a:ext>
            </a:extLst>
          </p:cNvPr>
          <p:cNvSpPr/>
          <p:nvPr/>
        </p:nvSpPr>
        <p:spPr>
          <a:xfrm>
            <a:off x="7741919" y="2359042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7657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AB5F7C2-FC7F-4B15-8E21-B299E3631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10" y="1728918"/>
            <a:ext cx="5923619" cy="411757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(4/7)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1022304" y="5912184"/>
            <a:ext cx="5276977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~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⑤ 내용 입력 후 결재권자를 등록하고 상신문서를 확인하여 </a:t>
            </a:r>
            <a:r>
              <a:rPr lang="ko-KR" altLang="en-US" sz="1200" b="1" dirty="0" err="1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상신합니다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72C4C730-7CC8-4CF6-A8CD-4DC113E701EE}"/>
              </a:ext>
            </a:extLst>
          </p:cNvPr>
          <p:cNvSpPr/>
          <p:nvPr/>
        </p:nvSpPr>
        <p:spPr>
          <a:xfrm>
            <a:off x="2285999" y="2865177"/>
            <a:ext cx="5029201" cy="294584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6CE2FF3-C607-43DF-8C11-B9AD4D0346E8}"/>
              </a:ext>
            </a:extLst>
          </p:cNvPr>
          <p:cNvSpPr/>
          <p:nvPr/>
        </p:nvSpPr>
        <p:spPr>
          <a:xfrm>
            <a:off x="6573519" y="2528341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4" name="모서리가 둥근 직사각형 14">
            <a:extLst>
              <a:ext uri="{FF2B5EF4-FFF2-40B4-BE49-F238E27FC236}">
                <a16:creationId xmlns:a16="http://schemas.microsoft.com/office/drawing/2014/main" id="{020D3190-D0EE-4FE4-A79B-424BF9BB18BE}"/>
              </a:ext>
            </a:extLst>
          </p:cNvPr>
          <p:cNvSpPr/>
          <p:nvPr/>
        </p:nvSpPr>
        <p:spPr>
          <a:xfrm>
            <a:off x="6847839" y="2271666"/>
            <a:ext cx="259081" cy="182881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A9264D-98F9-4BA5-ACA7-ADE2A8C1CEB8}"/>
              </a:ext>
            </a:extLst>
          </p:cNvPr>
          <p:cNvSpPr/>
          <p:nvPr/>
        </p:nvSpPr>
        <p:spPr>
          <a:xfrm>
            <a:off x="2176783" y="2763612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6" name="모서리가 둥근 직사각형 14">
            <a:extLst>
              <a:ext uri="{FF2B5EF4-FFF2-40B4-BE49-F238E27FC236}">
                <a16:creationId xmlns:a16="http://schemas.microsoft.com/office/drawing/2014/main" id="{00D58031-8758-41E1-8E4E-1AE80C22D2FB}"/>
              </a:ext>
            </a:extLst>
          </p:cNvPr>
          <p:cNvSpPr/>
          <p:nvPr/>
        </p:nvSpPr>
        <p:spPr>
          <a:xfrm>
            <a:off x="2285999" y="3396396"/>
            <a:ext cx="5029201" cy="1114644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4">
            <a:extLst>
              <a:ext uri="{FF2B5EF4-FFF2-40B4-BE49-F238E27FC236}">
                <a16:creationId xmlns:a16="http://schemas.microsoft.com/office/drawing/2014/main" id="{2024A423-98A3-41AE-9C5D-18F5F26B4ED2}"/>
              </a:ext>
            </a:extLst>
          </p:cNvPr>
          <p:cNvSpPr/>
          <p:nvPr/>
        </p:nvSpPr>
        <p:spPr>
          <a:xfrm>
            <a:off x="5445760" y="5283200"/>
            <a:ext cx="1087200" cy="223520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4">
            <a:extLst>
              <a:ext uri="{FF2B5EF4-FFF2-40B4-BE49-F238E27FC236}">
                <a16:creationId xmlns:a16="http://schemas.microsoft.com/office/drawing/2014/main" id="{C590241F-955E-4F70-A82B-EE000382E6A7}"/>
              </a:ext>
            </a:extLst>
          </p:cNvPr>
          <p:cNvSpPr/>
          <p:nvPr/>
        </p:nvSpPr>
        <p:spPr>
          <a:xfrm>
            <a:off x="6756400" y="2661311"/>
            <a:ext cx="558800" cy="182881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5A45228D-AD49-4503-AFEA-C3A8AC48AF8B}"/>
              </a:ext>
            </a:extLst>
          </p:cNvPr>
          <p:cNvSpPr/>
          <p:nvPr/>
        </p:nvSpPr>
        <p:spPr>
          <a:xfrm>
            <a:off x="2174510" y="3300135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3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E0DCA3A4-0991-4514-83AB-A9FFC1C59898}"/>
              </a:ext>
            </a:extLst>
          </p:cNvPr>
          <p:cNvSpPr/>
          <p:nvPr/>
        </p:nvSpPr>
        <p:spPr>
          <a:xfrm>
            <a:off x="6753858" y="211364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5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12A3CAC7-BC6D-40E2-A40D-5F268E221D67}"/>
              </a:ext>
            </a:extLst>
          </p:cNvPr>
          <p:cNvSpPr/>
          <p:nvPr/>
        </p:nvSpPr>
        <p:spPr>
          <a:xfrm>
            <a:off x="5262880" y="5126071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4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9212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(5/7)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1022304" y="5912184"/>
            <a:ext cx="5276977" cy="2123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승인요청 후 진행상태가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상신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(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진행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)’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으로 변경됩니다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C01AD6-5001-41B5-99BA-56375EF150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04" y="1698430"/>
            <a:ext cx="7864634" cy="4091344"/>
          </a:xfrm>
          <a:prstGeom prst="rect">
            <a:avLst/>
          </a:prstGeom>
        </p:spPr>
      </p:pic>
      <p:sp>
        <p:nvSpPr>
          <p:cNvPr id="10" name="모서리가 둥근 직사각형 14">
            <a:extLst>
              <a:ext uri="{FF2B5EF4-FFF2-40B4-BE49-F238E27FC236}">
                <a16:creationId xmlns:a16="http://schemas.microsoft.com/office/drawing/2014/main" id="{4D2D5C4B-0588-46F9-BA07-EF45BDD0CB5D}"/>
              </a:ext>
            </a:extLst>
          </p:cNvPr>
          <p:cNvSpPr/>
          <p:nvPr/>
        </p:nvSpPr>
        <p:spPr>
          <a:xfrm>
            <a:off x="1333500" y="3919141"/>
            <a:ext cx="1112520" cy="208783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640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5D3CD6DD-D4F5-2095-A2E4-931E0DB04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304" y="1717025"/>
            <a:ext cx="7854996" cy="40863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(6/7)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1022304" y="5912184"/>
            <a:ext cx="6254796" cy="4339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 승인이 완료되면 진행상태가 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‘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완결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’</a:t>
            </a: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로 변경됩니다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  <a:p>
            <a:pPr marL="36000">
              <a:lnSpc>
                <a:spcPct val="120000"/>
              </a:lnSpc>
            </a:pPr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② 수정이 필요하여 결재권자가 반려 또는 기결취소를 하면 보완요청 및 접수취소가 가능합니다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</a:p>
        </p:txBody>
      </p:sp>
      <p:sp>
        <p:nvSpPr>
          <p:cNvPr id="12" name="모서리가 둥근 직사각형 14">
            <a:extLst>
              <a:ext uri="{FF2B5EF4-FFF2-40B4-BE49-F238E27FC236}">
                <a16:creationId xmlns:a16="http://schemas.microsoft.com/office/drawing/2014/main" id="{8B25452F-F173-FB42-C8BB-67310D20A80B}"/>
              </a:ext>
            </a:extLst>
          </p:cNvPr>
          <p:cNvSpPr/>
          <p:nvPr/>
        </p:nvSpPr>
        <p:spPr>
          <a:xfrm>
            <a:off x="1333500" y="3347641"/>
            <a:ext cx="1112520" cy="208783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F48FB73-7161-8C1B-FCCC-ACABA1E7D187}"/>
              </a:ext>
            </a:extLst>
          </p:cNvPr>
          <p:cNvSpPr/>
          <p:nvPr/>
        </p:nvSpPr>
        <p:spPr>
          <a:xfrm>
            <a:off x="1242060" y="320178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sp>
        <p:nvSpPr>
          <p:cNvPr id="17" name="모서리가 둥근 직사각형 14">
            <a:extLst>
              <a:ext uri="{FF2B5EF4-FFF2-40B4-BE49-F238E27FC236}">
                <a16:creationId xmlns:a16="http://schemas.microsoft.com/office/drawing/2014/main" id="{7B6425D5-2A63-49F9-98DB-A1BF3EDB4847}"/>
              </a:ext>
            </a:extLst>
          </p:cNvPr>
          <p:cNvSpPr/>
          <p:nvPr/>
        </p:nvSpPr>
        <p:spPr>
          <a:xfrm>
            <a:off x="1333500" y="4679154"/>
            <a:ext cx="1112520" cy="208783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99C893BB-9D9A-4884-BF6A-673E2421F429}"/>
              </a:ext>
            </a:extLst>
          </p:cNvPr>
          <p:cNvSpPr/>
          <p:nvPr/>
        </p:nvSpPr>
        <p:spPr>
          <a:xfrm>
            <a:off x="1242060" y="4542307"/>
            <a:ext cx="182880" cy="182880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2</a:t>
            </a:r>
            <a:endParaRPr lang="ko-KR" altLang="en-US" sz="11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0512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16463" y="913221"/>
            <a:ext cx="764484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570"/>
            <a:r>
              <a:rPr lang="en-US" altLang="ko-KR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1. </a:t>
            </a:r>
            <a:r>
              <a:rPr lang="ko-KR" altLang="en-US" sz="2600">
                <a:solidFill>
                  <a:prstClr val="white"/>
                </a:solidFill>
                <a:latin typeface="HY울릉도M" panose="02030600000101010101" pitchFamily="18" charset="-127"/>
                <a:ea typeface="HY울릉도M" panose="02030600000101010101" pitchFamily="18" charset="-127"/>
              </a:rPr>
              <a:t>학교폭력 실태조사 추진 절차</a:t>
            </a:r>
            <a:endParaRPr lang="ko-KR" altLang="en-US" sz="2600" dirty="0">
              <a:solidFill>
                <a:prstClr val="white"/>
              </a:solidFill>
              <a:latin typeface="HY울릉도M" panose="02030600000101010101" pitchFamily="18" charset="-127"/>
              <a:ea typeface="HY울릉도M" panose="02030600000101010101" pitchFamily="18" charset="-127"/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A48839FD-54EA-214C-BE98-4BDD2DF3094C}"/>
              </a:ext>
            </a:extLst>
          </p:cNvPr>
          <p:cNvSpPr/>
          <p:nvPr/>
        </p:nvSpPr>
        <p:spPr>
          <a:xfrm>
            <a:off x="163006" y="802347"/>
            <a:ext cx="4393314" cy="669006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2-1. </a:t>
            </a:r>
            <a:r>
              <a:rPr lang="ko-KR" altLang="en-US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결석신고</a:t>
            </a:r>
            <a:r>
              <a:rPr lang="en-US" altLang="ko-KR" sz="2400" b="1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srgbClr val="00206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(7/7)</a:t>
            </a:r>
            <a:endParaRPr lang="ko-KR" altLang="en-US" sz="2400" b="1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srgbClr val="00206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2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96327" y="39171"/>
            <a:ext cx="515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ko-KR" altLang="en-US" sz="2000" b="1" spc="-7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나이스 업무 절차</a:t>
            </a:r>
            <a:endParaRPr lang="ko-KR" altLang="en-US" sz="2000" b="1" spc="-7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white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1F9C9A-9246-5ADB-8C82-B2971BBF6944}"/>
              </a:ext>
            </a:extLst>
          </p:cNvPr>
          <p:cNvSpPr/>
          <p:nvPr/>
        </p:nvSpPr>
        <p:spPr>
          <a:xfrm>
            <a:off x="1022304" y="5912184"/>
            <a:ext cx="6254796" cy="18466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① 접수한 결석신고서의 결재가 완료된 경우 출력이 가능합니다</a:t>
            </a:r>
            <a:r>
              <a:rPr lang="en-US" altLang="ko-KR" sz="1200" b="1" dirty="0">
                <a:ln>
                  <a:solidFill>
                    <a:schemeClr val="tx1">
                      <a:lumMod val="85000"/>
                      <a:lumOff val="15000"/>
                      <a:alpha val="0"/>
                    </a:schemeClr>
                  </a:solidFill>
                </a:ln>
                <a:solidFill>
                  <a:srgbClr val="FD5312"/>
                </a:solidFill>
                <a:latin typeface="나눔바른고딕" panose="020B0600000101010101" charset="-127"/>
                <a:ea typeface="나눔바른고딕" panose="020B0600000101010101" charset="-127"/>
              </a:rPr>
              <a:t>.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BC949DCA-8662-4C33-AF29-3C0238AE0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557" y="1516538"/>
            <a:ext cx="4428557" cy="35671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모서리가 둥근 직사각형 14">
            <a:extLst>
              <a:ext uri="{FF2B5EF4-FFF2-40B4-BE49-F238E27FC236}">
                <a16:creationId xmlns:a16="http://schemas.microsoft.com/office/drawing/2014/main" id="{630BB8C8-F797-4597-9A9A-334BA128036C}"/>
              </a:ext>
            </a:extLst>
          </p:cNvPr>
          <p:cNvSpPr/>
          <p:nvPr/>
        </p:nvSpPr>
        <p:spPr>
          <a:xfrm>
            <a:off x="5310365" y="1977556"/>
            <a:ext cx="241239" cy="156755"/>
          </a:xfrm>
          <a:prstGeom prst="roundRect">
            <a:avLst>
              <a:gd name="adj" fmla="val 10747"/>
            </a:avLst>
          </a:prstGeom>
          <a:noFill/>
          <a:ln w="25400">
            <a:solidFill>
              <a:srgbClr val="FD531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53BF9EFE-4F88-4843-9828-CA7DB92B8457}"/>
              </a:ext>
            </a:extLst>
          </p:cNvPr>
          <p:cNvSpPr/>
          <p:nvPr/>
        </p:nvSpPr>
        <p:spPr>
          <a:xfrm>
            <a:off x="5175848" y="1895442"/>
            <a:ext cx="134517" cy="156754"/>
          </a:xfrm>
          <a:prstGeom prst="ellipse">
            <a:avLst/>
          </a:prstGeom>
          <a:solidFill>
            <a:srgbClr val="FD5312"/>
          </a:solidFill>
          <a:ln w="25400">
            <a:solidFill>
              <a:srgbClr val="FD531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>
                <a:latin typeface="+mn-ea"/>
              </a:rPr>
              <a:t>1</a:t>
            </a:r>
            <a:endParaRPr lang="ko-KR" altLang="en-US" sz="1100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78267FF-B086-476F-8631-E6CB05FD4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368719"/>
            <a:ext cx="4499921" cy="33764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56266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28"/>
          <a:stretch/>
        </p:blipFill>
        <p:spPr>
          <a:xfrm>
            <a:off x="0" y="0"/>
            <a:ext cx="9904576" cy="6858000"/>
          </a:xfrm>
          <a:prstGeom prst="rect">
            <a:avLst/>
          </a:prstGeom>
        </p:spPr>
      </p:pic>
      <p:sp>
        <p:nvSpPr>
          <p:cNvPr id="18" name="矩形 18"/>
          <p:cNvSpPr/>
          <p:nvPr/>
        </p:nvSpPr>
        <p:spPr>
          <a:xfrm>
            <a:off x="476075" y="1417356"/>
            <a:ext cx="8968450" cy="4257052"/>
          </a:xfrm>
          <a:prstGeom prst="rect">
            <a:avLst/>
          </a:prstGeom>
          <a:solidFill>
            <a:schemeClr val="bg1">
              <a:alpha val="8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Montserrat SemiBold" panose="00000700000000000000" charset="0"/>
                <a:cs typeface="Montserrat SemiBold" panose="00000700000000000000" charset="0"/>
              </a:rPr>
              <a:t>-</a:t>
            </a:r>
            <a:endParaRPr lang="zh-CN" altLang="en-US" dirty="0">
              <a:latin typeface="Montserrat SemiBold" panose="00000700000000000000" charset="0"/>
              <a:cs typeface="Montserrat SemiBold" panose="00000700000000000000" charset="0"/>
            </a:endParaRPr>
          </a:p>
        </p:txBody>
      </p:sp>
      <p:grpSp>
        <p:nvGrpSpPr>
          <p:cNvPr id="19" name="组合 19"/>
          <p:cNvGrpSpPr/>
          <p:nvPr/>
        </p:nvGrpSpPr>
        <p:grpSpPr>
          <a:xfrm flipH="1">
            <a:off x="910838" y="1806662"/>
            <a:ext cx="8107584" cy="3488958"/>
            <a:chOff x="1295400" y="1122996"/>
            <a:chExt cx="6544141" cy="2935213"/>
          </a:xfrm>
        </p:grpSpPr>
        <p:sp>
          <p:nvSpPr>
            <p:cNvPr id="20" name="矩形 3"/>
            <p:cNvSpPr/>
            <p:nvPr/>
          </p:nvSpPr>
          <p:spPr>
            <a:xfrm>
              <a:off x="1295400" y="1122996"/>
              <a:ext cx="6544141" cy="2935213"/>
            </a:xfrm>
            <a:custGeom>
              <a:avLst/>
              <a:gdLst>
                <a:gd name="connsiteX0" fmla="*/ 0 w 7581900"/>
                <a:gd name="connsiteY0" fmla="*/ 0 h 3390900"/>
                <a:gd name="connsiteX1" fmla="*/ 7581900 w 7581900"/>
                <a:gd name="connsiteY1" fmla="*/ 0 h 3390900"/>
                <a:gd name="connsiteX2" fmla="*/ 7581900 w 7581900"/>
                <a:gd name="connsiteY2" fmla="*/ 3390900 h 3390900"/>
                <a:gd name="connsiteX3" fmla="*/ 0 w 7581900"/>
                <a:gd name="connsiteY3" fmla="*/ 3390900 h 3390900"/>
                <a:gd name="connsiteX4" fmla="*/ 0 w 7581900"/>
                <a:gd name="connsiteY4" fmla="*/ 0 h 3390900"/>
                <a:gd name="connsiteX0-1" fmla="*/ 0 w 7581900"/>
                <a:gd name="connsiteY0-2" fmla="*/ 0 h 3390900"/>
                <a:gd name="connsiteX1-3" fmla="*/ 7581900 w 7581900"/>
                <a:gd name="connsiteY1-4" fmla="*/ 0 h 3390900"/>
                <a:gd name="connsiteX2-5" fmla="*/ 7581900 w 7581900"/>
                <a:gd name="connsiteY2-6" fmla="*/ 3390900 h 3390900"/>
                <a:gd name="connsiteX3-7" fmla="*/ 0 w 7581900"/>
                <a:gd name="connsiteY3-8" fmla="*/ 3390900 h 3390900"/>
                <a:gd name="connsiteX4-9" fmla="*/ 91440 w 7581900"/>
                <a:gd name="connsiteY4-10" fmla="*/ 91440 h 3390900"/>
                <a:gd name="connsiteX0-11" fmla="*/ 22860 w 7604760"/>
                <a:gd name="connsiteY0-12" fmla="*/ 0 h 3390900"/>
                <a:gd name="connsiteX1-13" fmla="*/ 7604760 w 7604760"/>
                <a:gd name="connsiteY1-14" fmla="*/ 0 h 3390900"/>
                <a:gd name="connsiteX2-15" fmla="*/ 7604760 w 7604760"/>
                <a:gd name="connsiteY2-16" fmla="*/ 3390900 h 3390900"/>
                <a:gd name="connsiteX3-17" fmla="*/ 22860 w 7604760"/>
                <a:gd name="connsiteY3-18" fmla="*/ 3390900 h 3390900"/>
                <a:gd name="connsiteX4-19" fmla="*/ 0 w 7604760"/>
                <a:gd name="connsiteY4-20" fmla="*/ 1672590 h 3390900"/>
                <a:gd name="connsiteX0-21" fmla="*/ 0 w 7581900"/>
                <a:gd name="connsiteY0-22" fmla="*/ 0 h 3390900"/>
                <a:gd name="connsiteX1-23" fmla="*/ 7581900 w 7581900"/>
                <a:gd name="connsiteY1-24" fmla="*/ 0 h 3390900"/>
                <a:gd name="connsiteX2-25" fmla="*/ 7581900 w 7581900"/>
                <a:gd name="connsiteY2-26" fmla="*/ 3390900 h 3390900"/>
                <a:gd name="connsiteX3-27" fmla="*/ 0 w 7581900"/>
                <a:gd name="connsiteY3-28" fmla="*/ 3390900 h 3390900"/>
                <a:gd name="connsiteX4-29" fmla="*/ 5715 w 7581900"/>
                <a:gd name="connsiteY4-30" fmla="*/ 1672590 h 3390900"/>
                <a:gd name="connsiteX0-31" fmla="*/ 3790950 w 7581900"/>
                <a:gd name="connsiteY0-32" fmla="*/ 0 h 3390900"/>
                <a:gd name="connsiteX1-33" fmla="*/ 7581900 w 7581900"/>
                <a:gd name="connsiteY1-34" fmla="*/ 0 h 3390900"/>
                <a:gd name="connsiteX2-35" fmla="*/ 7581900 w 7581900"/>
                <a:gd name="connsiteY2-36" fmla="*/ 3390900 h 3390900"/>
                <a:gd name="connsiteX3-37" fmla="*/ 0 w 7581900"/>
                <a:gd name="connsiteY3-38" fmla="*/ 3390900 h 3390900"/>
                <a:gd name="connsiteX4-39" fmla="*/ 5715 w 7581900"/>
                <a:gd name="connsiteY4-40" fmla="*/ 1672590 h 3390900"/>
                <a:gd name="connsiteX0-1" fmla="*/ 1008420 w 7581900"/>
                <a:gd name="connsiteY0-2" fmla="*/ 25455 h 3390900"/>
                <a:gd name="connsiteX1-3" fmla="*/ 7581900 w 7581900"/>
                <a:gd name="connsiteY1-4" fmla="*/ 0 h 3390900"/>
                <a:gd name="connsiteX2-5" fmla="*/ 7581900 w 7581900"/>
                <a:gd name="connsiteY2-6" fmla="*/ 3390900 h 3390900"/>
                <a:gd name="connsiteX3-7" fmla="*/ 0 w 7581900"/>
                <a:gd name="connsiteY3-8" fmla="*/ 3390900 h 3390900"/>
                <a:gd name="connsiteX4-9" fmla="*/ 5715 w 7581900"/>
                <a:gd name="connsiteY4-10" fmla="*/ 1672590 h 3390900"/>
                <a:gd name="connsiteX0-11" fmla="*/ 1008420 w 7581900"/>
                <a:gd name="connsiteY0-12" fmla="*/ 25455 h 3390900"/>
                <a:gd name="connsiteX1-13" fmla="*/ 7581900 w 7581900"/>
                <a:gd name="connsiteY1-14" fmla="*/ 0 h 3390900"/>
                <a:gd name="connsiteX2-15" fmla="*/ 7581900 w 7581900"/>
                <a:gd name="connsiteY2-16" fmla="*/ 3390900 h 3390900"/>
                <a:gd name="connsiteX3-17" fmla="*/ 0 w 7581900"/>
                <a:gd name="connsiteY3-18" fmla="*/ 3390900 h 3390900"/>
                <a:gd name="connsiteX4-19" fmla="*/ 18479 w 7581900"/>
                <a:gd name="connsiteY4-20" fmla="*/ 730777 h 3390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7581900" h="3390900">
                  <a:moveTo>
                    <a:pt x="1008420" y="25455"/>
                  </a:moveTo>
                  <a:lnTo>
                    <a:pt x="7581900" y="0"/>
                  </a:lnTo>
                  <a:lnTo>
                    <a:pt x="7581900" y="3390900"/>
                  </a:lnTo>
                  <a:lnTo>
                    <a:pt x="0" y="3390900"/>
                  </a:lnTo>
                  <a:cubicBezTo>
                    <a:pt x="0" y="2260600"/>
                    <a:pt x="18479" y="730777"/>
                    <a:pt x="18479" y="730777"/>
                  </a:cubicBezTo>
                </a:path>
              </a:pathLst>
            </a:custGeom>
            <a:noFill/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Montserrat SemiBold" panose="00000700000000000000" charset="0"/>
                <a:ea typeface="方正黑体简体" panose="02000000000000000000" pitchFamily="65" charset="-122"/>
                <a:cs typeface="Montserrat SemiBold" panose="00000700000000000000" charset="0"/>
                <a:sym typeface="+mn-lt"/>
              </a:endParaRPr>
            </a:p>
          </p:txBody>
        </p:sp>
        <p:sp>
          <p:nvSpPr>
            <p:cNvPr id="21" name="矩形 21"/>
            <p:cNvSpPr/>
            <p:nvPr/>
          </p:nvSpPr>
          <p:spPr>
            <a:xfrm>
              <a:off x="1295400" y="1122996"/>
              <a:ext cx="762000" cy="518517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ontserrat SemiBold" panose="00000700000000000000" charset="0"/>
                <a:cs typeface="Montserrat SemiBold" panose="00000700000000000000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B2A2134E-34A5-422C-8D66-092F6558A4F0}"/>
              </a:ext>
            </a:extLst>
          </p:cNvPr>
          <p:cNvSpPr txBox="1"/>
          <p:nvPr/>
        </p:nvSpPr>
        <p:spPr>
          <a:xfrm>
            <a:off x="3499804" y="2875002"/>
            <a:ext cx="292099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ko-KR" altLang="en-US" sz="4800" b="1" spc="-2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206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감사합니다</a:t>
            </a:r>
            <a:endParaRPr lang="en-US" altLang="ko-KR" sz="4800" b="1" spc="-2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rgbClr val="00206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75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680623</TotalTime>
  <Words>463</Words>
  <Application>Microsoft Office PowerPoint</Application>
  <PresentationFormat>A4 용지(210x297mm)</PresentationFormat>
  <Paragraphs>120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9" baseType="lpstr">
      <vt:lpstr>나눔바른고딕</vt:lpstr>
      <vt:lpstr>Arial</vt:lpstr>
      <vt:lpstr>Calibri</vt:lpstr>
      <vt:lpstr>方正黑体简体</vt:lpstr>
      <vt:lpstr>맑은 고딕</vt:lpstr>
      <vt:lpstr>等线</vt:lpstr>
      <vt:lpstr>HY울릉도M</vt:lpstr>
      <vt:lpstr>Calibri Light</vt:lpstr>
      <vt:lpstr>Montserrat SemiBold</vt:lpstr>
      <vt:lpstr>Poppins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물적기반</cp:lastModifiedBy>
  <cp:revision>1838</cp:revision>
  <cp:lastPrinted>2023-09-11T04:31:32Z</cp:lastPrinted>
  <dcterms:created xsi:type="dcterms:W3CDTF">2021-09-02T02:09:13Z</dcterms:created>
  <dcterms:modified xsi:type="dcterms:W3CDTF">2024-08-28T06:39:42Z</dcterms:modified>
</cp:coreProperties>
</file>