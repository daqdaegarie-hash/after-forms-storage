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1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82" r:id="rId14"/>
    <p:sldId id="283" r:id="rId15"/>
    <p:sldId id="284" r:id="rId16"/>
    <p:sldId id="285" r:id="rId17"/>
    <p:sldId id="286" r:id="rId18"/>
    <p:sldId id="287" r:id="rId19"/>
    <p:sldId id="277" r:id="rId20"/>
    <p:sldId id="278" r:id="rId21"/>
    <p:sldId id="274" r:id="rId22"/>
    <p:sldId id="279" r:id="rId23"/>
    <p:sldId id="280" r:id="rId24"/>
    <p:sldId id="275" r:id="rId25"/>
    <p:sldId id="281" r:id="rId26"/>
  </p:sldIdLst>
  <p:sldSz cx="9144000" cy="6858000" type="screen4x3"/>
  <p:notesSz cx="6797675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22" autoAdjust="0"/>
    <p:restoredTop sz="60870" autoAdjust="0"/>
  </p:normalViewPr>
  <p:slideViewPr>
    <p:cSldViewPr>
      <p:cViewPr varScale="1">
        <p:scale>
          <a:sx n="113" d="100"/>
          <a:sy n="113" d="100"/>
        </p:scale>
        <p:origin x="1980" y="96"/>
      </p:cViewPr>
      <p:guideLst>
        <p:guide orient="horz" pos="215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90"/>
      </p:cViewPr>
      <p:guideLst>
        <p:guide orient="horz" pos="3109"/>
        <p:guide pos="21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F69822D-C420-4887-84EA-6F79E1D54A34}" type="datetime1">
              <a:rPr lang="ko-KR" altLang="en-US"/>
              <a:pPr lvl="0">
                <a:defRPr/>
              </a:pPr>
              <a:t>2025-03-18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2692BE91-34DC-4CFB-AE11-897D9D0B9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5EE0F52-7A4C-498C-90C6-BD4802C88A94}" type="datetime1">
              <a:rPr lang="ko-KR" altLang="en-US"/>
              <a:pPr lvl="0">
                <a:defRPr/>
              </a:pPr>
              <a:t>2025-03-18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201AFA22-C6BF-4D47-978F-7F7876498A3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B9C75C13-0C1F-4136-B92B-E2F2894AFB69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1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n-US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en-US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en-US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277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14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337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15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814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16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6586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17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486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C75C13-0C1F-4136-B92B-E2F2894AFB69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980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B9C75C13-0C1F-4136-B92B-E2F2894AFB69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B9C75C13-0C1F-4136-B92B-E2F2894AFB69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21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B9C75C13-0C1F-4136-B92B-E2F2894AFB69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22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B9C75C13-0C1F-4136-B92B-E2F2894AFB69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23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B9C75C13-0C1F-4136-B92B-E2F2894AFB69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24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876449-8202-4774-B580-B1EA167699E6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08705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299CA2-528A-48F1-A07B-1BC688704C9B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09735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1E02D6-B7D6-4042-A20F-1C6531FB0574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84124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C141DD-BD49-4695-8AA5-ADB590FF0177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3635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799525-60C1-49AC-8752-4CD81FA66CDA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92787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FD902D-D08B-44C6-9208-D97483DAF10C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82020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DB866E-2D9F-45AF-870D-1030750FB956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28347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B12128-11C1-456F-9771-030893195A64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63775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3583EA-1323-4F79-A0CB-91AF03E0D82B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956576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C7BD23-9C5C-4D96-9F05-DE2265805788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35920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A95129-2D56-4522-804B-0A6FE3DD0580}" type="slidenum"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01418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2"/>
          <p:cNvGrpSpPr>
            <a:grpSpLocks/>
          </p:cNvGrpSpPr>
          <p:nvPr userDrawn="1"/>
        </p:nvGrpSpPr>
        <p:grpSpPr bwMode="auto">
          <a:xfrm>
            <a:off x="0" y="0"/>
            <a:ext cx="9144000" cy="2971800"/>
            <a:chOff x="0" y="0"/>
            <a:chExt cx="5760" cy="2016"/>
          </a:xfrm>
        </p:grpSpPr>
        <p:pic>
          <p:nvPicPr>
            <p:cNvPr id="3" name="Picture 153" descr="7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5760" cy="2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" name="Picture 140" descr="04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60" y="0"/>
              <a:ext cx="858" cy="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5" name="Picture 163" descr="water_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914400"/>
            <a:ext cx="8667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5494279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/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517EF1-7953-414C-B84A-D475ADDF6A94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171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ransition>
    <p:fade/>
  </p:transition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6" y="0"/>
            <a:ext cx="9142968" cy="6858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5536" y="3214544"/>
            <a:ext cx="8352928" cy="136236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3600" b="1" i="0" u="none" strike="noStrike" kern="1200" cap="none" spc="0" normalizeH="0" baseline="0" dirty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헤드라인M"/>
                <a:ea typeface="HY헤드라인M"/>
                <a:cs typeface="+mn-cs"/>
              </a:rPr>
              <a:t>2025. </a:t>
            </a:r>
            <a:r>
              <a:rPr kumimoji="1" lang="ko-KR" altLang="en-US" sz="3600" b="1" i="0" u="none" strike="noStrike" kern="1200" cap="none" spc="0" normalizeH="0" baseline="0" dirty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헤드라인M"/>
                <a:ea typeface="HY헤드라인M"/>
                <a:cs typeface="+mn-cs"/>
              </a:rPr>
              <a:t>학교주도적 학교평가 어떻게 할까</a:t>
            </a:r>
          </a:p>
          <a:p>
            <a:pPr marL="0" marR="0" lvl="0" indent="0" algn="ctr" defTabSz="914400" rtl="0" eaLnBrk="0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3200" b="1" i="0" u="none" strike="noStrike" kern="1200" cap="none" spc="0" normalizeH="0" baseline="0" dirty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헤드라인M"/>
                <a:ea typeface="HY헤드라인M"/>
                <a:cs typeface="+mn-cs"/>
              </a:rPr>
              <a:t>(</a:t>
            </a:r>
            <a:r>
              <a:rPr kumimoji="1" lang="ko-KR" altLang="en-US" sz="3200" b="1" i="0" u="none" strike="noStrike" kern="1200" cap="none" spc="0" normalizeH="0" baseline="0" dirty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헤드라인M"/>
                <a:ea typeface="HY헤드라인M"/>
                <a:cs typeface="+mn-cs"/>
              </a:rPr>
              <a:t>초등</a:t>
            </a:r>
            <a:r>
              <a:rPr kumimoji="1" lang="en-US" altLang="ko-KR" sz="3200" b="1" i="0" u="none" strike="noStrike" kern="1200" cap="none" spc="0" normalizeH="0" baseline="0" dirty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헤드라인M"/>
                <a:ea typeface="HY헤드라인M"/>
                <a:cs typeface="+mn-cs"/>
              </a:rPr>
              <a:t>/</a:t>
            </a:r>
            <a:r>
              <a:rPr kumimoji="1" lang="ko-KR" altLang="en-US" sz="3200" b="1" i="0" u="none" strike="noStrike" kern="1200" cap="none" spc="0" normalizeH="0" baseline="0" dirty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헤드라인M"/>
                <a:ea typeface="HY헤드라인M"/>
                <a:cs typeface="+mn-cs"/>
              </a:rPr>
              <a:t>중등</a:t>
            </a:r>
            <a:r>
              <a:rPr kumimoji="1" lang="en-US" altLang="ko-KR" sz="3200" b="1" i="0" u="none" strike="noStrike" kern="1200" cap="none" spc="0" normalizeH="0" baseline="0" dirty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헤드라인M"/>
                <a:ea typeface="HY헤드라인M"/>
                <a:cs typeface="+mn-cs"/>
              </a:rPr>
              <a:t>/</a:t>
            </a:r>
            <a:r>
              <a:rPr kumimoji="1" lang="ko-KR" altLang="en-US" sz="3200" b="1" i="0" u="none" strike="noStrike" kern="1200" cap="none" spc="0" normalizeH="0" baseline="0" dirty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헤드라인M"/>
                <a:ea typeface="HY헤드라인M"/>
                <a:cs typeface="+mn-cs"/>
              </a:rPr>
              <a:t>특수학교</a:t>
            </a:r>
            <a:r>
              <a:rPr kumimoji="1" lang="en-US" altLang="ko-KR" sz="3200" b="1" i="0" u="none" strike="noStrike" kern="1200" cap="none" spc="0" normalizeH="0" baseline="0" dirty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헤드라인M"/>
                <a:ea typeface="HY헤드라인M"/>
                <a:cs typeface="+mn-cs"/>
              </a:rPr>
              <a:t>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428694" y="5625772"/>
            <a:ext cx="33522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6858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en-US" sz="2000" b="1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경상남도교육청 </a:t>
            </a:r>
            <a:r>
              <a:rPr kumimoji="1" lang="ko-KR" altLang="en-US" sz="2000" b="1" dirty="0">
                <a:solidFill>
                  <a:prstClr val="black"/>
                </a:solidFill>
                <a:latin typeface="맑은 고딕"/>
                <a:ea typeface="맑은 고딕"/>
              </a:rPr>
              <a:t>미래교육</a:t>
            </a:r>
            <a:r>
              <a:rPr kumimoji="1" lang="ko-KR" altLang="en-US" sz="2000" b="1" i="0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원</a:t>
            </a:r>
            <a:endParaRPr kumimoji="1" lang="ko-KR" altLang="en-US" sz="2000" b="1" i="0" u="none" strike="noStrike" kern="1200" cap="none" spc="0" normalizeH="0" baseline="0" dirty="0">
              <a:solidFill>
                <a:prstClr val="black"/>
              </a:solidFill>
              <a:latin typeface="맑은 고딕"/>
              <a:ea typeface="맑은 고딕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5BAEC8-607C-1FAE-56B9-5869EC7F02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118" y="5394295"/>
            <a:ext cx="907576" cy="8630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" y="0"/>
            <a:ext cx="9142968" cy="68580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292156" y="547570"/>
            <a:ext cx="4143940" cy="61555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4000" b="1">
                <a:ln w="11430"/>
                <a:solidFill>
                  <a:srgbClr val="5AA5F8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헤드라인M"/>
                <a:ea typeface="HY헤드라인M"/>
              </a:rPr>
              <a:t>안 내 순 서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1955830" y="1249183"/>
            <a:ext cx="6936651" cy="4490054"/>
            <a:chOff x="1955830" y="1406504"/>
            <a:chExt cx="6936651" cy="4490054"/>
          </a:xfrm>
        </p:grpSpPr>
        <p:sp>
          <p:nvSpPr>
            <p:cNvPr id="52" name="달 51"/>
            <p:cNvSpPr/>
            <p:nvPr/>
          </p:nvSpPr>
          <p:spPr>
            <a:xfrm rot="4135760">
              <a:off x="2117451" y="5618978"/>
              <a:ext cx="123785" cy="431375"/>
            </a:xfrm>
            <a:prstGeom prst="moon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90000"/>
                  </a:schemeClr>
                </a:gs>
                <a:gs pos="50000">
                  <a:schemeClr val="bg1">
                    <a:alpha val="1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rgbClr val="488211"/>
                </a:solidFill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1955830" y="1406504"/>
              <a:ext cx="6504600" cy="1058566"/>
              <a:chOff x="1795023" y="1474187"/>
              <a:chExt cx="6504600" cy="1058566"/>
            </a:xfrm>
          </p:grpSpPr>
          <p:grpSp>
            <p:nvGrpSpPr>
              <p:cNvPr id="82" name="그룹 81"/>
              <p:cNvGrpSpPr/>
              <p:nvPr/>
            </p:nvGrpSpPr>
            <p:grpSpPr>
              <a:xfrm>
                <a:off x="1795023" y="1474187"/>
                <a:ext cx="6504600" cy="1058121"/>
                <a:chOff x="2411760" y="1016871"/>
                <a:chExt cx="6483792" cy="1234474"/>
              </a:xfrm>
            </p:grpSpPr>
            <p:grpSp>
              <p:nvGrpSpPr>
                <p:cNvPr id="83" name="그룹 53"/>
                <p:cNvGrpSpPr/>
                <p:nvPr/>
              </p:nvGrpSpPr>
              <p:grpSpPr>
                <a:xfrm>
                  <a:off x="2951687" y="1448920"/>
                  <a:ext cx="5943865" cy="792087"/>
                  <a:chOff x="3386404" y="1521471"/>
                  <a:chExt cx="5171211" cy="653170"/>
                </a:xfrm>
              </p:grpSpPr>
              <p:sp>
                <p:nvSpPr>
                  <p:cNvPr id="88" name="모서리가 둥근 직사각형 87"/>
                  <p:cNvSpPr/>
                  <p:nvPr/>
                </p:nvSpPr>
                <p:spPr>
                  <a:xfrm>
                    <a:off x="3456006" y="1546580"/>
                    <a:ext cx="4973645" cy="628061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50000">
                        <a:schemeClr val="bg1">
                          <a:lumMod val="95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threePt" dir="t"/>
                  </a:scene3d>
                  <a:sp3d>
                    <a:bevelT w="133350" h="25400"/>
                    <a:bevelB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89" name="달 88"/>
                  <p:cNvSpPr/>
                  <p:nvPr/>
                </p:nvSpPr>
                <p:spPr>
                  <a:xfrm rot="4135760">
                    <a:off x="3533569" y="1374306"/>
                    <a:ext cx="116524" cy="410854"/>
                  </a:xfrm>
                  <a:prstGeom prst="moon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bg1">
                          <a:alpha val="90000"/>
                        </a:schemeClr>
                      </a:gs>
                      <a:gs pos="50000">
                        <a:schemeClr val="bg1">
                          <a:alpha val="1000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srgbClr val="488211"/>
                      </a:solidFill>
                    </a:endParaRPr>
                  </a:p>
                </p:txBody>
              </p:sp>
              <p:sp>
                <p:nvSpPr>
                  <p:cNvPr id="90" name="직사각형 89"/>
                  <p:cNvSpPr/>
                  <p:nvPr/>
                </p:nvSpPr>
                <p:spPr>
                  <a:xfrm>
                    <a:off x="4029490" y="1656158"/>
                    <a:ext cx="4528125" cy="348775"/>
                  </a:xfrm>
                  <a:prstGeom prst="rect">
                    <a:avLst/>
                  </a:prstGeom>
                  <a:noFill/>
                  <a:ln w="9525" algn="ctr">
                    <a:noFill/>
                    <a:miter/>
                  </a:ln>
                  <a:effectLst/>
                </p:spPr>
                <p:txBody>
                  <a:bodyPr wrap="square" lIns="0" tIns="0" rIns="0" bIns="0" anchor="ctr" anchorCtr="0">
                    <a:spAutoFit/>
                  </a:bodyPr>
                  <a:lstStyle/>
                  <a:p>
                    <a:pPr>
                      <a:defRPr/>
                    </a:pPr>
                    <a:r>
                      <a:rPr lang="ko-KR" altLang="en-US" sz="2400">
                        <a:gradFill flip="none" rotWithShape="1">
                          <a:gsLst>
                            <a:gs pos="0">
                              <a:schemeClr val="tx2">
                                <a:lumMod val="75000"/>
                                <a:shade val="30000"/>
                                <a:satMod val="115000"/>
                              </a:schemeClr>
                            </a:gs>
                            <a:gs pos="50000">
                              <a:schemeClr val="tx2">
                                <a:lumMod val="75000"/>
                                <a:shade val="67500"/>
                                <a:satMod val="115000"/>
                              </a:schemeClr>
                            </a:gs>
                            <a:gs pos="100000">
                              <a:schemeClr val="tx2">
                                <a:lumMod val="75000"/>
                                <a:shade val="100000"/>
                                <a:satMod val="115000"/>
                              </a:schemeClr>
                            </a:gs>
                          </a:gsLst>
                          <a:lin ang="16200000" scaled="1"/>
                          <a:tileRect/>
                        </a:gradFill>
                        <a:effectLst>
                          <a:glow rad="101600">
                            <a:schemeClr val="bg1">
                              <a:alpha val="60000"/>
                            </a:schemeClr>
                          </a:glow>
                        </a:effectLst>
                        <a:latin typeface="HY헤드라인M"/>
                        <a:ea typeface="HY헤드라인M"/>
                      </a:rPr>
                      <a:t>학교주도적 학교평가 이해</a:t>
                    </a:r>
                  </a:p>
                </p:txBody>
              </p:sp>
            </p:grpSp>
            <p:grpSp>
              <p:nvGrpSpPr>
                <p:cNvPr id="84" name="그룹 83"/>
                <p:cNvGrpSpPr/>
                <p:nvPr/>
              </p:nvGrpSpPr>
              <p:grpSpPr>
                <a:xfrm>
                  <a:off x="2411760" y="1016871"/>
                  <a:ext cx="1157627" cy="1234474"/>
                  <a:chOff x="1619672" y="1556793"/>
                  <a:chExt cx="912171" cy="920378"/>
                </a:xfrm>
              </p:grpSpPr>
              <p:sp>
                <p:nvSpPr>
                  <p:cNvPr id="86" name="모서리가 둥근 직사각형 85"/>
                  <p:cNvSpPr/>
                  <p:nvPr/>
                </p:nvSpPr>
                <p:spPr>
                  <a:xfrm>
                    <a:off x="1907704" y="1913526"/>
                    <a:ext cx="624139" cy="563645"/>
                  </a:xfrm>
                  <a:prstGeom prst="roundRect">
                    <a:avLst>
                      <a:gd name="adj" fmla="val 22573"/>
                    </a:avLst>
                  </a:prstGeom>
                  <a:ln/>
                </p:spPr>
                <p:style>
                  <a:lnRef idx="0">
                    <a:schemeClr val="accent5"/>
                  </a:lnRef>
                  <a:fillRef idx="3">
                    <a:schemeClr val="accent5"/>
                  </a:fillRef>
                  <a:effectRef idx="3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pic>
                <p:nvPicPr>
                  <p:cNvPr id="87" name="그림 152" descr="빛.png"/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/>
                  <a:stretch>
                    <a:fillRect/>
                  </a:stretch>
                </p:blipFill>
                <p:spPr>
                  <a:xfrm flipH="1" flipV="1">
                    <a:off x="1619672" y="1556793"/>
                    <a:ext cx="665163" cy="732977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</p:spPr>
              </p:pic>
            </p:grpSp>
          </p:grpSp>
          <p:sp>
            <p:nvSpPr>
              <p:cNvPr id="2" name="직사각형 1"/>
              <p:cNvSpPr/>
              <p:nvPr/>
            </p:nvSpPr>
            <p:spPr>
              <a:xfrm>
                <a:off x="2283523" y="1851995"/>
                <a:ext cx="615502" cy="680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60000"/>
                  </a:lnSpc>
                  <a:defRPr/>
                </a:pPr>
                <a:r>
                  <a:rPr lang="en-US" altLang="ko-KR" sz="2400" b="1" kern="0">
                    <a:solidFill>
                      <a:srgbClr val="000000"/>
                    </a:solidFill>
                  </a:rPr>
                  <a:t>Ⅰ</a:t>
                </a:r>
                <a:endParaRPr lang="ko-KR" altLang="en-US" sz="2400" b="1" ker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1" name="그룹 10"/>
            <p:cNvGrpSpPr/>
            <p:nvPr/>
          </p:nvGrpSpPr>
          <p:grpSpPr>
            <a:xfrm>
              <a:off x="2336518" y="2581833"/>
              <a:ext cx="6099702" cy="978612"/>
              <a:chOff x="2336518" y="2581833"/>
              <a:chExt cx="6099702" cy="978612"/>
            </a:xfrm>
          </p:grpSpPr>
          <p:grpSp>
            <p:nvGrpSpPr>
              <p:cNvPr id="53" name="그룹 52"/>
              <p:cNvGrpSpPr/>
              <p:nvPr/>
            </p:nvGrpSpPr>
            <p:grpSpPr>
              <a:xfrm>
                <a:off x="2336518" y="2581833"/>
                <a:ext cx="6099702" cy="974794"/>
                <a:chOff x="2411762" y="1016871"/>
                <a:chExt cx="6336700" cy="1427237"/>
              </a:xfrm>
            </p:grpSpPr>
            <p:grpSp>
              <p:nvGrpSpPr>
                <p:cNvPr id="54" name="그룹 53"/>
                <p:cNvGrpSpPr/>
                <p:nvPr/>
              </p:nvGrpSpPr>
              <p:grpSpPr>
                <a:xfrm>
                  <a:off x="2951680" y="1448922"/>
                  <a:ext cx="5796782" cy="984483"/>
                  <a:chOff x="3386404" y="1521471"/>
                  <a:chExt cx="5043246" cy="811821"/>
                </a:xfrm>
              </p:grpSpPr>
              <p:sp>
                <p:nvSpPr>
                  <p:cNvPr id="59" name="모서리가 둥근 직사각형 58"/>
                  <p:cNvSpPr/>
                  <p:nvPr/>
                </p:nvSpPr>
                <p:spPr>
                  <a:xfrm>
                    <a:off x="3505328" y="1546579"/>
                    <a:ext cx="4924322" cy="786713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50000">
                        <a:schemeClr val="bg1">
                          <a:lumMod val="95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threePt" dir="t"/>
                  </a:scene3d>
                  <a:sp3d>
                    <a:bevelT w="133350" h="25400"/>
                    <a:bevelB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60" name="달 59"/>
                  <p:cNvSpPr/>
                  <p:nvPr/>
                </p:nvSpPr>
                <p:spPr>
                  <a:xfrm rot="4135760">
                    <a:off x="3533569" y="1374306"/>
                    <a:ext cx="116524" cy="410854"/>
                  </a:xfrm>
                  <a:prstGeom prst="moon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bg1">
                          <a:alpha val="90000"/>
                        </a:schemeClr>
                      </a:gs>
                      <a:gs pos="50000">
                        <a:schemeClr val="bg1">
                          <a:alpha val="1000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srgbClr val="488211"/>
                      </a:solidFill>
                    </a:endParaRPr>
                  </a:p>
                </p:txBody>
              </p:sp>
              <p:sp>
                <p:nvSpPr>
                  <p:cNvPr id="61" name="직사각형 60"/>
                  <p:cNvSpPr/>
                  <p:nvPr/>
                </p:nvSpPr>
                <p:spPr>
                  <a:xfrm>
                    <a:off x="3960899" y="1636023"/>
                    <a:ext cx="3904899" cy="552003"/>
                  </a:xfrm>
                  <a:prstGeom prst="rect">
                    <a:avLst/>
                  </a:prstGeom>
                  <a:noFill/>
                  <a:ln w="9525" algn="ctr">
                    <a:noFill/>
                    <a:miter/>
                  </a:ln>
                  <a:effectLst/>
                </p:spPr>
                <p:txBody>
                  <a:bodyPr wrap="square" lIns="0" tIns="0" rIns="0" bIns="0" anchor="ctr" anchorCtr="0">
                    <a:spAutoFit/>
                  </a:bodyPr>
                  <a:lstStyle/>
                  <a:p>
                    <a:pPr>
                      <a:defRPr/>
                    </a:pPr>
                    <a:r>
                      <a:rPr lang="ko-KR" altLang="en-US" sz="3000">
                        <a:gradFill flip="none" rotWithShape="1">
                          <a:gsLst>
                            <a:gs pos="0">
                              <a:schemeClr val="tx2">
                                <a:lumMod val="75000"/>
                                <a:shade val="30000"/>
                                <a:satMod val="115000"/>
                              </a:schemeClr>
                            </a:gs>
                            <a:gs pos="50000">
                              <a:schemeClr val="tx2">
                                <a:lumMod val="75000"/>
                                <a:shade val="67500"/>
                                <a:satMod val="115000"/>
                              </a:schemeClr>
                            </a:gs>
                            <a:gs pos="100000">
                              <a:schemeClr val="tx2">
                                <a:lumMod val="75000"/>
                                <a:shade val="100000"/>
                                <a:satMod val="115000"/>
                              </a:schemeClr>
                            </a:gs>
                          </a:gsLst>
                          <a:lin ang="16200000" scaled="1"/>
                          <a:tileRect/>
                        </a:gradFill>
                        <a:effectLst>
                          <a:glow rad="101600">
                            <a:schemeClr val="bg1">
                              <a:alpha val="60000"/>
                            </a:schemeClr>
                          </a:glow>
                        </a:effectLst>
                        <a:latin typeface="HY헤드라인M"/>
                        <a:ea typeface="HY헤드라인M"/>
                      </a:rPr>
                      <a:t> </a:t>
                    </a:r>
                    <a:r>
                      <a:rPr lang="ko-KR" altLang="en-US" sz="2400">
                        <a:gradFill flip="none" rotWithShape="1">
                          <a:gsLst>
                            <a:gs pos="0">
                              <a:schemeClr val="tx2">
                                <a:lumMod val="75000"/>
                                <a:shade val="30000"/>
                                <a:satMod val="115000"/>
                              </a:schemeClr>
                            </a:gs>
                            <a:gs pos="50000">
                              <a:schemeClr val="tx2">
                                <a:lumMod val="75000"/>
                                <a:shade val="67500"/>
                                <a:satMod val="115000"/>
                              </a:schemeClr>
                            </a:gs>
                            <a:gs pos="100000">
                              <a:schemeClr val="tx2">
                                <a:lumMod val="75000"/>
                                <a:shade val="100000"/>
                                <a:satMod val="115000"/>
                              </a:schemeClr>
                            </a:gs>
                          </a:gsLst>
                          <a:lin ang="16200000" scaled="1"/>
                          <a:tileRect/>
                        </a:gradFill>
                        <a:effectLst>
                          <a:glow rad="101600">
                            <a:schemeClr val="bg1">
                              <a:alpha val="60000"/>
                            </a:schemeClr>
                          </a:glow>
                        </a:effectLst>
                        <a:latin typeface="HY헤드라인M"/>
                        <a:ea typeface="HY헤드라인M"/>
                      </a:rPr>
                      <a:t>학교주도적 학교평가 계획</a:t>
                    </a:r>
                  </a:p>
                </p:txBody>
              </p:sp>
            </p:grpSp>
            <p:grpSp>
              <p:nvGrpSpPr>
                <p:cNvPr id="55" name="그룹 54"/>
                <p:cNvGrpSpPr/>
                <p:nvPr/>
              </p:nvGrpSpPr>
              <p:grpSpPr>
                <a:xfrm>
                  <a:off x="2411762" y="1016871"/>
                  <a:ext cx="1157627" cy="1427237"/>
                  <a:chOff x="1619672" y="1556793"/>
                  <a:chExt cx="912171" cy="1064095"/>
                </a:xfrm>
              </p:grpSpPr>
              <p:sp>
                <p:nvSpPr>
                  <p:cNvPr id="57" name="모서리가 둥근 직사각형 56"/>
                  <p:cNvSpPr/>
                  <p:nvPr/>
                </p:nvSpPr>
                <p:spPr>
                  <a:xfrm>
                    <a:off x="1907704" y="1913525"/>
                    <a:ext cx="624139" cy="707363"/>
                  </a:xfrm>
                  <a:prstGeom prst="roundRect">
                    <a:avLst>
                      <a:gd name="adj" fmla="val 22573"/>
                    </a:avLst>
                  </a:prstGeom>
                  <a:solidFill>
                    <a:srgbClr val="FFA366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pic>
                <p:nvPicPr>
                  <p:cNvPr id="58" name="그림 152" descr="빛.png"/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/>
                  <a:stretch>
                    <a:fillRect/>
                  </a:stretch>
                </p:blipFill>
                <p:spPr>
                  <a:xfrm flipH="1" flipV="1">
                    <a:off x="1619672" y="1556793"/>
                    <a:ext cx="665163" cy="732977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</p:spPr>
              </p:pic>
            </p:grpSp>
          </p:grpSp>
          <p:sp>
            <p:nvSpPr>
              <p:cNvPr id="4" name="직사각형 3"/>
              <p:cNvSpPr/>
              <p:nvPr/>
            </p:nvSpPr>
            <p:spPr>
              <a:xfrm>
                <a:off x="2766060" y="2885077"/>
                <a:ext cx="653812" cy="6753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latinLnBrk="0">
                  <a:lnSpc>
                    <a:spcPct val="160000"/>
                  </a:lnSpc>
                  <a:defRPr/>
                </a:pPr>
                <a:r>
                  <a:rPr lang="en-US" altLang="ko-KR" sz="2400" b="1" kern="0">
                    <a:solidFill>
                      <a:srgbClr val="000000"/>
                    </a:solidFill>
                  </a:rPr>
                  <a:t>Ⅱ</a:t>
                </a:r>
                <a:endParaRPr lang="ko-KR" altLang="en-US" sz="2400" b="1" ker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>
              <a:off x="2382519" y="3441486"/>
              <a:ext cx="6509962" cy="1079997"/>
              <a:chOff x="2382519" y="3441486"/>
              <a:chExt cx="6509962" cy="1079997"/>
            </a:xfrm>
          </p:grpSpPr>
          <p:grpSp>
            <p:nvGrpSpPr>
              <p:cNvPr id="62" name="그룹 61"/>
              <p:cNvGrpSpPr/>
              <p:nvPr/>
            </p:nvGrpSpPr>
            <p:grpSpPr>
              <a:xfrm>
                <a:off x="2382519" y="3441486"/>
                <a:ext cx="6509962" cy="1079997"/>
                <a:chOff x="2880700" y="2416526"/>
                <a:chExt cx="6091462" cy="1228493"/>
              </a:xfrm>
            </p:grpSpPr>
            <p:grpSp>
              <p:nvGrpSpPr>
                <p:cNvPr id="63" name="그룹 53"/>
                <p:cNvGrpSpPr/>
                <p:nvPr/>
              </p:nvGrpSpPr>
              <p:grpSpPr>
                <a:xfrm>
                  <a:off x="3348739" y="2852931"/>
                  <a:ext cx="5623422" cy="792088"/>
                  <a:chOff x="3386404" y="1521471"/>
                  <a:chExt cx="5396097" cy="653169"/>
                </a:xfrm>
              </p:grpSpPr>
              <p:sp>
                <p:nvSpPr>
                  <p:cNvPr id="69" name="모서리가 둥근 직사각형 68"/>
                  <p:cNvSpPr/>
                  <p:nvPr/>
                </p:nvSpPr>
                <p:spPr>
                  <a:xfrm>
                    <a:off x="3456006" y="1546579"/>
                    <a:ext cx="5261840" cy="628061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50000">
                        <a:schemeClr val="bg1">
                          <a:lumMod val="95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threePt" dir="t"/>
                  </a:scene3d>
                  <a:sp3d>
                    <a:bevelT w="133350" h="25400"/>
                    <a:bevelB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70" name="달 69"/>
                  <p:cNvSpPr/>
                  <p:nvPr/>
                </p:nvSpPr>
                <p:spPr>
                  <a:xfrm rot="4135760">
                    <a:off x="3533569" y="1374306"/>
                    <a:ext cx="116524" cy="410854"/>
                  </a:xfrm>
                  <a:prstGeom prst="moon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bg1">
                          <a:alpha val="90000"/>
                        </a:schemeClr>
                      </a:gs>
                      <a:gs pos="50000">
                        <a:schemeClr val="bg1">
                          <a:alpha val="1000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srgbClr val="488211"/>
                      </a:solidFill>
                    </a:endParaRPr>
                  </a:p>
                </p:txBody>
              </p:sp>
              <p:sp>
                <p:nvSpPr>
                  <p:cNvPr id="71" name="직사각형 70"/>
                  <p:cNvSpPr/>
                  <p:nvPr/>
                </p:nvSpPr>
                <p:spPr>
                  <a:xfrm>
                    <a:off x="3933366" y="1677022"/>
                    <a:ext cx="4849135" cy="339507"/>
                  </a:xfrm>
                  <a:prstGeom prst="rect">
                    <a:avLst/>
                  </a:prstGeom>
                  <a:noFill/>
                  <a:ln w="9525" algn="ctr">
                    <a:noFill/>
                    <a:miter/>
                  </a:ln>
                  <a:effectLst/>
                </p:spPr>
                <p:txBody>
                  <a:bodyPr wrap="square" lIns="0" tIns="0" rIns="0" bIns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ko-KR" altLang="en-US" sz="2400">
                        <a:gradFill flip="none" rotWithShape="1">
                          <a:gsLst>
                            <a:gs pos="0">
                              <a:schemeClr val="tx2">
                                <a:lumMod val="75000"/>
                                <a:shade val="30000"/>
                                <a:satMod val="115000"/>
                              </a:schemeClr>
                            </a:gs>
                            <a:gs pos="50000">
                              <a:schemeClr val="tx2">
                                <a:lumMod val="75000"/>
                                <a:shade val="67500"/>
                                <a:satMod val="115000"/>
                              </a:schemeClr>
                            </a:gs>
                            <a:gs pos="100000">
                              <a:schemeClr val="tx2">
                                <a:lumMod val="75000"/>
                                <a:shade val="100000"/>
                                <a:satMod val="115000"/>
                              </a:schemeClr>
                            </a:gs>
                          </a:gsLst>
                          <a:lin ang="16200000" scaled="1"/>
                          <a:tileRect/>
                        </a:gradFill>
                        <a:effectLst>
                          <a:glow rad="101600">
                            <a:schemeClr val="bg1">
                              <a:alpha val="60000"/>
                            </a:schemeClr>
                          </a:glow>
                        </a:effectLst>
                        <a:latin typeface="HY헤드라인M"/>
                        <a:ea typeface="HY헤드라인M"/>
                      </a:rPr>
                      <a:t>학교주도적 학교평가 지표 및 평가방법</a:t>
                    </a:r>
                  </a:p>
                </p:txBody>
              </p:sp>
            </p:grpSp>
            <p:grpSp>
              <p:nvGrpSpPr>
                <p:cNvPr id="65" name="그룹 78"/>
                <p:cNvGrpSpPr/>
                <p:nvPr/>
              </p:nvGrpSpPr>
              <p:grpSpPr>
                <a:xfrm>
                  <a:off x="2880700" y="2416526"/>
                  <a:ext cx="1044120" cy="1189244"/>
                  <a:chOff x="1360707" y="2463376"/>
                  <a:chExt cx="822731" cy="892567"/>
                </a:xfrm>
              </p:grpSpPr>
              <p:sp>
                <p:nvSpPr>
                  <p:cNvPr id="67" name="모서리가 둥근 직사각형 66"/>
                  <p:cNvSpPr/>
                  <p:nvPr/>
                </p:nvSpPr>
                <p:spPr>
                  <a:xfrm>
                    <a:off x="1619672" y="2802727"/>
                    <a:ext cx="563766" cy="553216"/>
                  </a:xfrm>
                  <a:prstGeom prst="roundRect">
                    <a:avLst>
                      <a:gd name="adj" fmla="val 22573"/>
                    </a:avLst>
                  </a:prstGeom>
                  <a:solidFill>
                    <a:srgbClr val="FFC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/>
                  </a:p>
                </p:txBody>
              </p:sp>
              <p:pic>
                <p:nvPicPr>
                  <p:cNvPr id="68" name="그림 152" descr="빛.png"/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/>
                  <a:stretch>
                    <a:fillRect/>
                  </a:stretch>
                </p:blipFill>
                <p:spPr>
                  <a:xfrm flipH="1" flipV="1">
                    <a:off x="1360707" y="2463376"/>
                    <a:ext cx="665163" cy="732977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</p:spPr>
              </p:pic>
            </p:grpSp>
          </p:grpSp>
          <p:sp>
            <p:nvSpPr>
              <p:cNvPr id="5" name="직사각형 4"/>
              <p:cNvSpPr/>
              <p:nvPr/>
            </p:nvSpPr>
            <p:spPr>
              <a:xfrm>
                <a:off x="2771800" y="3809145"/>
                <a:ext cx="720080" cy="6752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latinLnBrk="0">
                  <a:lnSpc>
                    <a:spcPct val="160000"/>
                  </a:lnSpc>
                  <a:defRPr/>
                </a:pPr>
                <a:r>
                  <a:rPr lang="en-US" altLang="ko-KR" sz="2400" b="1" kern="0">
                    <a:solidFill>
                      <a:srgbClr val="000000"/>
                    </a:solidFill>
                  </a:rPr>
                  <a:t>Ⅲ</a:t>
                </a:r>
                <a:endParaRPr lang="ko-KR" altLang="en-US" sz="2400" b="1" ker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2008003" y="4406348"/>
              <a:ext cx="6584999" cy="1078147"/>
              <a:chOff x="2008003" y="4406348"/>
              <a:chExt cx="6584999" cy="1078147"/>
            </a:xfrm>
          </p:grpSpPr>
          <p:grpSp>
            <p:nvGrpSpPr>
              <p:cNvPr id="72" name="그룹 71"/>
              <p:cNvGrpSpPr/>
              <p:nvPr/>
            </p:nvGrpSpPr>
            <p:grpSpPr>
              <a:xfrm>
                <a:off x="2008003" y="4406348"/>
                <a:ext cx="6584999" cy="1072344"/>
                <a:chOff x="2887343" y="3501048"/>
                <a:chExt cx="6535954" cy="1224137"/>
              </a:xfrm>
            </p:grpSpPr>
            <p:grpSp>
              <p:nvGrpSpPr>
                <p:cNvPr id="73" name="그룹 53"/>
                <p:cNvGrpSpPr/>
                <p:nvPr/>
              </p:nvGrpSpPr>
              <p:grpSpPr>
                <a:xfrm>
                  <a:off x="3348749" y="3933097"/>
                  <a:ext cx="6074548" cy="792088"/>
                  <a:chOff x="3386404" y="1521471"/>
                  <a:chExt cx="5828990" cy="653169"/>
                </a:xfrm>
              </p:grpSpPr>
              <p:sp>
                <p:nvSpPr>
                  <p:cNvPr id="79" name="모서리가 둥근 직사각형 78"/>
                  <p:cNvSpPr/>
                  <p:nvPr/>
                </p:nvSpPr>
                <p:spPr>
                  <a:xfrm>
                    <a:off x="3456006" y="1546579"/>
                    <a:ext cx="5759388" cy="628061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50000">
                        <a:schemeClr val="bg1">
                          <a:lumMod val="95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threePt" dir="t"/>
                  </a:scene3d>
                  <a:sp3d>
                    <a:bevelT w="133350" h="25400"/>
                    <a:bevelB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80" name="달 79"/>
                  <p:cNvSpPr/>
                  <p:nvPr/>
                </p:nvSpPr>
                <p:spPr>
                  <a:xfrm rot="4135760">
                    <a:off x="3533569" y="1374306"/>
                    <a:ext cx="116524" cy="410854"/>
                  </a:xfrm>
                  <a:prstGeom prst="moon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bg1">
                          <a:alpha val="90000"/>
                        </a:schemeClr>
                      </a:gs>
                      <a:gs pos="50000">
                        <a:schemeClr val="bg1">
                          <a:alpha val="1000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solidFill>
                        <a:srgbClr val="488211"/>
                      </a:solidFill>
                    </a:endParaRPr>
                  </a:p>
                </p:txBody>
              </p:sp>
              <p:sp>
                <p:nvSpPr>
                  <p:cNvPr id="81" name="직사각형 80"/>
                  <p:cNvSpPr/>
                  <p:nvPr/>
                </p:nvSpPr>
                <p:spPr>
                  <a:xfrm>
                    <a:off x="4047885" y="1698907"/>
                    <a:ext cx="5033250" cy="347668"/>
                  </a:xfrm>
                  <a:prstGeom prst="rect">
                    <a:avLst/>
                  </a:prstGeom>
                  <a:noFill/>
                  <a:ln w="9525" algn="ctr">
                    <a:noFill/>
                    <a:miter/>
                  </a:ln>
                  <a:effectLst/>
                </p:spPr>
                <p:txBody>
                  <a:bodyPr wrap="square" lIns="0" tIns="0" rIns="0" bIns="0" anchor="ctr" anchorCtr="0">
                    <a:spAutoFit/>
                  </a:bodyPr>
                  <a:lstStyle/>
                  <a:p>
                    <a:pPr>
                      <a:defRPr/>
                    </a:pPr>
                    <a:r>
                      <a:rPr lang="ko-KR" altLang="en-US" sz="2400" dirty="0">
                        <a:gradFill flip="none" rotWithShape="1">
                          <a:gsLst>
                            <a:gs pos="0">
                              <a:schemeClr val="tx2">
                                <a:lumMod val="75000"/>
                                <a:shade val="30000"/>
                                <a:satMod val="115000"/>
                              </a:schemeClr>
                            </a:gs>
                            <a:gs pos="50000">
                              <a:schemeClr val="tx2">
                                <a:lumMod val="75000"/>
                                <a:shade val="67500"/>
                                <a:satMod val="115000"/>
                              </a:schemeClr>
                            </a:gs>
                            <a:gs pos="100000">
                              <a:schemeClr val="tx2">
                                <a:lumMod val="75000"/>
                                <a:shade val="100000"/>
                                <a:satMod val="115000"/>
                              </a:schemeClr>
                            </a:gs>
                          </a:gsLst>
                          <a:lin ang="16200000" scaled="1"/>
                          <a:tileRect/>
                        </a:gradFill>
                        <a:effectLst>
                          <a:glow rad="101600">
                            <a:schemeClr val="bg1">
                              <a:alpha val="60000"/>
                            </a:schemeClr>
                          </a:glow>
                        </a:effectLst>
                        <a:latin typeface="HY헤드라인M"/>
                        <a:ea typeface="HY헤드라인M"/>
                      </a:rPr>
                      <a:t>학교주도적 학교평가 참고자료</a:t>
                    </a:r>
                  </a:p>
                </p:txBody>
              </p:sp>
            </p:grpSp>
            <p:grpSp>
              <p:nvGrpSpPr>
                <p:cNvPr id="74" name="그룹 73"/>
                <p:cNvGrpSpPr/>
                <p:nvPr/>
              </p:nvGrpSpPr>
              <p:grpSpPr>
                <a:xfrm>
                  <a:off x="2887343" y="3501048"/>
                  <a:ext cx="1047845" cy="1210582"/>
                  <a:chOff x="1652868" y="3429001"/>
                  <a:chExt cx="801382" cy="925668"/>
                </a:xfrm>
              </p:grpSpPr>
              <p:grpSp>
                <p:nvGrpSpPr>
                  <p:cNvPr id="75" name="그룹 76"/>
                  <p:cNvGrpSpPr/>
                  <p:nvPr/>
                </p:nvGrpSpPr>
                <p:grpSpPr>
                  <a:xfrm>
                    <a:off x="1652868" y="3429001"/>
                    <a:ext cx="801383" cy="925668"/>
                    <a:chOff x="1364837" y="4221089"/>
                    <a:chExt cx="801383" cy="925668"/>
                  </a:xfrm>
                </p:grpSpPr>
                <p:sp>
                  <p:nvSpPr>
                    <p:cNvPr id="77" name="모서리가 둥근 직사각형 76"/>
                    <p:cNvSpPr/>
                    <p:nvPr/>
                  </p:nvSpPr>
                  <p:spPr>
                    <a:xfrm>
                      <a:off x="1619672" y="4581128"/>
                      <a:ext cx="546548" cy="565629"/>
                    </a:xfrm>
                    <a:prstGeom prst="roundRect">
                      <a:avLst>
                        <a:gd name="adj" fmla="val 22573"/>
                      </a:avLst>
                    </a:prstGeom>
                    <a:solidFill>
                      <a:schemeClr val="accent3">
                        <a:lumMod val="75000"/>
                      </a:schemeClr>
                    </a:solidFill>
                    <a:ln>
                      <a:noFill/>
                    </a:ln>
                    <a:effectLst>
                      <a:outerShdw blurRad="44450" dist="27940" dir="5400000" algn="ctr">
                        <a:srgbClr val="000000">
                          <a:alpha val="32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balanced" dir="t">
                        <a:rot lat="0" lon="0" rev="8700000"/>
                      </a:lightRig>
                    </a:scene3d>
                    <a:sp3d>
                      <a:bevelT w="190500" h="38100"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/>
                    </a:p>
                  </p:txBody>
                </p:sp>
                <p:pic>
                  <p:nvPicPr>
                    <p:cNvPr id="78" name="그림 152" descr="빛.png"/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/>
                    <a:stretch>
                      <a:fillRect/>
                    </a:stretch>
                  </p:blipFill>
                  <p:spPr>
                    <a:xfrm flipH="1" flipV="1">
                      <a:off x="1364837" y="4221089"/>
                      <a:ext cx="665163" cy="732977"/>
                    </a:xfrm>
                    <a:prstGeom prst="rect">
                      <a:avLst/>
                    </a:prstGeom>
                    <a:noFill/>
                    <a:ln w="9525">
                      <a:noFill/>
                      <a:miter/>
                    </a:ln>
                  </p:spPr>
                </p:pic>
              </p:grpSp>
              <p:sp>
                <p:nvSpPr>
                  <p:cNvPr id="76" name="TextBox 70"/>
                  <p:cNvSpPr txBox="1">
                    <a:spLocks noChangeArrowheads="1"/>
                  </p:cNvSpPr>
                  <p:nvPr/>
                </p:nvSpPr>
                <p:spPr>
                  <a:xfrm>
                    <a:off x="1943682" y="3874130"/>
                    <a:ext cx="507624" cy="402980"/>
                  </a:xfrm>
                  <a:prstGeom prst="rect">
                    <a:avLst/>
                  </a:prstGeom>
                  <a:noFill/>
                  <a:ln w="9525">
                    <a:noFill/>
                    <a:miter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endParaRPr lang="ko-KR" altLang="en-US" sz="2400">
                      <a:solidFill>
                        <a:schemeClr val="bg1"/>
                      </a:solidFill>
                      <a:latin typeface="한컴 솔잎 B"/>
                      <a:ea typeface="한컴 솔잎 B"/>
                      <a:cs typeface="Arial"/>
                    </a:endParaRPr>
                  </a:p>
                </p:txBody>
              </p:sp>
            </p:grpSp>
          </p:grpSp>
          <p:sp>
            <p:nvSpPr>
              <p:cNvPr id="6" name="직사각형 5"/>
              <p:cNvSpPr/>
              <p:nvPr/>
            </p:nvSpPr>
            <p:spPr>
              <a:xfrm>
                <a:off x="2451735" y="4805576"/>
                <a:ext cx="497205" cy="6789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latinLnBrk="0">
                  <a:lnSpc>
                    <a:spcPct val="160000"/>
                  </a:lnSpc>
                  <a:defRPr/>
                </a:pPr>
                <a:r>
                  <a:rPr lang="en-US" altLang="ko-KR" sz="2400" b="1" kern="0" dirty="0">
                    <a:solidFill>
                      <a:srgbClr val="000000"/>
                    </a:solidFill>
                  </a:rPr>
                  <a:t>Ⅳ</a:t>
                </a:r>
                <a:endParaRPr lang="ko-KR" altLang="en-US" sz="2400" b="1" kern="0" dirty="0">
                  <a:solidFill>
                    <a:srgbClr val="000000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" y="0"/>
            <a:ext cx="9142968" cy="6858000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>
          <a:xfrm>
            <a:off x="1" y="850231"/>
            <a:ext cx="13856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68580" tIns="34290" rIns="68580" bIns="3429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 sz="135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>
          <a:xfrm>
            <a:off x="-23302" y="909761"/>
            <a:ext cx="13856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68580" tIns="34290" rIns="68580" bIns="3429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 sz="1350"/>
          </a:p>
        </p:txBody>
      </p:sp>
      <p:sp>
        <p:nvSpPr>
          <p:cNvPr id="44" name="직사각형 43"/>
          <p:cNvSpPr/>
          <p:nvPr/>
        </p:nvSpPr>
        <p:spPr>
          <a:xfrm>
            <a:off x="1061084" y="1628800"/>
            <a:ext cx="6898005" cy="6933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Ⅰ. </a:t>
            </a:r>
            <a:r>
              <a:rPr lang="ko-KR" altLang="en-US" sz="400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학교주도적 학교평가 이해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" y="0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83568" y="507450"/>
            <a:ext cx="6696744" cy="49244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HY헤드라인M"/>
                <a:ea typeface="HY헤드라인M"/>
              </a:rPr>
              <a:t>1. </a:t>
            </a:r>
            <a:r>
              <a:rPr lang="ko-KR" altLang="en-US" sz="3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HY헤드라인M"/>
                <a:ea typeface="HY헤드라인M"/>
              </a:rPr>
              <a:t>학교주도적 학교평가 추진 근거</a:t>
            </a:r>
          </a:p>
        </p:txBody>
      </p:sp>
      <p:pic>
        <p:nvPicPr>
          <p:cNvPr id="18" name="Picture 3" descr="2"/>
          <p:cNvPicPr>
            <a:picLocks noChangeAspect="1" noChangeArrowheads="1"/>
          </p:cNvPicPr>
          <p:nvPr/>
        </p:nvPicPr>
        <p:blipFill rotWithShape="1">
          <a:blip r:embed="rId4"/>
          <a:srcRect l="4320" t="18500" r="2740" b="8010"/>
          <a:stretch>
            <a:fillRect/>
          </a:stretch>
        </p:blipFill>
        <p:spPr>
          <a:xfrm>
            <a:off x="390532" y="899144"/>
            <a:ext cx="8558816" cy="576064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31" name="양쪽 모서리가 둥근 사각형 30"/>
          <p:cNvSpPr/>
          <p:nvPr/>
        </p:nvSpPr>
        <p:spPr>
          <a:xfrm rot="5400000">
            <a:off x="8218085" y="1898531"/>
            <a:ext cx="772725" cy="432048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FC000"/>
          </a:solidFill>
          <a:ln w="28575" cap="flat" cmpd="sng">
            <a:solidFill>
              <a:schemeClr val="bg1"/>
            </a:solidFill>
            <a:prstDash val="solid"/>
            <a:round/>
            <a:headEnd w="med" len="med"/>
            <a:tailEnd w="med" len="med"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양쪽 모서리가 둥근 사각형 33"/>
          <p:cNvSpPr/>
          <p:nvPr/>
        </p:nvSpPr>
        <p:spPr>
          <a:xfrm rot="5400000">
            <a:off x="8253452" y="3431754"/>
            <a:ext cx="774000" cy="50405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BAFF1A"/>
          </a:solidFill>
          <a:ln w="28575" cap="flat" cmpd="sng">
            <a:solidFill>
              <a:schemeClr val="bg1"/>
            </a:solidFill>
            <a:prstDash val="solid"/>
            <a:round/>
            <a:headEnd w="med" len="med"/>
            <a:tailEnd w="med" len="med"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98562" y="3350558"/>
            <a:ext cx="576064" cy="64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latin typeface="휴먼모음T"/>
                <a:ea typeface="휴먼모음T"/>
              </a:rPr>
              <a:t>기본계획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8423" y="1800200"/>
            <a:ext cx="432048" cy="69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2000">
                <a:latin typeface="휴먼모음T"/>
                <a:ea typeface="휴먼모음T"/>
              </a:rPr>
              <a:t>실</a:t>
            </a:r>
          </a:p>
          <a:p>
            <a:pPr lvl="0" algn="r">
              <a:defRPr/>
            </a:pPr>
            <a:r>
              <a:rPr lang="ko-KR" altLang="en-US" sz="2000">
                <a:latin typeface="휴먼모음T"/>
                <a:ea typeface="휴먼모음T"/>
              </a:rPr>
              <a:t>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8786" y="714478"/>
            <a:ext cx="1237710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7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sp>
        <p:nvSpPr>
          <p:cNvPr id="3085" name="TextBox 3084"/>
          <p:cNvSpPr txBox="1"/>
          <p:nvPr/>
        </p:nvSpPr>
        <p:spPr>
          <a:xfrm>
            <a:off x="889455" y="1856909"/>
            <a:ext cx="7344816" cy="792088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/>
          </a:p>
        </p:txBody>
      </p:sp>
      <p:sp>
        <p:nvSpPr>
          <p:cNvPr id="3086" name="TextBox 3085"/>
          <p:cNvSpPr txBox="1"/>
          <p:nvPr/>
        </p:nvSpPr>
        <p:spPr>
          <a:xfrm>
            <a:off x="961463" y="1712893"/>
            <a:ext cx="7200800" cy="1008112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endParaRPr/>
          </a:p>
        </p:txBody>
      </p:sp>
      <p:pic>
        <p:nvPicPr>
          <p:cNvPr id="3093" name="그림 3092"/>
          <p:cNvPicPr/>
          <p:nvPr/>
        </p:nvPicPr>
        <p:blipFill rotWithShape="1">
          <a:blip r:embed="rId5">
            <a:lum/>
          </a:blip>
          <a:srcRect/>
          <a:stretch>
            <a:fillRect/>
          </a:stretch>
        </p:blipFill>
        <p:spPr>
          <a:xfrm>
            <a:off x="0" y="243408"/>
            <a:ext cx="128397" cy="128397"/>
          </a:xfrm>
          <a:prstGeom prst="rect">
            <a:avLst/>
          </a:prstGeom>
        </p:spPr>
      </p:pic>
      <p:sp>
        <p:nvSpPr>
          <p:cNvPr id="3094" name="TextBox 3093"/>
          <p:cNvSpPr txBox="1"/>
          <p:nvPr/>
        </p:nvSpPr>
        <p:spPr>
          <a:xfrm>
            <a:off x="1033470" y="1626035"/>
            <a:ext cx="74562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8627" indent="-2142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교육부장관은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교육행정을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효율적으로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수행하기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위하여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특별시</a:t>
            </a:r>
            <a:r>
              <a:rPr lang="en-US"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광역시</a:t>
            </a:r>
            <a:r>
              <a:rPr lang="en-US"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특별자치시</a:t>
            </a:r>
            <a:r>
              <a:rPr lang="en-US" altLang="ko-KR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도</a:t>
            </a:r>
            <a:r>
              <a:rPr lang="en-US"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특별자치도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교육청과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그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관할하는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학교를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평가할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수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있다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  <a:r>
              <a:rPr lang="en-US"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중등교육법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제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 제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).</a:t>
            </a:r>
          </a:p>
          <a:p>
            <a:pPr marL="248627" indent="-2142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400" i="0" u="none" strike="noStrike" spc="-1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교육감은</a:t>
            </a:r>
            <a:r>
              <a:rPr sz="1400" i="0" u="none" strike="noStrike" spc="-1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교육행정의</a:t>
            </a:r>
            <a:r>
              <a:rPr sz="1400" i="0" u="none" strike="noStrike" spc="-1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효율적</a:t>
            </a:r>
            <a:r>
              <a:rPr sz="1400" i="0" u="none" strike="noStrike" spc="-1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수행</a:t>
            </a:r>
            <a:r>
              <a:rPr sz="1400" i="0" u="none" strike="noStrike" spc="-1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및 </a:t>
            </a:r>
            <a:r>
              <a:rPr sz="1400" i="0" u="none" strike="noStrike" spc="-1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학교</a:t>
            </a:r>
            <a:r>
              <a:rPr sz="1400" i="0" u="none" strike="noStrike" spc="-1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교육능력</a:t>
            </a:r>
            <a:r>
              <a:rPr sz="1400" i="0" u="none" strike="noStrike" spc="-1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향상을</a:t>
            </a:r>
            <a:r>
              <a:rPr sz="1400" i="0" u="none" strike="noStrike" spc="-1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위하여</a:t>
            </a:r>
            <a:r>
              <a:rPr sz="1400" i="0" u="none" strike="noStrike" spc="-1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그 </a:t>
            </a:r>
            <a:r>
              <a:rPr sz="1400" i="0" u="none" strike="noStrike" spc="-1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관할하는</a:t>
            </a:r>
            <a:r>
              <a:rPr sz="1400" i="0" u="none" strike="noStrike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교육행정기관과</a:t>
            </a:r>
            <a:r>
              <a:rPr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학교를</a:t>
            </a:r>
            <a:r>
              <a:rPr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평가할</a:t>
            </a:r>
            <a:r>
              <a:rPr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수 </a:t>
            </a:r>
            <a:r>
              <a:rPr sz="1400" i="0" u="none" strike="noStrike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있다</a:t>
            </a:r>
            <a:r>
              <a:rPr lang="en-US"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  <a:r>
              <a:rPr lang="en-US"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중등교육법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제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 제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</a:t>
            </a:r>
            <a:r>
              <a:rPr lang="en-US"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248627" indent="-2142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400" i="0" u="none" strike="noStrike" spc="-2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평가대상</a:t>
            </a:r>
            <a:r>
              <a:rPr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2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기관의</a:t>
            </a:r>
            <a:r>
              <a:rPr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2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장은</a:t>
            </a:r>
            <a:r>
              <a:rPr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2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특별한</a:t>
            </a:r>
            <a:r>
              <a:rPr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2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사유가</a:t>
            </a:r>
            <a:r>
              <a:rPr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2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있는</a:t>
            </a:r>
            <a:r>
              <a:rPr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2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경우가</a:t>
            </a:r>
            <a:r>
              <a:rPr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2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아니면</a:t>
            </a:r>
            <a:r>
              <a:rPr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제</a:t>
            </a:r>
            <a:r>
              <a:rPr lang="en-US"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항부터 제</a:t>
            </a:r>
            <a:r>
              <a:rPr lang="en-US"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항까지의</a:t>
            </a:r>
            <a:r>
              <a:rPr lang="en-US" sz="1400" i="0" u="none" strike="noStrike" spc="-2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규정에</a:t>
            </a:r>
            <a:r>
              <a:rPr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따른</a:t>
            </a:r>
            <a:r>
              <a:rPr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평가를</a:t>
            </a:r>
            <a:r>
              <a:rPr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받아야</a:t>
            </a:r>
            <a:r>
              <a:rPr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한다</a:t>
            </a:r>
            <a:r>
              <a:rPr lang="en-US"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  <a:r>
              <a:rPr lang="en-US"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중등교육법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제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 제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</a:t>
            </a:r>
            <a:r>
              <a:rPr lang="en-US" sz="1400" i="0" u="none" strike="noStrike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sp>
        <p:nvSpPr>
          <p:cNvPr id="3096" name="TextBox 3095"/>
          <p:cNvSpPr txBox="1"/>
          <p:nvPr/>
        </p:nvSpPr>
        <p:spPr>
          <a:xfrm>
            <a:off x="1033471" y="1208837"/>
            <a:ext cx="3672408" cy="288032"/>
          </a:xfrm>
          <a:prstGeom prst="rect">
            <a:avLst/>
          </a:prstGeom>
        </p:spPr>
        <p:txBody>
          <a:bodyPr wrap="square"/>
          <a:lstStyle/>
          <a:p>
            <a:pPr marL="333000" indent="-333000">
              <a:buBlip>
                <a:blip r:embed="rId6"/>
              </a:buBlip>
              <a:defRPr/>
            </a:pPr>
            <a:r>
              <a:rPr lang="ko-KR" altLang="en-US" sz="2000" b="1" dirty="0">
                <a:latin typeface="맑은 고딕"/>
                <a:ea typeface="맑은 고딕"/>
              </a:rPr>
              <a:t>학교평가 실행에 관한 사항</a:t>
            </a:r>
          </a:p>
        </p:txBody>
      </p:sp>
      <p:sp>
        <p:nvSpPr>
          <p:cNvPr id="3097" name="TextBox 3096"/>
          <p:cNvSpPr txBox="1"/>
          <p:nvPr/>
        </p:nvSpPr>
        <p:spPr>
          <a:xfrm>
            <a:off x="1033471" y="3153053"/>
            <a:ext cx="5544616" cy="360040"/>
          </a:xfrm>
          <a:prstGeom prst="rect">
            <a:avLst/>
          </a:prstGeom>
        </p:spPr>
        <p:txBody>
          <a:bodyPr wrap="square"/>
          <a:lstStyle/>
          <a:p>
            <a:pPr marL="333000" indent="-333000">
              <a:buBlip>
                <a:blip r:embed="rId6"/>
              </a:buBlip>
              <a:defRPr/>
            </a:pPr>
            <a:r>
              <a:rPr kumimoji="0" lang="ko-KR" altLang="en-US" sz="2000" b="1" i="0" u="none" strike="noStrike" kern="1200" cap="none" spc="0" normalizeH="0" baseline="0" dirty="0">
                <a:solidFill>
                  <a:srgbClr val="000000"/>
                </a:solidFill>
                <a:latin typeface="맑은 고딕"/>
                <a:ea typeface="맑은 고딕"/>
              </a:rPr>
              <a:t>학교평가 기본계획 수립에 관한 사항</a:t>
            </a:r>
          </a:p>
        </p:txBody>
      </p:sp>
      <p:sp>
        <p:nvSpPr>
          <p:cNvPr id="3098" name="TextBox 3097"/>
          <p:cNvSpPr txBox="1"/>
          <p:nvPr/>
        </p:nvSpPr>
        <p:spPr>
          <a:xfrm>
            <a:off x="1043608" y="4320480"/>
            <a:ext cx="6048672" cy="288032"/>
          </a:xfrm>
          <a:prstGeom prst="rect">
            <a:avLst/>
          </a:prstGeom>
        </p:spPr>
        <p:txBody>
          <a:bodyPr wrap="square"/>
          <a:lstStyle/>
          <a:p>
            <a:pPr marL="333000" indent="-333000">
              <a:buBlip>
                <a:blip r:embed="rId6"/>
              </a:buBlip>
              <a:defRPr/>
            </a:pPr>
            <a:r>
              <a:rPr kumimoji="0" lang="ko-KR" altLang="en-US" sz="2000" b="1" i="0" u="none" strike="noStrike" kern="1200" cap="none" spc="0" normalizeH="0" baseline="0" dirty="0">
                <a:solidFill>
                  <a:srgbClr val="000000"/>
                </a:solidFill>
                <a:latin typeface="맑은 고딕"/>
                <a:ea typeface="맑은 고딕"/>
              </a:rPr>
              <a:t>학교평가 절차 및 공개에 관한 사항</a:t>
            </a:r>
          </a:p>
        </p:txBody>
      </p:sp>
      <p:sp>
        <p:nvSpPr>
          <p:cNvPr id="3099" name="TextBox 3098"/>
          <p:cNvSpPr txBox="1"/>
          <p:nvPr/>
        </p:nvSpPr>
        <p:spPr>
          <a:xfrm>
            <a:off x="1080120" y="3456384"/>
            <a:ext cx="7308304" cy="792088"/>
          </a:xfrm>
          <a:prstGeom prst="rect">
            <a:avLst/>
          </a:prstGeom>
        </p:spPr>
        <p:txBody>
          <a:bodyPr wrap="none"/>
          <a:lstStyle/>
          <a:p>
            <a:pPr marL="214200" indent="-214200" algn="just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400" i="0" u="none" strike="noStrike" spc="-1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교육감은</a:t>
            </a:r>
            <a:r>
              <a:rPr sz="1400" i="0" u="none" strike="noStrike" spc="-1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평가가</a:t>
            </a:r>
            <a:r>
              <a:rPr sz="1400" i="0" u="none" strike="noStrike" spc="-1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실시되는</a:t>
            </a:r>
            <a:r>
              <a:rPr sz="1400" i="0" u="none" strike="noStrike" spc="-1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해의</a:t>
            </a:r>
            <a:r>
              <a:rPr sz="1400" i="0" u="none" strike="noStrike" spc="-1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학년도가</a:t>
            </a:r>
            <a:r>
              <a:rPr sz="1400" i="0" u="none" strike="noStrike" spc="-1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시작되기</a:t>
            </a:r>
            <a:r>
              <a:rPr sz="1400" i="0" u="none" strike="noStrike" spc="-1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전까지</a:t>
            </a:r>
            <a:r>
              <a:rPr sz="1400" i="0" u="none" strike="noStrike" spc="-1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1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지방교육행정기관평가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및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ko-KR" alt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학교</a:t>
            </a:r>
            <a:r>
              <a:rPr lang="ko-KR" alt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평가에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관한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기본계획을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수립하고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이를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공표하여야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한다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  <a:r>
              <a:rPr lang="en-US"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중등교육법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시행령</a:t>
            </a:r>
            <a:endParaRPr sz="1400" i="0" u="none" strike="noStrike" dirty="0">
              <a:solidFill>
                <a:srgbClr val="0000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ko-KR" alt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제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13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 제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sp>
        <p:nvSpPr>
          <p:cNvPr id="3100" name="양쪽 모서리가 둥근 사각형 33"/>
          <p:cNvSpPr/>
          <p:nvPr/>
        </p:nvSpPr>
        <p:spPr>
          <a:xfrm rot="5400000">
            <a:off x="8325459" y="5022984"/>
            <a:ext cx="774000" cy="50405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A9ECC">
              <a:alpha val="100000"/>
            </a:srgbClr>
          </a:solidFill>
          <a:ln w="28575" cap="flat" cmpd="sng">
            <a:solidFill>
              <a:srgbClr val="FFFFFF">
                <a:alpha val="100000"/>
              </a:srgbClr>
            </a:solidFill>
            <a:prstDash val="solid"/>
            <a:round/>
            <a:headEnd w="med" len="med"/>
            <a:tailEnd w="med" len="med"/>
          </a:ln>
          <a:effectLst>
            <a:outerShdw dist="35921" dir="2700000" algn="ctr" rotWithShape="0">
              <a:srgbClr val="000000">
                <a:alpha val="49800"/>
              </a:srgbClr>
            </a:outerShdw>
          </a:effectLst>
        </p:spPr>
        <p:txBody>
          <a:bodyPr wrap="none" anchor="ctr"/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01" name="TextBox 34"/>
          <p:cNvSpPr txBox="1"/>
          <p:nvPr/>
        </p:nvSpPr>
        <p:spPr>
          <a:xfrm>
            <a:off x="8532438" y="4968552"/>
            <a:ext cx="432050" cy="69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000" b="0" i="0" u="none" strike="noStrike" kern="1200" cap="none" spc="0" normalizeH="0" baseline="0">
                <a:solidFill>
                  <a:srgbClr val="000000"/>
                </a:solidFill>
                <a:latin typeface="휴먼모음T"/>
                <a:ea typeface="휴먼모음T"/>
              </a:rPr>
              <a:t>공개</a:t>
            </a:r>
            <a:endParaRPr kumimoji="0" lang="en-US" altLang="ko-KR" sz="2000" b="0" i="0" u="none" strike="noStrike" kern="1200" cap="none" spc="0" normalizeH="0" baseline="0">
              <a:solidFill>
                <a:srgbClr val="000000"/>
              </a:solidFill>
              <a:latin typeface="휴먼모음T"/>
              <a:ea typeface="휴먼모음T"/>
            </a:endParaRPr>
          </a:p>
        </p:txBody>
      </p:sp>
      <p:sp>
        <p:nvSpPr>
          <p:cNvPr id="3102" name="TextBox 3101"/>
          <p:cNvSpPr txBox="1"/>
          <p:nvPr/>
        </p:nvSpPr>
        <p:spPr>
          <a:xfrm>
            <a:off x="1069983" y="4809237"/>
            <a:ext cx="7308304" cy="792088"/>
          </a:xfrm>
          <a:prstGeom prst="rect">
            <a:avLst/>
          </a:prstGeom>
        </p:spPr>
        <p:txBody>
          <a:bodyPr wrap="none"/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endParaRPr kumimoji="0" sz="1500" b="1" i="0" u="none" strike="noStrike" kern="1200" cap="none" spc="0" normalizeH="0" baseline="0">
              <a:solidFill>
                <a:srgbClr val="000000"/>
              </a:solidFill>
              <a:latin typeface="Sandoll 명조Neo1유니 03 Rg"/>
              <a:ea typeface="Sandoll 명조Neo1유니 03 Rg"/>
            </a:endParaRPr>
          </a:p>
        </p:txBody>
      </p:sp>
      <p:sp>
        <p:nvSpPr>
          <p:cNvPr id="3103" name="TextBox 3102"/>
          <p:cNvSpPr txBox="1"/>
          <p:nvPr/>
        </p:nvSpPr>
        <p:spPr>
          <a:xfrm>
            <a:off x="1043608" y="4665221"/>
            <a:ext cx="7344816" cy="1527467"/>
          </a:xfrm>
          <a:prstGeom prst="rect">
            <a:avLst/>
          </a:prstGeom>
        </p:spPr>
        <p:txBody>
          <a:bodyPr wrap="none"/>
          <a:lstStyle/>
          <a:p>
            <a:pPr marL="206566" indent="-229518" algn="just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ko-KR" altLang="en-US" sz="1400" b="1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</a:t>
            </a:r>
            <a:r>
              <a:rPr lang="en-US"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도교육청평가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지방교육행정기관평가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및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학교평가는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법 제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30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조의 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</a:t>
            </a:r>
            <a:r>
              <a:rPr lang="ko-KR" alt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따른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8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교육정보</a:t>
            </a:r>
            <a:endParaRPr sz="1400" i="0" u="none" strike="noStrike" spc="-8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06566" indent="-229518" algn="just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ko-KR" altLang="en-US"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</a:t>
            </a:r>
            <a:r>
              <a:rPr sz="1400" i="0" u="none" strike="noStrike" spc="-8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시스템에</a:t>
            </a:r>
            <a:r>
              <a:rPr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8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저장된</a:t>
            </a:r>
            <a:r>
              <a:rPr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8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자료</a:t>
            </a:r>
            <a:r>
              <a:rPr lang="en-US"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『</a:t>
            </a:r>
            <a:r>
              <a:rPr sz="1400" i="0" u="none" strike="noStrike" spc="-8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교육관련</a:t>
            </a:r>
            <a:r>
              <a:rPr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8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기관의</a:t>
            </a:r>
            <a:r>
              <a:rPr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8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정보공개에</a:t>
            </a:r>
            <a:r>
              <a:rPr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8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관한</a:t>
            </a:r>
            <a:r>
              <a:rPr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spc="-80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특례법</a:t>
            </a:r>
            <a:r>
              <a:rPr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』 제</a:t>
            </a:r>
            <a:r>
              <a:rPr lang="en-US"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</a:t>
            </a:r>
            <a:r>
              <a:rPr sz="1400" i="0" u="none" strike="noStrike" spc="-8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조에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따른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공시정보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</a:p>
          <a:p>
            <a:pPr marL="206566" indent="-229518" algn="just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ko-KR" alt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등을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이용한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정량평가의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방법으로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한다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다만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정량평가만으로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정확한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평가가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어렵다고</a:t>
            </a:r>
            <a:endParaRPr sz="1400" i="0" u="none" strike="noStrike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06566" indent="-229518" algn="just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ko-KR" alt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인정되는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경우에는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서면평가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설문조사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관계자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면담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등을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이용한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정성평가의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방법을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</a:p>
          <a:p>
            <a:pPr marL="206566" indent="-229518" algn="just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ko-KR" alt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병행할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수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있다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  <a:r>
              <a:rPr lang="en-US"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중등교육법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시행령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제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13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 제</a:t>
            </a:r>
            <a:r>
              <a:rPr 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206566" indent="-172138" algn="just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교육부장관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또는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교육감은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특히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필요하다고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인정하는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경우를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제외하고는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평가결과를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</a:p>
          <a:p>
            <a:pPr marL="34427" indent="0" algn="just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ko-KR" alt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공개하여야</a:t>
            </a:r>
            <a:r>
              <a:rPr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i="0" u="none" strike="noStrike" dirty="0" err="1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한다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</a:t>
            </a:r>
            <a:r>
              <a:rPr lang="en-US" altLang="ko-KR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중등교육법 시행령 제</a:t>
            </a:r>
            <a:r>
              <a:rPr lang="en-US" altLang="ko-KR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13</a:t>
            </a:r>
            <a:r>
              <a:rPr lang="ko-KR" alt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 제</a:t>
            </a:r>
            <a:r>
              <a:rPr lang="en-US" altLang="ko-KR" sz="1400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</a:t>
            </a:r>
            <a:r>
              <a:rPr lang="ko-KR" altLang="en-US" sz="1400" i="0" u="none" strike="noStrike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</a:t>
            </a:r>
            <a:r>
              <a:rPr lang="en-US" sz="1400" i="0" u="none" strike="noStrike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1" grpId="1" animBg="1"/>
      <p:bldP spid="34" grpId="3" animBg="1"/>
      <p:bldP spid="35" grpId="4"/>
      <p:bldP spid="6" grpId="2"/>
      <p:bldP spid="27" grpId="5"/>
      <p:bldP spid="3100" grpId="6" animBg="1"/>
      <p:bldP spid="3101" grpId="7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00" y="0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395535" y="868348"/>
            <a:ext cx="5613469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en-US" altLang="ko-KR" sz="36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HY헤드라인M"/>
                <a:ea typeface="HY헤드라인M"/>
              </a:rPr>
              <a:t>2. </a:t>
            </a:r>
            <a:r>
              <a:rPr lang="ko-KR" altLang="en-US" sz="36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HY헤드라인M"/>
                <a:ea typeface="HY헤드라인M"/>
              </a:rPr>
              <a:t>학교주도적 학교평가란</a:t>
            </a:r>
            <a:r>
              <a:rPr lang="en-US" altLang="ko-KR" sz="36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HY헤드라인M"/>
                <a:ea typeface="HY헤드라인M"/>
              </a:rPr>
              <a:t>?</a:t>
            </a:r>
            <a:r>
              <a:rPr lang="ko-KR" altLang="en-US" sz="36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HY헤드라인M"/>
                <a:ea typeface="HY헤드라인M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0351" y="683682"/>
            <a:ext cx="1296145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8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24130" y="1539169"/>
            <a:ext cx="8892481" cy="3670421"/>
            <a:chOff x="42783" y="1636057"/>
            <a:chExt cx="9058434" cy="5640788"/>
          </a:xfrm>
        </p:grpSpPr>
        <p:pic>
          <p:nvPicPr>
            <p:cNvPr id="18" name="Picture 3" descr="2"/>
            <p:cNvPicPr>
              <a:picLocks noChangeAspect="1" noChangeArrowheads="1"/>
            </p:cNvPicPr>
            <p:nvPr/>
          </p:nvPicPr>
          <p:blipFill rotWithShape="1">
            <a:blip r:embed="rId4"/>
            <a:srcRect l="4320" t="18500" r="2740" b="8010"/>
            <a:stretch>
              <a:fillRect/>
            </a:stretch>
          </p:blipFill>
          <p:spPr>
            <a:xfrm>
              <a:off x="42783" y="1636057"/>
              <a:ext cx="9058434" cy="5640788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  <p:sp>
          <p:nvSpPr>
            <p:cNvPr id="28" name="직사각형 27"/>
            <p:cNvSpPr/>
            <p:nvPr/>
          </p:nvSpPr>
          <p:spPr>
            <a:xfrm>
              <a:off x="406292" y="1995130"/>
              <a:ext cx="8131002" cy="52817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ko-KR" altLang="en-US" sz="2000" spc="-150" dirty="0">
                  <a:solidFill>
                    <a:srgbClr val="0000FF"/>
                  </a:solidFill>
                  <a:latin typeface="HY울릉도M"/>
                  <a:ea typeface="HY울릉도M"/>
                </a:rPr>
                <a:t> </a:t>
              </a:r>
              <a:r>
                <a:rPr lang="ko-KR" altLang="en-US" sz="2000" b="1" spc="-150" dirty="0">
                  <a:solidFill>
                    <a:srgbClr val="0000FF"/>
                  </a:solidFill>
                  <a:latin typeface="HY울릉도M"/>
                  <a:ea typeface="HY울릉도M"/>
                </a:rPr>
                <a:t> </a:t>
              </a:r>
              <a:r>
                <a:rPr lang="en-US" altLang="ko-KR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｢</a:t>
              </a:r>
              <a:r>
                <a:rPr lang="ko-KR" altLang="en-US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학교주도적 학교평가</a:t>
              </a:r>
              <a:r>
                <a:rPr lang="en-US" altLang="ko-KR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｣</a:t>
              </a:r>
              <a:r>
                <a:rPr lang="ko-KR" altLang="en-US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는 관련 법령에 제시된 ‘</a:t>
              </a:r>
              <a:r>
                <a:rPr lang="ko-KR" altLang="en-US" sz="1800" kern="0" spc="-30" dirty="0" err="1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학교평가’의</a:t>
              </a:r>
              <a:r>
                <a:rPr lang="ko-KR" altLang="en-US" sz="1800" kern="0" spc="0" dirty="0"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 </a:t>
              </a:r>
              <a:r>
                <a:rPr lang="ko-KR" altLang="en-US" sz="1800" kern="0" spc="1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방식 중 단위학교의 자율성과 책무성을 강조하여 학교 구성원이 평가의 주체가 되어 ‘</a:t>
              </a:r>
              <a:r>
                <a:rPr lang="ko-KR" altLang="en-US" sz="1800" kern="0" spc="10" dirty="0" err="1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학</a:t>
              </a:r>
              <a:r>
                <a:rPr lang="ko-KR" altLang="en-US" sz="1800" kern="0" spc="-20" dirty="0" err="1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교</a:t>
              </a:r>
              <a:r>
                <a:rPr lang="ko-KR" altLang="en-US" sz="1800" kern="0" spc="-50" dirty="0" err="1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자체평가’의</a:t>
              </a:r>
              <a:r>
                <a:rPr lang="ko-KR" altLang="en-US" sz="1800" kern="0" spc="-5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 개념에 학교 구성원의 주도성을 부여하고 강조한 것이다</a:t>
              </a:r>
              <a:r>
                <a:rPr lang="en-US" altLang="ko-KR" sz="1800" kern="0" spc="-5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. ｢</a:t>
              </a:r>
              <a:r>
                <a:rPr lang="ko-KR" altLang="en-US" sz="1800" kern="0" spc="-5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학교주도적 학교평가</a:t>
              </a:r>
              <a:r>
                <a:rPr lang="en-US" altLang="ko-KR" sz="1800" kern="0" spc="-5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｣</a:t>
              </a:r>
              <a:r>
                <a:rPr lang="ko-KR" altLang="en-US" sz="1800" kern="0" spc="-5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는</a:t>
              </a:r>
              <a:r>
                <a:rPr lang="ko-KR" altLang="en-US" sz="1800" kern="0" spc="0" dirty="0"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 </a:t>
              </a:r>
              <a:r>
                <a:rPr lang="ko-KR" altLang="en-US" sz="1800" kern="0" spc="-2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단위학교가 주도적으로 학교 교육과정의 운영 과정 및 결과에 대한 평가를 실시한 후 발견된</a:t>
              </a:r>
              <a:r>
                <a:rPr lang="ko-KR" altLang="en-US" sz="1800" kern="0" spc="0" dirty="0"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 </a:t>
              </a:r>
              <a:r>
                <a:rPr lang="ko-KR" altLang="en-US" sz="1800" kern="0" spc="-4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문제점에 대한 발전적인 대책을 수립하고 함께 만들어가는 교육과정 편성 등 학교 교육활동의</a:t>
              </a:r>
              <a:r>
                <a:rPr lang="ko-KR" altLang="en-US" sz="1800" kern="0" spc="0" dirty="0"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 </a:t>
              </a:r>
              <a:r>
                <a:rPr lang="ko-KR" altLang="en-US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개선을 통하여 </a:t>
              </a:r>
              <a:r>
                <a:rPr lang="en-US" altLang="ko-KR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｢</a:t>
              </a:r>
              <a:r>
                <a:rPr lang="ko-KR" altLang="en-US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배움이 즐거운 학교</a:t>
              </a:r>
              <a:r>
                <a:rPr lang="en-US" altLang="ko-KR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·</a:t>
              </a:r>
              <a:r>
                <a:rPr lang="ko-KR" altLang="en-US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함께 가꾸는 경남교육</a:t>
              </a:r>
              <a:r>
                <a:rPr lang="en-US" altLang="ko-KR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｣</a:t>
              </a:r>
              <a:r>
                <a:rPr lang="ko-KR" altLang="en-US" sz="1800" kern="0" spc="-3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을 만들기 위한 목적으로 시행하는</a:t>
              </a:r>
              <a:r>
                <a:rPr lang="ko-KR" altLang="en-US" sz="1800" kern="0" spc="0" dirty="0"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 </a:t>
              </a:r>
              <a:r>
                <a:rPr lang="en-US" altLang="ko-KR" sz="1800" kern="0" spc="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｢</a:t>
              </a:r>
              <a:r>
                <a:rPr lang="ko-KR" altLang="en-US" sz="1800" kern="0" spc="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경남형 학교평가</a:t>
              </a:r>
              <a:r>
                <a:rPr lang="en-US" altLang="ko-KR" sz="1800" kern="0" spc="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｣ </a:t>
              </a:r>
              <a:r>
                <a:rPr lang="ko-KR" altLang="en-US" sz="1800" kern="0" spc="0" dirty="0"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방식임</a:t>
              </a:r>
              <a:endParaRPr lang="ko-KR" altLang="en-US" sz="1800" kern="0" spc="-30" dirty="0">
                <a:solidFill>
                  <a:srgbClr val="000000"/>
                </a:solidFill>
                <a:effectLst/>
                <a:latin typeface="-윤명조130"/>
              </a:endParaRPr>
            </a:p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000" b="1" i="0" u="none" strike="noStrike" dirty="0"/>
            </a:p>
          </p:txBody>
        </p:sp>
      </p:grpSp>
      <p:sp>
        <p:nvSpPr>
          <p:cNvPr id="29" name="Rectangle 11"/>
          <p:cNvSpPr/>
          <p:nvPr/>
        </p:nvSpPr>
        <p:spPr>
          <a:xfrm>
            <a:off x="634262" y="5410478"/>
            <a:ext cx="7875473" cy="999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Blip>
                <a:blip r:embed="rId5"/>
              </a:buBlip>
              <a:defRPr/>
            </a:pPr>
            <a:r>
              <a:rPr kumimoji="0" lang="ko-KR" altLang="en-US" sz="2000" dirty="0">
                <a:solidFill>
                  <a:srgbClr val="CC66FF"/>
                </a:solidFill>
                <a:effectLst>
                  <a:glow rad="127000">
                    <a:schemeClr val="bg1"/>
                  </a:glow>
                </a:effectLst>
                <a:latin typeface="HY헤드라인M"/>
                <a:ea typeface="HY헤드라인M"/>
              </a:rPr>
              <a:t>단위학교의 </a:t>
            </a:r>
            <a:r>
              <a:rPr kumimoji="0" lang="ko-KR" altLang="en-US" sz="2000" dirty="0">
                <a:solidFill>
                  <a:srgbClr val="0000FF"/>
                </a:solidFill>
                <a:effectLst>
                  <a:glow rad="127000">
                    <a:schemeClr val="bg1"/>
                  </a:glow>
                </a:effectLst>
                <a:latin typeface="HY헤드라인M"/>
                <a:ea typeface="HY헤드라인M"/>
              </a:rPr>
              <a:t>자율성</a:t>
            </a:r>
            <a:r>
              <a:rPr kumimoji="0" lang="ko-KR" altLang="en-US" sz="2000" dirty="0">
                <a:solidFill>
                  <a:srgbClr val="CC66FF"/>
                </a:solidFill>
                <a:effectLst>
                  <a:glow rad="127000">
                    <a:schemeClr val="bg1"/>
                  </a:glow>
                </a:effectLst>
                <a:latin typeface="HY헤드라인M"/>
                <a:ea typeface="HY헤드라인M"/>
              </a:rPr>
              <a:t>과 </a:t>
            </a:r>
            <a:r>
              <a:rPr kumimoji="0" lang="ko-KR" altLang="en-US" sz="2000" b="1" dirty="0">
                <a:solidFill>
                  <a:srgbClr val="0000FF"/>
                </a:solidFill>
                <a:effectLst>
                  <a:glow rad="127000">
                    <a:schemeClr val="bg1"/>
                  </a:glow>
                </a:effectLst>
                <a:latin typeface="HY헤드라인M"/>
                <a:ea typeface="HY헤드라인M"/>
              </a:rPr>
              <a:t>책무성</a:t>
            </a:r>
            <a:r>
              <a:rPr kumimoji="0" lang="ko-KR" altLang="en-US" sz="2000" b="1" dirty="0">
                <a:solidFill>
                  <a:srgbClr val="CC66FF"/>
                </a:solidFill>
                <a:effectLst>
                  <a:glow rad="127000">
                    <a:schemeClr val="bg1"/>
                  </a:glow>
                </a:effectLst>
                <a:latin typeface="HY헤드라인M"/>
                <a:ea typeface="HY헤드라인M"/>
              </a:rPr>
              <a:t>을</a:t>
            </a:r>
            <a:r>
              <a:rPr kumimoji="0" lang="ko-KR" altLang="en-US" sz="2000" dirty="0">
                <a:solidFill>
                  <a:srgbClr val="CC66FF"/>
                </a:solidFill>
                <a:effectLst>
                  <a:glow rad="127000">
                    <a:schemeClr val="bg1"/>
                  </a:glow>
                </a:effectLst>
                <a:latin typeface="HY헤드라인M"/>
                <a:ea typeface="HY헤드라인M"/>
              </a:rPr>
              <a:t> 강조</a:t>
            </a:r>
          </a:p>
          <a:p>
            <a:pPr marL="273050" indent="-2730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Blip>
                <a:blip r:embed="rId5"/>
              </a:buBlip>
              <a:defRPr/>
            </a:pPr>
            <a:r>
              <a:rPr kumimoji="0" lang="ko-KR" altLang="en-US" sz="2000" dirty="0">
                <a:solidFill>
                  <a:srgbClr val="CC66FF"/>
                </a:solidFill>
                <a:effectLst>
                  <a:glow rad="127000">
                    <a:schemeClr val="bg1"/>
                  </a:glow>
                </a:effectLst>
                <a:latin typeface="HY헤드라인M"/>
                <a:ea typeface="HY헤드라인M"/>
              </a:rPr>
              <a:t>학교 구성원이 평가 주체가 되어 시행</a:t>
            </a:r>
            <a:r>
              <a:rPr kumimoji="0" lang="en-US" altLang="ko-KR" sz="2000" dirty="0">
                <a:solidFill>
                  <a:srgbClr val="CC66FF"/>
                </a:solidFill>
                <a:effectLst>
                  <a:glow rad="127000">
                    <a:schemeClr val="bg1"/>
                  </a:glow>
                </a:effectLst>
                <a:latin typeface="HY헤드라인M"/>
                <a:ea typeface="HY헤드라인M"/>
              </a:rPr>
              <a:t>(</a:t>
            </a:r>
            <a:r>
              <a:rPr kumimoji="0" lang="ko-KR" altLang="en-US" sz="2000" b="1" dirty="0" err="1">
                <a:solidFill>
                  <a:srgbClr val="0000FF"/>
                </a:solidFill>
                <a:effectLst>
                  <a:glow rad="127000">
                    <a:schemeClr val="bg1"/>
                  </a:glow>
                </a:effectLst>
                <a:latin typeface="HY헤드라인M"/>
                <a:ea typeface="HY헤드라인M"/>
              </a:rPr>
              <a:t>주도성</a:t>
            </a:r>
            <a:r>
              <a:rPr kumimoji="0" lang="en-US" altLang="ko-KR" sz="2000" dirty="0">
                <a:solidFill>
                  <a:srgbClr val="CC66FF"/>
                </a:solidFill>
                <a:effectLst>
                  <a:glow rad="127000">
                    <a:schemeClr val="bg1"/>
                  </a:glow>
                </a:effectLst>
                <a:latin typeface="HY헤드라인M"/>
                <a:ea typeface="HY헤드라인M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1"/>
      <p:bldP spid="29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" y="0"/>
            <a:ext cx="9142968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68343" y="615087"/>
            <a:ext cx="1224137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9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pic>
        <p:nvPicPr>
          <p:cNvPr id="291" name="Picture 3" descr="2"/>
          <p:cNvPicPr>
            <a:picLocks noChangeAspect="1" noChangeArrowheads="1"/>
          </p:cNvPicPr>
          <p:nvPr/>
        </p:nvPicPr>
        <p:blipFill rotWithShape="1">
          <a:blip r:embed="rId4"/>
          <a:srcRect l="4320" t="18500" r="2740" b="8010"/>
          <a:stretch>
            <a:fillRect/>
          </a:stretch>
        </p:blipFill>
        <p:spPr>
          <a:xfrm>
            <a:off x="292592" y="980728"/>
            <a:ext cx="8743904" cy="5544616"/>
          </a:xfrm>
          <a:prstGeom prst="rect">
            <a:avLst/>
          </a:prstGeom>
          <a:noFill/>
          <a:ln w="9525">
            <a:noFill/>
            <a:miter/>
          </a:ln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DD1C6BF-489B-4F99-BB92-749CACD20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202388"/>
              </p:ext>
            </p:extLst>
          </p:nvPr>
        </p:nvGraphicFramePr>
        <p:xfrm>
          <a:off x="899592" y="1181622"/>
          <a:ext cx="7056783" cy="4695648"/>
        </p:xfrm>
        <a:graphic>
          <a:graphicData uri="http://schemas.openxmlformats.org/drawingml/2006/table">
            <a:tbl>
              <a:tblPr/>
              <a:tblGrid>
                <a:gridCol w="2258111">
                  <a:extLst>
                    <a:ext uri="{9D8B030D-6E8A-4147-A177-3AD203B41FA5}">
                      <a16:colId xmlns:a16="http://schemas.microsoft.com/office/drawing/2014/main" val="2779321314"/>
                    </a:ext>
                  </a:extLst>
                </a:gridCol>
                <a:gridCol w="235154">
                  <a:extLst>
                    <a:ext uri="{9D8B030D-6E8A-4147-A177-3AD203B41FA5}">
                      <a16:colId xmlns:a16="http://schemas.microsoft.com/office/drawing/2014/main" val="4259366254"/>
                    </a:ext>
                  </a:extLst>
                </a:gridCol>
                <a:gridCol w="2258111">
                  <a:extLst>
                    <a:ext uri="{9D8B030D-6E8A-4147-A177-3AD203B41FA5}">
                      <a16:colId xmlns:a16="http://schemas.microsoft.com/office/drawing/2014/main" val="2843120739"/>
                    </a:ext>
                  </a:extLst>
                </a:gridCol>
                <a:gridCol w="235154">
                  <a:extLst>
                    <a:ext uri="{9D8B030D-6E8A-4147-A177-3AD203B41FA5}">
                      <a16:colId xmlns:a16="http://schemas.microsoft.com/office/drawing/2014/main" val="226697493"/>
                    </a:ext>
                  </a:extLst>
                </a:gridCol>
                <a:gridCol w="2070253">
                  <a:extLst>
                    <a:ext uri="{9D8B030D-6E8A-4147-A177-3AD203B41FA5}">
                      <a16:colId xmlns:a16="http://schemas.microsoft.com/office/drawing/2014/main" val="4013723689"/>
                    </a:ext>
                  </a:extLst>
                </a:gridCol>
              </a:tblGrid>
              <a:tr h="599215">
                <a:tc rowSpan="4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FFFFFF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학교 교육의 질 향상</a:t>
                      </a:r>
                      <a:endParaRPr lang="ko-KR" altLang="en-US" sz="1600" kern="0" spc="-30">
                        <a:solidFill>
                          <a:srgbClr val="000000"/>
                        </a:solidFill>
                        <a:effectLst/>
                        <a:latin typeface="-윤고딕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301"/>
                    </a:solidFill>
                  </a:tcPr>
                </a:tc>
                <a:tc rowSpan="4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754871"/>
                  </a:ext>
                </a:extLst>
              </a:tr>
              <a:tr h="53176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>
                        <a:solidFill>
                          <a:srgbClr val="E2B301"/>
                        </a:solidFill>
                        <a:effectLst/>
                        <a:latin typeface="-윤명조13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190323"/>
                  </a:ext>
                </a:extLst>
              </a:tr>
              <a:tr h="87081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 교육 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  <a:latin typeface="-윤고딕130"/>
                      </a:endParaRP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발전 방안 및 지원 계획 수립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  <a:latin typeface="-윤고딕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37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501976"/>
                  </a:ext>
                </a:extLst>
              </a:tr>
              <a:tr h="53176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E2B301"/>
                        </a:solidFill>
                        <a:effectLst/>
                        <a:latin typeface="-윤명조13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281602"/>
                  </a:ext>
                </a:extLst>
              </a:tr>
              <a:tr h="8708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교육활동과 조직문화 진단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개선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  <a:latin typeface="-윤고딕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 운영 자율성 확대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  <a:latin typeface="-윤고딕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 자치 활성화</a:t>
                      </a:r>
                      <a:endParaRPr lang="ko-KR" altLang="en-US" sz="1600" kern="0" spc="-30">
                        <a:solidFill>
                          <a:srgbClr val="000000"/>
                        </a:solidFill>
                        <a:effectLst/>
                        <a:latin typeface="-윤고딕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128340"/>
                  </a:ext>
                </a:extLst>
              </a:tr>
              <a:tr h="48814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교육활동과 조직문화 진단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개선을 통한 </a:t>
                      </a:r>
                      <a:endParaRPr lang="ko-KR" altLang="en-US" sz="12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경남교육 실현</a:t>
                      </a:r>
                      <a:endParaRPr lang="ko-KR" altLang="en-US" sz="12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 자율 운영 체제 구축</a:t>
                      </a:r>
                      <a:endParaRPr lang="ko-KR" altLang="en-US" sz="12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소통과 참여를 통한 </a:t>
                      </a:r>
                      <a:endParaRPr lang="ko-KR" altLang="en-US" sz="12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함께 만들어가는 교육공동체 구축</a:t>
                      </a:r>
                      <a:endParaRPr lang="ko-KR" altLang="en-US" sz="12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705021"/>
                  </a:ext>
                </a:extLst>
              </a:tr>
              <a:tr h="8031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E2B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892108"/>
                  </a:ext>
                </a:extLst>
              </a:tr>
            </a:tbl>
          </a:graphicData>
        </a:graphic>
      </p:graphicFrame>
      <p:pic>
        <p:nvPicPr>
          <p:cNvPr id="1026" name="_x895561328">
            <a:extLst>
              <a:ext uri="{FF2B5EF4-FFF2-40B4-BE49-F238E27FC236}">
                <a16:creationId xmlns:a16="http://schemas.microsoft.com/office/drawing/2014/main" id="{81A5ADA6-79F9-4AAE-BE8B-9A51F3177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396874" y="3375334"/>
            <a:ext cx="381269" cy="23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_x895560320">
            <a:extLst>
              <a:ext uri="{FF2B5EF4-FFF2-40B4-BE49-F238E27FC236}">
                <a16:creationId xmlns:a16="http://schemas.microsoft.com/office/drawing/2014/main" id="{A6B09052-5019-4F88-B859-1285D3745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374406" y="1962461"/>
            <a:ext cx="395188" cy="242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F5A77FF-BE33-4EC5-9571-6ED2494DE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26114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D06701-6933-4317-AC9D-7B80951FD3AA}"/>
              </a:ext>
            </a:extLst>
          </p:cNvPr>
          <p:cNvSpPr/>
          <p:nvPr/>
        </p:nvSpPr>
        <p:spPr>
          <a:xfrm>
            <a:off x="899592" y="486174"/>
            <a:ext cx="5613469" cy="49244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en-US" altLang="ko-KR" sz="3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HY헤드라인M"/>
                <a:ea typeface="HY헤드라인M"/>
              </a:rPr>
              <a:t>3. </a:t>
            </a:r>
            <a:r>
              <a:rPr lang="ko-KR" altLang="en-US" sz="3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HY헤드라인M"/>
                <a:ea typeface="HY헤드라인M"/>
              </a:rPr>
              <a:t>학교주도적 학교평가 목적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" y="0"/>
            <a:ext cx="9142968" cy="6858000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>
          <a:xfrm>
            <a:off x="1" y="850231"/>
            <a:ext cx="13856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68580" tIns="34290" rIns="68580" bIns="3429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 sz="135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>
          <a:xfrm>
            <a:off x="-23302" y="909761"/>
            <a:ext cx="13856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68580" tIns="34290" rIns="68580" bIns="3429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 sz="1350"/>
          </a:p>
        </p:txBody>
      </p:sp>
      <p:sp>
        <p:nvSpPr>
          <p:cNvPr id="44" name="직사각형 43"/>
          <p:cNvSpPr/>
          <p:nvPr/>
        </p:nvSpPr>
        <p:spPr>
          <a:xfrm>
            <a:off x="1051560" y="1628800"/>
            <a:ext cx="6898004" cy="6933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Ⅱ. </a:t>
            </a:r>
            <a:r>
              <a:rPr lang="ko-KR" altLang="en-US" sz="400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학교주도적 학교평가 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" y="0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552379" y="961564"/>
            <a:ext cx="5400600" cy="49244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2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1. </a:t>
            </a:r>
            <a:r>
              <a:rPr lang="ko-KR" altLang="en-US" sz="32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학교주도적 학교평가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3139" y="742854"/>
            <a:ext cx="1378957" cy="36195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13</a:t>
            </a:r>
            <a:r>
              <a:rPr lang="ko-KR" altLang="en-US" sz="2400" b="1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27856" y="1946737"/>
            <a:ext cx="8846848" cy="4442430"/>
            <a:chOff x="670741" y="1536517"/>
            <a:chExt cx="8332655" cy="4074573"/>
          </a:xfrm>
        </p:grpSpPr>
        <p:pic>
          <p:nvPicPr>
            <p:cNvPr id="18" name="Picture 3" descr="2"/>
            <p:cNvPicPr>
              <a:picLocks noChangeAspect="1" noChangeArrowheads="1"/>
            </p:cNvPicPr>
            <p:nvPr/>
          </p:nvPicPr>
          <p:blipFill rotWithShape="1">
            <a:blip r:embed="rId4"/>
            <a:srcRect l="4320" t="18500" r="2740" b="8010"/>
            <a:stretch>
              <a:fillRect/>
            </a:stretch>
          </p:blipFill>
          <p:spPr>
            <a:xfrm>
              <a:off x="670741" y="1754597"/>
              <a:ext cx="8332655" cy="3856493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  <p:grpSp>
          <p:nvGrpSpPr>
            <p:cNvPr id="33" name="그룹 158"/>
            <p:cNvGrpSpPr/>
            <p:nvPr/>
          </p:nvGrpSpPr>
          <p:grpSpPr>
            <a:xfrm>
              <a:off x="930881" y="1536517"/>
              <a:ext cx="3718253" cy="526342"/>
              <a:chOff x="-434108" y="1449832"/>
              <a:chExt cx="4113216" cy="496887"/>
            </a:xfrm>
          </p:grpSpPr>
          <p:grpSp>
            <p:nvGrpSpPr>
              <p:cNvPr id="34" name="Group 145"/>
              <p:cNvGrpSpPr/>
              <p:nvPr/>
            </p:nvGrpSpPr>
            <p:grpSpPr>
              <a:xfrm>
                <a:off x="-175693" y="1449832"/>
                <a:ext cx="3854802" cy="496887"/>
                <a:chOff x="4013758" y="1535351"/>
                <a:chExt cx="4071966" cy="496784"/>
              </a:xfrm>
            </p:grpSpPr>
            <p:sp>
              <p:nvSpPr>
                <p:cNvPr id="39" name="Rounded Rectangle 61"/>
                <p:cNvSpPr/>
                <p:nvPr/>
              </p:nvSpPr>
              <p:spPr>
                <a:xfrm>
                  <a:off x="4013758" y="1535351"/>
                  <a:ext cx="4071966" cy="49678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7030A0">
                    <a:alpha val="5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FontTx/>
                    <a:buNone/>
                    <a:defRPr/>
                  </a:pPr>
                  <a:endParaRPr kumimoji="0" lang="ko-KR" altLang="en-US" sz="1800" b="0" i="0" u="none" strike="noStrike" kern="1200" cap="none" spc="0" normalizeH="0" baseline="0"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/>
                    <a:cs typeface="+mn-cs"/>
                  </a:endParaRPr>
                </a:p>
              </p:txBody>
            </p:sp>
            <p:sp>
              <p:nvSpPr>
                <p:cNvPr id="40" name="Rectangle 66"/>
                <p:cNvSpPr/>
                <p:nvPr/>
              </p:nvSpPr>
              <p:spPr>
                <a:xfrm>
                  <a:off x="4221384" y="1592555"/>
                  <a:ext cx="3774203" cy="3696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FontTx/>
                    <a:buNone/>
                    <a:defRPr/>
                  </a:pPr>
                  <a:r>
                    <a:rPr kumimoji="0" lang="ko-KR" altLang="en-US" sz="1800" b="0" i="0" u="none" strike="noStrike" kern="1200" cap="none" spc="0" normalizeH="0" baseline="0">
                      <a:gradFill>
                        <a:gsLst>
                          <a:gs pos="0">
                            <a:prstClr val="white"/>
                          </a:gs>
                          <a:gs pos="50000">
                            <a:prstClr val="white"/>
                          </a:gs>
                          <a:gs pos="100000">
                            <a:prstClr val="white"/>
                          </a:gs>
                        </a:gsLst>
                        <a:lin ang="16200000" scaled="1"/>
                      </a:gradFill>
                      <a:effectLst>
                        <a:glow rad="101600">
                          <a:prstClr val="black">
                            <a:alpha val="60000"/>
                          </a:prstClr>
                        </a:glow>
                      </a:effectLst>
                      <a:uLnTx/>
                      <a:uFillTx/>
                      <a:latin typeface="HY헤드라인M"/>
                      <a:ea typeface="HY헤드라인M"/>
                      <a:cs typeface="+mn-cs"/>
                    </a:rPr>
                    <a:t> </a:t>
                  </a:r>
                  <a:r>
                    <a:rPr kumimoji="0" lang="ko-KR" altLang="en-US" sz="2000" b="0" i="0" u="none" strike="noStrike" kern="1200" cap="none" spc="-150" normalizeH="0" baseline="0">
                      <a:gradFill>
                        <a:gsLst>
                          <a:gs pos="0">
                            <a:prstClr val="white"/>
                          </a:gs>
                          <a:gs pos="50000">
                            <a:prstClr val="white"/>
                          </a:gs>
                          <a:gs pos="100000">
                            <a:prstClr val="white"/>
                          </a:gs>
                        </a:gsLst>
                        <a:lin ang="16200000" scaled="1"/>
                      </a:gradFill>
                      <a:effectLst>
                        <a:glow rad="101600">
                          <a:prstClr val="black">
                            <a:alpha val="60000"/>
                          </a:prstClr>
                        </a:glow>
                      </a:effectLst>
                      <a:uLnTx/>
                      <a:uFillTx/>
                      <a:latin typeface="HY헤드라인M"/>
                      <a:ea typeface="HY헤드라인M"/>
                      <a:cs typeface="+mn-cs"/>
                    </a:rPr>
                    <a:t>학교평가 대상  및  주기</a:t>
                  </a:r>
                </a:p>
              </p:txBody>
            </p:sp>
          </p:grpSp>
          <p:pic>
            <p:nvPicPr>
              <p:cNvPr id="37" name="그림 36"/>
              <p:cNvPicPr>
                <a:picLocks noChangeAspect="1"/>
              </p:cNvPicPr>
              <p:nvPr/>
            </p:nvPicPr>
            <p:blipFill rotWithShape="1">
              <a:blip r:embed="rId5"/>
              <a:stretch>
                <a:fillRect/>
              </a:stretch>
            </p:blipFill>
            <p:spPr>
              <a:xfrm>
                <a:off x="-434108" y="1472566"/>
                <a:ext cx="454972" cy="456593"/>
              </a:xfrm>
              <a:prstGeom prst="rect">
                <a:avLst/>
              </a:prstGeom>
            </p:spPr>
          </p:pic>
          <p:sp>
            <p:nvSpPr>
              <p:cNvPr id="38" name="TextBox 37"/>
              <p:cNvSpPr txBox="1"/>
              <p:nvPr/>
            </p:nvSpPr>
            <p:spPr>
              <a:xfrm>
                <a:off x="-434108" y="1459400"/>
                <a:ext cx="516836" cy="435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r>
                  <a:rPr kumimoji="0" lang="en-US" altLang="ko-KR" sz="2400" b="1" i="0" u="none" strike="noStrike" kern="1200" cap="none" spc="-150" normalizeH="0" baseline="0">
                    <a:ln w="11430"/>
                    <a:solidFill>
                      <a:srgbClr val="0000CC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uLnTx/>
                    <a:uFillTx/>
                    <a:latin typeface="-파랑새M"/>
                    <a:ea typeface="-파랑새M"/>
                    <a:cs typeface="+mn-cs"/>
                  </a:rPr>
                  <a:t>1</a:t>
                </a:r>
                <a:endParaRPr kumimoji="0" lang="ko-KR" altLang="en-US" sz="2400" b="1" i="0" u="none" strike="noStrike" kern="1200" cap="none" spc="-150" normalizeH="0" baseline="0">
                  <a:ln w="11430"/>
                  <a:solidFill>
                    <a:srgbClr val="0000CC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uLnTx/>
                  <a:uFillTx/>
                  <a:latin typeface="-파랑새M"/>
                  <a:ea typeface="-파랑새M"/>
                  <a:cs typeface="+mn-cs"/>
                </a:endParaRPr>
              </a:p>
            </p:txBody>
          </p:sp>
        </p:grp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1D745CB-1D78-40A1-8591-2C40C67B1240}"/>
              </a:ext>
            </a:extLst>
          </p:cNvPr>
          <p:cNvGrpSpPr/>
          <p:nvPr/>
        </p:nvGrpSpPr>
        <p:grpSpPr>
          <a:xfrm>
            <a:off x="727685" y="2611040"/>
            <a:ext cx="9532007" cy="3208068"/>
            <a:chOff x="0" y="47204"/>
            <a:chExt cx="12490097" cy="1252662"/>
          </a:xfrm>
        </p:grpSpPr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FFE6745-87E0-4161-8E9F-C82F54884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7204"/>
              <a:ext cx="273177" cy="3627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ko-KR" altLang="en-US" sz="3200"/>
            </a:p>
          </p:txBody>
        </p:sp>
        <p:sp>
          <p:nvSpPr>
            <p:cNvPr id="8" name="Rectangle 12">
              <a:extLst>
                <a:ext uri="{FF2B5EF4-FFF2-40B4-BE49-F238E27FC236}">
                  <a16:creationId xmlns:a16="http://schemas.microsoft.com/office/drawing/2014/main" id="{CBFC9F2D-4637-4AE7-8F1D-DCC9B8A99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52" y="180356"/>
              <a:ext cx="12121645" cy="672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Bold" panose="00000800000000000000" pitchFamily="2" charset="-127"/>
                </a:rPr>
                <a:t>평가 대상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: 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경상남도교육청 소속 국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·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공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·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사립 모든 초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·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중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·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고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·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특수학교 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983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교</a:t>
              </a:r>
              <a:br>
                <a:rPr kumimoji="0" lang="ko-KR" altLang="en-US" sz="20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</a:rPr>
              </a:b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(2025. 3. 1. 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기준 초 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511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교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, 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중 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268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교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, 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고 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193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교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, 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특수학교 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11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교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)</a:t>
              </a:r>
              <a:endParaRPr kumimoji="0" lang="en-US" altLang="ko-KR" sz="1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※ </a:t>
              </a:r>
              <a:r>
                <a:rPr kumimoji="0" lang="ko-KR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분교는 본교의 학교평가 계획에 포함하여 평가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※ </a:t>
              </a:r>
              <a:r>
                <a:rPr kumimoji="0" lang="ko-KR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초</a:t>
              </a:r>
              <a:r>
                <a:rPr kumimoji="0" lang="en-US" altLang="ko-KR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·</a:t>
              </a:r>
              <a:r>
                <a:rPr kumimoji="0" lang="ko-KR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중등 통합학교는 각각 별도 평가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D0B04B5F-05AD-44C1-87CF-A3E5B1B8C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955" y="671609"/>
              <a:ext cx="5045064" cy="348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-윤명조130"/>
                  <a:ea typeface="KoPub돋움체 Bold" panose="00000800000000000000" pitchFamily="2" charset="-127"/>
                </a:rPr>
                <a:t>평가 주기</a:t>
              </a:r>
              <a:r>
                <a:rPr kumimoji="0" lang="en-US" altLang="ko-KR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: 1</a:t>
              </a:r>
              <a:r>
                <a:rPr kumimoji="0" lang="ko-KR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년</a:t>
              </a:r>
              <a:r>
                <a:rPr kumimoji="0" lang="en-US" altLang="ko-KR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(</a:t>
              </a:r>
              <a:r>
                <a:rPr kumimoji="0" lang="ko-KR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매년 실시</a:t>
              </a:r>
              <a:r>
                <a:rPr kumimoji="0" lang="en-US" altLang="ko-KR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)</a:t>
              </a:r>
              <a:endPara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35A7C204-D13D-4CC3-84B2-D3E2707B8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53" y="746125"/>
              <a:ext cx="8505805" cy="5537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-윤명조130"/>
                  <a:ea typeface="KoPub돋움체 Bold" panose="00000800000000000000" pitchFamily="2" charset="-127"/>
                </a:rPr>
                <a:t>평가 적용 기간</a:t>
              </a:r>
              <a:r>
                <a:rPr kumimoji="0" lang="en-US" altLang="ko-KR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: 2025. 3. 1. ~ 2026. 2. 28. (2025</a:t>
              </a:r>
              <a:r>
                <a:rPr kumimoji="0" lang="ko-KR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-윤명조130"/>
                  <a:ea typeface="KoPub돋움체 Light" panose="00000300000000000000" pitchFamily="2" charset="-127"/>
                </a:rPr>
                <a:t>학년도</a:t>
              </a:r>
              <a:r>
                <a:rPr kumimoji="0" lang="en-US" altLang="ko-KR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)</a:t>
              </a:r>
              <a:endPara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ko-K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29" name="_x198693576">
            <a:extLst>
              <a:ext uri="{FF2B5EF4-FFF2-40B4-BE49-F238E27FC236}">
                <a16:creationId xmlns:a16="http://schemas.microsoft.com/office/drawing/2014/main" id="{FC7F48D5-C113-4AF8-A628-535218825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73" y="4302064"/>
            <a:ext cx="257391" cy="28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_x198693576">
            <a:extLst>
              <a:ext uri="{FF2B5EF4-FFF2-40B4-BE49-F238E27FC236}">
                <a16:creationId xmlns:a16="http://schemas.microsoft.com/office/drawing/2014/main" id="{A407A321-1B5F-4D0B-BBEB-160E96B26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73" y="3016616"/>
            <a:ext cx="257391" cy="28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_x198693576">
            <a:extLst>
              <a:ext uri="{FF2B5EF4-FFF2-40B4-BE49-F238E27FC236}">
                <a16:creationId xmlns:a16="http://schemas.microsoft.com/office/drawing/2014/main" id="{C8F5D498-5486-433E-BEFC-EE09C5233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73" y="4828310"/>
            <a:ext cx="257391" cy="28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" y="25474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11560" y="548680"/>
            <a:ext cx="5400600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2. </a:t>
            </a:r>
            <a:r>
              <a:rPr lang="ko-KR" altLang="en-US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학교평가 영역 및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328" y="834802"/>
            <a:ext cx="1450965" cy="36195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13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7488" y="1340768"/>
            <a:ext cx="9195251" cy="5686721"/>
            <a:chOff x="670741" y="1560600"/>
            <a:chExt cx="8332655" cy="4034358"/>
          </a:xfrm>
        </p:grpSpPr>
        <p:pic>
          <p:nvPicPr>
            <p:cNvPr id="18" name="Picture 3" descr="2"/>
            <p:cNvPicPr>
              <a:picLocks noChangeAspect="1" noChangeArrowheads="1"/>
            </p:cNvPicPr>
            <p:nvPr/>
          </p:nvPicPr>
          <p:blipFill rotWithShape="1">
            <a:blip r:embed="rId4"/>
            <a:srcRect l="4320" t="18500" r="2740" b="8010"/>
            <a:stretch>
              <a:fillRect/>
            </a:stretch>
          </p:blipFill>
          <p:spPr>
            <a:xfrm>
              <a:off x="670741" y="1738466"/>
              <a:ext cx="8332655" cy="3856493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  <p:grpSp>
          <p:nvGrpSpPr>
            <p:cNvPr id="33" name="그룹 158"/>
            <p:cNvGrpSpPr/>
            <p:nvPr/>
          </p:nvGrpSpPr>
          <p:grpSpPr>
            <a:xfrm>
              <a:off x="930879" y="1560600"/>
              <a:ext cx="3902473" cy="389675"/>
              <a:chOff x="-434108" y="1472566"/>
              <a:chExt cx="4317003" cy="367868"/>
            </a:xfrm>
          </p:grpSpPr>
          <p:grpSp>
            <p:nvGrpSpPr>
              <p:cNvPr id="34" name="Group 145"/>
              <p:cNvGrpSpPr/>
              <p:nvPr/>
            </p:nvGrpSpPr>
            <p:grpSpPr>
              <a:xfrm>
                <a:off x="28093" y="1479156"/>
                <a:ext cx="3854802" cy="361278"/>
                <a:chOff x="4229022" y="1564668"/>
                <a:chExt cx="4071966" cy="361203"/>
              </a:xfrm>
            </p:grpSpPr>
            <p:sp>
              <p:nvSpPr>
                <p:cNvPr id="39" name="Rounded Rectangle 61"/>
                <p:cNvSpPr/>
                <p:nvPr/>
              </p:nvSpPr>
              <p:spPr>
                <a:xfrm>
                  <a:off x="4229022" y="1564668"/>
                  <a:ext cx="4071966" cy="361203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7030A0">
                    <a:alpha val="5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FontTx/>
                    <a:buNone/>
                    <a:defRPr/>
                  </a:pPr>
                  <a:endParaRPr kumimoji="0" lang="ko-KR" altLang="en-US" sz="1800" b="0" i="0" u="none" strike="noStrike" kern="1200" cap="none" spc="0" normalizeH="0" baseline="0"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/>
                    <a:cs typeface="+mn-cs"/>
                  </a:endParaRPr>
                </a:p>
              </p:txBody>
            </p:sp>
            <p:sp>
              <p:nvSpPr>
                <p:cNvPr id="40" name="Rectangle 66"/>
                <p:cNvSpPr/>
                <p:nvPr/>
              </p:nvSpPr>
              <p:spPr>
                <a:xfrm>
                  <a:off x="4391322" y="1619938"/>
                  <a:ext cx="2918012" cy="25721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FontTx/>
                    <a:buNone/>
                    <a:defRPr/>
                  </a:pPr>
                  <a:r>
                    <a:rPr kumimoji="0" lang="ko-KR" altLang="en-US" sz="1800" b="0" i="0" u="none" strike="noStrike" kern="1200" cap="none" spc="0" normalizeH="0" baseline="0" dirty="0">
                      <a:gradFill>
                        <a:gsLst>
                          <a:gs pos="0">
                            <a:prstClr val="white"/>
                          </a:gs>
                          <a:gs pos="50000">
                            <a:prstClr val="white"/>
                          </a:gs>
                          <a:gs pos="100000">
                            <a:prstClr val="white"/>
                          </a:gs>
                        </a:gsLst>
                        <a:lin ang="16200000" scaled="1"/>
                      </a:gradFill>
                      <a:effectLst>
                        <a:glow rad="101600">
                          <a:prstClr val="black">
                            <a:alpha val="60000"/>
                          </a:prstClr>
                        </a:glow>
                      </a:effectLst>
                      <a:uLnTx/>
                      <a:uFillTx/>
                      <a:latin typeface="HY헤드라인M"/>
                      <a:ea typeface="HY헤드라인M"/>
                      <a:cs typeface="+mn-cs"/>
                    </a:rPr>
                    <a:t> </a:t>
                  </a:r>
                  <a:r>
                    <a:rPr kumimoji="0" lang="ko-KR" altLang="en-US" sz="2000" b="0" i="0" u="none" strike="noStrike" kern="1200" cap="none" spc="0" normalizeH="0" baseline="0" dirty="0">
                      <a:gradFill>
                        <a:gsLst>
                          <a:gs pos="0">
                            <a:prstClr val="white"/>
                          </a:gs>
                          <a:gs pos="50000">
                            <a:prstClr val="white"/>
                          </a:gs>
                          <a:gs pos="100000">
                            <a:prstClr val="white"/>
                          </a:gs>
                        </a:gsLst>
                        <a:lin ang="16200000" scaled="1"/>
                      </a:gradFill>
                      <a:effectLst>
                        <a:glow rad="101600">
                          <a:prstClr val="black">
                            <a:alpha val="60000"/>
                          </a:prstClr>
                        </a:glow>
                      </a:effectLst>
                      <a:uLnTx/>
                      <a:uFillTx/>
                      <a:latin typeface="HY헤드라인M"/>
                      <a:ea typeface="HY헤드라인M"/>
                      <a:cs typeface="+mn-cs"/>
                    </a:rPr>
                    <a:t>학교</a:t>
                  </a:r>
                  <a:r>
                    <a:rPr kumimoji="0" lang="ko-KR" altLang="en-US" sz="2000" b="0" i="0" u="none" strike="noStrike" kern="1200" cap="none" spc="-150" normalizeH="0" baseline="0" dirty="0">
                      <a:gradFill>
                        <a:gsLst>
                          <a:gs pos="0">
                            <a:prstClr val="white"/>
                          </a:gs>
                          <a:gs pos="50000">
                            <a:prstClr val="white"/>
                          </a:gs>
                          <a:gs pos="100000">
                            <a:prstClr val="white"/>
                          </a:gs>
                        </a:gsLst>
                        <a:lin ang="16200000" scaled="1"/>
                      </a:gradFill>
                      <a:effectLst>
                        <a:glow rad="101600">
                          <a:prstClr val="black">
                            <a:alpha val="60000"/>
                          </a:prstClr>
                        </a:glow>
                      </a:effectLst>
                      <a:uLnTx/>
                      <a:uFillTx/>
                      <a:latin typeface="HY헤드라인M"/>
                      <a:ea typeface="HY헤드라인M"/>
                      <a:cs typeface="+mn-cs"/>
                    </a:rPr>
                    <a:t>평가  영역 및 방법</a:t>
                  </a:r>
                </a:p>
              </p:txBody>
            </p:sp>
          </p:grpSp>
          <p:pic>
            <p:nvPicPr>
              <p:cNvPr id="37" name="그림 36"/>
              <p:cNvPicPr>
                <a:picLocks noChangeAspect="1"/>
              </p:cNvPicPr>
              <p:nvPr/>
            </p:nvPicPr>
            <p:blipFill rotWithShape="1">
              <a:blip r:embed="rId5"/>
              <a:stretch>
                <a:fillRect/>
              </a:stretch>
            </p:blipFill>
            <p:spPr>
              <a:xfrm>
                <a:off x="-434108" y="1472566"/>
                <a:ext cx="650983" cy="338545"/>
              </a:xfrm>
              <a:prstGeom prst="rect">
                <a:avLst/>
              </a:prstGeom>
            </p:spPr>
          </p:pic>
          <p:sp>
            <p:nvSpPr>
              <p:cNvPr id="38" name="TextBox 37"/>
              <p:cNvSpPr txBox="1"/>
              <p:nvPr/>
            </p:nvSpPr>
            <p:spPr>
              <a:xfrm>
                <a:off x="-320989" y="1473472"/>
                <a:ext cx="597652" cy="294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r>
                  <a:rPr lang="en-US" altLang="ko-KR" sz="2400" b="1" spc="-150">
                    <a:ln w="11430"/>
                    <a:solidFill>
                      <a:srgbClr val="0000CC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-파랑새M"/>
                    <a:ea typeface="-파랑새M"/>
                  </a:rPr>
                  <a:t>2</a:t>
                </a:r>
                <a:endParaRPr kumimoji="0" lang="ko-KR" altLang="en-US" sz="2400" b="1" i="0" u="none" strike="noStrike" kern="1200" cap="none" spc="-150" normalizeH="0" baseline="0">
                  <a:ln w="11430"/>
                  <a:solidFill>
                    <a:srgbClr val="0000CC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uLnTx/>
                  <a:uFillTx/>
                  <a:latin typeface="-파랑새M"/>
                  <a:ea typeface="-파랑새M"/>
                  <a:cs typeface="+mn-cs"/>
                </a:endParaRPr>
              </a:p>
            </p:txBody>
          </p:sp>
        </p:grpSp>
      </p:grpSp>
      <p:sp>
        <p:nvSpPr>
          <p:cNvPr id="15" name="Rectangle 4">
            <a:extLst>
              <a:ext uri="{FF2B5EF4-FFF2-40B4-BE49-F238E27FC236}">
                <a16:creationId xmlns:a16="http://schemas.microsoft.com/office/drawing/2014/main" id="{599F17F2-6C8C-4495-8396-116D9BC80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2147592"/>
            <a:ext cx="598304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-윤명조130"/>
                <a:ea typeface="KoPub돋움체 Bold" panose="00000800000000000000" pitchFamily="2" charset="-127"/>
              </a:rPr>
              <a:t>평가 영역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4A82C"/>
                </a:solidFill>
                <a:effectLst/>
                <a:latin typeface="-윤명조130"/>
                <a:ea typeface="KoPub돋움체 Light" panose="00000300000000000000" pitchFamily="2" charset="-127"/>
              </a:rPr>
              <a:t>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민주성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학교 자치 및 학교문화</a:t>
            </a:r>
            <a:endParaRPr kumimoji="0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74A82C"/>
                </a:solidFill>
                <a:effectLst/>
                <a:latin typeface="-윤명조130"/>
                <a:ea typeface="KoPub돋움체 Light" panose="00000300000000000000" pitchFamily="2" charset="-127"/>
              </a:rPr>
              <a:t>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공공성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교육 복지 및 기회 균등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교육 안전</a:t>
            </a:r>
            <a:endParaRPr kumimoji="0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74A82C"/>
                </a:solidFill>
                <a:effectLst/>
                <a:latin typeface="-윤명조130"/>
                <a:ea typeface="KoPub돋움체 Light" panose="00000300000000000000" pitchFamily="2" charset="-127"/>
              </a:rPr>
              <a:t></a:t>
            </a:r>
            <a:r>
              <a:rPr kumimoji="0" lang="ko-KR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미래성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교육과정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교수학습 방법과 교원전문성</a:t>
            </a:r>
            <a:endParaRPr kumimoji="0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74A82C"/>
                </a:solidFill>
                <a:effectLst/>
                <a:latin typeface="-윤명조130"/>
                <a:ea typeface="KoPub돋움체 Light" panose="00000300000000000000" pitchFamily="2" charset="-127"/>
              </a:rPr>
              <a:t>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지역성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지역사회 연계</a:t>
            </a:r>
            <a:endParaRPr kumimoji="0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2DB2BE8F-EC68-454E-BF95-9E237D031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27" y="3840142"/>
            <a:ext cx="720581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-윤명조130"/>
                <a:ea typeface="KoPub돋움체 Bold" panose="00000800000000000000" pitchFamily="2" charset="-127"/>
              </a:rPr>
              <a:t>평가 방법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74A82C"/>
                </a:solidFill>
                <a:effectLst/>
                <a:latin typeface="-윤명조130"/>
                <a:ea typeface="KoPub돋움체 Light" panose="00000300000000000000" pitchFamily="2" charset="-127"/>
              </a:rPr>
              <a:t>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2025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학년도 추진계획 및 추진실적 평가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당해 연도 평가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74A82C"/>
                </a:solidFill>
                <a:effectLst/>
                <a:latin typeface="-윤명조130"/>
                <a:ea typeface="KoPub돋움체 Light" panose="00000300000000000000" pitchFamily="2" charset="-127"/>
              </a:rPr>
              <a:t>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평가 지표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구 공통지표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는 기존 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9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개 항목에서 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6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개 항목으로 통합하여 실시</a:t>
            </a:r>
            <a:endParaRPr kumimoji="0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74A82C"/>
                </a:solidFill>
                <a:effectLst/>
                <a:latin typeface="-윤명조130"/>
                <a:ea typeface="KoPub돋움체 Light" panose="00000300000000000000" pitchFamily="2" charset="-127"/>
              </a:rPr>
              <a:t>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평가 지표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구 공통지표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 6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개 항목은 전 초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·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중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·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고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·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특수학교 공통으로 필수 평가</a:t>
            </a:r>
            <a:endParaRPr kumimoji="0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74A82C"/>
                </a:solidFill>
                <a:effectLst/>
                <a:latin typeface="-윤명조130"/>
                <a:ea typeface="KoPub돋움체 Light" panose="00000300000000000000" pitchFamily="2" charset="-127"/>
              </a:rPr>
              <a:t>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평가 지표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구 공통지표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별 해당 평가 요소는 단위학교의 특성을 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-윤명조130"/>
              <a:ea typeface="KoPub돋움체 Light" panose="00000300000000000000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b="1" dirty="0">
                <a:solidFill>
                  <a:srgbClr val="000000"/>
                </a:solidFill>
                <a:latin typeface="-윤명조130"/>
                <a:ea typeface="KoPub돋움체 Light" panose="00000300000000000000" pitchFamily="2" charset="-127"/>
              </a:rPr>
              <a:t>    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고려하여 추가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·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수정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·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삭제할 수 있음</a:t>
            </a:r>
            <a:endParaRPr kumimoji="0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74A82C"/>
                </a:solidFill>
                <a:effectLst/>
                <a:latin typeface="-윤명조130"/>
                <a:ea typeface="KoPub돋움체 Light" panose="00000300000000000000" pitchFamily="2" charset="-127"/>
              </a:rPr>
              <a:t>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기존의 자율지표는 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2023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학년도부터 폐지</a:t>
            </a:r>
            <a:endParaRPr kumimoji="0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74A82C"/>
                </a:solidFill>
                <a:effectLst/>
                <a:latin typeface="-윤명조130"/>
                <a:ea typeface="KoPub돋움체 Light" panose="00000300000000000000" pitchFamily="2" charset="-127"/>
              </a:rPr>
              <a:t>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윤명조130"/>
                <a:ea typeface="KoPub돋움체 Light" panose="00000300000000000000" pitchFamily="2" charset="-127"/>
              </a:rPr>
              <a:t>학교주도적 학교평가 결과는 학교 교육의 질 향상과 개선을 위한 자료로 활용</a:t>
            </a:r>
            <a:endParaRPr kumimoji="0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9" name="_x198693576">
            <a:extLst>
              <a:ext uri="{FF2B5EF4-FFF2-40B4-BE49-F238E27FC236}">
                <a16:creationId xmlns:a16="http://schemas.microsoft.com/office/drawing/2014/main" id="{03D4F1CA-BE66-42EF-B87C-D740897FC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4" y="3897080"/>
            <a:ext cx="257391" cy="28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_x198693576">
            <a:extLst>
              <a:ext uri="{FF2B5EF4-FFF2-40B4-BE49-F238E27FC236}">
                <a16:creationId xmlns:a16="http://schemas.microsoft.com/office/drawing/2014/main" id="{DEEC6A0A-FC97-4799-A438-7D4DBCA98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98" y="2204879"/>
            <a:ext cx="257391" cy="28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67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27584" y="650692"/>
            <a:ext cx="5400600" cy="49244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2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3. </a:t>
            </a:r>
            <a:r>
              <a:rPr lang="ko-KR" altLang="en-US" sz="32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학교주도적 학교평가 절차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0312" y="762794"/>
            <a:ext cx="1378957" cy="36195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14</a:t>
            </a:r>
            <a:r>
              <a:rPr lang="ko-KR" altLang="en-US" sz="2400" b="1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539552" y="1283007"/>
            <a:ext cx="8332655" cy="5458363"/>
            <a:chOff x="670741" y="1560600"/>
            <a:chExt cx="8332655" cy="4050490"/>
          </a:xfrm>
        </p:grpSpPr>
        <p:pic>
          <p:nvPicPr>
            <p:cNvPr id="18" name="Picture 3" descr="2"/>
            <p:cNvPicPr>
              <a:picLocks noChangeAspect="1" noChangeArrowheads="1"/>
            </p:cNvPicPr>
            <p:nvPr/>
          </p:nvPicPr>
          <p:blipFill rotWithShape="1">
            <a:blip r:embed="rId4"/>
            <a:srcRect l="4320" t="18500" r="2740" b="8010"/>
            <a:stretch>
              <a:fillRect/>
            </a:stretch>
          </p:blipFill>
          <p:spPr>
            <a:xfrm>
              <a:off x="670741" y="1754597"/>
              <a:ext cx="8332655" cy="3856493"/>
            </a:xfrm>
            <a:prstGeom prst="rect">
              <a:avLst/>
            </a:prstGeom>
            <a:noFill/>
            <a:ln w="9525">
              <a:noFill/>
              <a:miter/>
            </a:ln>
          </p:spPr>
        </p:pic>
        <p:grpSp>
          <p:nvGrpSpPr>
            <p:cNvPr id="33" name="그룹 158"/>
            <p:cNvGrpSpPr/>
            <p:nvPr/>
          </p:nvGrpSpPr>
          <p:grpSpPr>
            <a:xfrm>
              <a:off x="814754" y="1560600"/>
              <a:ext cx="3888433" cy="374263"/>
              <a:chOff x="-562563" y="1472565"/>
              <a:chExt cx="4301472" cy="353318"/>
            </a:xfrm>
          </p:grpSpPr>
          <p:grpSp>
            <p:nvGrpSpPr>
              <p:cNvPr id="34" name="Group 145"/>
              <p:cNvGrpSpPr/>
              <p:nvPr/>
            </p:nvGrpSpPr>
            <p:grpSpPr>
              <a:xfrm>
                <a:off x="-115893" y="1478834"/>
                <a:ext cx="3854802" cy="347049"/>
                <a:chOff x="4076925" y="1564347"/>
                <a:chExt cx="4071966" cy="346977"/>
              </a:xfrm>
            </p:grpSpPr>
            <p:sp>
              <p:nvSpPr>
                <p:cNvPr id="39" name="Rounded Rectangle 61"/>
                <p:cNvSpPr/>
                <p:nvPr/>
              </p:nvSpPr>
              <p:spPr>
                <a:xfrm>
                  <a:off x="4076925" y="1564347"/>
                  <a:ext cx="4071966" cy="34697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7030A0">
                    <a:alpha val="51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FontTx/>
                    <a:buNone/>
                    <a:defRPr/>
                  </a:pPr>
                  <a:endParaRPr kumimoji="0" lang="ko-KR" altLang="en-US" sz="1800" b="0" i="0" u="none" strike="noStrike" kern="1200" cap="none" spc="0" normalizeH="0" baseline="0"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/>
                    <a:cs typeface="+mn-cs"/>
                  </a:endParaRPr>
                </a:p>
              </p:txBody>
            </p:sp>
            <p:sp>
              <p:nvSpPr>
                <p:cNvPr id="40" name="Rectangle 66"/>
                <p:cNvSpPr/>
                <p:nvPr/>
              </p:nvSpPr>
              <p:spPr>
                <a:xfrm>
                  <a:off x="4221383" y="1592555"/>
                  <a:ext cx="2918013" cy="26787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rtl="0" eaLnBrk="1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FontTx/>
                    <a:buNone/>
                    <a:defRPr/>
                  </a:pPr>
                  <a:r>
                    <a:rPr kumimoji="0" lang="ko-KR" altLang="en-US" sz="1800" b="0" i="0" u="none" strike="noStrike" kern="1200" cap="none" spc="0" normalizeH="0" baseline="0">
                      <a:gradFill>
                        <a:gsLst>
                          <a:gs pos="0">
                            <a:prstClr val="white"/>
                          </a:gs>
                          <a:gs pos="50000">
                            <a:prstClr val="white"/>
                          </a:gs>
                          <a:gs pos="100000">
                            <a:prstClr val="white"/>
                          </a:gs>
                        </a:gsLst>
                        <a:lin ang="16200000" scaled="1"/>
                      </a:gradFill>
                      <a:effectLst>
                        <a:glow rad="101600">
                          <a:prstClr val="black">
                            <a:alpha val="60000"/>
                          </a:prstClr>
                        </a:glow>
                      </a:effectLst>
                      <a:uLnTx/>
                      <a:uFillTx/>
                      <a:latin typeface="HY헤드라인M"/>
                      <a:ea typeface="HY헤드라인M"/>
                      <a:cs typeface="+mn-cs"/>
                    </a:rPr>
                    <a:t> </a:t>
                  </a:r>
                  <a:r>
                    <a:rPr kumimoji="0" lang="ko-KR" altLang="en-US" sz="2000" b="0" i="0" u="none" strike="noStrike" kern="1200" cap="none" spc="-150" normalizeH="0" baseline="0">
                      <a:gradFill>
                        <a:gsLst>
                          <a:gs pos="0">
                            <a:prstClr val="white"/>
                          </a:gs>
                          <a:gs pos="50000">
                            <a:prstClr val="white"/>
                          </a:gs>
                          <a:gs pos="100000">
                            <a:prstClr val="white"/>
                          </a:gs>
                        </a:gsLst>
                        <a:lin ang="16200000" scaled="1"/>
                      </a:gradFill>
                      <a:effectLst>
                        <a:glow rad="101600">
                          <a:prstClr val="black">
                            <a:alpha val="60000"/>
                          </a:prstClr>
                        </a:glow>
                      </a:effectLst>
                      <a:uLnTx/>
                      <a:uFillTx/>
                      <a:latin typeface="HY헤드라인M"/>
                      <a:ea typeface="HY헤드라인M"/>
                      <a:cs typeface="+mn-cs"/>
                    </a:rPr>
                    <a:t>학교평가 절차</a:t>
                  </a:r>
                </a:p>
              </p:txBody>
            </p:sp>
          </p:grpSp>
          <p:pic>
            <p:nvPicPr>
              <p:cNvPr id="37" name="그림 36"/>
              <p:cNvPicPr>
                <a:picLocks noChangeAspect="1"/>
              </p:cNvPicPr>
              <p:nvPr/>
            </p:nvPicPr>
            <p:blipFill rotWithShape="1">
              <a:blip r:embed="rId5"/>
              <a:stretch>
                <a:fillRect/>
              </a:stretch>
            </p:blipFill>
            <p:spPr>
              <a:xfrm>
                <a:off x="-562563" y="1472565"/>
                <a:ext cx="583428" cy="353318"/>
              </a:xfrm>
              <a:prstGeom prst="rect">
                <a:avLst/>
              </a:prstGeom>
            </p:spPr>
          </p:pic>
          <p:sp>
            <p:nvSpPr>
              <p:cNvPr id="38" name="TextBox 37"/>
              <p:cNvSpPr txBox="1"/>
              <p:nvPr/>
            </p:nvSpPr>
            <p:spPr>
              <a:xfrm>
                <a:off x="-482903" y="1478833"/>
                <a:ext cx="557594" cy="312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r>
                  <a:rPr kumimoji="0" lang="en-US" altLang="ko-KR" sz="2400" b="1" i="0" u="none" strike="noStrike" kern="1200" cap="none" spc="-150" normalizeH="0" baseline="0">
                    <a:ln w="11430"/>
                    <a:solidFill>
                      <a:srgbClr val="0000CC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uLnTx/>
                    <a:uFillTx/>
                    <a:latin typeface="-파랑새M"/>
                    <a:ea typeface="-파랑새M"/>
                    <a:cs typeface="+mn-cs"/>
                  </a:rPr>
                  <a:t>3</a:t>
                </a:r>
              </a:p>
            </p:txBody>
          </p:sp>
        </p:grp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A8A6E0CC-89A4-419C-957C-9E2F68D15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640" y="1827631"/>
            <a:ext cx="6624736" cy="4481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" y="0"/>
            <a:ext cx="9142968" cy="6858000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>
          <a:xfrm>
            <a:off x="1" y="850231"/>
            <a:ext cx="13856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68580" tIns="34290" rIns="68580" bIns="3429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 sz="135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>
          <a:xfrm>
            <a:off x="-23302" y="909761"/>
            <a:ext cx="13856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68580" tIns="34290" rIns="68580" bIns="3429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 sz="1350"/>
          </a:p>
        </p:txBody>
      </p:sp>
      <p:sp>
        <p:nvSpPr>
          <p:cNvPr id="44" name="직사각형 43"/>
          <p:cNvSpPr/>
          <p:nvPr/>
        </p:nvSpPr>
        <p:spPr>
          <a:xfrm>
            <a:off x="1070610" y="1628800"/>
            <a:ext cx="6898004" cy="1302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00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Ⅲ. </a:t>
            </a:r>
            <a:r>
              <a:rPr lang="ko-KR" altLang="en-US" sz="400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학교주도적 학교평가 지표</a:t>
            </a:r>
          </a:p>
          <a:p>
            <a:pPr algn="ctr">
              <a:defRPr/>
            </a:pPr>
            <a:r>
              <a:rPr lang="ko-KR" altLang="en-US" sz="400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및 평가 방법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971600" y="267990"/>
            <a:ext cx="3528392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1. </a:t>
            </a:r>
            <a:r>
              <a:rPr lang="ko-KR" altLang="en-US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평가지표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56" y="544989"/>
            <a:ext cx="2160240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21~22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>
          <a:xfrm>
            <a:off x="1743075" y="160020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>
          <a:xfrm>
            <a:off x="1622425" y="140335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CBFF40-C22F-403E-BCBD-7BAF6A390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958662"/>
            <a:ext cx="8370936" cy="57822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99592" y="412281"/>
            <a:ext cx="5616624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2. </a:t>
            </a:r>
            <a:r>
              <a:rPr lang="ko-KR" altLang="en-US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평가지표별 평가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6336" y="544989"/>
            <a:ext cx="1440160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23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>
          <a:xfrm>
            <a:off x="1743075" y="160020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BD41A0C-50CE-4414-B3C8-2A2300667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064915"/>
              </p:ext>
            </p:extLst>
          </p:nvPr>
        </p:nvGraphicFramePr>
        <p:xfrm>
          <a:off x="251520" y="1177585"/>
          <a:ext cx="8640959" cy="5348561"/>
        </p:xfrm>
        <a:graphic>
          <a:graphicData uri="http://schemas.openxmlformats.org/drawingml/2006/table">
            <a:tbl>
              <a:tblPr/>
              <a:tblGrid>
                <a:gridCol w="2304256">
                  <a:extLst>
                    <a:ext uri="{9D8B030D-6E8A-4147-A177-3AD203B41FA5}">
                      <a16:colId xmlns:a16="http://schemas.microsoft.com/office/drawing/2014/main" val="11436643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3679023493"/>
                    </a:ext>
                  </a:extLst>
                </a:gridCol>
                <a:gridCol w="2951622">
                  <a:extLst>
                    <a:ext uri="{9D8B030D-6E8A-4147-A177-3AD203B41FA5}">
                      <a16:colId xmlns:a16="http://schemas.microsoft.com/office/drawing/2014/main" val="2499233140"/>
                    </a:ext>
                  </a:extLst>
                </a:gridCol>
                <a:gridCol w="864801">
                  <a:extLst>
                    <a:ext uri="{9D8B030D-6E8A-4147-A177-3AD203B41FA5}">
                      <a16:colId xmlns:a16="http://schemas.microsoft.com/office/drawing/2014/main" val="4230328280"/>
                    </a:ext>
                  </a:extLst>
                </a:gridCol>
              </a:tblGrid>
              <a:tr h="4692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지표 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1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4559" marR="54559" marT="15084" marB="15084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모두가 참여하는 학교자치 문화를 형성하고 민주적인 의사결정이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  <a:p>
                      <a:pPr marL="6350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이루어지고 있는가</a:t>
                      </a:r>
                      <a:r>
                        <a:rPr lang="en-US" altLang="ko-KR" sz="1400" kern="0" spc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?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54559" marR="54559" marT="15084" marB="15084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202922"/>
                  </a:ext>
                </a:extLst>
              </a:tr>
              <a:tr h="46755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지표의 근거 및 평가 취지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4559" marR="54559" marT="15084" marB="15084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요소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4559" marR="54559" marT="15084" marB="15084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자료 및 방법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4559" marR="54559" marT="15084" marB="15084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평가유형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4559" marR="54559" marT="15084" marB="15084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629261"/>
                  </a:ext>
                </a:extLst>
              </a:tr>
              <a:tr h="36852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2025.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경남교육 정책방향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3.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안전하고 건강한 교육환경」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▪학교에서 시작하는 민주시민교육 활성화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▪모두가 주인인 학교자치 활성화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▪교육공동체 소통과 공감문화 확산 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4559" marR="54559" marT="15084" marB="15084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9220" marR="0" indent="-109220" algn="ju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▪경남교육의 기본 철학 이해 및 학교 비전 공유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▪교직원회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다모임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토론회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연수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워크숍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협의회 등의 민주적인 운영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▪학생자치활동 활성화</a:t>
                      </a:r>
                      <a:b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-윤명조130"/>
                        </a:rPr>
                      </a:br>
                      <a:r>
                        <a:rPr lang="en-US" altLang="ko-KR" sz="1400" kern="0" spc="11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400" kern="0" spc="11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학생자치회</a:t>
                      </a:r>
                      <a:r>
                        <a:rPr lang="en-US" altLang="ko-KR" sz="1400" kern="0" spc="11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11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학생자율</a:t>
                      </a:r>
                      <a:r>
                        <a:rPr lang="ko-KR" altLang="en-US" sz="1400" kern="0" spc="14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동아</a:t>
                      </a:r>
                      <a:r>
                        <a:rPr lang="ko-KR" altLang="en-US" sz="1400" kern="0" spc="1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리</a:t>
                      </a:r>
                      <a:r>
                        <a:rPr lang="en-US" altLang="ko-KR" sz="1400" kern="0" spc="1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1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 주도 행사</a:t>
                      </a:r>
                      <a:r>
                        <a:rPr lang="en-US" altLang="ko-KR" sz="1400" kern="0" spc="1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1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고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교학생회장단 연수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▪교육공동체의 소통과 참여를 기반으로 한 </a:t>
                      </a:r>
                      <a:r>
                        <a:rPr lang="ko-KR" altLang="en-US" sz="1400" kern="0" spc="-1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민주적인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의사결정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교직원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학부모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4559" marR="54559" marT="15084" marB="15084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▪교육공동체 참여 실적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4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다모임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토론회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연수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워크숍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협의회 등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▪학교규칙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학생자치회 회칙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학생자치회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전교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학급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운영 일지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 의견 반영 현황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 자율동아리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 주도 행사 운영 실적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고교학생회장단 연수 현황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▪교육공동체 의견수렴 실적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4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다모임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토론회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워크숍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협의회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설문조사 등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▪교육활동을 위한 의사결정에 교사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학부모가 함께 참여한 실적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0" marR="0" indent="0" algn="ju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학부모 참여 토론회 및 협의회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4559" marR="54559" marT="15084" marB="15084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정성평가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및 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정량평가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4559" marR="54559" marT="15084" marB="15084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01356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CA28BFB-5199-4A8E-B922-35039F066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1600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3222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99592" y="438007"/>
            <a:ext cx="5184576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3. </a:t>
            </a:r>
            <a:r>
              <a:rPr lang="ko-KR" altLang="en-US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평가지표별 평가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6336" y="544989"/>
            <a:ext cx="1440160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24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>
          <a:xfrm>
            <a:off x="1743075" y="160020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2F8FF2-5428-440E-847A-991B0194E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052022"/>
              </p:ext>
            </p:extLst>
          </p:nvPr>
        </p:nvGraphicFramePr>
        <p:xfrm>
          <a:off x="178996" y="1174331"/>
          <a:ext cx="8784976" cy="5274356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1270935108"/>
                    </a:ext>
                  </a:extLst>
                </a:gridCol>
                <a:gridCol w="3096860">
                  <a:extLst>
                    <a:ext uri="{9D8B030D-6E8A-4147-A177-3AD203B41FA5}">
                      <a16:colId xmlns:a16="http://schemas.microsoft.com/office/drawing/2014/main" val="3590062494"/>
                    </a:ext>
                  </a:extLst>
                </a:gridCol>
                <a:gridCol w="2209224">
                  <a:extLst>
                    <a:ext uri="{9D8B030D-6E8A-4147-A177-3AD203B41FA5}">
                      <a16:colId xmlns:a16="http://schemas.microsoft.com/office/drawing/2014/main" val="2768316339"/>
                    </a:ext>
                  </a:extLst>
                </a:gridCol>
                <a:gridCol w="886604">
                  <a:extLst>
                    <a:ext uri="{9D8B030D-6E8A-4147-A177-3AD203B41FA5}">
                      <a16:colId xmlns:a16="http://schemas.microsoft.com/office/drawing/2014/main" val="2998312119"/>
                    </a:ext>
                  </a:extLst>
                </a:gridCol>
              </a:tblGrid>
              <a:tr h="4023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지표 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2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5271" marR="45271" marT="12516" marB="12516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학교는 교육복지 실현과 기회균등을 위해 노력하고 있는가</a:t>
                      </a:r>
                      <a:r>
                        <a:rPr lang="en-US" altLang="ko-KR" sz="1400" kern="0" spc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?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45271" marR="45271" marT="12516" marB="12516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588841"/>
                  </a:ext>
                </a:extLst>
              </a:tr>
              <a:tr h="40085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지표의 근거 및 평가 취지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5271" marR="45271" marT="12516" marB="12516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요소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5271" marR="45271" marT="12516" marB="12516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자료 및 방법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5271" marR="45271" marT="12516" marB="12516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평가유형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5271" marR="45271" marT="12516" marB="12516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399488"/>
                  </a:ext>
                </a:extLst>
              </a:tr>
              <a:tr h="40088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2025.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경남교육 정책방향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2.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더불어 행복한교육복지」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▪모든 학생의 성장을 책임지는 기초학력 책임교육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▪경남형 </a:t>
                      </a:r>
                      <a:r>
                        <a:rPr lang="ko-KR" altLang="en-US" sz="14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늘봄학교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방과후학교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운영 내실화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▪모든 학생의 전인적 성장을 위한 학생맞춤통합지원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▪다름을 존중하는 다문화 교육 내실화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▪다양성을 존중하는 맞춤형 대안교육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5271" marR="45271" marT="12516" marB="12516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▪교육격차 해소를 위한 교육활동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기초학력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두드림학교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▪학생맞춤통합지원 대상자 조사 및 교육 프로그램 운영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 배려 학생에 대한 교육복지 지원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다문화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장애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저소득층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▪교육과정 중심의 다문화 이해 교육 및 지원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▪경남형 </a:t>
                      </a:r>
                      <a:r>
                        <a:rPr lang="ko-KR" altLang="en-US" sz="14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늘봄학교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및 </a:t>
                      </a:r>
                      <a:r>
                        <a:rPr lang="ko-KR" altLang="en-US" sz="14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방과후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학교 운영의 충실도 및 만족도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4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거점통합돌봄센터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맞춤형 프로그램 등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▪학생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교직원의 장애인식 개선을 위한 교육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5271" marR="45271" marT="12516" marB="12516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▪기초학력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두드림학교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운영 계획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방과후학교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자유수강권 지급 현황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통합교육 운영 계획 등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▪학생맞춤통합지원 교육 프로그램 운영현황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▪경남형 </a:t>
                      </a:r>
                      <a:r>
                        <a:rPr lang="ko-KR" altLang="en-US" sz="14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늘봄학교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운영현황 및 만족도 조사 실적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2025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학년도 학교 다문화 학생 지원계획 및 다문화교육 운영 계획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5271" marR="45271" marT="12516" marB="12516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정성평가 및 정량평가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5271" marR="45271" marT="12516" marB="12516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81067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36F6221-8D96-4D24-8A65-7C5B5B00C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14636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5403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1115616" y="423548"/>
            <a:ext cx="5256584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4. </a:t>
            </a:r>
            <a:r>
              <a:rPr lang="ko-KR" altLang="en-US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평가지표별 평가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6336" y="544989"/>
            <a:ext cx="1440160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25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>
          <a:xfrm>
            <a:off x="1743075" y="160020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598B500-6EAD-48CE-986E-9526FD106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639923"/>
              </p:ext>
            </p:extLst>
          </p:nvPr>
        </p:nvGraphicFramePr>
        <p:xfrm>
          <a:off x="251520" y="1157215"/>
          <a:ext cx="8568952" cy="5305341"/>
        </p:xfrm>
        <a:graphic>
          <a:graphicData uri="http://schemas.openxmlformats.org/drawingml/2006/table">
            <a:tbl>
              <a:tblPr/>
              <a:tblGrid>
                <a:gridCol w="2167801">
                  <a:extLst>
                    <a:ext uri="{9D8B030D-6E8A-4147-A177-3AD203B41FA5}">
                      <a16:colId xmlns:a16="http://schemas.microsoft.com/office/drawing/2014/main" val="2470297088"/>
                    </a:ext>
                  </a:extLst>
                </a:gridCol>
                <a:gridCol w="2526494">
                  <a:extLst>
                    <a:ext uri="{9D8B030D-6E8A-4147-A177-3AD203B41FA5}">
                      <a16:colId xmlns:a16="http://schemas.microsoft.com/office/drawing/2014/main" val="2771962803"/>
                    </a:ext>
                  </a:extLst>
                </a:gridCol>
                <a:gridCol w="3009855">
                  <a:extLst>
                    <a:ext uri="{9D8B030D-6E8A-4147-A177-3AD203B41FA5}">
                      <a16:colId xmlns:a16="http://schemas.microsoft.com/office/drawing/2014/main" val="3348883281"/>
                    </a:ext>
                  </a:extLst>
                </a:gridCol>
                <a:gridCol w="864802">
                  <a:extLst>
                    <a:ext uri="{9D8B030D-6E8A-4147-A177-3AD203B41FA5}">
                      <a16:colId xmlns:a16="http://schemas.microsoft.com/office/drawing/2014/main" val="1034978112"/>
                    </a:ext>
                  </a:extLst>
                </a:gridCol>
              </a:tblGrid>
              <a:tr h="4496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지표 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3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5771" marR="55771" marT="15419" marB="15419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학교는 안전하고 건강한 교육환경을 조성하기 위해 노력하고 있는가</a:t>
                      </a:r>
                      <a:r>
                        <a:rPr lang="en-US" altLang="ko-KR" sz="1400" kern="0" spc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?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55771" marR="55771" marT="15419" marB="15419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031501"/>
                  </a:ext>
                </a:extLst>
              </a:tr>
              <a:tr h="4480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지표의 근거 및 평가 취지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5771" marR="55771" marT="15419" marB="15419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요소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5771" marR="55771" marT="15419" marB="15419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자료 및 방법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5771" marR="55771" marT="15419" marB="15419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평가유형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5771" marR="55771" marT="15419" marB="15419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328024"/>
                  </a:ext>
                </a:extLst>
              </a:tr>
              <a:tr h="34307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2025.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경남교육 정책방향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3.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안전하고 건강한 교육환경」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▪학생 건강권 강화 및 학교 안전망 구축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▪교육인권경영으로 교육공동체 인권보호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▪학교폭력 예방 및 맞춤형 지원 강화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23190" marR="0" indent="-12319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▪양성평등교육 활성화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5771" marR="55771" marT="15419" marB="15419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▪학생 건강 및 안전을 최우선으로 하는 교육환경 조성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▪교육공동체 인권 보호 프로그램 운영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▪학교폭력예방 및 심리적 안정 지원 강화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▪양성평등 교육 활성화 및 차별 없는 교육환경 조성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▪민주시민교육 활성화 및 학교 자치 확대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▪안전한 근로환경 조성 및 교육공동체 소통 강화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5771" marR="55771" marT="15419" marB="15419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▪재난 및 학교 안전사고 예방을 위한 안전 교육 및 점검 활동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▪학교폭력 예방 교육 프로그램 운영 및 지원 현황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▪생활교육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안전교육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양성평등교육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민주시민교육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학교폭력 예방 교육이 운영된 학교 교육과정 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▪감염병 예방을 통한 안전하고 건강한 학교생활을 위한 지원 방안 및 근절 노력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▪산업재해 발생 현황 및 예방 대책과 학교 구성원 간 소통 채널 운영 현황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간담회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워크숍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5771" marR="55771" marT="15419" marB="15419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정성평가 및 정량평가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5771" marR="55771" marT="15419" marB="15419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22494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2094236-F488-4CCD-90E3-6D014E2FE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15033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832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27584" y="452656"/>
            <a:ext cx="5472608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5. </a:t>
            </a:r>
            <a:r>
              <a:rPr lang="ko-KR" altLang="en-US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평가지표별 평가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6336" y="544989"/>
            <a:ext cx="1440160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26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>
          <a:xfrm>
            <a:off x="1743075" y="160020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DCA5DAE-ACAC-4A89-838E-0327EC1FC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819334"/>
              </p:ext>
            </p:extLst>
          </p:nvPr>
        </p:nvGraphicFramePr>
        <p:xfrm>
          <a:off x="323012" y="1315011"/>
          <a:ext cx="8496944" cy="4890012"/>
        </p:xfrm>
        <a:graphic>
          <a:graphicData uri="http://schemas.openxmlformats.org/drawingml/2006/table">
            <a:tbl>
              <a:tblPr/>
              <a:tblGrid>
                <a:gridCol w="2232248">
                  <a:extLst>
                    <a:ext uri="{9D8B030D-6E8A-4147-A177-3AD203B41FA5}">
                      <a16:colId xmlns:a16="http://schemas.microsoft.com/office/drawing/2014/main" val="612663087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12626510"/>
                    </a:ext>
                  </a:extLst>
                </a:gridCol>
                <a:gridCol w="2958890">
                  <a:extLst>
                    <a:ext uri="{9D8B030D-6E8A-4147-A177-3AD203B41FA5}">
                      <a16:colId xmlns:a16="http://schemas.microsoft.com/office/drawing/2014/main" val="3264067776"/>
                    </a:ext>
                  </a:extLst>
                </a:gridCol>
                <a:gridCol w="857534">
                  <a:extLst>
                    <a:ext uri="{9D8B030D-6E8A-4147-A177-3AD203B41FA5}">
                      <a16:colId xmlns:a16="http://schemas.microsoft.com/office/drawing/2014/main" val="2102264756"/>
                    </a:ext>
                  </a:extLst>
                </a:gridCol>
              </a:tblGrid>
              <a:tr h="4297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지표 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4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3299" marR="53299" marT="14736" marB="14736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학교의 다양한 특성을 살린 창의적인 교육과정을 계획하여 운영하고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6350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있는가</a:t>
                      </a:r>
                      <a:r>
                        <a:rPr lang="en-US" altLang="ko-KR" sz="1400" kern="0" spc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?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3299" marR="53299" marT="14736" marB="14736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870787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지표의 근거 및 평가 취지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3299" marR="53299" marT="14736" marB="14736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요소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3299" marR="53299" marT="14736" marB="14736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자료 및 방법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3299" marR="53299" marT="14736" marB="14736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평가유형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3299" marR="53299" marT="14736" marB="14736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328095"/>
                  </a:ext>
                </a:extLst>
              </a:tr>
              <a:tr h="34793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2025. </a:t>
                      </a:r>
                      <a:r>
                        <a:rPr lang="ko-KR" altLang="en-US" sz="1300" b="1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경남교육 정책방향 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「</a:t>
                      </a:r>
                      <a:r>
                        <a:rPr lang="en-US" altLang="ko-KR" sz="1300" b="1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1. </a:t>
                      </a:r>
                      <a:r>
                        <a:rPr lang="ko-KR" altLang="en-US" sz="1300" b="1" kern="0" spc="-20" dirty="0" err="1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배움중심의</a:t>
                      </a:r>
                      <a:r>
                        <a:rPr lang="ko-KR" altLang="en-US" sz="1300" b="1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새로운 교육」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▪학습자 중심의 미래형 교육과정 운영</a:t>
                      </a:r>
                      <a:endParaRPr lang="ko-KR" altLang="en-US" sz="1300" kern="0" spc="-2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▪미래 역량 함양을 위한 창의융합교육 강화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▪빅데이터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·AI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플랫폼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아이톡톡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운영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확대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▪누구나 즐기는 문화예술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체육교육 강화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▪맞춤형 진로진학체제 운영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-윤명조130"/>
                          <a:ea typeface="KoPub돋움체 Light" panose="00000300000000000000" pitchFamily="2" charset="-127"/>
                        </a:rPr>
                        <a:t> 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3299" marR="53299" marT="14736" marB="14736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 특성 분석 및 교육과정 반영의 적절성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▪삶과 연계된 창의적인 교육과정 편성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운영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▪미래핵심역량 중심 교육과정 운영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AI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디지털 교육 플랫폼 활용 및 디지털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리터러시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함양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▪독서 및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인문소양교육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활성화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▪문화예술체육교육 활성화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▪진로 맞춤형 교육과정 운영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3299" marR="53299" marT="14736" marB="14736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 교육과정 운영 계획서 및 학교주도적 학교평가 자료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 교육목표 및 비전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각 업무별 구체적 실천 방안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교육과정 워크숍 자료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 교육과정 평가자료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교사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0" marR="0" indent="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학부모 교육과정 만족도 조사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▪교육과정 시수 및 연간 진도표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학사일정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창의적 체험활동 계획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자유학기제 운영 계획 등 지표 관련 근거 자료 수집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․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분석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6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▪수업계획서 분석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(AI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디지털교과서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에듀테크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활용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온라인 학습 플랫폼 활용 등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3299" marR="53299" marT="14736" marB="14736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정성평가 및 정량평가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53299" marR="53299" marT="14736" marB="14736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25735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791735C-7AB6-4DE8-9E54-CDA19561B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600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196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99592" y="359018"/>
            <a:ext cx="5328592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6. </a:t>
            </a:r>
            <a:r>
              <a:rPr lang="ko-KR" altLang="en-US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평가지표별 평가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6336" y="544989"/>
            <a:ext cx="1440160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27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>
          <a:xfrm>
            <a:off x="1743075" y="160020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9E415AD-6838-4865-BF26-4CE5DBE28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303628"/>
              </p:ext>
            </p:extLst>
          </p:nvPr>
        </p:nvGraphicFramePr>
        <p:xfrm>
          <a:off x="179514" y="1050646"/>
          <a:ext cx="8856982" cy="5685426"/>
        </p:xfrm>
        <a:graphic>
          <a:graphicData uri="http://schemas.openxmlformats.org/drawingml/2006/table">
            <a:tbl>
              <a:tblPr/>
              <a:tblGrid>
                <a:gridCol w="2240669">
                  <a:extLst>
                    <a:ext uri="{9D8B030D-6E8A-4147-A177-3AD203B41FA5}">
                      <a16:colId xmlns:a16="http://schemas.microsoft.com/office/drawing/2014/main" val="3242376586"/>
                    </a:ext>
                  </a:extLst>
                </a:gridCol>
                <a:gridCol w="2727881">
                  <a:extLst>
                    <a:ext uri="{9D8B030D-6E8A-4147-A177-3AD203B41FA5}">
                      <a16:colId xmlns:a16="http://schemas.microsoft.com/office/drawing/2014/main" val="892562216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428797647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07671832"/>
                    </a:ext>
                  </a:extLst>
                </a:gridCol>
              </a:tblGrid>
              <a:tr h="361462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지표 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5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831" marR="44831" marT="12394" marB="12394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0" dirty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전문적학습공동체 운영을 바탕으로 교육공동체가 함께 </a:t>
                      </a:r>
                      <a:r>
                        <a:rPr lang="ko-KR" altLang="en-US" sz="1300" kern="0" spc="0" dirty="0" err="1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성장하는배움</a:t>
                      </a:r>
                      <a:r>
                        <a:rPr lang="ko-KR" altLang="en-US" sz="1300" kern="0" spc="0" dirty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중심수업 및 과정중심평가가 이루어지고 있는가</a:t>
                      </a:r>
                      <a:r>
                        <a:rPr lang="en-US" altLang="ko-KR" sz="1300" kern="0" spc="0" dirty="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?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44831" marR="44831" marT="12394" marB="12394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783819"/>
                  </a:ext>
                </a:extLst>
              </a:tr>
              <a:tr h="36014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지표의 근거 및 평가 취지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831" marR="44831" marT="12394" marB="12394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요소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831" marR="44831" marT="12394" marB="12394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자료 및 방법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831" marR="44831" marT="12394" marB="12394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평가유형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831" marR="44831" marT="12394" marB="12394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49590"/>
                  </a:ext>
                </a:extLst>
              </a:tr>
              <a:tr h="36456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2025.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경남교육 정책방향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「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1.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배움중심의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새로운 교육」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39700" marR="0" indent="-13970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▪배움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성장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나눔이 있는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배움중심수업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39700" marR="0" indent="-13970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▪학생 성장을 돕는 과정중심평가 및 기록 내실화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39700" marR="0" indent="-13970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▪전문적학습공동체 운영 정례화 및 운영 지원으로 교원의 자발적 연구 풍토 조성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39700" marR="0" indent="-13970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▪배움과 협력의 수업 나눔 활동을 통한 수업혁신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전문적 학습공동체 활성화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831" marR="44831" marT="12394" marB="12394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▪모든 학생의 배움이 보장되는 맞춤형 미래 교육 실천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▪수업전문성 계발을 위한 교수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학습 역량 강화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수업나눔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교원연수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워크숍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▪교사의 수업 집중을 위한 행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재정적인 지원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▪교육과정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-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수업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-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평가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기록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일체화 실천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▪학업성적 관리 체계 및 학생 평가 교원 역량 강화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▪학생의 배움과 성장을 위한 체계적 맞춤형 피드백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▪전문적 학습공동체 운영의 내실화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공동연구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실천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나눔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831" marR="44831" marT="12394" marB="12394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▪배움 중심 교수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학습과정안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수업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참관록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및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협의록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배움중심수업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연수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 참여형 수업사례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▪초등 교과 통합형 과정중심평가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중등 성취평가제 운영 결과 및 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AI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디지털 교과서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폴리오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북 활용 평가기록 실적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 및 학년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업무분장표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사무 위임 전결규정 등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▪학생 평가 계획서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평가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협의록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 평가 결과 통지 방법 및 평가 결과 활용 실적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▪전문적학습공동체 운영 계획서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 내 학교 간 전문적학습공동체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동아리 공모사업 운영 결과 등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just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수업나눔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및 수업 연구 실적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수업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참관록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및 </a:t>
                      </a:r>
                      <a:r>
                        <a:rPr lang="ko-KR" altLang="en-US" sz="1300" kern="0" spc="-20" dirty="0" err="1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협의록</a:t>
                      </a: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 등</a:t>
                      </a:r>
                      <a:r>
                        <a:rPr lang="en-US" altLang="ko-KR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831" marR="44831" marT="12394" marB="12394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정성평가 및 정량평가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831" marR="44831" marT="12394" marB="12394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59348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0DD483E-368B-4B26-B402-332229417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725" y="14366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6602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42968" cy="685800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11560" y="518934"/>
            <a:ext cx="5472608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>
              <a:defRPr/>
            </a:pPr>
            <a:r>
              <a:rPr lang="en-US" altLang="ko-KR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7. </a:t>
            </a:r>
            <a:r>
              <a:rPr lang="ko-KR" altLang="en-US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평가지표별 평가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6336" y="544989"/>
            <a:ext cx="1440160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>
              <a:defRPr/>
            </a:pP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28</a:t>
            </a:r>
            <a:r>
              <a:rPr lang="ko-KR" altLang="en-US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쪽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>
          <a:xfrm>
            <a:off x="1743075" y="160020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45FFA7A-3D26-45CB-8932-0E6CCE9A1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797106"/>
              </p:ext>
            </p:extLst>
          </p:nvPr>
        </p:nvGraphicFramePr>
        <p:xfrm>
          <a:off x="323529" y="1340768"/>
          <a:ext cx="8640960" cy="4721299"/>
        </p:xfrm>
        <a:graphic>
          <a:graphicData uri="http://schemas.openxmlformats.org/drawingml/2006/table">
            <a:tbl>
              <a:tblPr/>
              <a:tblGrid>
                <a:gridCol w="2186017">
                  <a:extLst>
                    <a:ext uri="{9D8B030D-6E8A-4147-A177-3AD203B41FA5}">
                      <a16:colId xmlns:a16="http://schemas.microsoft.com/office/drawing/2014/main" val="1638739906"/>
                    </a:ext>
                  </a:extLst>
                </a:gridCol>
                <a:gridCol w="2348409">
                  <a:extLst>
                    <a:ext uri="{9D8B030D-6E8A-4147-A177-3AD203B41FA5}">
                      <a16:colId xmlns:a16="http://schemas.microsoft.com/office/drawing/2014/main" val="2300796179"/>
                    </a:ext>
                  </a:extLst>
                </a:gridCol>
                <a:gridCol w="3234465">
                  <a:extLst>
                    <a:ext uri="{9D8B030D-6E8A-4147-A177-3AD203B41FA5}">
                      <a16:colId xmlns:a16="http://schemas.microsoft.com/office/drawing/2014/main" val="3540202566"/>
                    </a:ext>
                  </a:extLst>
                </a:gridCol>
                <a:gridCol w="872069">
                  <a:extLst>
                    <a:ext uri="{9D8B030D-6E8A-4147-A177-3AD203B41FA5}">
                      <a16:colId xmlns:a16="http://schemas.microsoft.com/office/drawing/2014/main" val="3391429268"/>
                    </a:ext>
                  </a:extLst>
                </a:gridCol>
              </a:tblGrid>
              <a:tr h="3579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지표 </a:t>
                      </a:r>
                      <a:r>
                        <a:rPr lang="en-US" altLang="ko-KR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6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400" marR="44400" marT="12275" marB="12275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교육생태계 확장과 지역사회 연대를 위하여 다양한 노력을 하고 있는가</a:t>
                      </a:r>
                      <a:r>
                        <a:rPr lang="en-US" altLang="ko-KR" sz="1400" kern="0" spc="-30">
                          <a:solidFill>
                            <a:srgbClr val="0D0D0D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?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44400" marR="44400" marT="12275" marB="12275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035521"/>
                  </a:ext>
                </a:extLst>
              </a:tr>
              <a:tr h="3566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지표의 근거 및 평가 취지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400" marR="44400" marT="12275" marB="12275" anchor="ctr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요소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400" marR="44400" marT="12275" marB="12275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 자료 및 방법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400" marR="44400" marT="12275" marB="12275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2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평가유형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400" marR="44400" marT="12275" marB="12275" anchor="ctr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395523"/>
                  </a:ext>
                </a:extLst>
              </a:tr>
              <a:tr h="365407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2025.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경남교육 정책방향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「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4.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소통과 공감의 교육공동체」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▪지속가능한 학교체제 구현을 위한 행복학교 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3.0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운영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▪자역사회와 함께 성장하는 마을교육공동체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 안과 밖에서 실천하는 생태전환교육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400" marR="44400" marT="12275" marB="12275">
                    <a:lnL>
                      <a:noFill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▪학부모의 다양한 학교 참여 기회 제공</a:t>
                      </a:r>
                      <a:b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-윤명조130"/>
                        </a:rPr>
                      </a:b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 운영에 대한 정보 제공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학부모 교육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▪지역사회와의 교육협력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인적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물적 자원 활용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▪행복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나눔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작은 학교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유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초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중등 연계 교육과정 운영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▪마을교육공동체 구축과 연대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▪평생교육 운영 통한 교육 기회 제공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▪교육공동체와 함께하는 교육과정 연계 생태 전환교육 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400" marR="44400" marT="12275" marB="12275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760" marR="0" indent="-11176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 교육과정 운영 계획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 홈페이지 게시 자료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정보공시자료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▪학부모의 참여와 협력이 확인 가능한 계획서 및 결과 자료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학생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․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학부모 만족도 조사 자료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 시설 개방 규정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 시설 및 장비 개방 일지 또는 학교 시설 관리 대장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▪행복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(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나눔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)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학교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작은 학교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유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초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·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중등 연계 교육과정 운영 실적 결과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▪마을 연계 교육과정</a:t>
                      </a:r>
                      <a:r>
                        <a:rPr lang="en-US" altLang="ko-KR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, </a:t>
                      </a: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지역 특색을 살리는 학교 운영 실적 결과 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11176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▪마을교육공동체 프로그램 운영 계획서 및 회의록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▪학교 시설을 이용한 평생교육 운영 결과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  <a:p>
                      <a:pPr marL="223520" marR="0" indent="-111760" algn="l" fontAlgn="base" latinLnBrk="0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▪생태전환교육 교육과정 운영 계획 및 실시 결과 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400" marR="44400" marT="12275" marB="12275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 dirty="0">
                          <a:solidFill>
                            <a:srgbClr val="000000"/>
                          </a:solidFill>
                          <a:effectLst/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</a:rPr>
                        <a:t>정성평가 및 정량평가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명조130"/>
                      </a:endParaRPr>
                    </a:p>
                  </a:txBody>
                  <a:tcPr marL="44400" marR="44400" marT="12275" marB="12275">
                    <a:lnL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C87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20307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56A4F01-2CC4-4D04-8A31-308E0CE35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14938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9695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" y="0"/>
            <a:ext cx="9142968" cy="6858000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>
          <a:xfrm>
            <a:off x="1" y="850231"/>
            <a:ext cx="13856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68580" tIns="34290" rIns="68580" bIns="3429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35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>
          <a:xfrm>
            <a:off x="-23302" y="909761"/>
            <a:ext cx="13856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68580" tIns="34290" rIns="68580" bIns="3429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35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83568" y="1860074"/>
            <a:ext cx="8093882" cy="918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60000"/>
              </a:lnSpc>
              <a:defRPr/>
            </a:pPr>
            <a:r>
              <a:rPr kumimoji="0" lang="ko-KR" altLang="ko-KR" sz="4000" b="1" i="0" u="none" strike="noStrike" kern="1200" cap="none" spc="0" normalizeH="0" baseline="0" dirty="0" err="1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Ⅳ</a:t>
            </a:r>
            <a:r>
              <a:rPr kumimoji="0" lang="en-US" altLang="ko-KR" sz="4000" b="1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. </a:t>
            </a:r>
            <a:r>
              <a:rPr kumimoji="0" lang="ko-KR" altLang="en-US" sz="4000" b="1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학교주도적 </a:t>
            </a:r>
            <a:r>
              <a:rPr kumimoji="0" lang="ko-KR" altLang="en-US" sz="40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학교평가 참고 자료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-27384"/>
            <a:ext cx="9142968" cy="6885384"/>
          </a:xfrm>
          <a:prstGeom prst="rect">
            <a:avLst/>
          </a:prstGeom>
        </p:spPr>
      </p:pic>
      <p:pic>
        <p:nvPicPr>
          <p:cNvPr id="18" name="Picture 3" descr="2"/>
          <p:cNvPicPr>
            <a:picLocks noChangeAspect="1" noChangeArrowheads="1"/>
          </p:cNvPicPr>
          <p:nvPr/>
        </p:nvPicPr>
        <p:blipFill rotWithShape="1">
          <a:blip r:embed="rId4"/>
          <a:srcRect l="4320" t="18500" r="2740" b="8010"/>
          <a:stretch>
            <a:fillRect/>
          </a:stretch>
        </p:blipFill>
        <p:spPr>
          <a:xfrm>
            <a:off x="415809" y="1052737"/>
            <a:ext cx="8548679" cy="5503204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827584" y="548680"/>
            <a:ext cx="5688632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1.</a:t>
            </a:r>
            <a:r>
              <a:rPr kumimoji="0" lang="ko-KR" altLang="en-US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 학교평가 계획서</a:t>
            </a:r>
            <a:r>
              <a:rPr kumimoji="0" lang="en-US" altLang="ko-KR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(</a:t>
            </a:r>
            <a:r>
              <a:rPr kumimoji="0" lang="ko-KR" altLang="en-US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예시</a:t>
            </a:r>
            <a:r>
              <a:rPr kumimoji="0" lang="en-US" altLang="ko-KR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)</a:t>
            </a:r>
            <a:endParaRPr kumimoji="0" lang="en-US" altLang="ko-KR" sz="3600" b="0" i="0" u="none" strike="noStrike" kern="1200" cap="none" spc="0" normalizeH="0" baseline="0" dirty="0">
              <a:gradFill flip="none" rotWithShape="1">
                <a:gsLst>
                  <a:gs pos="0">
                    <a:srgbClr val="1F497D">
                      <a:lumMod val="75000"/>
                      <a:shade val="30000"/>
                      <a:satMod val="115000"/>
                    </a:srgbClr>
                  </a:gs>
                  <a:gs pos="50000">
                    <a:srgbClr val="1F497D">
                      <a:lumMod val="75000"/>
                      <a:shade val="67500"/>
                      <a:satMod val="115000"/>
                    </a:srgbClr>
                  </a:gs>
                  <a:gs pos="100000">
                    <a:srgbClr val="1F497D">
                      <a:lumMod val="75000"/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HY헤드라인M"/>
              <a:ea typeface="HY헤드라인M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60232" y="615087"/>
            <a:ext cx="2304256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2400" b="1" i="0" u="none" strike="noStrike" kern="1200" cap="none" spc="0" normalizeH="0" baseline="0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그래픽M"/>
                <a:ea typeface="HY그래픽M"/>
                <a:cs typeface="+mn-cs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29</a:t>
            </a:r>
            <a:r>
              <a:rPr kumimoji="0" lang="en-US" altLang="ko-KR" sz="2400" b="1" i="0" u="none" strike="noStrike" kern="1200" cap="none" spc="0" normalizeH="0" baseline="0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그래픽M"/>
                <a:ea typeface="HY그래픽M"/>
                <a:cs typeface="+mn-cs"/>
              </a:rPr>
              <a:t>~34</a:t>
            </a:r>
            <a:r>
              <a:rPr kumimoji="0" lang="ko-KR" altLang="en-US" sz="2400" b="1" i="0" u="none" strike="noStrike" kern="1200" cap="none" spc="0" normalizeH="0" baseline="0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그래픽M"/>
                <a:ea typeface="HY그래픽M"/>
                <a:cs typeface="+mn-cs"/>
              </a:rPr>
              <a:t>쪽</a:t>
            </a:r>
            <a:endParaRPr kumimoji="0" lang="ko-KR" altLang="en-US" sz="2400" b="1" i="0" u="none" strike="noStrike" kern="1200" cap="none" spc="0" normalizeH="0" baseline="0" dirty="0">
              <a:solidFill>
                <a:srgbClr val="FF40FF"/>
              </a:solidFill>
              <a:latin typeface="HY그래픽M"/>
              <a:ea typeface="HY그래픽M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F8E6DE-AF67-4515-9615-AAEAD3B8F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608" y="1338655"/>
            <a:ext cx="7200800" cy="4904258"/>
          </a:xfrm>
          <a:prstGeom prst="rect">
            <a:avLst/>
          </a:prstGeom>
        </p:spPr>
      </p:pic>
      <p:pic>
        <p:nvPicPr>
          <p:cNvPr id="297" name="Picture 2" descr="D:\sookhyun\PPT\다이어그램\02. 프레임형\005. 1종_노트형_d0039\PNG\돋보기.png"/>
          <p:cNvPicPr>
            <a:picLocks noChangeAspect="1" noChangeArrowheads="1"/>
          </p:cNvPicPr>
          <p:nvPr/>
        </p:nvPicPr>
        <p:blipFill rotWithShape="1">
          <a:blip r:embed="rId6">
            <a:lum bright="-12000" contrast="12000"/>
          </a:blip>
          <a:srcRect r="40860" b="41100"/>
          <a:stretch>
            <a:fillRect/>
          </a:stretch>
        </p:blipFill>
        <p:spPr>
          <a:xfrm rot="21118654">
            <a:off x="6532437" y="1118746"/>
            <a:ext cx="2448272" cy="2511743"/>
          </a:xfrm>
          <a:prstGeom prst="rect">
            <a:avLst/>
          </a:prstGeom>
          <a:noFill/>
          <a:ln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-27384"/>
            <a:ext cx="9142968" cy="6885384"/>
          </a:xfrm>
          <a:prstGeom prst="rect">
            <a:avLst/>
          </a:prstGeom>
        </p:spPr>
      </p:pic>
      <p:pic>
        <p:nvPicPr>
          <p:cNvPr id="18" name="Picture 3" descr="2"/>
          <p:cNvPicPr>
            <a:picLocks noChangeAspect="1" noChangeArrowheads="1"/>
          </p:cNvPicPr>
          <p:nvPr/>
        </p:nvPicPr>
        <p:blipFill rotWithShape="1">
          <a:blip r:embed="rId4"/>
          <a:srcRect l="4320" t="18500" r="2740" b="8010"/>
          <a:stretch>
            <a:fillRect/>
          </a:stretch>
        </p:blipFill>
        <p:spPr>
          <a:xfrm>
            <a:off x="415809" y="1052737"/>
            <a:ext cx="8548679" cy="5503204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7610963-11B6-2C97-C909-6CEA1B0A5592}"/>
              </a:ext>
            </a:extLst>
          </p:cNvPr>
          <p:cNvSpPr/>
          <p:nvPr/>
        </p:nvSpPr>
        <p:spPr>
          <a:xfrm>
            <a:off x="827584" y="548680"/>
            <a:ext cx="5688632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2</a:t>
            </a:r>
            <a:r>
              <a:rPr kumimoji="0" lang="en-US" altLang="ko-KR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.</a:t>
            </a:r>
            <a:r>
              <a:rPr kumimoji="0" lang="ko-KR" altLang="en-US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 학교평가 </a:t>
            </a:r>
            <a:r>
              <a:rPr lang="ko-KR" altLang="en-US" sz="36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보고</a:t>
            </a:r>
            <a:r>
              <a:rPr kumimoji="0" lang="ko-KR" altLang="en-US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서</a:t>
            </a:r>
            <a:r>
              <a:rPr kumimoji="0" lang="en-US" altLang="ko-KR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(</a:t>
            </a:r>
            <a:r>
              <a:rPr kumimoji="0" lang="ko-KR" altLang="en-US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예시</a:t>
            </a:r>
            <a:r>
              <a:rPr kumimoji="0" lang="en-US" altLang="ko-KR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)</a:t>
            </a:r>
            <a:endParaRPr kumimoji="0" lang="en-US" altLang="ko-KR" sz="3600" b="0" i="0" u="none" strike="noStrike" kern="1200" cap="none" spc="0" normalizeH="0" baseline="0" dirty="0">
              <a:gradFill flip="none" rotWithShape="1">
                <a:gsLst>
                  <a:gs pos="0">
                    <a:srgbClr val="1F497D">
                      <a:lumMod val="75000"/>
                      <a:shade val="30000"/>
                      <a:satMod val="115000"/>
                    </a:srgbClr>
                  </a:gs>
                  <a:gs pos="50000">
                    <a:srgbClr val="1F497D">
                      <a:lumMod val="75000"/>
                      <a:shade val="67500"/>
                      <a:satMod val="115000"/>
                    </a:srgbClr>
                  </a:gs>
                  <a:gs pos="100000">
                    <a:srgbClr val="1F497D">
                      <a:lumMod val="75000"/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HY헤드라인M"/>
              <a:ea typeface="HY헤드라인M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67E81-8F1E-412E-5AFD-59C2FF5BF78A}"/>
              </a:ext>
            </a:extLst>
          </p:cNvPr>
          <p:cNvSpPr txBox="1"/>
          <p:nvPr/>
        </p:nvSpPr>
        <p:spPr>
          <a:xfrm>
            <a:off x="6660232" y="615087"/>
            <a:ext cx="2304256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2400" b="1" i="0" u="none" strike="noStrike" kern="1200" cap="none" spc="0" normalizeH="0" baseline="0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그래픽M"/>
                <a:ea typeface="HY그래픽M"/>
                <a:cs typeface="+mn-cs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40</a:t>
            </a:r>
            <a:r>
              <a:rPr kumimoji="0" lang="en-US" altLang="ko-KR" sz="2400" b="1" i="0" u="none" strike="noStrike" kern="1200" cap="none" spc="0" normalizeH="0" baseline="0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그래픽M"/>
                <a:ea typeface="HY그래픽M"/>
                <a:cs typeface="+mn-cs"/>
              </a:rPr>
              <a:t>~42</a:t>
            </a:r>
            <a:r>
              <a:rPr kumimoji="0" lang="ko-KR" altLang="en-US" sz="2400" b="1" i="0" u="none" strike="noStrike" kern="1200" cap="none" spc="0" normalizeH="0" baseline="0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그래픽M"/>
                <a:ea typeface="HY그래픽M"/>
                <a:cs typeface="+mn-cs"/>
              </a:rPr>
              <a:t>쪽</a:t>
            </a:r>
            <a:endParaRPr kumimoji="0" lang="ko-KR" altLang="en-US" sz="2400" b="1" i="0" u="none" strike="noStrike" kern="1200" cap="none" spc="0" normalizeH="0" baseline="0" dirty="0">
              <a:solidFill>
                <a:srgbClr val="FF40FF"/>
              </a:solidFill>
              <a:latin typeface="HY그래픽M"/>
              <a:ea typeface="HY그래픽M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43639E-9FAD-4432-9F33-395E22ED8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5" y="1342734"/>
            <a:ext cx="7600954" cy="4750562"/>
          </a:xfrm>
          <a:prstGeom prst="rect">
            <a:avLst/>
          </a:prstGeom>
        </p:spPr>
      </p:pic>
      <p:pic>
        <p:nvPicPr>
          <p:cNvPr id="10" name="Picture 2" descr="D:\sookhyun\PPT\다이어그램\02. 프레임형\005. 1종_노트형_d0039\PNG\돋보기.png">
            <a:extLst>
              <a:ext uri="{FF2B5EF4-FFF2-40B4-BE49-F238E27FC236}">
                <a16:creationId xmlns:a16="http://schemas.microsoft.com/office/drawing/2014/main" id="{2D88B3E3-6AC8-4EA1-9470-EDA784D1DC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lum bright="-12000" contrast="12000"/>
          </a:blip>
          <a:srcRect r="40860" b="41100"/>
          <a:stretch>
            <a:fillRect/>
          </a:stretch>
        </p:blipFill>
        <p:spPr>
          <a:xfrm rot="21118654">
            <a:off x="6532437" y="1118746"/>
            <a:ext cx="2448272" cy="2511743"/>
          </a:xfrm>
          <a:prstGeom prst="rect">
            <a:avLst/>
          </a:prstGeom>
          <a:noFill/>
          <a:ln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42968" cy="6885384"/>
          </a:xfrm>
          <a:prstGeom prst="rect">
            <a:avLst/>
          </a:prstGeom>
        </p:spPr>
      </p:pic>
      <p:pic>
        <p:nvPicPr>
          <p:cNvPr id="18" name="Picture 3" descr="2"/>
          <p:cNvPicPr>
            <a:picLocks noChangeAspect="1" noChangeArrowheads="1"/>
          </p:cNvPicPr>
          <p:nvPr/>
        </p:nvPicPr>
        <p:blipFill rotWithShape="1">
          <a:blip r:embed="rId4"/>
          <a:srcRect l="4320" t="18500" r="2740" b="8010"/>
          <a:stretch>
            <a:fillRect/>
          </a:stretch>
        </p:blipFill>
        <p:spPr>
          <a:xfrm>
            <a:off x="415809" y="1124744"/>
            <a:ext cx="8548679" cy="5256584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539552" y="599532"/>
            <a:ext cx="6120680" cy="533400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3500" spc="-15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3</a:t>
            </a:r>
            <a:r>
              <a:rPr kumimoji="0" lang="en-US" altLang="ko-KR" sz="3500" b="0" i="0" u="none" strike="noStrike" kern="1200" cap="none" spc="-15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.</a:t>
            </a:r>
            <a:r>
              <a:rPr kumimoji="0" lang="ko-KR" altLang="en-US" sz="3500" b="0" i="0" u="none" strike="noStrike" kern="1200" cap="none" spc="-15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 학교평가 만족도 조사</a:t>
            </a:r>
            <a:r>
              <a:rPr kumimoji="0" lang="en-US" altLang="ko-KR" sz="3500" b="0" i="0" u="none" strike="noStrike" kern="1200" cap="none" spc="-15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(</a:t>
            </a:r>
            <a:r>
              <a:rPr kumimoji="0" lang="ko-KR" altLang="en-US" sz="3500" b="0" i="0" u="none" strike="noStrike" kern="1200" cap="none" spc="-15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예시</a:t>
            </a:r>
            <a:r>
              <a:rPr kumimoji="0" lang="en-US" altLang="ko-KR" sz="3500" b="0" i="0" u="none" strike="noStrike" kern="1200" cap="none" spc="-15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)</a:t>
            </a:r>
          </a:p>
        </p:txBody>
      </p:sp>
      <p:pic>
        <p:nvPicPr>
          <p:cNvPr id="297" name="Picture 2" descr="D:\sookhyun\PPT\다이어그램\02. 프레임형\005. 1종_노트형_d0039\PNG\돋보기.png"/>
          <p:cNvPicPr>
            <a:picLocks noChangeAspect="1" noChangeArrowheads="1"/>
          </p:cNvPicPr>
          <p:nvPr/>
        </p:nvPicPr>
        <p:blipFill rotWithShape="1">
          <a:blip r:embed="rId5">
            <a:lum bright="-12000" contrast="12000"/>
          </a:blip>
          <a:srcRect r="40860" b="41100"/>
          <a:stretch>
            <a:fillRect/>
          </a:stretch>
        </p:blipFill>
        <p:spPr>
          <a:xfrm rot="19788194">
            <a:off x="6532437" y="1118746"/>
            <a:ext cx="2448272" cy="2511743"/>
          </a:xfrm>
          <a:prstGeom prst="rect">
            <a:avLst/>
          </a:prstGeom>
          <a:noFill/>
          <a:ln/>
        </p:spPr>
      </p:pic>
      <p:sp>
        <p:nvSpPr>
          <p:cNvPr id="298" name="TextBox 297"/>
          <p:cNvSpPr txBox="1"/>
          <p:nvPr/>
        </p:nvSpPr>
        <p:spPr>
          <a:xfrm>
            <a:off x="863586" y="1647436"/>
            <a:ext cx="7524837" cy="3391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0000" indent="-740000">
              <a:lnSpc>
                <a:spcPct val="200000"/>
              </a:lnSpc>
              <a:buBlip>
                <a:blip r:embed="rId6"/>
              </a:buBlip>
              <a:defRPr/>
            </a:pPr>
            <a:r>
              <a:rPr lang="ko-KR" altLang="en-US" sz="38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학생용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(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</a:rPr>
              <a:t>47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쪽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,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 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</a:rPr>
              <a:t>50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쪽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, 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</a:rPr>
              <a:t>57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쪽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</a:rPr>
              <a:t> 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참고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)</a:t>
            </a:r>
          </a:p>
          <a:p>
            <a:pPr marL="740000" indent="-740000">
              <a:lnSpc>
                <a:spcPct val="200000"/>
              </a:lnSpc>
              <a:buBlip>
                <a:blip r:embed="rId6"/>
              </a:buBlip>
              <a:defRPr/>
            </a:pPr>
            <a:r>
              <a:rPr lang="ko-KR" altLang="en-US" sz="3800" dirty="0">
                <a:ln w="25400" cap="flat" cmpd="sng" algn="ctr">
                  <a:solidFill>
                    <a:schemeClr val="accent2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2"/>
                </a:solidFill>
                <a:effectLst/>
              </a:rPr>
              <a:t>학부모용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(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</a:rPr>
              <a:t>48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쪽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, 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</a:rPr>
              <a:t>51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쪽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,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 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</a:rPr>
              <a:t>58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</a:rPr>
              <a:t>쪽 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참고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)</a:t>
            </a:r>
          </a:p>
          <a:p>
            <a:pPr marL="740000" indent="-740000">
              <a:lnSpc>
                <a:spcPct val="200000"/>
              </a:lnSpc>
              <a:buFont typeface="Arial"/>
              <a:buBlip>
                <a:blip r:embed="rId6"/>
              </a:buBlip>
              <a:defRPr/>
            </a:pPr>
            <a:r>
              <a:rPr lang="ko-KR" altLang="en-US" sz="3800" dirty="0" err="1">
                <a:ln w="25400" cap="flat" cmpd="sng" algn="ctr">
                  <a:solidFill>
                    <a:schemeClr val="accent3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3"/>
                </a:solidFill>
                <a:effectLst/>
              </a:rPr>
              <a:t>교원용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(49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쪽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, 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</a:rPr>
              <a:t>52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쪽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,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 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</a:rPr>
              <a:t>53~56</a:t>
            </a:r>
            <a:r>
              <a:rPr lang="ko-KR" altLang="en-US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쪽 참고</a:t>
            </a:r>
            <a:r>
              <a:rPr lang="en-US" altLang="ko-KR" sz="3200" dirty="0">
                <a:ln w="25400" cap="flat" cmpd="sng" algn="ctr">
                  <a:solidFill>
                    <a:schemeClr val="accent1">
                      <a:shade val="20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chemeClr val="accent1"/>
                </a:solidFill>
                <a:effectLst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-27384"/>
            <a:ext cx="9142968" cy="6885384"/>
          </a:xfrm>
          <a:prstGeom prst="rect">
            <a:avLst/>
          </a:prstGeom>
        </p:spPr>
      </p:pic>
      <p:pic>
        <p:nvPicPr>
          <p:cNvPr id="18" name="Picture 3" descr="2"/>
          <p:cNvPicPr>
            <a:picLocks noChangeAspect="1" noChangeArrowheads="1"/>
          </p:cNvPicPr>
          <p:nvPr/>
        </p:nvPicPr>
        <p:blipFill rotWithShape="1">
          <a:blip r:embed="rId4"/>
          <a:srcRect l="4320" t="18500" r="2740" b="8010"/>
          <a:stretch>
            <a:fillRect/>
          </a:stretch>
        </p:blipFill>
        <p:spPr>
          <a:xfrm>
            <a:off x="415809" y="1124744"/>
            <a:ext cx="8548679" cy="5256584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611561" y="620688"/>
            <a:ext cx="6048671" cy="533400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350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HY헤드라인M"/>
                <a:ea typeface="HY헤드라인M"/>
              </a:rPr>
              <a:t>4</a:t>
            </a:r>
            <a:r>
              <a:rPr kumimoji="0" lang="en-US" altLang="ko-KR" sz="35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.</a:t>
            </a:r>
            <a:r>
              <a:rPr kumimoji="0" lang="ko-KR" altLang="en-US" sz="35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 학교평가 질의응답</a:t>
            </a:r>
            <a:endParaRPr kumimoji="0" lang="ko-KR" altLang="en-US" sz="3500" b="0" i="0" u="none" strike="noStrike" kern="1200" cap="none" spc="0" normalizeH="0" baseline="0" dirty="0">
              <a:gradFill flip="none" rotWithShape="1">
                <a:gsLst>
                  <a:gs pos="0">
                    <a:srgbClr val="1F497D">
                      <a:lumMod val="75000"/>
                      <a:shade val="30000"/>
                      <a:satMod val="115000"/>
                    </a:srgbClr>
                  </a:gs>
                  <a:gs pos="50000">
                    <a:srgbClr val="1F497D">
                      <a:lumMod val="75000"/>
                      <a:shade val="67500"/>
                      <a:satMod val="115000"/>
                    </a:srgbClr>
                  </a:gs>
                  <a:gs pos="100000">
                    <a:srgbClr val="1F497D">
                      <a:lumMod val="75000"/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HY헤드라인M"/>
              <a:ea typeface="HY헤드라인M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04248" y="687095"/>
            <a:ext cx="2304256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2400" b="1" i="0" u="none" strike="noStrike" kern="1200" cap="none" spc="0" normalizeH="0" baseline="0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그래픽M"/>
                <a:ea typeface="HY그래픽M"/>
                <a:cs typeface="+mn-cs"/>
              </a:rPr>
              <a:t>편람 </a:t>
            </a:r>
            <a:r>
              <a:rPr lang="en-US" altLang="ko-KR" sz="2400" b="1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latin typeface="HY그래픽M"/>
                <a:ea typeface="HY그래픽M"/>
              </a:rPr>
              <a:t>60</a:t>
            </a:r>
            <a:r>
              <a:rPr kumimoji="0" lang="en-US" altLang="ko-KR" sz="2400" b="1" i="0" u="none" strike="noStrike" kern="1200" cap="none" spc="0" normalizeH="0" baseline="0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그래픽M"/>
                <a:ea typeface="HY그래픽M"/>
                <a:cs typeface="+mn-cs"/>
              </a:rPr>
              <a:t>~62</a:t>
            </a:r>
            <a:r>
              <a:rPr kumimoji="0" lang="ko-KR" altLang="en-US" sz="2400" b="1" i="0" u="none" strike="noStrike" kern="1200" cap="none" spc="0" normalizeH="0" baseline="0" dirty="0">
                <a:ln w="28575"/>
                <a:solidFill>
                  <a:srgbClr val="FF40FF"/>
                </a:solidFill>
                <a:effectLst>
                  <a:outerShdw blurRad="76200" dist="50800" dir="5400000" algn="tl" rotWithShape="0">
                    <a:srgbClr val="000000"/>
                  </a:outerShdw>
                </a:effectLst>
                <a:uLnTx/>
                <a:uFillTx/>
                <a:latin typeface="HY그래픽M"/>
                <a:ea typeface="HY그래픽M"/>
                <a:cs typeface="+mn-cs"/>
              </a:rPr>
              <a:t>쪽</a:t>
            </a:r>
            <a:endParaRPr kumimoji="0" lang="ko-KR" altLang="en-US" sz="2400" b="1" i="0" u="none" strike="noStrike" kern="1200" cap="none" spc="0" normalizeH="0" baseline="0" dirty="0">
              <a:solidFill>
                <a:srgbClr val="FF40FF"/>
              </a:solidFill>
              <a:latin typeface="HY그래픽M"/>
              <a:ea typeface="HY그래픽M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915C0A4-085E-45F7-B796-181F9B679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00" y="1412776"/>
            <a:ext cx="7200800" cy="4607385"/>
          </a:xfrm>
          <a:prstGeom prst="rect">
            <a:avLst/>
          </a:prstGeom>
        </p:spPr>
      </p:pic>
      <p:pic>
        <p:nvPicPr>
          <p:cNvPr id="297" name="Picture 2" descr="D:\sookhyun\PPT\다이어그램\02. 프레임형\005. 1종_노트형_d0039\PNG\돋보기.png"/>
          <p:cNvPicPr>
            <a:picLocks noChangeAspect="1" noChangeArrowheads="1"/>
          </p:cNvPicPr>
          <p:nvPr/>
        </p:nvPicPr>
        <p:blipFill rotWithShape="1">
          <a:blip r:embed="rId6">
            <a:lum bright="-12000" contrast="12000"/>
          </a:blip>
          <a:srcRect r="40860" b="41100"/>
          <a:stretch>
            <a:fillRect/>
          </a:stretch>
        </p:blipFill>
        <p:spPr>
          <a:xfrm rot="19788194">
            <a:off x="6532437" y="1118746"/>
            <a:ext cx="2448272" cy="2511743"/>
          </a:xfrm>
          <a:prstGeom prst="rect">
            <a:avLst/>
          </a:prstGeom>
          <a:noFill/>
          <a:ln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42968" cy="6885384"/>
          </a:xfrm>
          <a:prstGeom prst="rect">
            <a:avLst/>
          </a:prstGeom>
        </p:spPr>
      </p:pic>
      <p:pic>
        <p:nvPicPr>
          <p:cNvPr id="18" name="Picture 3" descr="2"/>
          <p:cNvPicPr>
            <a:picLocks noChangeAspect="1" noChangeArrowheads="1"/>
          </p:cNvPicPr>
          <p:nvPr/>
        </p:nvPicPr>
        <p:blipFill rotWithShape="1">
          <a:blip r:embed="rId4"/>
          <a:srcRect l="4320" t="18500" r="2740" b="8010"/>
          <a:stretch>
            <a:fillRect/>
          </a:stretch>
        </p:blipFill>
        <p:spPr>
          <a:xfrm>
            <a:off x="415809" y="1052737"/>
            <a:ext cx="8548679" cy="5503204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239139" y="548680"/>
            <a:ext cx="4908925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5. </a:t>
            </a:r>
            <a:r>
              <a:rPr kumimoji="0" lang="ko-KR" altLang="en-US" sz="3600" b="0" i="0" u="none" strike="noStrike" kern="1200" cap="none" spc="0" normalizeH="0" baseline="0" dirty="0">
                <a:gradFill flip="none" rotWithShape="1">
                  <a:gsLst>
                    <a:gs pos="0">
                      <a:srgbClr val="1F497D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glow rad="101600">
                    <a:prstClr val="white">
                      <a:alpha val="60000"/>
                    </a:prstClr>
                  </a:glow>
                </a:effectLst>
                <a:uLnTx/>
                <a:uFillTx/>
                <a:latin typeface="HY헤드라인M"/>
                <a:ea typeface="HY헤드라인M"/>
                <a:cs typeface="+mn-cs"/>
              </a:rPr>
              <a:t>단위학교 역할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A396E0-35AF-4782-8850-C7CA61EBA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5" y="14065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B4664A-8A24-462D-AFCA-C877EE4D0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" y="1268760"/>
            <a:ext cx="7149033" cy="4794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" y="0"/>
            <a:ext cx="9142968" cy="6858000"/>
          </a:xfrm>
          <a:prstGeom prst="rect">
            <a:avLst/>
          </a:prstGeom>
        </p:spPr>
      </p:pic>
      <p:pic>
        <p:nvPicPr>
          <p:cNvPr id="5127" name="Picture 7" descr="006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627313" y="7100888"/>
            <a:ext cx="1193800" cy="11938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5128" name="Picture 8" descr="006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016375" y="7265988"/>
            <a:ext cx="838200" cy="8382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5129" name="Picture 9" descr="006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30988" y="6856413"/>
            <a:ext cx="1114425" cy="1114425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5130" name="Picture 10" descr="006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478463" y="7685088"/>
            <a:ext cx="803275" cy="803275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5131" name="Picture 11" descr="006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6513" y="6865938"/>
            <a:ext cx="1501775" cy="1501775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5132" name="Picture 12" descr="006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7938" y="7827963"/>
            <a:ext cx="314325" cy="314325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5134" name="Picture 14" descr="006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027238" y="8069263"/>
            <a:ext cx="314325" cy="314325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5135" name="Picture 15" descr="006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416175" y="3922713"/>
            <a:ext cx="69850" cy="698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7" name="그림 16" descr="감사합니다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35696" y="2417913"/>
            <a:ext cx="6120635" cy="1803175"/>
          </a:xfrm>
          <a:prstGeom prst="rect">
            <a:avLst/>
          </a:prstGeom>
        </p:spPr>
      </p:pic>
      <p:sp>
        <p:nvSpPr>
          <p:cNvPr id="68611" name="TextBox 68610"/>
          <p:cNvSpPr txBox="1"/>
          <p:nvPr/>
        </p:nvSpPr>
        <p:spPr>
          <a:xfrm>
            <a:off x="1187624" y="5727124"/>
            <a:ext cx="7200800" cy="366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dirty="0"/>
              <a:t>2025.</a:t>
            </a:r>
            <a:r>
              <a:rPr lang="ko-KR" altLang="en-US" dirty="0"/>
              <a:t>학교주도적 학교평가 교내 연수 자료로 제공합니다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0" presetClass="path" presetSubtype="0" repeatCount="2000" accel="50000" decel="5000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animMotion origin="layout" path="M 1.11111E-6 -3.7037E-7 C -0.02292 -0.10139 -0.04584 -0.20255 -0.04584 -0.28519 C -0.04584 -0.36782 -0.02917 -0.41296 1.11111E-6 -0.4963 C 0.02916 -0.57963 0.11128 -0.66088 0.12916 -0.78519 C 0.14704 -0.90972 0.12691 -1.07616 0.10694 -1.24259 " pathEditMode="relative" ptsTypes="aaaaA">
                                      <p:cBhvr>
                                        <p:cTn id="11" dur="3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repeatCount="2000" accel="50000" decel="5000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animMotion origin="layout" path="M -0.05955 -1.85185E-6 C -0.05278 -0.10139 -0.04583 -0.20254 -0.04583 -0.28518 C -0.04583 -0.36782 -0.05087 -0.41296 -0.05955 -0.49629 C -0.06823 -0.57963 -0.09254 -0.66088 -0.09792 -0.78518 C -0.10313 -0.90972 -0.09722 -1.07616 -0.09132 -1.24259 " pathEditMode="relative" ptsTypes="aaaaA">
                                      <p:cBhvr>
                                        <p:cTn id="13" dur="3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repeatCount="2000" accel="50000" decel="5000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1.11111E-6 -3.7037E-7 C -0.02292 -0.10139 -0.04584 -0.20255 -0.04584 -0.28519 C -0.04584 -0.36782 -0.02917 -0.41296 1.11111E-6 -0.4963 C 0.02916 -0.57963 0.11128 -0.66088 0.12916 -0.78519 C 0.14704 -0.90972 0.12691 -1.07616 0.10694 -1.24259 " pathEditMode="relative" ptsTypes="aaaaA">
                                      <p:cBhvr>
                                        <p:cTn id="15" dur="30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repeatCount="2000" accel="50000" decel="5000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0.08195 3.33333E-6 C -0.10487 -0.10139 -0.12778 -0.20255 -0.12778 -0.28519 C -0.12778 -0.36783 -0.11112 -0.41297 -0.08195 -0.4963 C -0.05278 -0.57963 0.02934 -0.66088 0.04722 -0.78519 C 0.0651 -0.90973 0.04496 -1.07616 0.025 -1.2426 " pathEditMode="relative" ptsTypes="aaaaA">
                                      <p:cBhvr>
                                        <p:cTn id="17" dur="30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repeatCount="2000" accel="50000" decel="5000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Motion origin="layout" path="M 1.11111E-6 -3.7037E-7 C -0.02292 -0.10139 -0.04584 -0.20255 -0.04584 -0.28519 C -0.04584 -0.36782 -0.02917 -0.41296 1.11111E-6 -0.4963 C 0.02916 -0.57963 0.11128 -0.66088 0.12916 -0.78519 C 0.14704 -0.90972 0.12691 -1.07616 0.10694 -1.24259 " pathEditMode="relative" ptsTypes="aaaaA">
                                      <p:cBhvr>
                                        <p:cTn id="19" dur="30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repeatCount="2000" accel="50000" decel="50000" fill="hold" nodeType="withEffect">
                                  <p:stCondLst>
                                    <p:cond delay="8600"/>
                                  </p:stCondLst>
                                  <p:childTnLst>
                                    <p:animMotion origin="layout" path="M -0.06615 -1.85185E-6 C -0.05608 -0.10139 -0.04583 -0.20254 -0.04583 -0.28518 C -0.04583 -0.36782 -0.0533 -0.41296 -0.06615 -0.49629 C -0.07899 -0.57963 -0.11528 -0.66088 -0.12309 -0.78518 C -0.1309 -0.90972 -0.12205 -1.07616 -0.11337 -1.24259 " pathEditMode="relative" ptsTypes="aaaaA">
                                      <p:cBhvr>
                                        <p:cTn id="21" dur="30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2000" accel="50000" decel="5000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animMotion origin="layout" path="M -0.0217 2.96296E-6 C -0.03386 -0.10139 -0.04583 -0.20255 -0.04583 -0.28519 C -0.04583 -0.36783 -0.03715 -0.41297 -0.0217 -0.4963 C -0.00608 -0.57963 0.03733 -0.66088 0.04687 -0.78519 C 0.05642 -0.90973 0.04566 -1.07616 0.03507 -1.2426 " pathEditMode="relative" ptsTypes="aaaaA">
                                      <p:cBhvr>
                                        <p:cTn id="23" dur="30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repeatCount="2000" accel="50000" decel="5000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-0.08837 1.11111E-6 C -0.06719 -0.10139 -0.04584 -0.20255 -0.04584 -0.28519 C -0.04584 -0.36783 -0.06146 -0.41296 -0.08837 -0.4963 C -0.11546 -0.57963 -0.19167 -0.66088 -0.20834 -0.78519 C -0.22483 -0.90972 -0.20625 -1.07616 -0.18768 -1.24259 " pathEditMode="relative" ptsTypes="aaaaA">
                                      <p:cBhvr>
                                        <p:cTn id="25" dur="30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2225" cap="flat" cmpd="sng" algn="ctr">
          <a:solidFill>
            <a:srgbClr val="0000FF"/>
          </a:solidFill>
          <a:prstDash val="solid"/>
          <a:round/>
          <a:headEnd w="med" len="med"/>
          <a:tailEnd w="med" len="med"/>
        </a:ln>
        <a:effectLst>
          <a:outerShdw dist="56796" dir="3806097" algn="ctr" rotWithShape="0">
            <a:srgbClr val="5F5F5F">
              <a:alpha val="50000"/>
            </a:srgb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1" lang="ko-KR" altLang="en-US" sz="1800" b="1" i="0" u="none" strike="noStrike" cap="none" normalizeH="0" baseline="0" smtClean="0">
            <a:solidFill>
              <a:schemeClr val="tx1"/>
            </a:solidFill>
            <a:effectLst/>
            <a:latin typeface="굴림"/>
            <a:ea typeface="굴림"/>
          </a:defRPr>
        </a:defPPr>
      </a:lstStyle>
    </a:spDef>
    <a:lnDef>
      <a:spPr>
        <a:solidFill>
          <a:schemeClr val="bg1"/>
        </a:solidFill>
        <a:ln w="22225" cap="flat" cmpd="sng" algn="ctr">
          <a:solidFill>
            <a:srgbClr val="0000FF"/>
          </a:solidFill>
          <a:prstDash val="solid"/>
          <a:round/>
          <a:headEnd w="med" len="med"/>
          <a:tailEnd w="med" len="med"/>
        </a:ln>
        <a:effectLst>
          <a:outerShdw dist="56796" dir="3806097" algn="ctr" rotWithShape="0">
            <a:srgbClr val="5F5F5F">
              <a:alpha val="50000"/>
            </a:srgb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1" lang="ko-KR" altLang="en-US" sz="1800" b="1" i="0" u="none" strike="noStrike" cap="none" normalizeH="0" baseline="0" smtClean="0">
            <a:solidFill>
              <a:schemeClr val="tx1"/>
            </a:solidFill>
            <a:effectLst/>
            <a:latin typeface="굴림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2087</Words>
  <Application>Microsoft Office PowerPoint</Application>
  <PresentationFormat>화면 슬라이드 쇼(4:3)</PresentationFormat>
  <Paragraphs>284</Paragraphs>
  <Slides>25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42" baseType="lpstr">
      <vt:lpstr>HY그래픽M</vt:lpstr>
      <vt:lpstr>HY울릉도M</vt:lpstr>
      <vt:lpstr>HY헤드라인M</vt:lpstr>
      <vt:lpstr>KoPub돋움체 Bold</vt:lpstr>
      <vt:lpstr>KoPub돋움체 Light</vt:lpstr>
      <vt:lpstr>KoPub돋움체 Medium</vt:lpstr>
      <vt:lpstr>Sandoll 명조Neo1유니 03 Rg</vt:lpstr>
      <vt:lpstr>굴림</vt:lpstr>
      <vt:lpstr>맑은 고딕</vt:lpstr>
      <vt:lpstr>-윤고딕120</vt:lpstr>
      <vt:lpstr>-윤고딕130</vt:lpstr>
      <vt:lpstr>-윤명조130</vt:lpstr>
      <vt:lpstr>-파랑새M</vt:lpstr>
      <vt:lpstr>한컴 솔잎 B</vt:lpstr>
      <vt:lpstr>휴먼모음T</vt:lpstr>
      <vt:lpstr>Arial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TITLE SLIDE</dc:title>
  <dc:creator>C174</dc:creator>
  <cp:lastModifiedBy>기표 홍</cp:lastModifiedBy>
  <cp:revision>2887</cp:revision>
  <dcterms:created xsi:type="dcterms:W3CDTF">2010-06-15T09:00:58Z</dcterms:created>
  <dcterms:modified xsi:type="dcterms:W3CDTF">2025-03-18T01:46:35Z</dcterms:modified>
  <cp:version/>
</cp:coreProperties>
</file>